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80" r:id="rId25"/>
    <p:sldId id="281" r:id="rId26"/>
    <p:sldId id="282" r:id="rId27"/>
    <p:sldId id="283" r:id="rId28"/>
    <p:sldId id="284" r:id="rId29"/>
    <p:sldId id="285" r:id="rId30"/>
    <p:sldId id="286" r:id="rId31"/>
    <p:sldId id="287" r:id="rId32"/>
    <p:sldId id="289" r:id="rId33"/>
    <p:sldId id="291" r:id="rId34"/>
    <p:sldId id="292" r:id="rId35"/>
    <p:sldId id="294" r:id="rId36"/>
    <p:sldId id="295" r:id="rId37"/>
    <p:sldId id="296" r:id="rId38"/>
    <p:sldId id="297" r:id="rId39"/>
    <p:sldId id="298" r:id="rId40"/>
    <p:sldId id="299" r:id="rId41"/>
  </p:sldIdLst>
  <p:sldSz cx="18288000" cy="10287000"/>
  <p:notesSz cx="6858000" cy="9144000"/>
  <p:embeddedFontLst>
    <p:embeddedFont>
      <p:font typeface="TT Chocolates" charset="0"/>
      <p:regular r:id="rId43"/>
    </p:embeddedFont>
    <p:embeddedFont>
      <p:font typeface="Calibri" pitchFamily="34" charset="0"/>
      <p:regular r:id="rId44"/>
      <p:bold r:id="rId45"/>
      <p:italic r:id="rId46"/>
      <p:boldItalic r:id="rId47"/>
    </p:embeddedFont>
    <p:embeddedFont>
      <p:font typeface="Alice Bold" charset="0"/>
      <p:regular r:id="rId48"/>
      <p:bold r:id="rId49"/>
    </p:embeddedFont>
    <p:embeddedFont>
      <p:font typeface="TT Chocolates Bold" charset="0"/>
      <p:bold r:id="rId50"/>
    </p:embeddedFont>
    <p:embeddedFont>
      <p:font typeface="Alice" charset="0"/>
      <p:regular r:id="rId51"/>
    </p:embeddedFont>
    <p:embeddedFont>
      <p:font typeface="Open Sans" charset="0"/>
      <p:regular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273" userDrawn="1">
          <p15:clr>
            <a:srgbClr val="A4A3A4"/>
          </p15:clr>
        </p15:guide>
        <p15:guide id="2" pos="28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94622" autoAdjust="0"/>
  </p:normalViewPr>
  <p:slideViewPr>
    <p:cSldViewPr showGuides="1">
      <p:cViewPr varScale="1">
        <p:scale>
          <a:sx n="55" d="100"/>
          <a:sy n="55" d="100"/>
        </p:scale>
        <p:origin x="-667" y="-72"/>
      </p:cViewPr>
      <p:guideLst>
        <p:guide orient="horz" pos="2273"/>
        <p:guide pos="2875"/>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a:t>
            </a:fld>
            <a:endParaRPr lang="cs-CZ"/>
          </a:p>
        </p:txBody>
      </p:sp>
    </p:spTree>
    <p:extLst>
      <p:ext uri="{BB962C8B-B14F-4D97-AF65-F5344CB8AC3E}">
        <p14:creationId xmlns:p14="http://schemas.microsoft.com/office/powerpoint/2010/main" val="1484862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Bonjour Mesdames, Messieurs,</a:t>
            </a:r>
          </a:p>
          <a:p>
            <a:endParaRPr lang="en-US"/>
          </a:p>
          <a:p>
            <a:r>
              <a:rPr lang="en-US"/>
              <a:t>Je tiens tout d’abord à remercier les membres du jury pour leur présence ainsi que pour l’attention qu’ils ont portée à notre travail.</a:t>
            </a:r>
          </a:p>
          <a:p>
            <a:endParaRPr lang="en-US"/>
          </a:p>
          <a:p>
            <a:r>
              <a:rPr lang="en-US"/>
              <a:t>Ce projet a été réalisé par moi-même, Moula Maïssa, et ma collègue Smeti Eya, sous la supervision de Mme Nacef Abir, encadrante académique à l’Institut Supérieur des Études Technologiques de Kélibia, et de Mme Zahou Aïcha, encadrante professionnelle.</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je commence par une introduction du projet, puis je vous présente le cadre du projet, en mettant en avant l’entreprise Web2code, la problématique rencontrée et la solution proposée.</a:t>
            </a:r>
          </a:p>
          <a:p>
            <a:endParaRPr lang="en-US"/>
          </a:p>
          <a:p>
            <a:r>
              <a:rPr lang="en-US"/>
              <a:t>je poursuivre avec l’analyse et la spécification des besoins, en exposant les acteurs du système, les besoins fonctionnels et non fonctionnels, ainsi que les outils utilisés.</a:t>
            </a:r>
          </a:p>
          <a:p>
            <a:endParaRPr lang="en-US"/>
          </a:p>
          <a:p>
            <a:r>
              <a:rPr lang="en-US"/>
              <a:t>Ensuite, nous aborderons la phase de conception, à travers la présentation du diagramme de cas d’utilisation global et du diagramme de classes global.</a:t>
            </a:r>
          </a:p>
          <a:p>
            <a:endParaRPr lang="en-US"/>
          </a:p>
          <a:p>
            <a:r>
              <a:rPr lang="en-US"/>
              <a:t>Puis, nous passerons à la phase de réalisation, en illustrant les principales fonctionnalités de l’application </a:t>
            </a:r>
          </a:p>
          <a:p>
            <a:r>
              <a:rPr lang="en-US"/>
              <a:t>micro brand à l’aide de captures d’écran de l’interface, expérimentée par les différents utilisateurs.</a:t>
            </a:r>
          </a:p>
          <a:p>
            <a:endParaRPr lang="en-US"/>
          </a:p>
          <a:p>
            <a:r>
              <a:rPr lang="en-US"/>
              <a:t>Enfin, nous conclurons par un résumé de notre travail et proposerons des perspectives d’évolution.</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Passons maintenant à la première partie de notre présentation :</a:t>
            </a:r>
          </a:p>
          <a:p>
            <a:r>
              <a:rPr lang="en-US"/>
              <a:t>La plateforme Micro Brand a pour objectif de digitaliser et simplifier les collaborations marketing entre les marques et les influenceurs.</a:t>
            </a:r>
          </a:p>
          <a:p>
            <a:r>
              <a:rPr lang="en-US"/>
              <a:t>Elle permet un suivi structuré et transparent des campagnes en temps réel.</a:t>
            </a:r>
          </a:p>
          <a:p>
            <a:r>
              <a:rPr lang="en-US"/>
              <a:t>Ce projet répond à un besoin réel du marché tunisien, en proposant une solution accessible, efficace et adaptée aux acteurs locaux.</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[Prenez une respiration et établissez un contact visuel avec le public]  </a:t>
            </a:r>
          </a:p>
          <a:p>
            <a:endParaRPr lang="en-US"/>
          </a:p>
          <a:p>
            <a:r>
              <a:rPr lang="en-US"/>
              <a:t>on passe maintenant au cadre du projet. Ce cadre est essentiel pour comprendre le contexte dans lequel j' évolue</a:t>
            </a:r>
          </a:p>
          <a:p>
            <a:endParaRPr lang="en-US"/>
          </a:p>
          <a:p>
            <a:r>
              <a:rPr lang="en-US"/>
              <a:t>Tout d'abord, on parle de l'organisme d’accueil. j'ai choisi Web2code, une agence dynamique située à Tunis, fondée en 2017 [Marquez une pause ici pour permettre au public d'absorber l'information]  </a:t>
            </a:r>
          </a:p>
          <a:p>
            <a:endParaRPr lang="en-US"/>
          </a:p>
          <a:p>
            <a:r>
              <a:rPr lang="en-US"/>
              <a:t>Ensuite, j'ai effectué une étude de l’existant, qui m' a permis d'identifier les besoins et les défis actuels dans le domaine des collaborations marketing. [Accentuez ce point pour souligner son importance]  </a:t>
            </a:r>
          </a:p>
          <a:p>
            <a:endParaRPr lang="en-US"/>
          </a:p>
          <a:p>
            <a:r>
              <a:rPr lang="en-US"/>
              <a:t>La problématique que j'ai identifiée est cruciale : comment rendre ces collaborations plus efficaces et transparentes ?  </a:t>
            </a:r>
          </a:p>
          <a:p>
            <a:endParaRPr lang="en-US"/>
          </a:p>
          <a:p>
            <a:r>
              <a:rPr lang="en-US"/>
              <a:t>Enfin, la solution que je propose est une plateforme qui non seulement répond à cette problématique, mais aussi simplifie les processus pour les marques et les influenceurs.  </a:t>
            </a:r>
          </a:p>
          <a:p>
            <a:endParaRPr lang="en-US"/>
          </a:p>
          <a:p>
            <a:r>
              <a:rPr lang="en-US"/>
              <a:t>[Regardez autour de vous pour engager les différents membres du public]  </a:t>
            </a:r>
          </a:p>
          <a:p>
            <a:endParaRPr lang="en-US"/>
          </a:p>
          <a:p>
            <a:r>
              <a:rPr lang="en-US"/>
              <a:t>Cela nous amène à discuter des services que nous offrons et des bénéfices de cette solution. [Transitionnez doucement vers la prochaine diapositive]</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Bonjour à tous,</a:t>
            </a:r>
          </a:p>
          <a:p>
            <a:r>
              <a:rPr lang="en-US"/>
              <a:t>Aujourd'hui, je vais vous parler de Web2code, une agence dynamique fondée en 2017 et localisée à Tunis.</a:t>
            </a:r>
          </a:p>
          <a:p>
            <a:endParaRPr lang="en-US"/>
          </a:p>
          <a:p>
            <a:r>
              <a:rPr lang="en-US"/>
              <a:t>[Pause]</a:t>
            </a:r>
          </a:p>
          <a:p>
            <a:endParaRPr lang="en-US"/>
          </a:p>
          <a:p>
            <a:r>
              <a:rPr lang="en-US"/>
              <a:t>Je me spécialise dans la création de sites web, en proposant des solutions innovantes aux entreprises tunisiennes.</a:t>
            </a:r>
          </a:p>
          <a:p>
            <a:endParaRPr lang="en-US"/>
          </a:p>
          <a:p>
            <a:r>
              <a:rPr lang="en-US"/>
              <a:t>[Emphase]</a:t>
            </a:r>
          </a:p>
          <a:p>
            <a:r>
              <a:rPr lang="en-US"/>
              <a:t>Mon objectif principal est de digitaliser et d'optimiser la collaboration entre marques et influenceurs.</a:t>
            </a:r>
          </a:p>
          <a:p>
            <a:endParaRPr lang="en-US"/>
          </a:p>
          <a:p>
            <a:r>
              <a:rPr lang="en-US"/>
              <a:t>Je suis convaincu que la transparence et le suivi des performances sont essentiels pour les campagnes de marketing digital, et c’est exactement ce que je m’efforce d’offrir.</a:t>
            </a:r>
          </a:p>
          <a:p>
            <a:endParaRPr lang="en-US"/>
          </a:p>
          <a:p>
            <a:r>
              <a:rPr lang="en-US"/>
              <a:t>[Pause]</a:t>
            </a:r>
          </a:p>
          <a:p>
            <a:r>
              <a:rPr lang="en-US"/>
              <a:t>Dans la suite de cette présentation, je vais vous présenter l’étude de l’existant et les défis actuels du marché.</a:t>
            </a:r>
          </a:p>
          <a:p>
            <a:endParaRPr lang="en-US"/>
          </a:p>
          <a:p>
            <a:r>
              <a:rPr lang="en-US"/>
              <a:t>[Transition]</a:t>
            </a:r>
          </a:p>
          <a:p>
            <a:r>
              <a:rPr lang="en-US"/>
              <a:t>Restez avec moi, car vous allez découvrir comment ma solution peut réellement transformer le paysage du marketing en Tunisie.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J' ai étudié trois plateformes internationales de marketing d'influence : Influence4You, Findly et Heepsy.  </a:t>
            </a:r>
          </a:p>
          <a:p>
            <a:r>
              <a:rPr lang="en-US"/>
              <a:t>🔹 Elles fournissent des outils performants pour les grandes marques et les macro-influenceurs.  </a:t>
            </a:r>
          </a:p>
          <a:p>
            <a:r>
              <a:rPr lang="en-US"/>
              <a:t>🔹 Cependant, leur coût élevé les rend peu accessibles aux micro-marques et aux micro-influenceurs.  </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Pas de plateforme locale dédiée</a:t>
            </a:r>
          </a:p>
          <a:p>
            <a:r>
              <a:rPr lang="en-US"/>
              <a:t>🔄 Processus de collaboration non structuré</a:t>
            </a:r>
          </a:p>
          <a:p>
            <a:r>
              <a:rPr lang="en-US"/>
              <a:t>💰 Manque de transparence dans les paiements</a:t>
            </a:r>
          </a:p>
          <a:p>
            <a:r>
              <a:rPr lang="en-US"/>
              <a:t>📉 Difficulté à évaluer les performances</a:t>
            </a:r>
          </a:p>
          <a:p>
            <a:r>
              <a:rPr lang="en-US"/>
              <a:t>⚠️ Absence de cadre professionnel clair</a:t>
            </a:r>
          </a:p>
          <a:p>
            <a:r>
              <a:rPr lang="en-US"/>
              <a:t>Les plateformes internationales existantes sont coûteuses, orientées vers les grandes marques, et inadaptées au marché tunisien.</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Solution proposée : Plateforme tunisienne de marketing d’influence</a:t>
            </a:r>
          </a:p>
          <a:p>
            <a:r>
              <a:rPr lang="en-US"/>
              <a:t>Développement d’une plateforme digitale professionnelle facilitant la collaboration entre marques et influenceurs dans un cadre structuré, sécurisé et localement adapté.</a:t>
            </a:r>
          </a:p>
          <a:p>
            <a:r>
              <a:rPr lang="en-US"/>
              <a:t>🔍 Fonctionnalités principales :</a:t>
            </a:r>
          </a:p>
          <a:p>
            <a:r>
              <a:rPr lang="en-US"/>
              <a:t>1-Gestion des utilisateurs : inscription personnalisée et espace dédié selon le rôle (marque/influenceur).</a:t>
            </a:r>
          </a:p>
          <a:p>
            <a:r>
              <a:rPr lang="en-US"/>
              <a:t>2-Espace marques : création et suivi des campagnes, analyses statistiques, collaboration guidée, paiements automatisés.</a:t>
            </a:r>
          </a:p>
          <a:p>
            <a:r>
              <a:rPr lang="en-US"/>
              <a:t>3-Espace influenceurs : profil enrichi, accès aux campagnes, candidatures, communication en temps réel, sécurisation des paiements.</a:t>
            </a:r>
          </a:p>
          <a:p>
            <a:r>
              <a:rPr lang="en-US"/>
              <a:t>4-Système de paiement intégré :</a:t>
            </a:r>
          </a:p>
          <a:p>
            <a:r>
              <a:rPr lang="en-US"/>
              <a:t> transactions automatisées, traçables et sécurisées, avec suivi en temps réel.</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j'ai adopté une méthode agile SCRUM pour organiser mon travail par sprints :</a:t>
            </a:r>
          </a:p>
          <a:p>
            <a:r>
              <a:rPr lang="en-US"/>
              <a:t>- Sprint 0 : spécification des besoins et planification du projet.</a:t>
            </a:r>
          </a:p>
          <a:p>
            <a:r>
              <a:rPr lang="en-US"/>
              <a:t>- Sprint 1 : authentification et gestion des entités principales.</a:t>
            </a:r>
          </a:p>
          <a:p>
            <a:r>
              <a:rPr lang="en-US"/>
              <a:t>- Sprint 2 : gestion des marques et des influenceurs.</a:t>
            </a:r>
          </a:p>
          <a:p>
            <a:r>
              <a:rPr lang="en-US"/>
              <a:t>- Sprint 3 : collaboration, communication et paiements.</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Nous avons utilisé plusieurs technologies pour ce projet :</a:t>
            </a:r>
          </a:p>
          <a:p>
            <a:r>
              <a:rPr lang="en-US"/>
              <a:t>- Frameworks : Laravel (back-end), Blade (front-end), Bootstrap (design responsive).</a:t>
            </a:r>
          </a:p>
          <a:p>
            <a:r>
              <a:rPr lang="en-US"/>
              <a:t>- Langages : HTML5, CSS3, JavaScript, PHP.</a:t>
            </a:r>
          </a:p>
          <a:p>
            <a:r>
              <a:rPr lang="en-US"/>
              <a:t>- Outils : Laragon (environnement local), HeidiSQL (gestion de base de données), Visual Studio Code (éditeur de code), StarUML (modélisation UML).</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La plateforme microbrand utilise une architecturMVC de Laravel, facilitant maintenance et évolution :</a:t>
            </a:r>
          </a:p>
          <a:p>
            <a:endParaRPr lang="en-US"/>
          </a:p>
          <a:p>
            <a:r>
              <a:rPr lang="en-US"/>
              <a:t>- Couche Présentation (Vue) : interface utilisateur avec des espaces spécifiques pour Administrateurs, Marques et Influenceurs.</a:t>
            </a:r>
          </a:p>
          <a:p>
            <a:r>
              <a:rPr lang="en-US"/>
              <a:t>- Couche Métier (Contrôleur) : logique applicative gérée par des contrôleurs (AdminController, MarqueController, InfluenceurController) reliant vues et données.</a:t>
            </a:r>
          </a:p>
          <a:p>
            <a:r>
              <a:rPr lang="en-US"/>
              <a:t>- Couche Données (Modèle) : modèles Eloquent gérant l'accès à la base de données, représentant des entités métiers (Utilisateur, Campagne, Annonce, Paiement).</a:t>
            </a:r>
          </a:p>
          <a:p>
            <a:endParaRPr lang="en-US"/>
          </a:p>
          <a:p>
            <a:r>
              <a:rPr lang="en-US"/>
              <a:t>Cette architecture assure un code clair, modulable et évolutif.</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L’analyse des besoins est une étape clé dans le développement de monprojet. Elle permet de bien comprendre, formaliser et valider les exigences du système afin d’éviter des erreurs coûteuses plus tard.</a:t>
            </a:r>
          </a:p>
          <a:p>
            <a:endParaRPr lang="en-US"/>
          </a:p>
          <a:p>
            <a:r>
              <a:rPr lang="en-US"/>
              <a:t>À ce stade, mon objectif est de définir précisément les attentes fonctionnelles, pour construire une base solide avant la modélisation technique.</a:t>
            </a:r>
          </a:p>
          <a:p>
            <a:endParaRPr lang="en-US"/>
          </a:p>
          <a:p>
            <a:r>
              <a:rPr lang="en-US"/>
              <a:t>j'ai identifié trois acteurs principaux avec des besoins spécifiques :</a:t>
            </a:r>
          </a:p>
          <a:p>
            <a:endParaRPr lang="en-US"/>
          </a:p>
          <a:p>
            <a:r>
              <a:rPr lang="en-US"/>
              <a:t>L’administrateur, qui supervise la plateforme, gère les utilisateurs, les campagnes et les paiements.</a:t>
            </a:r>
          </a:p>
          <a:p>
            <a:endParaRPr lang="en-US"/>
          </a:p>
          <a:p>
            <a:r>
              <a:rPr lang="en-US"/>
              <a:t>Les marques (micro-marques), qui créent des campagnes, et suivent les participations ainsi que les résultats.</a:t>
            </a:r>
          </a:p>
          <a:p>
            <a:endParaRPr lang="en-US"/>
          </a:p>
          <a:p>
            <a:r>
              <a:rPr lang="en-US"/>
              <a:t>Les influenceurs, qui postulent aux campagnes, publient du contenu et suivent leurs performances.</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L’analyse des besoins représente une étape cruciale du développement d’un projet. Elle permet de comprendre, formaliser et valider les exigences du système à concevoir. Une spécification rigoureuse est indispensable pour éviter les erreurs coûteuses en phase avancée du projet.</a:t>
            </a:r>
          </a:p>
          <a:p>
            <a:endParaRPr lang="en-US"/>
          </a:p>
          <a:p>
            <a:r>
              <a:rPr lang="en-US"/>
              <a:t>Notre objectif à ce stade est de définir de manière complète et précise les attentes fonctionnelles du système. Cette étape servira de base solide pour la modélisation technique.</a:t>
            </a:r>
          </a:p>
          <a:p>
            <a:endParaRPr lang="en-US"/>
          </a:p>
          <a:p>
            <a:r>
              <a:rPr lang="en-US"/>
              <a:t>Nous avons identifié les besoins fonctionnels spécifiques pour trois types d’acteurs principaux :</a:t>
            </a:r>
          </a:p>
          <a:p>
            <a:endParaRPr lang="en-US"/>
          </a:p>
          <a:p>
            <a:r>
              <a:rPr lang="en-US"/>
              <a:t>L’administrateur : supervise la plateforme, gère les utilisateurs, les campagnes et les paiements.</a:t>
            </a:r>
          </a:p>
          <a:p>
            <a:endParaRPr lang="en-US"/>
          </a:p>
          <a:p>
            <a:r>
              <a:rPr lang="en-US"/>
              <a:t>Les marques (micro-marques) : créent des campagnes, suivent les participations et les résultats.</a:t>
            </a:r>
          </a:p>
          <a:p>
            <a:endParaRPr lang="en-US"/>
          </a:p>
          <a:p>
            <a:r>
              <a:rPr lang="en-US"/>
              <a:t>Les influenceurs : postulent aux campagnes, publient du contenu et suivent leurs performances.</a:t>
            </a:r>
          </a:p>
          <a:p>
            <a:endParaRPr lang="en-US"/>
          </a:p>
          <a:p>
            <a:r>
              <a:rPr lang="en-US"/>
              <a:t>Administrateur</a:t>
            </a:r>
          </a:p>
          <a:p>
            <a:r>
              <a:rPr lang="en-US"/>
              <a:t>•	S’authentifier</a:t>
            </a:r>
          </a:p>
          <a:p>
            <a:r>
              <a:rPr lang="en-US"/>
              <a:t>•	Gérer les sous-admis</a:t>
            </a:r>
          </a:p>
          <a:p>
            <a:r>
              <a:rPr lang="en-US"/>
              <a:t>•	Gérer profil</a:t>
            </a:r>
          </a:p>
          <a:p>
            <a:r>
              <a:rPr lang="en-US"/>
              <a:t>•	Gérer les inscriptions des marques</a:t>
            </a:r>
          </a:p>
          <a:p>
            <a:r>
              <a:rPr lang="en-US"/>
              <a:t>•	Gérer les marques</a:t>
            </a:r>
          </a:p>
          <a:p>
            <a:r>
              <a:rPr lang="en-US"/>
              <a:t>•	Gérer les influenceurs</a:t>
            </a:r>
          </a:p>
          <a:p>
            <a:r>
              <a:rPr lang="en-US"/>
              <a:t>•	Gérer les tarifications</a:t>
            </a:r>
          </a:p>
          <a:p>
            <a:r>
              <a:rPr lang="en-US"/>
              <a:t>•	Gérer contacts</a:t>
            </a:r>
          </a:p>
          <a:p>
            <a:r>
              <a:rPr lang="en-US"/>
              <a:t>•	Visualiser les collaborations</a:t>
            </a:r>
          </a:p>
          <a:p>
            <a:r>
              <a:rPr lang="en-US"/>
              <a:t>•	Visualiser les statistiques</a:t>
            </a:r>
          </a:p>
          <a:p>
            <a:r>
              <a:rPr lang="en-US"/>
              <a:t>•	Visualisations des transactions financières </a:t>
            </a:r>
          </a:p>
          <a:p>
            <a:r>
              <a:rPr lang="en-US"/>
              <a:t>•	Visualisation de l’historique des convocations </a:t>
            </a:r>
          </a:p>
          <a:p>
            <a:endParaRPr lang="en-US"/>
          </a:p>
          <a:p>
            <a:r>
              <a:rPr lang="en-US"/>
              <a:t>Marque</a:t>
            </a:r>
          </a:p>
          <a:p>
            <a:r>
              <a:rPr lang="en-US"/>
              <a:t>•	S’inscrire</a:t>
            </a:r>
          </a:p>
          <a:p>
            <a:r>
              <a:rPr lang="en-US"/>
              <a:t>•	S’authentifier</a:t>
            </a:r>
          </a:p>
          <a:p>
            <a:r>
              <a:rPr lang="en-US"/>
              <a:t>•	Visualiser les statistiques</a:t>
            </a:r>
          </a:p>
          <a:p>
            <a:r>
              <a:rPr lang="en-US"/>
              <a:t>•	Gérer les campagnes</a:t>
            </a:r>
          </a:p>
          <a:p>
            <a:r>
              <a:rPr lang="en-US"/>
              <a:t>•	Gérer annonce</a:t>
            </a:r>
          </a:p>
          <a:p>
            <a:r>
              <a:rPr lang="en-US"/>
              <a:t>•	Contacter admin</a:t>
            </a:r>
          </a:p>
          <a:p>
            <a:r>
              <a:rPr lang="en-US"/>
              <a:t>•	Contacter influenceur</a:t>
            </a:r>
          </a:p>
          <a:p>
            <a:r>
              <a:rPr lang="en-US"/>
              <a:t>•	Consulter les profils des influenceurs</a:t>
            </a:r>
          </a:p>
          <a:p>
            <a:r>
              <a:rPr lang="en-US"/>
              <a:t>•	Gérer postulations</a:t>
            </a:r>
          </a:p>
          <a:p>
            <a:r>
              <a:rPr lang="en-US"/>
              <a:t>•	Suivi des convocations de service avant et après la publication</a:t>
            </a:r>
          </a:p>
          <a:p>
            <a:r>
              <a:rPr lang="en-US"/>
              <a:t>•	Suivi des revenues de chaque convocation de service</a:t>
            </a:r>
          </a:p>
          <a:p>
            <a:r>
              <a:rPr lang="en-US"/>
              <a:t>•	Gérer les paiements</a:t>
            </a:r>
          </a:p>
          <a:p>
            <a:r>
              <a:rPr lang="en-US"/>
              <a:t>•	Gérer notifications</a:t>
            </a:r>
          </a:p>
          <a:p>
            <a:r>
              <a:rPr lang="en-US"/>
              <a:t>•	Ajouter des avis</a:t>
            </a:r>
          </a:p>
          <a:p>
            <a:r>
              <a:rPr lang="en-US"/>
              <a:t> </a:t>
            </a:r>
          </a:p>
          <a:p>
            <a:r>
              <a:rPr lang="en-US"/>
              <a:t>Influenceur </a:t>
            </a:r>
          </a:p>
          <a:p>
            <a:r>
              <a:rPr lang="en-US"/>
              <a:t>•	S’inscrire</a:t>
            </a:r>
          </a:p>
          <a:p>
            <a:r>
              <a:rPr lang="en-US"/>
              <a:t>•	S’authentifier</a:t>
            </a:r>
          </a:p>
          <a:p>
            <a:r>
              <a:rPr lang="en-US"/>
              <a:t>•	Gérer les publications</a:t>
            </a:r>
          </a:p>
          <a:p>
            <a:r>
              <a:rPr lang="en-US"/>
              <a:t>•	Ajouter avis</a:t>
            </a:r>
          </a:p>
          <a:p>
            <a:r>
              <a:rPr lang="en-US"/>
              <a:t>•	Consulter les annonces disponibles</a:t>
            </a:r>
          </a:p>
          <a:p>
            <a:r>
              <a:rPr lang="en-US"/>
              <a:t>•	Postuler à une annonce </a:t>
            </a:r>
          </a:p>
          <a:p>
            <a:r>
              <a:rPr lang="en-US"/>
              <a:t>•	Consulter les listes de participation au service</a:t>
            </a:r>
          </a:p>
          <a:p>
            <a:r>
              <a:rPr lang="en-US"/>
              <a:t>•	Gérer notification </a:t>
            </a:r>
          </a:p>
          <a:p>
            <a:r>
              <a:rPr lang="en-US"/>
              <a:t>•	Contacter marque </a:t>
            </a:r>
          </a:p>
          <a:p>
            <a:r>
              <a:rPr lang="en-US"/>
              <a:t>•	Visualiser les statistiques</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L’analyse des besoins représente une étape cruciale du développement d’un projet. Elle permet de comprendre, formaliser et valider les exigences du système à concevoir. Une spécification rigoureuse est indispensable pour éviter les erreurs coûteuses en phase avancée du projet.</a:t>
            </a:r>
          </a:p>
          <a:p>
            <a:endParaRPr lang="en-US"/>
          </a:p>
          <a:p>
            <a:r>
              <a:rPr lang="en-US"/>
              <a:t>Notre objectif à ce stade est de définir de manière complète et précise les attentes fonctionnelles du système. Cette étape servira de base solide pour la modélisation technique.</a:t>
            </a:r>
          </a:p>
          <a:p>
            <a:endParaRPr lang="en-US"/>
          </a:p>
          <a:p>
            <a:r>
              <a:rPr lang="en-US"/>
              <a:t>Nous avons identifié les besoins fonctionnels spécifiques pour trois types d’acteurs principaux :</a:t>
            </a:r>
          </a:p>
          <a:p>
            <a:endParaRPr lang="en-US"/>
          </a:p>
          <a:p>
            <a:r>
              <a:rPr lang="en-US"/>
              <a:t>L’administrateur : supervise la plateforme, gère les utilisateurs, les campagnes et les paiements.</a:t>
            </a:r>
          </a:p>
          <a:p>
            <a:endParaRPr lang="en-US"/>
          </a:p>
          <a:p>
            <a:r>
              <a:rPr lang="en-US"/>
              <a:t>Les marques (micro-marques) : créent des annonces et campagnes, suivent les participations et les résultats.</a:t>
            </a:r>
          </a:p>
          <a:p>
            <a:endParaRPr lang="en-US"/>
          </a:p>
          <a:p>
            <a:r>
              <a:rPr lang="en-US"/>
              <a:t>Les influenceurs : postulent aux campagnes, publient du contenu et suivent leurs performances.</a:t>
            </a:r>
          </a:p>
          <a:p>
            <a:endParaRPr lang="en-US"/>
          </a:p>
          <a:p>
            <a:r>
              <a:rPr lang="en-US"/>
              <a:t>Administrateur</a:t>
            </a:r>
          </a:p>
          <a:p>
            <a:r>
              <a:rPr lang="en-US"/>
              <a:t>•	S’authentifier</a:t>
            </a:r>
          </a:p>
          <a:p>
            <a:r>
              <a:rPr lang="en-US"/>
              <a:t>•	Gérer les sous-admis</a:t>
            </a:r>
          </a:p>
          <a:p>
            <a:r>
              <a:rPr lang="en-US"/>
              <a:t>•	Gérer profil</a:t>
            </a:r>
          </a:p>
          <a:p>
            <a:r>
              <a:rPr lang="en-US"/>
              <a:t>•	Gérer les inscriptions des marques</a:t>
            </a:r>
          </a:p>
          <a:p>
            <a:r>
              <a:rPr lang="en-US"/>
              <a:t>•	Gérer les marques</a:t>
            </a:r>
          </a:p>
          <a:p>
            <a:r>
              <a:rPr lang="en-US"/>
              <a:t>•	Gérer les influenceurs</a:t>
            </a:r>
          </a:p>
          <a:p>
            <a:r>
              <a:rPr lang="en-US"/>
              <a:t>•	Gérer les tarifications</a:t>
            </a:r>
          </a:p>
          <a:p>
            <a:r>
              <a:rPr lang="en-US"/>
              <a:t>•	Gérer contacts</a:t>
            </a:r>
          </a:p>
          <a:p>
            <a:r>
              <a:rPr lang="en-US"/>
              <a:t>•	Visualiser les collaborations</a:t>
            </a:r>
          </a:p>
          <a:p>
            <a:r>
              <a:rPr lang="en-US"/>
              <a:t>•	Visualiser les statistiques</a:t>
            </a:r>
          </a:p>
          <a:p>
            <a:r>
              <a:rPr lang="en-US"/>
              <a:t>•	Visualisations des transactions financières </a:t>
            </a:r>
          </a:p>
          <a:p>
            <a:r>
              <a:rPr lang="en-US"/>
              <a:t>•	Visualisation de l’historique des convocations </a:t>
            </a:r>
          </a:p>
          <a:p>
            <a:endParaRPr lang="en-US"/>
          </a:p>
          <a:p>
            <a:r>
              <a:rPr lang="en-US"/>
              <a:t>Marque</a:t>
            </a:r>
          </a:p>
          <a:p>
            <a:r>
              <a:rPr lang="en-US"/>
              <a:t>•	S’inscrire</a:t>
            </a:r>
          </a:p>
          <a:p>
            <a:r>
              <a:rPr lang="en-US"/>
              <a:t>•	S’authentifier</a:t>
            </a:r>
          </a:p>
          <a:p>
            <a:r>
              <a:rPr lang="en-US"/>
              <a:t>•	Visualiser les statistiques</a:t>
            </a:r>
          </a:p>
          <a:p>
            <a:r>
              <a:rPr lang="en-US"/>
              <a:t>•	Gérer les campagnes</a:t>
            </a:r>
          </a:p>
          <a:p>
            <a:r>
              <a:rPr lang="en-US"/>
              <a:t>•	Gérer annonce</a:t>
            </a:r>
          </a:p>
          <a:p>
            <a:r>
              <a:rPr lang="en-US"/>
              <a:t>•	Contacter admin</a:t>
            </a:r>
          </a:p>
          <a:p>
            <a:r>
              <a:rPr lang="en-US"/>
              <a:t>•	Contacter influenceur</a:t>
            </a:r>
          </a:p>
          <a:p>
            <a:r>
              <a:rPr lang="en-US"/>
              <a:t>•	Consulter les profils des influenceurs</a:t>
            </a:r>
          </a:p>
          <a:p>
            <a:r>
              <a:rPr lang="en-US"/>
              <a:t>•	Gérer postulations</a:t>
            </a:r>
          </a:p>
          <a:p>
            <a:r>
              <a:rPr lang="en-US"/>
              <a:t>•	Suivi des convocations de service avant et après la publication</a:t>
            </a:r>
          </a:p>
          <a:p>
            <a:r>
              <a:rPr lang="en-US"/>
              <a:t>•	Suivi des revenues de chaque convocation de service</a:t>
            </a:r>
          </a:p>
          <a:p>
            <a:r>
              <a:rPr lang="en-US"/>
              <a:t>•	Gérer les paiements</a:t>
            </a:r>
          </a:p>
          <a:p>
            <a:r>
              <a:rPr lang="en-US"/>
              <a:t>•	Gérer notifications</a:t>
            </a:r>
          </a:p>
          <a:p>
            <a:r>
              <a:rPr lang="en-US"/>
              <a:t>•	Ajouter des avis</a:t>
            </a:r>
          </a:p>
          <a:p>
            <a:r>
              <a:rPr lang="en-US"/>
              <a:t> </a:t>
            </a:r>
          </a:p>
          <a:p>
            <a:r>
              <a:rPr lang="en-US"/>
              <a:t>Influenceur </a:t>
            </a:r>
          </a:p>
          <a:p>
            <a:r>
              <a:rPr lang="en-US"/>
              <a:t>•	S’inscrire</a:t>
            </a:r>
          </a:p>
          <a:p>
            <a:r>
              <a:rPr lang="en-US"/>
              <a:t>•	S’authentifier</a:t>
            </a:r>
          </a:p>
          <a:p>
            <a:r>
              <a:rPr lang="en-US"/>
              <a:t>•	Gérer les publications</a:t>
            </a:r>
          </a:p>
          <a:p>
            <a:r>
              <a:rPr lang="en-US"/>
              <a:t>•	Ajouter avis</a:t>
            </a:r>
          </a:p>
          <a:p>
            <a:r>
              <a:rPr lang="en-US"/>
              <a:t>•	Consulter les annonces disponibles</a:t>
            </a:r>
          </a:p>
          <a:p>
            <a:r>
              <a:rPr lang="en-US"/>
              <a:t>•	Postuler à une annonce </a:t>
            </a:r>
          </a:p>
          <a:p>
            <a:r>
              <a:rPr lang="en-US"/>
              <a:t>•	Consulter les listes de participation au service</a:t>
            </a:r>
          </a:p>
          <a:p>
            <a:r>
              <a:rPr lang="en-US"/>
              <a:t>•	Gérer notification </a:t>
            </a:r>
          </a:p>
          <a:p>
            <a:r>
              <a:rPr lang="en-US"/>
              <a:t>•	Contacter marque </a:t>
            </a:r>
          </a:p>
          <a:p>
            <a:r>
              <a:rPr lang="en-US"/>
              <a:t>•	Visualiser les statistiques</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L’analyse des besoins représente une étape cruciale du développement d’un projet. Elle permet de comprendre, formaliser et valider les exigences du système à concevoir. Une spécification rigoureuse est indispensable pour éviter les erreurs coûteuses en phase avancée du projet.</a:t>
            </a:r>
          </a:p>
          <a:p>
            <a:endParaRPr lang="en-US"/>
          </a:p>
          <a:p>
            <a:r>
              <a:rPr lang="en-US"/>
              <a:t>Notre objectif à ce stade est de définir de manière complète et précise les attentes fonctionnelles du système. Cette étape servira de base solide pour la modélisation technique.</a:t>
            </a:r>
          </a:p>
          <a:p>
            <a:endParaRPr lang="en-US"/>
          </a:p>
          <a:p>
            <a:r>
              <a:rPr lang="en-US"/>
              <a:t>Nous avons identifié les besoins fonctionnels spécifiques pour trois types d’acteurs principaux :</a:t>
            </a:r>
          </a:p>
          <a:p>
            <a:endParaRPr lang="en-US"/>
          </a:p>
          <a:p>
            <a:r>
              <a:rPr lang="en-US"/>
              <a:t>L’administrateur : supervise la plateforme, gère les utilisateurs, les campagnes et les paiements.</a:t>
            </a:r>
          </a:p>
          <a:p>
            <a:endParaRPr lang="en-US"/>
          </a:p>
          <a:p>
            <a:r>
              <a:rPr lang="en-US"/>
              <a:t>Les marques (micro-marques) : créent des annonces et campagnes, suivent les participations et les résultats.</a:t>
            </a:r>
          </a:p>
          <a:p>
            <a:endParaRPr lang="en-US"/>
          </a:p>
          <a:p>
            <a:r>
              <a:rPr lang="en-US"/>
              <a:t>Les influenceurs : postulent aux campagnes, publient du contenu et suivent leurs performances.</a:t>
            </a:r>
          </a:p>
          <a:p>
            <a:endParaRPr lang="en-US"/>
          </a:p>
          <a:p>
            <a:r>
              <a:rPr lang="en-US"/>
              <a:t>Administrateur</a:t>
            </a:r>
          </a:p>
          <a:p>
            <a:r>
              <a:rPr lang="en-US"/>
              <a:t>•	S’authentifier</a:t>
            </a:r>
          </a:p>
          <a:p>
            <a:r>
              <a:rPr lang="en-US"/>
              <a:t>•	Gérer les sous-admis</a:t>
            </a:r>
          </a:p>
          <a:p>
            <a:r>
              <a:rPr lang="en-US"/>
              <a:t>•	Gérer profil</a:t>
            </a:r>
          </a:p>
          <a:p>
            <a:r>
              <a:rPr lang="en-US"/>
              <a:t>•	Gérer les inscriptions des marques</a:t>
            </a:r>
          </a:p>
          <a:p>
            <a:r>
              <a:rPr lang="en-US"/>
              <a:t>•	Gérer les marques</a:t>
            </a:r>
          </a:p>
          <a:p>
            <a:r>
              <a:rPr lang="en-US"/>
              <a:t>•	Gérer les influenceurs</a:t>
            </a:r>
          </a:p>
          <a:p>
            <a:r>
              <a:rPr lang="en-US"/>
              <a:t>•	Gérer les tarifications</a:t>
            </a:r>
          </a:p>
          <a:p>
            <a:r>
              <a:rPr lang="en-US"/>
              <a:t>•	Gérer contacts</a:t>
            </a:r>
          </a:p>
          <a:p>
            <a:r>
              <a:rPr lang="en-US"/>
              <a:t>•	Visualiser les collaborations</a:t>
            </a:r>
          </a:p>
          <a:p>
            <a:r>
              <a:rPr lang="en-US"/>
              <a:t>•	Visualiser les statistiques</a:t>
            </a:r>
          </a:p>
          <a:p>
            <a:r>
              <a:rPr lang="en-US"/>
              <a:t>•	Visualisations des transactions financières </a:t>
            </a:r>
          </a:p>
          <a:p>
            <a:r>
              <a:rPr lang="en-US"/>
              <a:t>•	Visualisation de l’historique des convocations </a:t>
            </a:r>
          </a:p>
          <a:p>
            <a:endParaRPr lang="en-US"/>
          </a:p>
          <a:p>
            <a:r>
              <a:rPr lang="en-US"/>
              <a:t>Marque</a:t>
            </a:r>
          </a:p>
          <a:p>
            <a:r>
              <a:rPr lang="en-US"/>
              <a:t>•	S’inscrire</a:t>
            </a:r>
          </a:p>
          <a:p>
            <a:r>
              <a:rPr lang="en-US"/>
              <a:t>•	S’authentifier</a:t>
            </a:r>
          </a:p>
          <a:p>
            <a:r>
              <a:rPr lang="en-US"/>
              <a:t>•	Visualiser les statistiques</a:t>
            </a:r>
          </a:p>
          <a:p>
            <a:r>
              <a:rPr lang="en-US"/>
              <a:t>•	Gérer les campagnes</a:t>
            </a:r>
          </a:p>
          <a:p>
            <a:r>
              <a:rPr lang="en-US"/>
              <a:t>•	Gérer annonce</a:t>
            </a:r>
          </a:p>
          <a:p>
            <a:r>
              <a:rPr lang="en-US"/>
              <a:t>•	Contacter admin</a:t>
            </a:r>
          </a:p>
          <a:p>
            <a:r>
              <a:rPr lang="en-US"/>
              <a:t>•	Contacter influenceur</a:t>
            </a:r>
          </a:p>
          <a:p>
            <a:r>
              <a:rPr lang="en-US"/>
              <a:t>•	Consulter les profils des influenceurs</a:t>
            </a:r>
          </a:p>
          <a:p>
            <a:r>
              <a:rPr lang="en-US"/>
              <a:t>•	Gérer postulations</a:t>
            </a:r>
          </a:p>
          <a:p>
            <a:r>
              <a:rPr lang="en-US"/>
              <a:t>•	Suivi des convocations de service avant et après la publication</a:t>
            </a:r>
          </a:p>
          <a:p>
            <a:r>
              <a:rPr lang="en-US"/>
              <a:t>•	Suivi des revenues de chaque convocation de service</a:t>
            </a:r>
          </a:p>
          <a:p>
            <a:r>
              <a:rPr lang="en-US"/>
              <a:t>•	Gérer les paiements</a:t>
            </a:r>
          </a:p>
          <a:p>
            <a:r>
              <a:rPr lang="en-US"/>
              <a:t>•	Gérer notifications</a:t>
            </a:r>
          </a:p>
          <a:p>
            <a:r>
              <a:rPr lang="en-US"/>
              <a:t>•	Ajouter des avis</a:t>
            </a:r>
          </a:p>
          <a:p>
            <a:r>
              <a:rPr lang="en-US"/>
              <a:t> </a:t>
            </a:r>
          </a:p>
          <a:p>
            <a:r>
              <a:rPr lang="en-US"/>
              <a:t>Influenceur </a:t>
            </a:r>
          </a:p>
          <a:p>
            <a:r>
              <a:rPr lang="en-US"/>
              <a:t>•	S’inscrire</a:t>
            </a:r>
          </a:p>
          <a:p>
            <a:r>
              <a:rPr lang="en-US"/>
              <a:t>•	S’authentifier</a:t>
            </a:r>
          </a:p>
          <a:p>
            <a:r>
              <a:rPr lang="en-US"/>
              <a:t>•	Gérer les publications</a:t>
            </a:r>
          </a:p>
          <a:p>
            <a:r>
              <a:rPr lang="en-US"/>
              <a:t>•	Ajouter avis</a:t>
            </a:r>
          </a:p>
          <a:p>
            <a:r>
              <a:rPr lang="en-US"/>
              <a:t>•	Consulter les annonces disponibles</a:t>
            </a:r>
          </a:p>
          <a:p>
            <a:r>
              <a:rPr lang="en-US"/>
              <a:t>•	Postuler à une annonce </a:t>
            </a:r>
          </a:p>
          <a:p>
            <a:r>
              <a:rPr lang="en-US"/>
              <a:t>•	Consulter les listes de participation au service</a:t>
            </a:r>
          </a:p>
          <a:p>
            <a:r>
              <a:rPr lang="en-US"/>
              <a:t>•	Gérer notification </a:t>
            </a:r>
          </a:p>
          <a:p>
            <a:r>
              <a:rPr lang="en-US"/>
              <a:t>•	Contacter marque </a:t>
            </a:r>
          </a:p>
          <a:p>
            <a:r>
              <a:rPr lang="en-US"/>
              <a:t>•	Visualiser les statistiques</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6.png"/><Relationship Id="rId10" Type="http://schemas.openxmlformats.org/officeDocument/2006/relationships/image" Target="../media/image12.png"/><Relationship Id="rId4" Type="http://schemas.openxmlformats.org/officeDocument/2006/relationships/image" Target="../media/image5.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17.png"/><Relationship Id="rId12"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png"/><Relationship Id="rId9" Type="http://schemas.openxmlformats.org/officeDocument/2006/relationships/image" Target="../media/image18.png"/><Relationship Id="rId1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5.png"/><Relationship Id="rId5" Type="http://schemas.openxmlformats.org/officeDocument/2006/relationships/image" Target="../media/image20.png"/><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0.png"/><Relationship Id="rId18" Type="http://schemas.openxmlformats.org/officeDocument/2006/relationships/image" Target="../media/image40.svg"/><Relationship Id="rId3" Type="http://schemas.openxmlformats.org/officeDocument/2006/relationships/image" Target="../media/image1.png"/><Relationship Id="rId21" Type="http://schemas.openxmlformats.org/officeDocument/2006/relationships/image" Target="../media/image34.png"/><Relationship Id="rId7" Type="http://schemas.openxmlformats.org/officeDocument/2006/relationships/image" Target="../media/image27.png"/><Relationship Id="rId12" Type="http://schemas.openxmlformats.org/officeDocument/2006/relationships/image" Target="../media/image34.svg"/><Relationship Id="rId17" Type="http://schemas.openxmlformats.org/officeDocument/2006/relationships/image" Target="../media/image32.png"/><Relationship Id="rId2" Type="http://schemas.openxmlformats.org/officeDocument/2006/relationships/notesSlide" Target="../notesSlides/notesSlide7.xml"/><Relationship Id="rId16" Type="http://schemas.openxmlformats.org/officeDocument/2006/relationships/image" Target="../media/image38.svg"/><Relationship Id="rId20" Type="http://schemas.openxmlformats.org/officeDocument/2006/relationships/image" Target="../media/image42.sv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29.png"/><Relationship Id="rId5" Type="http://schemas.openxmlformats.org/officeDocument/2006/relationships/image" Target="../media/image20.png"/><Relationship Id="rId15" Type="http://schemas.openxmlformats.org/officeDocument/2006/relationships/image" Target="../media/image31.png"/><Relationship Id="rId10" Type="http://schemas.openxmlformats.org/officeDocument/2006/relationships/image" Target="../media/image32.svg"/><Relationship Id="rId19" Type="http://schemas.openxmlformats.org/officeDocument/2006/relationships/image" Target="../media/image33.png"/><Relationship Id="rId4" Type="http://schemas.openxmlformats.org/officeDocument/2006/relationships/image" Target="../media/image19.png"/><Relationship Id="rId9" Type="http://schemas.openxmlformats.org/officeDocument/2006/relationships/image" Target="../media/image28.png"/><Relationship Id="rId14" Type="http://schemas.openxmlformats.org/officeDocument/2006/relationships/image" Target="../media/image36.svg"/><Relationship Id="rId22" Type="http://schemas.openxmlformats.org/officeDocument/2006/relationships/image" Target="../media/image44.sv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34.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5.png"/><Relationship Id="rId11" Type="http://schemas.openxmlformats.org/officeDocument/2006/relationships/image" Target="../media/image49.svg"/><Relationship Id="rId5" Type="http://schemas.openxmlformats.org/officeDocument/2006/relationships/image" Target="../media/image20.png"/><Relationship Id="rId10" Type="http://schemas.openxmlformats.org/officeDocument/2006/relationships/image" Target="../media/image37.png"/><Relationship Id="rId4" Type="http://schemas.openxmlformats.org/officeDocument/2006/relationships/image" Target="../media/image19.png"/><Relationship Id="rId9" Type="http://schemas.openxmlformats.org/officeDocument/2006/relationships/image" Target="../media/image47.svg"/></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42.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6.png"/><Relationship Id="rId3" Type="http://schemas.openxmlformats.org/officeDocument/2006/relationships/image" Target="../media/image1.png"/><Relationship Id="rId7" Type="http://schemas.openxmlformats.org/officeDocument/2006/relationships/image" Target="../media/image45.png"/><Relationship Id="rId12" Type="http://schemas.openxmlformats.org/officeDocument/2006/relationships/image" Target="../media/image50.png"/><Relationship Id="rId17" Type="http://schemas.openxmlformats.org/officeDocument/2006/relationships/image" Target="../media/image55.png"/><Relationship Id="rId2" Type="http://schemas.openxmlformats.org/officeDocument/2006/relationships/notesSlide" Target="../notesSlides/notesSlide10.xml"/><Relationship Id="rId16"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49.png"/><Relationship Id="rId5" Type="http://schemas.openxmlformats.org/officeDocument/2006/relationships/image" Target="../media/image44.png"/><Relationship Id="rId15" Type="http://schemas.openxmlformats.org/officeDocument/2006/relationships/image" Target="../media/image53.png"/><Relationship Id="rId10" Type="http://schemas.openxmlformats.org/officeDocument/2006/relationships/image" Target="../media/image48.png"/><Relationship Id="rId19" Type="http://schemas.openxmlformats.org/officeDocument/2006/relationships/image" Target="../media/image57.png"/><Relationship Id="rId4" Type="http://schemas.openxmlformats.org/officeDocument/2006/relationships/image" Target="../media/image19.png"/><Relationship Id="rId9" Type="http://schemas.openxmlformats.org/officeDocument/2006/relationships/image" Target="../media/image47.png"/><Relationship Id="rId14" Type="http://schemas.openxmlformats.org/officeDocument/2006/relationships/image" Target="../media/image5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9.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image" Target="../media/image1.png"/><Relationship Id="rId7" Type="http://schemas.openxmlformats.org/officeDocument/2006/relationships/image" Target="../media/image61.jpe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63.png"/></Relationships>
</file>

<file path=ppt/slides/_rels/slide15.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1.png"/><Relationship Id="rId7" Type="http://schemas.openxmlformats.org/officeDocument/2006/relationships/image" Target="../media/image61.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77.svg"/></Relationships>
</file>

<file path=ppt/slides/_rels/slide16.xml.rels><?xml version="1.0" encoding="UTF-8" standalone="yes"?>
<Relationships xmlns="http://schemas.openxmlformats.org/package/2006/relationships"><Relationship Id="rId8" Type="http://schemas.openxmlformats.org/officeDocument/2006/relationships/image" Target="../media/image77.svg"/><Relationship Id="rId3" Type="http://schemas.openxmlformats.org/officeDocument/2006/relationships/image" Target="../media/image1.png"/><Relationship Id="rId7" Type="http://schemas.openxmlformats.org/officeDocument/2006/relationships/image" Target="../media/image64.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62.jpeg"/></Relationships>
</file>

<file path=ppt/slides/_rels/slide17.xml.rels><?xml version="1.0" encoding="UTF-8" standalone="yes"?>
<Relationships xmlns="http://schemas.openxmlformats.org/package/2006/relationships"><Relationship Id="rId8" Type="http://schemas.openxmlformats.org/officeDocument/2006/relationships/image" Target="../media/image77.svg"/><Relationship Id="rId3" Type="http://schemas.openxmlformats.org/officeDocument/2006/relationships/image" Target="../media/image1.png"/><Relationship Id="rId7" Type="http://schemas.openxmlformats.org/officeDocument/2006/relationships/image" Target="../media/image6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63.png"/></Relationships>
</file>

<file path=ppt/slides/_rels/slide18.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19.png"/><Relationship Id="rId7" Type="http://schemas.openxmlformats.org/officeDocument/2006/relationships/image" Target="../media/image6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0.png"/><Relationship Id="rId10" Type="http://schemas.openxmlformats.org/officeDocument/2006/relationships/image" Target="../media/image69.png"/><Relationship Id="rId4" Type="http://schemas.openxmlformats.org/officeDocument/2006/relationships/image" Target="../media/image20.png"/><Relationship Id="rId9" Type="http://schemas.openxmlformats.org/officeDocument/2006/relationships/image" Target="../media/image68.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0.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2.jpeg"/><Relationship Id="rId5" Type="http://schemas.openxmlformats.org/officeDocument/2006/relationships/image" Target="../media/image7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3.jpeg"/><Relationship Id="rId5" Type="http://schemas.openxmlformats.org/officeDocument/2006/relationships/image" Target="../media/image7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7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7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7.png"/><Relationship Id="rId5" Type="http://schemas.openxmlformats.org/officeDocument/2006/relationships/image" Target="../media/image74.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8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4.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8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1.png"/><Relationship Id="rId5" Type="http://schemas.openxmlformats.org/officeDocument/2006/relationships/image" Target="../media/image74.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8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74.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19.png"/><Relationship Id="rId7" Type="http://schemas.openxmlformats.org/officeDocument/2006/relationships/image" Target="../media/image8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5.png"/><Relationship Id="rId5" Type="http://schemas.openxmlformats.org/officeDocument/2006/relationships/image" Target="../media/image74.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8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74.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0.png"/><Relationship Id="rId5" Type="http://schemas.openxmlformats.org/officeDocument/2006/relationships/image" Target="../media/image74.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9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image" Target="../media/image74.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3.png"/><Relationship Id="rId5" Type="http://schemas.openxmlformats.org/officeDocument/2006/relationships/image" Target="../media/image74.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4.png"/><Relationship Id="rId5" Type="http://schemas.openxmlformats.org/officeDocument/2006/relationships/image" Target="../media/image74.pn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9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5.png"/><Relationship Id="rId5" Type="http://schemas.openxmlformats.org/officeDocument/2006/relationships/image" Target="../media/image74.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9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7.png"/><Relationship Id="rId5" Type="http://schemas.openxmlformats.org/officeDocument/2006/relationships/image" Target="../media/image74.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0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74.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0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1.png"/><Relationship Id="rId5" Type="http://schemas.openxmlformats.org/officeDocument/2006/relationships/image" Target="../media/image74.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4.png"/><Relationship Id="rId4" Type="http://schemas.openxmlformats.org/officeDocument/2006/relationships/image" Target="../media/image103.png"/></Relationships>
</file>

<file path=ppt/slides/_rels/slide38.xml.rels><?xml version="1.0" encoding="UTF-8" standalone="yes"?>
<Relationships xmlns="http://schemas.openxmlformats.org/package/2006/relationships"><Relationship Id="rId8" Type="http://schemas.openxmlformats.org/officeDocument/2006/relationships/image" Target="../media/image125.svg"/><Relationship Id="rId3" Type="http://schemas.openxmlformats.org/officeDocument/2006/relationships/image" Target="../media/image19.png"/><Relationship Id="rId7" Type="http://schemas.openxmlformats.org/officeDocument/2006/relationships/image" Target="../media/image10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9.png"/><Relationship Id="rId7" Type="http://schemas.openxmlformats.org/officeDocument/2006/relationships/image" Target="../media/image12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8.png"/><Relationship Id="rId11" Type="http://schemas.openxmlformats.org/officeDocument/2006/relationships/image" Target="../media/image131.svg"/><Relationship Id="rId5" Type="http://schemas.openxmlformats.org/officeDocument/2006/relationships/image" Target="../media/image105.png"/><Relationship Id="rId10" Type="http://schemas.openxmlformats.org/officeDocument/2006/relationships/image" Target="../media/image110.png"/><Relationship Id="rId4" Type="http://schemas.openxmlformats.org/officeDocument/2006/relationships/image" Target="../media/image20.png"/><Relationship Id="rId9" Type="http://schemas.openxmlformats.org/officeDocument/2006/relationships/image" Target="../media/image129.svg"/></Relationships>
</file>

<file path=ppt/slides/_rels/slide4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4D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l="-3849" r="-3849"/>
              </a:stretch>
            </a:blipFill>
          </p:spPr>
        </p:sp>
      </p:grpSp>
      <p:grpSp>
        <p:nvGrpSpPr>
          <p:cNvPr id="4" name="Group 4"/>
          <p:cNvGrpSpPr/>
          <p:nvPr/>
        </p:nvGrpSpPr>
        <p:grpSpPr>
          <a:xfrm>
            <a:off x="-14288" y="9229725"/>
            <a:ext cx="18297525" cy="9525"/>
            <a:chOff x="0" y="0"/>
            <a:chExt cx="24396700" cy="12700"/>
          </a:xfrm>
        </p:grpSpPr>
        <p:sp>
          <p:nvSpPr>
            <p:cNvPr id="5" name="Freeform 5"/>
            <p:cNvSpPr/>
            <p:nvPr/>
          </p:nvSpPr>
          <p:spPr>
            <a:xfrm>
              <a:off x="0" y="0"/>
              <a:ext cx="24396700" cy="12700"/>
            </a:xfrm>
            <a:custGeom>
              <a:avLst/>
              <a:gdLst/>
              <a:ahLst/>
              <a:cxnLst/>
              <a:rect l="l" t="t" r="r" b="b"/>
              <a:pathLst>
                <a:path w="24396700" h="12700">
                  <a:moveTo>
                    <a:pt x="6350" y="0"/>
                  </a:moveTo>
                  <a:lnTo>
                    <a:pt x="24390350" y="0"/>
                  </a:lnTo>
                  <a:cubicBezTo>
                    <a:pt x="24393906" y="0"/>
                    <a:pt x="24396700" y="2794"/>
                    <a:pt x="24396700" y="6350"/>
                  </a:cubicBezTo>
                  <a:cubicBezTo>
                    <a:pt x="24396700" y="9906"/>
                    <a:pt x="24393906" y="12700"/>
                    <a:pt x="24390350" y="12700"/>
                  </a:cubicBezTo>
                  <a:lnTo>
                    <a:pt x="6350" y="12700"/>
                  </a:lnTo>
                  <a:cubicBezTo>
                    <a:pt x="2794" y="12700"/>
                    <a:pt x="0" y="9906"/>
                    <a:pt x="0" y="6350"/>
                  </a:cubicBezTo>
                  <a:cubicBezTo>
                    <a:pt x="0" y="2794"/>
                    <a:pt x="2794" y="0"/>
                    <a:pt x="6350" y="0"/>
                  </a:cubicBezTo>
                  <a:close/>
                </a:path>
              </a:pathLst>
            </a:custGeom>
            <a:solidFill>
              <a:srgbClr val="404040"/>
            </a:solidFill>
          </p:spPr>
        </p:sp>
      </p:grpSp>
      <p:grpSp>
        <p:nvGrpSpPr>
          <p:cNvPr id="6" name="Group 6"/>
          <p:cNvGrpSpPr/>
          <p:nvPr/>
        </p:nvGrpSpPr>
        <p:grpSpPr>
          <a:xfrm>
            <a:off x="-4762" y="1751272"/>
            <a:ext cx="18297525" cy="9525"/>
            <a:chOff x="0" y="0"/>
            <a:chExt cx="24396700" cy="12700"/>
          </a:xfrm>
        </p:grpSpPr>
        <p:sp>
          <p:nvSpPr>
            <p:cNvPr id="7" name="Freeform 7"/>
            <p:cNvSpPr/>
            <p:nvPr/>
          </p:nvSpPr>
          <p:spPr>
            <a:xfrm>
              <a:off x="0" y="0"/>
              <a:ext cx="24396700" cy="12700"/>
            </a:xfrm>
            <a:custGeom>
              <a:avLst/>
              <a:gdLst/>
              <a:ahLst/>
              <a:cxnLst/>
              <a:rect l="l" t="t" r="r" b="b"/>
              <a:pathLst>
                <a:path w="24396700" h="12700">
                  <a:moveTo>
                    <a:pt x="6350" y="0"/>
                  </a:moveTo>
                  <a:lnTo>
                    <a:pt x="24390350" y="0"/>
                  </a:lnTo>
                  <a:cubicBezTo>
                    <a:pt x="24393906" y="0"/>
                    <a:pt x="24396700" y="2794"/>
                    <a:pt x="24396700" y="6350"/>
                  </a:cubicBezTo>
                  <a:cubicBezTo>
                    <a:pt x="24396700" y="9906"/>
                    <a:pt x="24393906" y="12700"/>
                    <a:pt x="24390350" y="12700"/>
                  </a:cubicBezTo>
                  <a:lnTo>
                    <a:pt x="6350" y="12700"/>
                  </a:lnTo>
                  <a:cubicBezTo>
                    <a:pt x="2794" y="12700"/>
                    <a:pt x="0" y="9906"/>
                    <a:pt x="0" y="6350"/>
                  </a:cubicBezTo>
                  <a:cubicBezTo>
                    <a:pt x="0" y="2794"/>
                    <a:pt x="2794" y="0"/>
                    <a:pt x="6350" y="0"/>
                  </a:cubicBezTo>
                  <a:close/>
                </a:path>
              </a:pathLst>
            </a:custGeom>
            <a:solidFill>
              <a:srgbClr val="404040"/>
            </a:solidFill>
          </p:spPr>
        </p:sp>
      </p:grpSp>
      <p:sp>
        <p:nvSpPr>
          <p:cNvPr id="12" name="TextBox 12"/>
          <p:cNvSpPr txBox="1"/>
          <p:nvPr/>
        </p:nvSpPr>
        <p:spPr>
          <a:xfrm>
            <a:off x="12424177" y="6697240"/>
            <a:ext cx="4902484" cy="3323590"/>
          </a:xfrm>
          <a:prstGeom prst="rect">
            <a:avLst/>
          </a:prstGeom>
        </p:spPr>
        <p:txBody>
          <a:bodyPr lIns="0" tIns="0" rIns="0" bIns="0" rtlCol="0" anchor="t">
            <a:spAutoFit/>
          </a:bodyPr>
          <a:lstStyle/>
          <a:p>
            <a:pPr algn="ctr">
              <a:lnSpc>
                <a:spcPts val="4320"/>
              </a:lnSpc>
            </a:pPr>
            <a:r>
              <a:rPr lang="en-US" sz="3600" b="1">
                <a:solidFill>
                  <a:srgbClr val="61778E"/>
                </a:solidFill>
                <a:latin typeface="TT Chocolates Bold" panose="02000803020000020003"/>
                <a:ea typeface="TT Chocolates Bold" panose="02000803020000020003"/>
                <a:cs typeface="TT Chocolates Bold" panose="02000803020000020003"/>
                <a:sym typeface="TT Chocolates Bold" panose="02000803020000020003"/>
              </a:rPr>
              <a:t>Réalisé par: </a:t>
            </a:r>
          </a:p>
          <a:p>
            <a:pPr algn="ctr">
              <a:lnSpc>
                <a:spcPts val="4320"/>
              </a:lnSpc>
            </a:pPr>
            <a:r>
              <a:rPr lang="fr-FR" altLang="en-US" sz="3600">
                <a:solidFill>
                  <a:srgbClr val="404040"/>
                </a:solidFill>
                <a:latin typeface="TT Chocolates" panose="02000503020000020003"/>
                <a:ea typeface="TT Chocolates" panose="02000503020000020003"/>
                <a:cs typeface="TT Chocolates" panose="02000503020000020003"/>
                <a:sym typeface="TT Chocolates" panose="02000503020000020003"/>
              </a:rPr>
              <a:t>Mohamed salah DAHMANI &amp;</a:t>
            </a:r>
            <a:endParaRPr lang="en-US" sz="3600">
              <a:solidFill>
                <a:srgbClr val="404040"/>
              </a:solidFill>
              <a:latin typeface="TT Chocolates" panose="02000503020000020003"/>
              <a:ea typeface="TT Chocolates" panose="02000503020000020003"/>
              <a:cs typeface="TT Chocolates" panose="02000503020000020003"/>
              <a:sym typeface="TT Chocolates" panose="02000503020000020003"/>
            </a:endParaRPr>
          </a:p>
          <a:p>
            <a:pPr algn="ctr">
              <a:lnSpc>
                <a:spcPts val="4320"/>
              </a:lnSpc>
            </a:pPr>
            <a:r>
              <a:rPr lang="fr-FR" altLang="en-US" sz="3600">
                <a:solidFill>
                  <a:srgbClr val="404040"/>
                </a:solidFill>
                <a:latin typeface="TT Chocolates" panose="02000503020000020003"/>
                <a:ea typeface="TT Chocolates" panose="02000503020000020003"/>
                <a:cs typeface="TT Chocolates" panose="02000503020000020003"/>
                <a:sym typeface="TT Chocolates" panose="02000503020000020003"/>
              </a:rPr>
              <a:t>Imen GHANMI</a:t>
            </a:r>
            <a:endParaRPr lang="en-US" sz="3600">
              <a:solidFill>
                <a:srgbClr val="404040"/>
              </a:solidFill>
              <a:latin typeface="TT Chocolates" panose="02000503020000020003"/>
              <a:ea typeface="TT Chocolates" panose="02000503020000020003"/>
              <a:cs typeface="TT Chocolates" panose="02000503020000020003"/>
              <a:sym typeface="TT Chocolates" panose="02000503020000020003"/>
            </a:endParaRPr>
          </a:p>
          <a:p>
            <a:pPr algn="ctr">
              <a:lnSpc>
                <a:spcPts val="4320"/>
              </a:lnSpc>
            </a:pPr>
            <a:endParaRPr lang="en-US" sz="3600">
              <a:solidFill>
                <a:srgbClr val="404040"/>
              </a:solidFill>
              <a:latin typeface="TT Chocolates" panose="02000503020000020003"/>
              <a:ea typeface="TT Chocolates" panose="02000503020000020003"/>
              <a:cs typeface="TT Chocolates" panose="02000503020000020003"/>
              <a:sym typeface="TT Chocolates" panose="02000503020000020003"/>
            </a:endParaRPr>
          </a:p>
          <a:p>
            <a:pPr algn="ctr">
              <a:lnSpc>
                <a:spcPts val="4320"/>
              </a:lnSpc>
            </a:pPr>
            <a:endParaRPr lang="en-US" sz="3600">
              <a:solidFill>
                <a:srgbClr val="404040"/>
              </a:solidFill>
              <a:latin typeface="TT Chocolates" panose="02000503020000020003"/>
              <a:ea typeface="TT Chocolates" panose="02000503020000020003"/>
              <a:cs typeface="TT Chocolates" panose="02000503020000020003"/>
              <a:sym typeface="TT Chocolates" panose="02000503020000020003"/>
            </a:endParaRPr>
          </a:p>
        </p:txBody>
      </p:sp>
      <p:sp>
        <p:nvSpPr>
          <p:cNvPr id="13" name="TextBox 13"/>
          <p:cNvSpPr txBox="1"/>
          <p:nvPr/>
        </p:nvSpPr>
        <p:spPr>
          <a:xfrm>
            <a:off x="565197" y="6782856"/>
            <a:ext cx="4662295" cy="1661795"/>
          </a:xfrm>
          <a:prstGeom prst="rect">
            <a:avLst/>
          </a:prstGeom>
        </p:spPr>
        <p:txBody>
          <a:bodyPr lIns="0" tIns="0" rIns="0" bIns="0" rtlCol="0" anchor="t">
            <a:spAutoFit/>
          </a:bodyPr>
          <a:lstStyle/>
          <a:p>
            <a:pPr algn="ctr">
              <a:lnSpc>
                <a:spcPts val="4320"/>
              </a:lnSpc>
            </a:pPr>
            <a:r>
              <a:rPr lang="en-US" sz="3600" b="1">
                <a:solidFill>
                  <a:srgbClr val="61778E"/>
                </a:solidFill>
                <a:latin typeface="TT Chocolates Bold" panose="02000803020000020003"/>
                <a:ea typeface="TT Chocolates Bold" panose="02000803020000020003"/>
                <a:cs typeface="TT Chocolates Bold" panose="02000803020000020003"/>
                <a:sym typeface="TT Chocolates Bold" panose="02000803020000020003"/>
              </a:rPr>
              <a:t>Encadré par: </a:t>
            </a:r>
          </a:p>
          <a:p>
            <a:pPr algn="l">
              <a:lnSpc>
                <a:spcPts val="4320"/>
              </a:lnSpc>
            </a:pPr>
            <a:r>
              <a:rPr lang="en-US" sz="3600">
                <a:solidFill>
                  <a:srgbClr val="404040"/>
                </a:solidFill>
                <a:latin typeface="TT Chocolates" panose="02000503020000020003"/>
                <a:ea typeface="TT Chocolates" panose="02000503020000020003"/>
                <a:cs typeface="TT Chocolates" panose="02000503020000020003"/>
                <a:sym typeface="TT Chocolates" panose="02000503020000020003"/>
              </a:rPr>
              <a:t>Mr </a:t>
            </a:r>
            <a:r>
              <a:rPr lang="fr-FR" altLang="en-US" sz="3600">
                <a:solidFill>
                  <a:srgbClr val="404040"/>
                </a:solidFill>
                <a:latin typeface="TT Chocolates" panose="02000503020000020003"/>
                <a:ea typeface="TT Chocolates" panose="02000503020000020003"/>
                <a:cs typeface="TT Chocolates" panose="02000503020000020003"/>
                <a:sym typeface="TT Chocolates" panose="02000503020000020003"/>
              </a:rPr>
              <a:t>Raed BEN KHLIFA</a:t>
            </a:r>
            <a:endParaRPr lang="en-US" sz="3600">
              <a:solidFill>
                <a:srgbClr val="404040"/>
              </a:solidFill>
              <a:latin typeface="TT Chocolates" panose="02000503020000020003"/>
              <a:ea typeface="TT Chocolates" panose="02000503020000020003"/>
              <a:cs typeface="TT Chocolates" panose="02000503020000020003"/>
              <a:sym typeface="TT Chocolates" panose="02000503020000020003"/>
            </a:endParaRPr>
          </a:p>
          <a:p>
            <a:pPr algn="l">
              <a:lnSpc>
                <a:spcPts val="4320"/>
              </a:lnSpc>
            </a:pPr>
            <a:r>
              <a:rPr lang="en-US" sz="3600">
                <a:solidFill>
                  <a:srgbClr val="404040"/>
                </a:solidFill>
                <a:latin typeface="TT Chocolates" panose="02000503020000020003"/>
                <a:ea typeface="TT Chocolates" panose="02000503020000020003"/>
                <a:cs typeface="TT Chocolates" panose="02000503020000020003"/>
                <a:sym typeface="TT Chocolates" panose="02000503020000020003"/>
              </a:rPr>
              <a:t>Mme </a:t>
            </a:r>
            <a:r>
              <a:rPr lang="fr-FR" altLang="en-US" sz="3600">
                <a:solidFill>
                  <a:srgbClr val="404040"/>
                </a:solidFill>
                <a:latin typeface="TT Chocolates" panose="02000503020000020003"/>
                <a:ea typeface="TT Chocolates" panose="02000503020000020003"/>
                <a:cs typeface="TT Chocolates" panose="02000503020000020003"/>
                <a:sym typeface="TT Chocolates" panose="02000503020000020003"/>
              </a:rPr>
              <a:t>Hadhemi ISSAOUI</a:t>
            </a:r>
          </a:p>
        </p:txBody>
      </p:sp>
      <p:sp>
        <p:nvSpPr>
          <p:cNvPr id="14" name="TextBox 14"/>
          <p:cNvSpPr txBox="1"/>
          <p:nvPr/>
        </p:nvSpPr>
        <p:spPr>
          <a:xfrm>
            <a:off x="2749282" y="9457322"/>
            <a:ext cx="12770387" cy="434975"/>
          </a:xfrm>
          <a:prstGeom prst="rect">
            <a:avLst/>
          </a:prstGeom>
        </p:spPr>
        <p:txBody>
          <a:bodyPr lIns="0" tIns="0" rIns="0" bIns="0" rtlCol="0" anchor="t">
            <a:spAutoFit/>
          </a:bodyPr>
          <a:lstStyle/>
          <a:p>
            <a:pPr algn="ctr">
              <a:lnSpc>
                <a:spcPts val="3250"/>
              </a:lnSpc>
            </a:pPr>
            <a:r>
              <a:rPr lang="en-US" sz="2500">
                <a:solidFill>
                  <a:srgbClr val="404040"/>
                </a:solidFill>
                <a:latin typeface="TT Chocolates" panose="02000503020000020003"/>
                <a:ea typeface="TT Chocolates" panose="02000503020000020003"/>
                <a:cs typeface="TT Chocolates" panose="02000503020000020003"/>
                <a:sym typeface="TT Chocolates" panose="02000503020000020003"/>
              </a:rPr>
              <a:t>2024/2025</a:t>
            </a:r>
          </a:p>
        </p:txBody>
      </p:sp>
      <p:sp>
        <p:nvSpPr>
          <p:cNvPr id="15" name="TextBox 15"/>
          <p:cNvSpPr txBox="1"/>
          <p:nvPr/>
        </p:nvSpPr>
        <p:spPr>
          <a:xfrm>
            <a:off x="4083031" y="196850"/>
            <a:ext cx="10773338" cy="1666875"/>
          </a:xfrm>
          <a:prstGeom prst="rect">
            <a:avLst/>
          </a:prstGeom>
        </p:spPr>
        <p:txBody>
          <a:bodyPr lIns="0" tIns="0" rIns="0" bIns="0" rtlCol="0" anchor="t">
            <a:spAutoFit/>
          </a:bodyPr>
          <a:lstStyle/>
          <a:p>
            <a:pPr algn="ctr">
              <a:lnSpc>
                <a:spcPts val="3250"/>
              </a:lnSpc>
            </a:pPr>
            <a:r>
              <a:rPr lang="en-US" sz="2500" b="1">
                <a:solidFill>
                  <a:srgbClr val="000001"/>
                </a:solidFill>
                <a:latin typeface="TT Chocolates Bold" panose="02000803020000020003"/>
                <a:ea typeface="TT Chocolates Bold" panose="02000803020000020003"/>
                <a:cs typeface="TT Chocolates Bold" panose="02000803020000020003"/>
                <a:sym typeface="TT Chocolates Bold" panose="02000803020000020003"/>
              </a:rPr>
              <a:t>INSTITUT SUPÉRIEUR DES ETUDES TECHNOLOGIQUES DE</a:t>
            </a:r>
          </a:p>
          <a:p>
            <a:pPr algn="ctr">
              <a:lnSpc>
                <a:spcPts val="3250"/>
              </a:lnSpc>
            </a:pPr>
            <a:r>
              <a:rPr lang="fr-FR" altLang="en-US" sz="2500" b="1">
                <a:solidFill>
                  <a:srgbClr val="000001"/>
                </a:solidFill>
                <a:latin typeface="TT Chocolates Bold" panose="02000803020000020003"/>
                <a:ea typeface="TT Chocolates Bold" panose="02000803020000020003"/>
                <a:cs typeface="TT Chocolates Bold" panose="02000803020000020003"/>
                <a:sym typeface="TT Chocolates Bold" panose="02000803020000020003"/>
              </a:rPr>
              <a:t>Gafsa</a:t>
            </a:r>
            <a:r>
              <a:rPr lang="en-US" sz="2500" b="1">
                <a:solidFill>
                  <a:srgbClr val="000001"/>
                </a:solidFill>
                <a:latin typeface="TT Chocolates Bold" panose="02000803020000020003"/>
                <a:ea typeface="TT Chocolates Bold" panose="02000803020000020003"/>
                <a:cs typeface="TT Chocolates Bold" panose="02000803020000020003"/>
                <a:sym typeface="TT Chocolates Bold" panose="02000803020000020003"/>
              </a:rPr>
              <a:t> DÉPARTEMENT TECHNOLOGIES DE</a:t>
            </a:r>
          </a:p>
          <a:p>
            <a:pPr algn="ctr">
              <a:lnSpc>
                <a:spcPts val="3250"/>
              </a:lnSpc>
            </a:pPr>
            <a:r>
              <a:rPr lang="en-US" sz="2500" b="1">
                <a:solidFill>
                  <a:srgbClr val="000001"/>
                </a:solidFill>
                <a:latin typeface="TT Chocolates Bold" panose="02000803020000020003"/>
                <a:ea typeface="TT Chocolates Bold" panose="02000803020000020003"/>
                <a:cs typeface="TT Chocolates Bold" panose="02000803020000020003"/>
                <a:sym typeface="TT Chocolates Bold" panose="02000803020000020003"/>
              </a:rPr>
              <a:t>L'INFORMATIQUE</a:t>
            </a:r>
          </a:p>
          <a:p>
            <a:pPr algn="ctr">
              <a:lnSpc>
                <a:spcPts val="3250"/>
              </a:lnSpc>
            </a:pPr>
            <a:endParaRPr lang="en-US" sz="2500" b="1">
              <a:solidFill>
                <a:srgbClr val="000001"/>
              </a:solidFill>
              <a:latin typeface="TT Chocolates Bold" panose="02000803020000020003"/>
              <a:ea typeface="TT Chocolates Bold" panose="02000803020000020003"/>
              <a:cs typeface="TT Chocolates Bold" panose="02000803020000020003"/>
              <a:sym typeface="TT Chocolates Bold" panose="02000803020000020003"/>
            </a:endParaRPr>
          </a:p>
        </p:txBody>
      </p:sp>
      <p:sp>
        <p:nvSpPr>
          <p:cNvPr id="16" name="TextBox 16"/>
          <p:cNvSpPr txBox="1"/>
          <p:nvPr/>
        </p:nvSpPr>
        <p:spPr>
          <a:xfrm>
            <a:off x="3276850" y="2324180"/>
            <a:ext cx="11594291" cy="1096137"/>
          </a:xfrm>
          <a:prstGeom prst="rect">
            <a:avLst/>
          </a:prstGeom>
        </p:spPr>
        <p:txBody>
          <a:bodyPr lIns="0" tIns="0" rIns="0" bIns="0" rtlCol="0" anchor="t">
            <a:spAutoFit/>
          </a:bodyPr>
          <a:lstStyle/>
          <a:p>
            <a:pPr algn="ctr">
              <a:lnSpc>
                <a:spcPts val="8065"/>
              </a:lnSpc>
            </a:pPr>
            <a:r>
              <a:rPr lang="en-US" sz="9600">
                <a:solidFill>
                  <a:srgbClr val="404040"/>
                </a:solidFill>
                <a:latin typeface="The Seasons"/>
                <a:ea typeface="The Seasons"/>
                <a:cs typeface="The Seasons"/>
                <a:sym typeface="The Seasons"/>
              </a:rPr>
              <a:t>Projet de fin d’études</a:t>
            </a:r>
          </a:p>
        </p:txBody>
      </p:sp>
      <p:sp>
        <p:nvSpPr>
          <p:cNvPr id="17" name="TextBox 17"/>
          <p:cNvSpPr txBox="1"/>
          <p:nvPr/>
        </p:nvSpPr>
        <p:spPr>
          <a:xfrm>
            <a:off x="3429250" y="4762513"/>
            <a:ext cx="11088607" cy="1791329"/>
          </a:xfrm>
          <a:prstGeom prst="rect">
            <a:avLst/>
          </a:prstGeom>
        </p:spPr>
        <p:txBody>
          <a:bodyPr lIns="0" tIns="0" rIns="0" bIns="0" rtlCol="0" anchor="t">
            <a:spAutoFit/>
          </a:bodyPr>
          <a:lstStyle/>
          <a:p>
            <a:pPr algn="ctr">
              <a:lnSpc>
                <a:spcPts val="4680"/>
              </a:lnSpc>
            </a:pPr>
            <a:r>
              <a:rPr lang="en-US" sz="3600" b="1" dirty="0">
                <a:solidFill>
                  <a:srgbClr val="004AAD"/>
                </a:solidFill>
                <a:latin typeface="TT Chocolates Bold" panose="02000803020000020003"/>
                <a:ea typeface="TT Chocolates Bold" panose="02000803020000020003"/>
                <a:cs typeface="TT Chocolates Bold" panose="02000803020000020003"/>
                <a:sym typeface="TT Chocolates Bold" panose="02000803020000020003"/>
              </a:rPr>
              <a:t>DEVELOPEMENT D’UNE PLATEFORME DE MARKETING </a:t>
            </a:r>
          </a:p>
          <a:p>
            <a:pPr algn="ctr">
              <a:lnSpc>
                <a:spcPts val="4680"/>
              </a:lnSpc>
            </a:pPr>
            <a:r>
              <a:rPr lang="en-US" sz="3600" b="1" dirty="0">
                <a:solidFill>
                  <a:srgbClr val="004AAD"/>
                </a:solidFill>
                <a:latin typeface="TT Chocolates Bold" panose="02000803020000020003"/>
                <a:ea typeface="TT Chocolates Bold" panose="02000803020000020003"/>
                <a:cs typeface="TT Chocolates Bold" panose="02000803020000020003"/>
                <a:sym typeface="TT Chocolates Bold" panose="02000803020000020003"/>
              </a:rPr>
              <a:t>D’INFLUENCE POUR MICRO MARQUES</a:t>
            </a:r>
          </a:p>
          <a:p>
            <a:pPr algn="ctr">
              <a:lnSpc>
                <a:spcPts val="4940"/>
              </a:lnSpc>
            </a:pPr>
            <a:endParaRPr lang="en-US" sz="3600" b="1" dirty="0">
              <a:solidFill>
                <a:srgbClr val="004AAD"/>
              </a:solidFill>
              <a:latin typeface="TT Chocolates Bold" panose="02000803020000020003"/>
              <a:ea typeface="TT Chocolates Bold" panose="02000803020000020003"/>
              <a:cs typeface="TT Chocolates Bold" panose="02000803020000020003"/>
              <a:sym typeface="TT Chocolates Bold" panose="02000803020000020003"/>
            </a:endParaRPr>
          </a:p>
        </p:txBody>
      </p:sp>
      <p:sp>
        <p:nvSpPr>
          <p:cNvPr id="18" name="TextBox 18"/>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1</a:t>
            </a:r>
          </a:p>
        </p:txBody>
      </p:sp>
      <p:pic>
        <p:nvPicPr>
          <p:cNvPr id="19" name="Image 14" descr="i1.png"/>
          <p:cNvPicPr>
            <a:picLocks noChangeAspect="1"/>
          </p:cNvPicPr>
          <p:nvPr/>
        </p:nvPicPr>
        <p:blipFill>
          <a:blip r:embed="rId4" cstate="print"/>
          <a:stretch>
            <a:fillRect/>
          </a:stretch>
        </p:blipFill>
        <p:spPr>
          <a:xfrm>
            <a:off x="1263015" y="69215"/>
            <a:ext cx="1558925" cy="1435100"/>
          </a:xfrm>
          <a:prstGeom prst="rect">
            <a:avLst/>
          </a:prstGeom>
        </p:spPr>
      </p:pic>
      <p:pic>
        <p:nvPicPr>
          <p:cNvPr id="20" name="Image 42" descr="C:/Users/dahma/Desktop/pfe/Image1.pngImage1"/>
          <p:cNvPicPr/>
          <p:nvPr/>
        </p:nvPicPr>
        <p:blipFill>
          <a:blip r:embed="rId5">
            <a:extLst>
              <a:ext uri="{28A0092B-C50C-407E-A947-70E740481C1C}">
                <a14:useLocalDpi xmlns:a14="http://schemas.microsoft.com/office/drawing/2010/main" val="0"/>
              </a:ext>
            </a:extLst>
          </a:blip>
          <a:srcRect t="2149" b="2149"/>
          <a:stretch>
            <a:fillRect/>
          </a:stretch>
        </p:blipFill>
        <p:spPr>
          <a:xfrm>
            <a:off x="15002510" y="113983"/>
            <a:ext cx="2609850" cy="156019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l="-3849" r="-3849"/>
              </a:stretch>
            </a:blipFill>
          </p:spPr>
        </p:sp>
      </p:grpSp>
      <p:grpSp>
        <p:nvGrpSpPr>
          <p:cNvPr id="4" name="Group 4"/>
          <p:cNvGrpSpPr/>
          <p:nvPr/>
        </p:nvGrpSpPr>
        <p:grpSpPr>
          <a:xfrm>
            <a:off x="5918730" y="216721"/>
            <a:ext cx="12086923" cy="9744688"/>
            <a:chOff x="0" y="0"/>
            <a:chExt cx="16115897" cy="12992917"/>
          </a:xfrm>
        </p:grpSpPr>
        <p:sp>
          <p:nvSpPr>
            <p:cNvPr id="5" name="Freeform 5"/>
            <p:cNvSpPr/>
            <p:nvPr/>
          </p:nvSpPr>
          <p:spPr>
            <a:xfrm>
              <a:off x="0" y="0"/>
              <a:ext cx="16115919" cy="12992862"/>
            </a:xfrm>
            <a:custGeom>
              <a:avLst/>
              <a:gdLst/>
              <a:ahLst/>
              <a:cxnLst/>
              <a:rect l="l" t="t" r="r" b="b"/>
              <a:pathLst>
                <a:path w="16115919" h="12992862">
                  <a:moveTo>
                    <a:pt x="0" y="0"/>
                  </a:moveTo>
                  <a:lnTo>
                    <a:pt x="16115919" y="0"/>
                  </a:lnTo>
                  <a:lnTo>
                    <a:pt x="16115919" y="12992862"/>
                  </a:lnTo>
                  <a:lnTo>
                    <a:pt x="0" y="12992862"/>
                  </a:lnTo>
                  <a:lnTo>
                    <a:pt x="0" y="0"/>
                  </a:lnTo>
                  <a:close/>
                </a:path>
              </a:pathLst>
            </a:custGeom>
            <a:blipFill>
              <a:blip r:embed="rId4"/>
              <a:stretch>
                <a:fillRect l="-549" r="-549"/>
              </a:stretch>
            </a:blipFill>
          </p:spPr>
        </p:sp>
      </p:grpSp>
      <p:sp>
        <p:nvSpPr>
          <p:cNvPr id="6" name="TextBox 6"/>
          <p:cNvSpPr txBox="1"/>
          <p:nvPr/>
        </p:nvSpPr>
        <p:spPr>
          <a:xfrm>
            <a:off x="0" y="2512916"/>
            <a:ext cx="6599259" cy="3269461"/>
          </a:xfrm>
          <a:prstGeom prst="rect">
            <a:avLst/>
          </a:prstGeom>
        </p:spPr>
        <p:txBody>
          <a:bodyPr lIns="0" tIns="0" rIns="0" bIns="0" rtlCol="0" anchor="t">
            <a:spAutoFit/>
          </a:bodyPr>
          <a:lstStyle/>
          <a:p>
            <a:pPr algn="ctr">
              <a:lnSpc>
                <a:spcPts val="8340"/>
              </a:lnSpc>
            </a:pPr>
            <a:r>
              <a:rPr lang="en-US" sz="6415" b="1">
                <a:solidFill>
                  <a:srgbClr val="004AAD"/>
                </a:solidFill>
                <a:latin typeface="The Seasons Bold"/>
                <a:ea typeface="The Seasons Bold"/>
                <a:cs typeface="The Seasons Bold"/>
                <a:sym typeface="The Seasons Bold"/>
              </a:rPr>
              <a:t>Plan </a:t>
            </a:r>
          </a:p>
          <a:p>
            <a:pPr algn="ctr">
              <a:lnSpc>
                <a:spcPts val="8340"/>
              </a:lnSpc>
            </a:pPr>
            <a:r>
              <a:rPr lang="en-US" sz="6415" b="1">
                <a:solidFill>
                  <a:srgbClr val="004AAD"/>
                </a:solidFill>
                <a:latin typeface="The Seasons Bold"/>
                <a:ea typeface="The Seasons Bold"/>
                <a:cs typeface="The Seasons Bold"/>
                <a:sym typeface="The Seasons Bold"/>
              </a:rPr>
              <a:t>de la présentation </a:t>
            </a:r>
          </a:p>
        </p:txBody>
      </p:sp>
      <p:sp>
        <p:nvSpPr>
          <p:cNvPr id="7" name="TextBox 7"/>
          <p:cNvSpPr txBox="1"/>
          <p:nvPr/>
        </p:nvSpPr>
        <p:spPr>
          <a:xfrm>
            <a:off x="4920782" y="604838"/>
            <a:ext cx="3793383" cy="790575"/>
          </a:xfrm>
          <a:prstGeom prst="rect">
            <a:avLst/>
          </a:prstGeom>
        </p:spPr>
        <p:txBody>
          <a:bodyPr lIns="0" tIns="0" rIns="0" bIns="0" rtlCol="0" anchor="t">
            <a:spAutoFit/>
          </a:bodyPr>
          <a:lstStyle/>
          <a:p>
            <a:pPr algn="ctr">
              <a:lnSpc>
                <a:spcPts val="6380"/>
              </a:lnSpc>
            </a:pPr>
            <a:r>
              <a:rPr lang="en-US" sz="5320" b="1">
                <a:solidFill>
                  <a:srgbClr val="000000"/>
                </a:solidFill>
                <a:latin typeface="Fraunces Bold"/>
                <a:ea typeface="Fraunces Bold"/>
                <a:cs typeface="Fraunces Bold"/>
                <a:sym typeface="Fraunces Bold"/>
              </a:rPr>
              <a:t>01</a:t>
            </a:r>
          </a:p>
        </p:txBody>
      </p:sp>
      <p:sp>
        <p:nvSpPr>
          <p:cNvPr id="8" name="TextBox 8"/>
          <p:cNvSpPr txBox="1"/>
          <p:nvPr/>
        </p:nvSpPr>
        <p:spPr>
          <a:xfrm>
            <a:off x="8237326" y="681038"/>
            <a:ext cx="6436187" cy="714375"/>
          </a:xfrm>
          <a:prstGeom prst="rect">
            <a:avLst/>
          </a:prstGeom>
        </p:spPr>
        <p:txBody>
          <a:bodyPr lIns="0" tIns="0" rIns="0" bIns="0" rtlCol="0" anchor="t">
            <a:spAutoFit/>
          </a:bodyPr>
          <a:lstStyle/>
          <a:p>
            <a:pPr algn="ctr">
              <a:lnSpc>
                <a:spcPts val="5780"/>
              </a:lnSpc>
            </a:pPr>
            <a:r>
              <a:rPr lang="en-US" sz="4815">
                <a:solidFill>
                  <a:srgbClr val="000000"/>
                </a:solidFill>
                <a:latin typeface="Fraunces"/>
                <a:ea typeface="Fraunces"/>
                <a:cs typeface="Fraunces"/>
                <a:sym typeface="Fraunces"/>
              </a:rPr>
              <a:t>Introduction</a:t>
            </a:r>
          </a:p>
        </p:txBody>
      </p:sp>
      <p:sp>
        <p:nvSpPr>
          <p:cNvPr id="9" name="TextBox 9"/>
          <p:cNvSpPr txBox="1"/>
          <p:nvPr/>
        </p:nvSpPr>
        <p:spPr>
          <a:xfrm>
            <a:off x="5645546" y="1625552"/>
            <a:ext cx="2326527" cy="790575"/>
          </a:xfrm>
          <a:prstGeom prst="rect">
            <a:avLst/>
          </a:prstGeom>
        </p:spPr>
        <p:txBody>
          <a:bodyPr lIns="0" tIns="0" rIns="0" bIns="0" rtlCol="0" anchor="t">
            <a:spAutoFit/>
          </a:bodyPr>
          <a:lstStyle/>
          <a:p>
            <a:pPr algn="ctr">
              <a:lnSpc>
                <a:spcPts val="6380"/>
              </a:lnSpc>
            </a:pPr>
            <a:r>
              <a:rPr lang="en-US" sz="5320" b="1">
                <a:solidFill>
                  <a:srgbClr val="000000"/>
                </a:solidFill>
                <a:latin typeface="Fraunces Bold"/>
                <a:ea typeface="Fraunces Bold"/>
                <a:cs typeface="Fraunces Bold"/>
                <a:sym typeface="Fraunces Bold"/>
              </a:rPr>
              <a:t>02</a:t>
            </a:r>
          </a:p>
        </p:txBody>
      </p:sp>
      <p:sp>
        <p:nvSpPr>
          <p:cNvPr id="10" name="TextBox 10"/>
          <p:cNvSpPr txBox="1"/>
          <p:nvPr/>
        </p:nvSpPr>
        <p:spPr>
          <a:xfrm>
            <a:off x="7272710" y="1673177"/>
            <a:ext cx="8446437" cy="714375"/>
          </a:xfrm>
          <a:prstGeom prst="rect">
            <a:avLst/>
          </a:prstGeom>
        </p:spPr>
        <p:txBody>
          <a:bodyPr lIns="0" tIns="0" rIns="0" bIns="0" rtlCol="0" anchor="t">
            <a:spAutoFit/>
          </a:bodyPr>
          <a:lstStyle/>
          <a:p>
            <a:pPr algn="ctr">
              <a:lnSpc>
                <a:spcPts val="5785"/>
              </a:lnSpc>
            </a:pPr>
            <a:r>
              <a:rPr lang="en-US" sz="4820">
                <a:solidFill>
                  <a:srgbClr val="000000"/>
                </a:solidFill>
                <a:latin typeface="Fraunces"/>
                <a:ea typeface="Fraunces"/>
                <a:cs typeface="Fraunces"/>
                <a:sym typeface="Fraunces"/>
              </a:rPr>
              <a:t>Cadre du projet</a:t>
            </a:r>
          </a:p>
        </p:txBody>
      </p:sp>
      <p:sp>
        <p:nvSpPr>
          <p:cNvPr id="11" name="TextBox 11"/>
          <p:cNvSpPr txBox="1"/>
          <p:nvPr/>
        </p:nvSpPr>
        <p:spPr>
          <a:xfrm>
            <a:off x="5397620" y="2703416"/>
            <a:ext cx="2839706" cy="790575"/>
          </a:xfrm>
          <a:prstGeom prst="rect">
            <a:avLst/>
          </a:prstGeom>
        </p:spPr>
        <p:txBody>
          <a:bodyPr lIns="0" tIns="0" rIns="0" bIns="0" rtlCol="0" anchor="t">
            <a:spAutoFit/>
          </a:bodyPr>
          <a:lstStyle/>
          <a:p>
            <a:pPr algn="ctr">
              <a:lnSpc>
                <a:spcPts val="6380"/>
              </a:lnSpc>
            </a:pPr>
            <a:r>
              <a:rPr lang="en-US" sz="5320" b="1">
                <a:solidFill>
                  <a:srgbClr val="000000"/>
                </a:solidFill>
                <a:latin typeface="Fraunces Bold"/>
                <a:ea typeface="Fraunces Bold"/>
                <a:cs typeface="Fraunces Bold"/>
                <a:sym typeface="Fraunces Bold"/>
              </a:rPr>
              <a:t>03</a:t>
            </a:r>
          </a:p>
        </p:txBody>
      </p:sp>
      <p:sp>
        <p:nvSpPr>
          <p:cNvPr id="12" name="TextBox 12"/>
          <p:cNvSpPr txBox="1"/>
          <p:nvPr/>
        </p:nvSpPr>
        <p:spPr>
          <a:xfrm>
            <a:off x="7091540" y="2608166"/>
            <a:ext cx="11196460" cy="803275"/>
          </a:xfrm>
          <a:prstGeom prst="rect">
            <a:avLst/>
          </a:prstGeom>
        </p:spPr>
        <p:txBody>
          <a:bodyPr lIns="0" tIns="0" rIns="0" bIns="0" rtlCol="0" anchor="t">
            <a:spAutoFit/>
          </a:bodyPr>
          <a:lstStyle/>
          <a:p>
            <a:pPr algn="ctr">
              <a:lnSpc>
                <a:spcPts val="6265"/>
              </a:lnSpc>
            </a:pPr>
            <a:r>
              <a:rPr lang="en-US" sz="4400" dirty="0" err="1">
                <a:solidFill>
                  <a:srgbClr val="000000"/>
                </a:solidFill>
                <a:latin typeface="Fraunces"/>
                <a:ea typeface="Fraunces"/>
                <a:cs typeface="Fraunces"/>
                <a:sym typeface="Fraunces"/>
              </a:rPr>
              <a:t>Analyse</a:t>
            </a:r>
            <a:r>
              <a:rPr lang="en-US" sz="4400" dirty="0">
                <a:solidFill>
                  <a:srgbClr val="000000"/>
                </a:solidFill>
                <a:latin typeface="Fraunces"/>
                <a:ea typeface="Fraunces"/>
                <a:cs typeface="Fraunces"/>
                <a:sym typeface="Fraunces"/>
              </a:rPr>
              <a:t> et  </a:t>
            </a:r>
            <a:r>
              <a:rPr lang="en-US" sz="4400" dirty="0" err="1">
                <a:solidFill>
                  <a:srgbClr val="000000"/>
                </a:solidFill>
                <a:latin typeface="Fraunces"/>
                <a:ea typeface="Fraunces"/>
                <a:cs typeface="Fraunces"/>
                <a:sym typeface="Fraunces"/>
              </a:rPr>
              <a:t>spécification</a:t>
            </a:r>
            <a:r>
              <a:rPr lang="en-US" sz="4400" dirty="0">
                <a:solidFill>
                  <a:srgbClr val="000000"/>
                </a:solidFill>
                <a:latin typeface="Fraunces"/>
                <a:ea typeface="Fraunces"/>
                <a:cs typeface="Fraunces"/>
                <a:sym typeface="Fraunces"/>
              </a:rPr>
              <a:t> des </a:t>
            </a:r>
            <a:r>
              <a:rPr lang="en-US" sz="4400" dirty="0" err="1">
                <a:solidFill>
                  <a:srgbClr val="000000"/>
                </a:solidFill>
                <a:latin typeface="Fraunces"/>
                <a:ea typeface="Fraunces"/>
                <a:cs typeface="Fraunces"/>
                <a:sym typeface="Fraunces"/>
              </a:rPr>
              <a:t>besoins</a:t>
            </a:r>
            <a:endParaRPr lang="en-US" sz="4400" dirty="0">
              <a:solidFill>
                <a:srgbClr val="000000"/>
              </a:solidFill>
              <a:latin typeface="Fraunces"/>
              <a:ea typeface="Fraunces"/>
              <a:cs typeface="Fraunces"/>
              <a:sym typeface="Fraunces"/>
            </a:endParaRPr>
          </a:p>
        </p:txBody>
      </p:sp>
      <p:sp>
        <p:nvSpPr>
          <p:cNvPr id="13" name="TextBox 13"/>
          <p:cNvSpPr txBox="1"/>
          <p:nvPr/>
        </p:nvSpPr>
        <p:spPr>
          <a:xfrm>
            <a:off x="5673260" y="3798791"/>
            <a:ext cx="2326527" cy="790575"/>
          </a:xfrm>
          <a:prstGeom prst="rect">
            <a:avLst/>
          </a:prstGeom>
        </p:spPr>
        <p:txBody>
          <a:bodyPr lIns="0" tIns="0" rIns="0" bIns="0" rtlCol="0" anchor="t">
            <a:spAutoFit/>
          </a:bodyPr>
          <a:lstStyle/>
          <a:p>
            <a:pPr algn="ctr">
              <a:lnSpc>
                <a:spcPts val="6380"/>
              </a:lnSpc>
            </a:pPr>
            <a:r>
              <a:rPr lang="en-US" sz="5320" b="1">
                <a:solidFill>
                  <a:srgbClr val="000000"/>
                </a:solidFill>
                <a:latin typeface="Fraunces Bold"/>
                <a:ea typeface="Fraunces Bold"/>
                <a:cs typeface="Fraunces Bold"/>
                <a:sym typeface="Fraunces Bold"/>
              </a:rPr>
              <a:t>04</a:t>
            </a:r>
          </a:p>
        </p:txBody>
      </p:sp>
      <p:sp>
        <p:nvSpPr>
          <p:cNvPr id="14" name="TextBox 14"/>
          <p:cNvSpPr txBox="1"/>
          <p:nvPr/>
        </p:nvSpPr>
        <p:spPr>
          <a:xfrm>
            <a:off x="7088432" y="3761908"/>
            <a:ext cx="11199568" cy="801370"/>
          </a:xfrm>
          <a:prstGeom prst="rect">
            <a:avLst/>
          </a:prstGeom>
        </p:spPr>
        <p:txBody>
          <a:bodyPr lIns="0" tIns="0" rIns="0" bIns="0" rtlCol="0" anchor="t">
            <a:spAutoFit/>
          </a:bodyPr>
          <a:lstStyle/>
          <a:p>
            <a:pPr algn="ctr">
              <a:lnSpc>
                <a:spcPts val="6250"/>
              </a:lnSpc>
            </a:pPr>
            <a:r>
              <a:rPr lang="en-US" sz="4400" dirty="0">
                <a:solidFill>
                  <a:srgbClr val="000000"/>
                </a:solidFill>
                <a:latin typeface="Fraunces"/>
                <a:ea typeface="Fraunces"/>
                <a:cs typeface="Fraunces"/>
                <a:sym typeface="Fraunces"/>
              </a:rPr>
              <a:t> Conception et </a:t>
            </a:r>
            <a:r>
              <a:rPr lang="en-US" sz="4400" dirty="0" err="1">
                <a:solidFill>
                  <a:srgbClr val="000000"/>
                </a:solidFill>
                <a:latin typeface="Fraunces"/>
                <a:ea typeface="Fraunces"/>
                <a:cs typeface="Fraunces"/>
                <a:sym typeface="Fraunces"/>
              </a:rPr>
              <a:t>réalisation</a:t>
            </a:r>
            <a:r>
              <a:rPr lang="en-US" sz="4400" dirty="0">
                <a:solidFill>
                  <a:srgbClr val="000000"/>
                </a:solidFill>
                <a:latin typeface="Fraunces"/>
                <a:ea typeface="Fraunces"/>
                <a:cs typeface="Fraunces"/>
                <a:sym typeface="Fraunces"/>
              </a:rPr>
              <a:t> releases 1</a:t>
            </a:r>
          </a:p>
        </p:txBody>
      </p:sp>
      <p:sp>
        <p:nvSpPr>
          <p:cNvPr id="15" name="TextBox 15"/>
          <p:cNvSpPr txBox="1"/>
          <p:nvPr/>
        </p:nvSpPr>
        <p:spPr>
          <a:xfrm>
            <a:off x="2594255" y="4948596"/>
            <a:ext cx="8446437" cy="790575"/>
          </a:xfrm>
          <a:prstGeom prst="rect">
            <a:avLst/>
          </a:prstGeom>
        </p:spPr>
        <p:txBody>
          <a:bodyPr lIns="0" tIns="0" rIns="0" bIns="0" rtlCol="0" anchor="t">
            <a:spAutoFit/>
          </a:bodyPr>
          <a:lstStyle/>
          <a:p>
            <a:pPr algn="ctr">
              <a:lnSpc>
                <a:spcPts val="6380"/>
              </a:lnSpc>
            </a:pPr>
            <a:r>
              <a:rPr lang="en-US" sz="5320" b="1">
                <a:solidFill>
                  <a:srgbClr val="000000"/>
                </a:solidFill>
                <a:latin typeface="Fraunces Bold"/>
                <a:ea typeface="Fraunces Bold"/>
                <a:cs typeface="Fraunces Bold"/>
                <a:sym typeface="Fraunces Bold"/>
              </a:rPr>
              <a:t>05</a:t>
            </a:r>
          </a:p>
        </p:txBody>
      </p:sp>
      <p:sp>
        <p:nvSpPr>
          <p:cNvPr id="16" name="TextBox 16"/>
          <p:cNvSpPr txBox="1"/>
          <p:nvPr/>
        </p:nvSpPr>
        <p:spPr>
          <a:xfrm>
            <a:off x="7363152" y="4834296"/>
            <a:ext cx="10642501" cy="1514475"/>
          </a:xfrm>
          <a:prstGeom prst="rect">
            <a:avLst/>
          </a:prstGeom>
        </p:spPr>
        <p:txBody>
          <a:bodyPr lIns="0" tIns="0" rIns="0" bIns="0" rtlCol="0" anchor="t">
            <a:spAutoFit/>
          </a:bodyPr>
          <a:lstStyle/>
          <a:p>
            <a:pPr algn="ctr">
              <a:lnSpc>
                <a:spcPts val="5905"/>
              </a:lnSpc>
            </a:pPr>
            <a:r>
              <a:rPr lang="en-US" sz="4400" dirty="0">
                <a:solidFill>
                  <a:srgbClr val="000000"/>
                </a:solidFill>
                <a:latin typeface="Fraunces"/>
                <a:ea typeface="Fraunces"/>
                <a:cs typeface="Fraunces"/>
                <a:sym typeface="Fraunces"/>
              </a:rPr>
              <a:t>Release2 – </a:t>
            </a:r>
            <a:r>
              <a:rPr lang="en-US" sz="4400" dirty="0" err="1">
                <a:solidFill>
                  <a:srgbClr val="000000"/>
                </a:solidFill>
                <a:latin typeface="Fraunces"/>
                <a:ea typeface="Fraunces"/>
                <a:cs typeface="Fraunces"/>
                <a:sym typeface="Fraunces"/>
              </a:rPr>
              <a:t>Gestion</a:t>
            </a:r>
            <a:r>
              <a:rPr lang="en-US" sz="4400" dirty="0">
                <a:solidFill>
                  <a:srgbClr val="000000"/>
                </a:solidFill>
                <a:latin typeface="Fraunces"/>
                <a:ea typeface="Fraunces"/>
                <a:cs typeface="Fraunces"/>
                <a:sym typeface="Fraunces"/>
              </a:rPr>
              <a:t> des marques et des </a:t>
            </a:r>
            <a:r>
              <a:rPr lang="en-US" sz="4400" dirty="0" err="1">
                <a:solidFill>
                  <a:srgbClr val="000000"/>
                </a:solidFill>
                <a:latin typeface="Fraunces"/>
                <a:ea typeface="Fraunces"/>
                <a:cs typeface="Fraunces"/>
                <a:sym typeface="Fraunces"/>
              </a:rPr>
              <a:t>influenceurs</a:t>
            </a:r>
            <a:endParaRPr lang="en-US" sz="4400" dirty="0">
              <a:solidFill>
                <a:srgbClr val="000000"/>
              </a:solidFill>
              <a:latin typeface="Fraunces"/>
              <a:ea typeface="Fraunces"/>
              <a:cs typeface="Fraunces"/>
              <a:sym typeface="Fraunces"/>
            </a:endParaRPr>
          </a:p>
        </p:txBody>
      </p:sp>
      <p:sp>
        <p:nvSpPr>
          <p:cNvPr id="17" name="TextBox 17"/>
          <p:cNvSpPr txBox="1"/>
          <p:nvPr/>
        </p:nvSpPr>
        <p:spPr>
          <a:xfrm>
            <a:off x="5514179" y="6790430"/>
            <a:ext cx="2644689" cy="790575"/>
          </a:xfrm>
          <a:prstGeom prst="rect">
            <a:avLst/>
          </a:prstGeom>
        </p:spPr>
        <p:txBody>
          <a:bodyPr lIns="0" tIns="0" rIns="0" bIns="0" rtlCol="0" anchor="t">
            <a:spAutoFit/>
          </a:bodyPr>
          <a:lstStyle/>
          <a:p>
            <a:pPr algn="ctr">
              <a:lnSpc>
                <a:spcPts val="6380"/>
              </a:lnSpc>
            </a:pPr>
            <a:r>
              <a:rPr lang="en-US" sz="5320" b="1">
                <a:solidFill>
                  <a:srgbClr val="000000"/>
                </a:solidFill>
                <a:latin typeface="Fraunces Bold"/>
                <a:ea typeface="Fraunces Bold"/>
                <a:cs typeface="Fraunces Bold"/>
                <a:sym typeface="Fraunces Bold"/>
              </a:rPr>
              <a:t>06</a:t>
            </a:r>
          </a:p>
        </p:txBody>
      </p:sp>
      <p:sp>
        <p:nvSpPr>
          <p:cNvPr id="18" name="TextBox 18"/>
          <p:cNvSpPr txBox="1"/>
          <p:nvPr/>
        </p:nvSpPr>
        <p:spPr>
          <a:xfrm>
            <a:off x="8237326" y="6386871"/>
            <a:ext cx="8630839" cy="1596263"/>
          </a:xfrm>
          <a:prstGeom prst="rect">
            <a:avLst/>
          </a:prstGeom>
        </p:spPr>
        <p:txBody>
          <a:bodyPr lIns="0" tIns="0" rIns="0" bIns="0" rtlCol="0" anchor="t">
            <a:spAutoFit/>
          </a:bodyPr>
          <a:lstStyle/>
          <a:p>
            <a:pPr algn="ctr">
              <a:lnSpc>
                <a:spcPts val="6250"/>
              </a:lnSpc>
            </a:pPr>
            <a:r>
              <a:rPr lang="en-US" sz="4810" dirty="0">
                <a:solidFill>
                  <a:srgbClr val="000000"/>
                </a:solidFill>
                <a:latin typeface="Fraunces"/>
                <a:ea typeface="Fraunces"/>
                <a:cs typeface="Fraunces"/>
                <a:sym typeface="Fraunces"/>
              </a:rPr>
              <a:t>Release 3 Collaboration,</a:t>
            </a:r>
          </a:p>
          <a:p>
            <a:pPr algn="ctr">
              <a:lnSpc>
                <a:spcPts val="6250"/>
              </a:lnSpc>
            </a:pPr>
            <a:r>
              <a:rPr lang="en-US" sz="4810" dirty="0" err="1">
                <a:solidFill>
                  <a:srgbClr val="000000"/>
                </a:solidFill>
                <a:latin typeface="Fraunces"/>
                <a:ea typeface="Fraunces"/>
                <a:cs typeface="Fraunces"/>
                <a:sym typeface="Fraunces"/>
              </a:rPr>
              <a:t>communicationet</a:t>
            </a:r>
            <a:r>
              <a:rPr lang="en-US" sz="4810" dirty="0">
                <a:solidFill>
                  <a:srgbClr val="000000"/>
                </a:solidFill>
                <a:latin typeface="Fraunces"/>
                <a:ea typeface="Fraunces"/>
                <a:cs typeface="Fraunces"/>
                <a:sym typeface="Fraunces"/>
              </a:rPr>
              <a:t> </a:t>
            </a:r>
            <a:r>
              <a:rPr lang="en-US" sz="4810" dirty="0" err="1">
                <a:solidFill>
                  <a:srgbClr val="000000"/>
                </a:solidFill>
                <a:latin typeface="Fraunces"/>
                <a:ea typeface="Fraunces"/>
                <a:cs typeface="Fraunces"/>
                <a:sym typeface="Fraunces"/>
              </a:rPr>
              <a:t>paiements</a:t>
            </a:r>
            <a:endParaRPr lang="en-US" sz="4810" dirty="0">
              <a:solidFill>
                <a:srgbClr val="000000"/>
              </a:solidFill>
              <a:latin typeface="Fraunces"/>
              <a:ea typeface="Fraunces"/>
              <a:cs typeface="Fraunces"/>
              <a:sym typeface="Fraunces"/>
            </a:endParaRPr>
          </a:p>
        </p:txBody>
      </p:sp>
      <p:sp>
        <p:nvSpPr>
          <p:cNvPr id="19" name="TextBox 19"/>
          <p:cNvSpPr txBox="1"/>
          <p:nvPr/>
        </p:nvSpPr>
        <p:spPr>
          <a:xfrm>
            <a:off x="5495129" y="8236546"/>
            <a:ext cx="2644689" cy="790575"/>
          </a:xfrm>
          <a:prstGeom prst="rect">
            <a:avLst/>
          </a:prstGeom>
        </p:spPr>
        <p:txBody>
          <a:bodyPr lIns="0" tIns="0" rIns="0" bIns="0" rtlCol="0" anchor="t">
            <a:spAutoFit/>
          </a:bodyPr>
          <a:lstStyle/>
          <a:p>
            <a:pPr algn="ctr">
              <a:lnSpc>
                <a:spcPts val="6380"/>
              </a:lnSpc>
            </a:pPr>
            <a:r>
              <a:rPr lang="en-US" sz="5320" b="1">
                <a:solidFill>
                  <a:srgbClr val="000000"/>
                </a:solidFill>
                <a:latin typeface="Fraunces Bold"/>
                <a:ea typeface="Fraunces Bold"/>
                <a:cs typeface="Fraunces Bold"/>
                <a:sym typeface="Fraunces Bold"/>
              </a:rPr>
              <a:t>07</a:t>
            </a:r>
          </a:p>
        </p:txBody>
      </p:sp>
      <p:sp>
        <p:nvSpPr>
          <p:cNvPr id="20" name="TextBox 20"/>
          <p:cNvSpPr txBox="1"/>
          <p:nvPr/>
        </p:nvSpPr>
        <p:spPr>
          <a:xfrm>
            <a:off x="8237326" y="8230784"/>
            <a:ext cx="8630839" cy="805688"/>
          </a:xfrm>
          <a:prstGeom prst="rect">
            <a:avLst/>
          </a:prstGeom>
        </p:spPr>
        <p:txBody>
          <a:bodyPr lIns="0" tIns="0" rIns="0" bIns="0" rtlCol="0" anchor="t">
            <a:spAutoFit/>
          </a:bodyPr>
          <a:lstStyle/>
          <a:p>
            <a:pPr algn="ctr">
              <a:lnSpc>
                <a:spcPts val="6250"/>
              </a:lnSpc>
            </a:pPr>
            <a:r>
              <a:rPr lang="en-US" sz="4810">
                <a:solidFill>
                  <a:srgbClr val="000000"/>
                </a:solidFill>
                <a:latin typeface="Fraunces"/>
                <a:ea typeface="Fraunces"/>
                <a:cs typeface="Fraunces"/>
                <a:sym typeface="Fraunces"/>
              </a:rPr>
              <a:t>Conclusion et perspectives</a:t>
            </a:r>
          </a:p>
        </p:txBody>
      </p:sp>
      <p:sp>
        <p:nvSpPr>
          <p:cNvPr id="21" name="TextBox 21"/>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4D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l="-3849" r="-3849"/>
              </a:stretch>
            </a:blipFill>
          </p:spPr>
        </p:sp>
      </p:grpSp>
      <p:grpSp>
        <p:nvGrpSpPr>
          <p:cNvPr id="4" name="Group 4"/>
          <p:cNvGrpSpPr/>
          <p:nvPr/>
        </p:nvGrpSpPr>
        <p:grpSpPr>
          <a:xfrm>
            <a:off x="-4762" y="1112254"/>
            <a:ext cx="18297525" cy="9525"/>
            <a:chOff x="0" y="0"/>
            <a:chExt cx="24396700" cy="12700"/>
          </a:xfrm>
        </p:grpSpPr>
        <p:sp>
          <p:nvSpPr>
            <p:cNvPr id="5" name="Freeform 5"/>
            <p:cNvSpPr/>
            <p:nvPr/>
          </p:nvSpPr>
          <p:spPr>
            <a:xfrm>
              <a:off x="0" y="0"/>
              <a:ext cx="24396700" cy="12700"/>
            </a:xfrm>
            <a:custGeom>
              <a:avLst/>
              <a:gdLst/>
              <a:ahLst/>
              <a:cxnLst/>
              <a:rect l="l" t="t" r="r" b="b"/>
              <a:pathLst>
                <a:path w="24396700" h="12700">
                  <a:moveTo>
                    <a:pt x="6350" y="0"/>
                  </a:moveTo>
                  <a:lnTo>
                    <a:pt x="24390350" y="0"/>
                  </a:lnTo>
                  <a:cubicBezTo>
                    <a:pt x="24393906" y="0"/>
                    <a:pt x="24396700" y="2794"/>
                    <a:pt x="24396700" y="6350"/>
                  </a:cubicBezTo>
                  <a:cubicBezTo>
                    <a:pt x="24396700" y="9906"/>
                    <a:pt x="24393906" y="12700"/>
                    <a:pt x="24390350" y="12700"/>
                  </a:cubicBezTo>
                  <a:lnTo>
                    <a:pt x="6350" y="12700"/>
                  </a:lnTo>
                  <a:cubicBezTo>
                    <a:pt x="2794" y="12700"/>
                    <a:pt x="0" y="9906"/>
                    <a:pt x="0" y="6350"/>
                  </a:cubicBezTo>
                  <a:cubicBezTo>
                    <a:pt x="0" y="2794"/>
                    <a:pt x="2794" y="0"/>
                    <a:pt x="6350" y="0"/>
                  </a:cubicBezTo>
                  <a:close/>
                </a:path>
              </a:pathLst>
            </a:custGeom>
            <a:solidFill>
              <a:srgbClr val="404040"/>
            </a:solidFill>
          </p:spPr>
        </p:sp>
      </p:grpSp>
      <p:grpSp>
        <p:nvGrpSpPr>
          <p:cNvPr id="6" name="Group 6"/>
          <p:cNvGrpSpPr/>
          <p:nvPr/>
        </p:nvGrpSpPr>
        <p:grpSpPr>
          <a:xfrm>
            <a:off x="5529502" y="1586548"/>
            <a:ext cx="7228997" cy="769213"/>
            <a:chOff x="0" y="0"/>
            <a:chExt cx="9638663" cy="1025617"/>
          </a:xfrm>
        </p:grpSpPr>
        <p:sp>
          <p:nvSpPr>
            <p:cNvPr id="7" name="Freeform 7"/>
            <p:cNvSpPr/>
            <p:nvPr/>
          </p:nvSpPr>
          <p:spPr>
            <a:xfrm>
              <a:off x="0" y="0"/>
              <a:ext cx="9638665" cy="1025652"/>
            </a:xfrm>
            <a:custGeom>
              <a:avLst/>
              <a:gdLst/>
              <a:ahLst/>
              <a:cxnLst/>
              <a:rect l="l" t="t" r="r" b="b"/>
              <a:pathLst>
                <a:path w="9638665" h="1025652">
                  <a:moveTo>
                    <a:pt x="0" y="0"/>
                  </a:moveTo>
                  <a:lnTo>
                    <a:pt x="0" y="1025652"/>
                  </a:lnTo>
                  <a:lnTo>
                    <a:pt x="9638665" y="1025652"/>
                  </a:lnTo>
                  <a:lnTo>
                    <a:pt x="9638665" y="0"/>
                  </a:lnTo>
                  <a:lnTo>
                    <a:pt x="0" y="0"/>
                  </a:lnTo>
                  <a:close/>
                  <a:moveTo>
                    <a:pt x="9620885" y="1007745"/>
                  </a:moveTo>
                  <a:lnTo>
                    <a:pt x="17526" y="1007745"/>
                  </a:lnTo>
                  <a:lnTo>
                    <a:pt x="17526" y="17526"/>
                  </a:lnTo>
                  <a:lnTo>
                    <a:pt x="9620885" y="17526"/>
                  </a:lnTo>
                  <a:lnTo>
                    <a:pt x="9620885" y="1007745"/>
                  </a:lnTo>
                  <a:close/>
                </a:path>
              </a:pathLst>
            </a:custGeom>
            <a:solidFill>
              <a:srgbClr val="404040"/>
            </a:solidFill>
          </p:spPr>
        </p:sp>
      </p:grpSp>
      <p:grpSp>
        <p:nvGrpSpPr>
          <p:cNvPr id="8" name="Group 8"/>
          <p:cNvGrpSpPr/>
          <p:nvPr/>
        </p:nvGrpSpPr>
        <p:grpSpPr>
          <a:xfrm>
            <a:off x="0" y="4069785"/>
            <a:ext cx="15786644" cy="3380991"/>
            <a:chOff x="0" y="0"/>
            <a:chExt cx="21048859" cy="4507988"/>
          </a:xfrm>
        </p:grpSpPr>
        <p:sp>
          <p:nvSpPr>
            <p:cNvPr id="9" name="Freeform 9"/>
            <p:cNvSpPr/>
            <p:nvPr/>
          </p:nvSpPr>
          <p:spPr>
            <a:xfrm>
              <a:off x="0" y="0"/>
              <a:ext cx="21048853" cy="4507992"/>
            </a:xfrm>
            <a:custGeom>
              <a:avLst/>
              <a:gdLst/>
              <a:ahLst/>
              <a:cxnLst/>
              <a:rect l="l" t="t" r="r" b="b"/>
              <a:pathLst>
                <a:path w="21048853" h="4507992">
                  <a:moveTo>
                    <a:pt x="0" y="0"/>
                  </a:moveTo>
                  <a:lnTo>
                    <a:pt x="21048853" y="0"/>
                  </a:lnTo>
                  <a:lnTo>
                    <a:pt x="21048853" y="4507992"/>
                  </a:lnTo>
                  <a:lnTo>
                    <a:pt x="0" y="4507992"/>
                  </a:lnTo>
                  <a:lnTo>
                    <a:pt x="0" y="0"/>
                  </a:lnTo>
                  <a:close/>
                </a:path>
              </a:pathLst>
            </a:custGeom>
            <a:blipFill>
              <a:blip r:embed="rId4"/>
              <a:stretch>
                <a:fillRect t="-11178" b="-11178"/>
              </a:stretch>
            </a:blipFill>
          </p:spPr>
        </p:sp>
      </p:grpSp>
      <p:grpSp>
        <p:nvGrpSpPr>
          <p:cNvPr id="10" name="Group 10"/>
          <p:cNvGrpSpPr/>
          <p:nvPr/>
        </p:nvGrpSpPr>
        <p:grpSpPr>
          <a:xfrm>
            <a:off x="11364418" y="2666492"/>
            <a:ext cx="6187577" cy="6187577"/>
            <a:chOff x="0" y="0"/>
            <a:chExt cx="8250103" cy="8250103"/>
          </a:xfrm>
        </p:grpSpPr>
        <p:sp>
          <p:nvSpPr>
            <p:cNvPr id="11" name="Freeform 11"/>
            <p:cNvSpPr/>
            <p:nvPr/>
          </p:nvSpPr>
          <p:spPr>
            <a:xfrm>
              <a:off x="0" y="0"/>
              <a:ext cx="8250047" cy="8250047"/>
            </a:xfrm>
            <a:custGeom>
              <a:avLst/>
              <a:gdLst/>
              <a:ahLst/>
              <a:cxnLst/>
              <a:rect l="l" t="t" r="r" b="b"/>
              <a:pathLst>
                <a:path w="8250047" h="8250047">
                  <a:moveTo>
                    <a:pt x="0" y="0"/>
                  </a:moveTo>
                  <a:lnTo>
                    <a:pt x="8250047" y="0"/>
                  </a:lnTo>
                  <a:lnTo>
                    <a:pt x="8250047" y="8250047"/>
                  </a:lnTo>
                  <a:lnTo>
                    <a:pt x="0" y="8250047"/>
                  </a:lnTo>
                  <a:lnTo>
                    <a:pt x="0" y="0"/>
                  </a:lnTo>
                  <a:close/>
                </a:path>
              </a:pathLst>
            </a:custGeom>
            <a:blipFill>
              <a:blip r:embed="rId5"/>
              <a:stretch>
                <a:fillRect/>
              </a:stretch>
            </a:blipFill>
          </p:spPr>
        </p:sp>
      </p:grpSp>
      <p:grpSp>
        <p:nvGrpSpPr>
          <p:cNvPr id="12" name="Group 12"/>
          <p:cNvGrpSpPr/>
          <p:nvPr/>
        </p:nvGrpSpPr>
        <p:grpSpPr>
          <a:xfrm>
            <a:off x="11728471" y="4069785"/>
            <a:ext cx="5459470" cy="3410191"/>
            <a:chOff x="0" y="0"/>
            <a:chExt cx="7279293" cy="4546921"/>
          </a:xfrm>
        </p:grpSpPr>
        <p:sp>
          <p:nvSpPr>
            <p:cNvPr id="13" name="Freeform 13"/>
            <p:cNvSpPr/>
            <p:nvPr/>
          </p:nvSpPr>
          <p:spPr>
            <a:xfrm>
              <a:off x="0" y="0"/>
              <a:ext cx="7279259" cy="4546981"/>
            </a:xfrm>
            <a:custGeom>
              <a:avLst/>
              <a:gdLst/>
              <a:ahLst/>
              <a:cxnLst/>
              <a:rect l="l" t="t" r="r" b="b"/>
              <a:pathLst>
                <a:path w="7279259" h="4546981">
                  <a:moveTo>
                    <a:pt x="0" y="0"/>
                  </a:moveTo>
                  <a:lnTo>
                    <a:pt x="7279259" y="0"/>
                  </a:lnTo>
                  <a:lnTo>
                    <a:pt x="7279259" y="4546981"/>
                  </a:lnTo>
                  <a:lnTo>
                    <a:pt x="0" y="4546981"/>
                  </a:lnTo>
                  <a:lnTo>
                    <a:pt x="0" y="0"/>
                  </a:lnTo>
                  <a:close/>
                </a:path>
              </a:pathLst>
            </a:custGeom>
            <a:blipFill>
              <a:blip r:embed="rId6"/>
              <a:stretch>
                <a:fillRect b="1"/>
              </a:stretch>
            </a:blipFill>
          </p:spPr>
        </p:sp>
      </p:grpSp>
      <p:sp>
        <p:nvSpPr>
          <p:cNvPr id="14" name="TextBox 14"/>
          <p:cNvSpPr txBox="1"/>
          <p:nvPr/>
        </p:nvSpPr>
        <p:spPr>
          <a:xfrm>
            <a:off x="6149975" y="1588135"/>
            <a:ext cx="6281420" cy="697230"/>
          </a:xfrm>
          <a:prstGeom prst="rect">
            <a:avLst/>
          </a:prstGeom>
        </p:spPr>
        <p:txBody>
          <a:bodyPr lIns="0" tIns="0" rIns="0" bIns="0" rtlCol="0" anchor="t">
            <a:noAutofit/>
          </a:bodyPr>
          <a:lstStyle/>
          <a:p>
            <a:pPr algn="ctr">
              <a:lnSpc>
                <a:spcPts val="7280"/>
              </a:lnSpc>
            </a:pPr>
            <a:r>
              <a:rPr lang="en-US" sz="5600" b="1">
                <a:solidFill>
                  <a:srgbClr val="004AAD"/>
                </a:solidFill>
                <a:latin typeface="The Seasons Bold"/>
                <a:ea typeface="The Seasons Bold"/>
                <a:cs typeface="The Seasons Bold"/>
                <a:sym typeface="The Seasons Bold"/>
              </a:rPr>
              <a:t>Introduction</a:t>
            </a:r>
          </a:p>
        </p:txBody>
      </p:sp>
      <p:sp>
        <p:nvSpPr>
          <p:cNvPr id="15" name="TextBox 15"/>
          <p:cNvSpPr txBox="1"/>
          <p:nvPr/>
        </p:nvSpPr>
        <p:spPr>
          <a:xfrm>
            <a:off x="0" y="4271714"/>
            <a:ext cx="11364418" cy="2734310"/>
          </a:xfrm>
          <a:prstGeom prst="rect">
            <a:avLst/>
          </a:prstGeom>
        </p:spPr>
        <p:txBody>
          <a:bodyPr lIns="0" tIns="0" rIns="0" bIns="0" rtlCol="0" anchor="t">
            <a:spAutoFit/>
          </a:bodyPr>
          <a:lstStyle/>
          <a:p>
            <a:pPr marL="853440" lvl="2" indent="-457200" algn="l">
              <a:lnSpc>
                <a:spcPts val="3640"/>
              </a:lnSpc>
              <a:buFont typeface="Wingdings" pitchFamily="2" charset="2"/>
              <a:buChar char="Ø"/>
            </a:pP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La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plateforme</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vise à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digitaliser</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et simplifier les collaborations marketing entre marques et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influenceurs</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a:t>
            </a:r>
          </a:p>
          <a:p>
            <a:pPr marL="853440" lvl="2" indent="-457200" algn="l">
              <a:lnSpc>
                <a:spcPts val="3640"/>
              </a:lnSpc>
              <a:buFont typeface="Wingdings" pitchFamily="2" charset="2"/>
              <a:buChar char="Ø"/>
            </a:pP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Elle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permet</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un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suivi</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structuré</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et transparent des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campagnes</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en temps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réel</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a:t>
            </a:r>
          </a:p>
          <a:p>
            <a:pPr marL="853440" lvl="2" indent="-457200" algn="l">
              <a:lnSpc>
                <a:spcPts val="3640"/>
              </a:lnSpc>
              <a:buFont typeface="Wingdings" pitchFamily="2" charset="2"/>
              <a:buChar char="Ø"/>
            </a:pP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Ce</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projet</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répond</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à un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besoin</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réel</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du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marché</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tunisien</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en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offrant</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une</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 solution accessible et </a:t>
            </a:r>
            <a:r>
              <a:rPr lang="en-US" sz="2600" dirty="0" err="1">
                <a:solidFill>
                  <a:srgbClr val="000000"/>
                </a:solidFill>
                <a:latin typeface="Open Sans" panose="020B0606030504020204"/>
                <a:ea typeface="Open Sans" panose="020B0606030504020204"/>
                <a:cs typeface="Open Sans" panose="020B0606030504020204"/>
                <a:sym typeface="Open Sans" panose="020B0606030504020204"/>
              </a:rPr>
              <a:t>adaptée</a:t>
            </a:r>
            <a:r>
              <a:rPr lang="en-US" sz="2600" dirty="0">
                <a:solidFill>
                  <a:srgbClr val="000000"/>
                </a:solidFill>
                <a:latin typeface="Open Sans" panose="020B0606030504020204"/>
                <a:ea typeface="Open Sans" panose="020B0606030504020204"/>
                <a:cs typeface="Open Sans" panose="020B0606030504020204"/>
                <a:sym typeface="Open Sans" panose="020B0606030504020204"/>
              </a:rPr>
              <a:t>.</a:t>
            </a:r>
          </a:p>
        </p:txBody>
      </p:sp>
      <p:sp>
        <p:nvSpPr>
          <p:cNvPr id="16" name="TextBox 16"/>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l="-3849" r="-3849"/>
              </a:stretch>
            </a:blipFill>
          </p:spPr>
        </p:sp>
      </p:grpSp>
      <p:grpSp>
        <p:nvGrpSpPr>
          <p:cNvPr id="4" name="Group 4"/>
          <p:cNvGrpSpPr/>
          <p:nvPr/>
        </p:nvGrpSpPr>
        <p:grpSpPr>
          <a:xfrm>
            <a:off x="109538" y="9229725"/>
            <a:ext cx="18297525" cy="9525"/>
            <a:chOff x="0" y="0"/>
            <a:chExt cx="24396700" cy="12700"/>
          </a:xfrm>
        </p:grpSpPr>
        <p:sp>
          <p:nvSpPr>
            <p:cNvPr id="5" name="Freeform 5"/>
            <p:cNvSpPr/>
            <p:nvPr/>
          </p:nvSpPr>
          <p:spPr>
            <a:xfrm>
              <a:off x="0" y="0"/>
              <a:ext cx="24396700" cy="12700"/>
            </a:xfrm>
            <a:custGeom>
              <a:avLst/>
              <a:gdLst/>
              <a:ahLst/>
              <a:cxnLst/>
              <a:rect l="l" t="t" r="r" b="b"/>
              <a:pathLst>
                <a:path w="24396700" h="12700">
                  <a:moveTo>
                    <a:pt x="6350" y="0"/>
                  </a:moveTo>
                  <a:lnTo>
                    <a:pt x="24390350" y="0"/>
                  </a:lnTo>
                  <a:cubicBezTo>
                    <a:pt x="24393906" y="0"/>
                    <a:pt x="24396700" y="2794"/>
                    <a:pt x="24396700" y="6350"/>
                  </a:cubicBezTo>
                  <a:cubicBezTo>
                    <a:pt x="24396700" y="9906"/>
                    <a:pt x="24393906" y="12700"/>
                    <a:pt x="24390350" y="12700"/>
                  </a:cubicBezTo>
                  <a:lnTo>
                    <a:pt x="6350" y="12700"/>
                  </a:lnTo>
                  <a:cubicBezTo>
                    <a:pt x="2794" y="12700"/>
                    <a:pt x="0" y="9906"/>
                    <a:pt x="0" y="6350"/>
                  </a:cubicBezTo>
                  <a:cubicBezTo>
                    <a:pt x="0" y="2794"/>
                    <a:pt x="2794" y="0"/>
                    <a:pt x="6350" y="0"/>
                  </a:cubicBezTo>
                  <a:close/>
                </a:path>
              </a:pathLst>
            </a:custGeom>
            <a:solidFill>
              <a:srgbClr val="404040"/>
            </a:solidFill>
          </p:spPr>
        </p:sp>
      </p:grpSp>
      <p:grpSp>
        <p:nvGrpSpPr>
          <p:cNvPr id="6" name="Group 6"/>
          <p:cNvGrpSpPr/>
          <p:nvPr/>
        </p:nvGrpSpPr>
        <p:grpSpPr>
          <a:xfrm>
            <a:off x="0" y="3453004"/>
            <a:ext cx="15253731" cy="3380991"/>
            <a:chOff x="0" y="0"/>
            <a:chExt cx="20338308" cy="4507988"/>
          </a:xfrm>
        </p:grpSpPr>
        <p:sp>
          <p:nvSpPr>
            <p:cNvPr id="7" name="Freeform 7"/>
            <p:cNvSpPr/>
            <p:nvPr/>
          </p:nvSpPr>
          <p:spPr>
            <a:xfrm>
              <a:off x="0" y="0"/>
              <a:ext cx="20338287" cy="4507992"/>
            </a:xfrm>
            <a:custGeom>
              <a:avLst/>
              <a:gdLst/>
              <a:ahLst/>
              <a:cxnLst/>
              <a:rect l="l" t="t" r="r" b="b"/>
              <a:pathLst>
                <a:path w="20338287" h="4507992">
                  <a:moveTo>
                    <a:pt x="0" y="0"/>
                  </a:moveTo>
                  <a:lnTo>
                    <a:pt x="20338287" y="0"/>
                  </a:lnTo>
                  <a:lnTo>
                    <a:pt x="20338287" y="4507992"/>
                  </a:lnTo>
                  <a:lnTo>
                    <a:pt x="0" y="4507992"/>
                  </a:lnTo>
                  <a:lnTo>
                    <a:pt x="0" y="0"/>
                  </a:lnTo>
                  <a:close/>
                </a:path>
              </a:pathLst>
            </a:custGeom>
            <a:blipFill>
              <a:blip r:embed="rId4"/>
              <a:stretch>
                <a:fillRect t="-9113" b="-9113"/>
              </a:stretch>
            </a:blipFill>
          </p:spPr>
        </p:sp>
      </p:grpSp>
      <p:grpSp>
        <p:nvGrpSpPr>
          <p:cNvPr id="8" name="Group 8"/>
          <p:cNvGrpSpPr/>
          <p:nvPr/>
        </p:nvGrpSpPr>
        <p:grpSpPr>
          <a:xfrm>
            <a:off x="11881397" y="2049711"/>
            <a:ext cx="6187577" cy="6187577"/>
            <a:chOff x="0" y="0"/>
            <a:chExt cx="8250103" cy="8250103"/>
          </a:xfrm>
        </p:grpSpPr>
        <p:sp>
          <p:nvSpPr>
            <p:cNvPr id="9" name="Freeform 9"/>
            <p:cNvSpPr/>
            <p:nvPr/>
          </p:nvSpPr>
          <p:spPr>
            <a:xfrm>
              <a:off x="0" y="0"/>
              <a:ext cx="8250047" cy="8250047"/>
            </a:xfrm>
            <a:custGeom>
              <a:avLst/>
              <a:gdLst/>
              <a:ahLst/>
              <a:cxnLst/>
              <a:rect l="l" t="t" r="r" b="b"/>
              <a:pathLst>
                <a:path w="8250047" h="8250047">
                  <a:moveTo>
                    <a:pt x="0" y="0"/>
                  </a:moveTo>
                  <a:lnTo>
                    <a:pt x="8250047" y="0"/>
                  </a:lnTo>
                  <a:lnTo>
                    <a:pt x="8250047" y="8250047"/>
                  </a:lnTo>
                  <a:lnTo>
                    <a:pt x="0" y="8250047"/>
                  </a:lnTo>
                  <a:lnTo>
                    <a:pt x="0" y="0"/>
                  </a:lnTo>
                  <a:close/>
                </a:path>
              </a:pathLst>
            </a:custGeom>
            <a:blipFill>
              <a:blip r:embed="rId5"/>
              <a:stretch>
                <a:fillRect/>
              </a:stretch>
            </a:blipFill>
          </p:spPr>
        </p:sp>
      </p:grpSp>
      <p:grpSp>
        <p:nvGrpSpPr>
          <p:cNvPr id="10" name="Group 10"/>
          <p:cNvGrpSpPr/>
          <p:nvPr/>
        </p:nvGrpSpPr>
        <p:grpSpPr>
          <a:xfrm>
            <a:off x="10803717" y="1865639"/>
            <a:ext cx="7960894" cy="5970671"/>
            <a:chOff x="0" y="0"/>
            <a:chExt cx="10614525" cy="7960895"/>
          </a:xfrm>
        </p:grpSpPr>
        <p:sp>
          <p:nvSpPr>
            <p:cNvPr id="11" name="Freeform 11"/>
            <p:cNvSpPr/>
            <p:nvPr/>
          </p:nvSpPr>
          <p:spPr>
            <a:xfrm>
              <a:off x="0" y="0"/>
              <a:ext cx="10614533" cy="7960868"/>
            </a:xfrm>
            <a:custGeom>
              <a:avLst/>
              <a:gdLst/>
              <a:ahLst/>
              <a:cxnLst/>
              <a:rect l="l" t="t" r="r" b="b"/>
              <a:pathLst>
                <a:path w="10614533" h="7960868">
                  <a:moveTo>
                    <a:pt x="0" y="0"/>
                  </a:moveTo>
                  <a:lnTo>
                    <a:pt x="10614533" y="0"/>
                  </a:lnTo>
                  <a:lnTo>
                    <a:pt x="10614533" y="7960868"/>
                  </a:lnTo>
                  <a:lnTo>
                    <a:pt x="0" y="7960868"/>
                  </a:lnTo>
                  <a:lnTo>
                    <a:pt x="0" y="0"/>
                  </a:lnTo>
                  <a:close/>
                </a:path>
              </a:pathLst>
            </a:custGeom>
            <a:blipFill>
              <a:blip r:embed="rId6"/>
              <a:stretch>
                <a:fillRect t="-36" b="-37"/>
              </a:stretch>
            </a:blipFill>
          </p:spPr>
        </p:sp>
      </p:grpSp>
      <p:grpSp>
        <p:nvGrpSpPr>
          <p:cNvPr id="12" name="Group 12"/>
          <p:cNvGrpSpPr/>
          <p:nvPr/>
        </p:nvGrpSpPr>
        <p:grpSpPr>
          <a:xfrm>
            <a:off x="1144052" y="3698327"/>
            <a:ext cx="1152648" cy="1152648"/>
            <a:chOff x="0" y="0"/>
            <a:chExt cx="1536864" cy="1536864"/>
          </a:xfrm>
        </p:grpSpPr>
        <p:sp>
          <p:nvSpPr>
            <p:cNvPr id="13" name="Freeform 13"/>
            <p:cNvSpPr/>
            <p:nvPr/>
          </p:nvSpPr>
          <p:spPr>
            <a:xfrm>
              <a:off x="0" y="0"/>
              <a:ext cx="1536827" cy="1536827"/>
            </a:xfrm>
            <a:custGeom>
              <a:avLst/>
              <a:gdLst/>
              <a:ahLst/>
              <a:cxnLst/>
              <a:rect l="l" t="t" r="r" b="b"/>
              <a:pathLst>
                <a:path w="1536827" h="1536827">
                  <a:moveTo>
                    <a:pt x="0" y="0"/>
                  </a:moveTo>
                  <a:lnTo>
                    <a:pt x="1536827" y="0"/>
                  </a:lnTo>
                  <a:lnTo>
                    <a:pt x="1536827" y="1536827"/>
                  </a:lnTo>
                  <a:lnTo>
                    <a:pt x="0" y="1536827"/>
                  </a:lnTo>
                  <a:lnTo>
                    <a:pt x="0" y="0"/>
                  </a:lnTo>
                  <a:close/>
                </a:path>
              </a:pathLst>
            </a:custGeom>
            <a:blipFill>
              <a:blip r:embed="rId7"/>
              <a:stretch>
                <a:fillRect r="-2" b="-2"/>
              </a:stretch>
            </a:blipFill>
          </p:spPr>
        </p:sp>
      </p:grpSp>
      <p:grpSp>
        <p:nvGrpSpPr>
          <p:cNvPr id="14" name="Group 14"/>
          <p:cNvGrpSpPr/>
          <p:nvPr/>
        </p:nvGrpSpPr>
        <p:grpSpPr>
          <a:xfrm>
            <a:off x="4718880" y="3701121"/>
            <a:ext cx="1149854" cy="1149854"/>
            <a:chOff x="0" y="0"/>
            <a:chExt cx="1533139" cy="1533139"/>
          </a:xfrm>
        </p:grpSpPr>
        <p:sp>
          <p:nvSpPr>
            <p:cNvPr id="15" name="Freeform 15"/>
            <p:cNvSpPr/>
            <p:nvPr/>
          </p:nvSpPr>
          <p:spPr>
            <a:xfrm>
              <a:off x="0" y="0"/>
              <a:ext cx="1533144" cy="1533144"/>
            </a:xfrm>
            <a:custGeom>
              <a:avLst/>
              <a:gdLst/>
              <a:ahLst/>
              <a:cxnLst/>
              <a:rect l="l" t="t" r="r" b="b"/>
              <a:pathLst>
                <a:path w="1533144" h="1533144">
                  <a:moveTo>
                    <a:pt x="0" y="0"/>
                  </a:moveTo>
                  <a:lnTo>
                    <a:pt x="1533144" y="0"/>
                  </a:lnTo>
                  <a:lnTo>
                    <a:pt x="1533144" y="1533144"/>
                  </a:lnTo>
                  <a:lnTo>
                    <a:pt x="0" y="1533144"/>
                  </a:lnTo>
                  <a:lnTo>
                    <a:pt x="0" y="0"/>
                  </a:lnTo>
                  <a:close/>
                </a:path>
              </a:pathLst>
            </a:custGeom>
            <a:blipFill>
              <a:blip r:embed="rId8"/>
              <a:stretch>
                <a:fillRect/>
              </a:stretch>
            </a:blipFill>
          </p:spPr>
        </p:sp>
      </p:grpSp>
      <p:grpSp>
        <p:nvGrpSpPr>
          <p:cNvPr id="16" name="Group 16"/>
          <p:cNvGrpSpPr/>
          <p:nvPr/>
        </p:nvGrpSpPr>
        <p:grpSpPr>
          <a:xfrm>
            <a:off x="6055756" y="3060243"/>
            <a:ext cx="4275758" cy="2803194"/>
            <a:chOff x="0" y="0"/>
            <a:chExt cx="5701011" cy="3737592"/>
          </a:xfrm>
        </p:grpSpPr>
        <p:sp>
          <p:nvSpPr>
            <p:cNvPr id="17" name="Freeform 17"/>
            <p:cNvSpPr/>
            <p:nvPr/>
          </p:nvSpPr>
          <p:spPr>
            <a:xfrm>
              <a:off x="0" y="0"/>
              <a:ext cx="5701030" cy="3737610"/>
            </a:xfrm>
            <a:custGeom>
              <a:avLst/>
              <a:gdLst/>
              <a:ahLst/>
              <a:cxnLst/>
              <a:rect l="l" t="t" r="r" b="b"/>
              <a:pathLst>
                <a:path w="5701030" h="3737610">
                  <a:moveTo>
                    <a:pt x="0" y="0"/>
                  </a:moveTo>
                  <a:lnTo>
                    <a:pt x="5701030" y="0"/>
                  </a:lnTo>
                  <a:lnTo>
                    <a:pt x="5701030" y="3737610"/>
                  </a:lnTo>
                  <a:lnTo>
                    <a:pt x="0" y="3737610"/>
                  </a:lnTo>
                  <a:lnTo>
                    <a:pt x="0" y="0"/>
                  </a:lnTo>
                  <a:close/>
                </a:path>
              </a:pathLst>
            </a:custGeom>
            <a:blipFill>
              <a:blip r:embed="rId9"/>
              <a:stretch>
                <a:fillRect/>
              </a:stretch>
            </a:blipFill>
          </p:spPr>
        </p:sp>
      </p:grpSp>
      <p:grpSp>
        <p:nvGrpSpPr>
          <p:cNvPr id="18" name="Group 18"/>
          <p:cNvGrpSpPr/>
          <p:nvPr/>
        </p:nvGrpSpPr>
        <p:grpSpPr>
          <a:xfrm>
            <a:off x="10458103" y="3717377"/>
            <a:ext cx="1264083" cy="1008835"/>
            <a:chOff x="0" y="0"/>
            <a:chExt cx="1685444" cy="1345113"/>
          </a:xfrm>
        </p:grpSpPr>
        <p:sp>
          <p:nvSpPr>
            <p:cNvPr id="19" name="Freeform 19"/>
            <p:cNvSpPr/>
            <p:nvPr/>
          </p:nvSpPr>
          <p:spPr>
            <a:xfrm>
              <a:off x="0" y="0"/>
              <a:ext cx="1685417" cy="1345057"/>
            </a:xfrm>
            <a:custGeom>
              <a:avLst/>
              <a:gdLst/>
              <a:ahLst/>
              <a:cxnLst/>
              <a:rect l="l" t="t" r="r" b="b"/>
              <a:pathLst>
                <a:path w="1685417" h="1345057">
                  <a:moveTo>
                    <a:pt x="0" y="0"/>
                  </a:moveTo>
                  <a:lnTo>
                    <a:pt x="1685417" y="0"/>
                  </a:lnTo>
                  <a:lnTo>
                    <a:pt x="1685417" y="1345057"/>
                  </a:lnTo>
                  <a:lnTo>
                    <a:pt x="0" y="1345057"/>
                  </a:lnTo>
                  <a:lnTo>
                    <a:pt x="0" y="0"/>
                  </a:lnTo>
                  <a:close/>
                </a:path>
              </a:pathLst>
            </a:custGeom>
            <a:blipFill>
              <a:blip r:embed="rId10"/>
              <a:stretch>
                <a:fillRect r="-1" b="-4"/>
              </a:stretch>
            </a:blipFill>
          </p:spPr>
        </p:sp>
      </p:grpSp>
      <p:grpSp>
        <p:nvGrpSpPr>
          <p:cNvPr id="20" name="Group 20"/>
          <p:cNvGrpSpPr/>
          <p:nvPr/>
        </p:nvGrpSpPr>
        <p:grpSpPr>
          <a:xfrm>
            <a:off x="1476873" y="5143500"/>
            <a:ext cx="515705" cy="515705"/>
            <a:chOff x="0" y="0"/>
            <a:chExt cx="687607" cy="687607"/>
          </a:xfrm>
        </p:grpSpPr>
        <p:sp>
          <p:nvSpPr>
            <p:cNvPr id="21" name="Freeform 21"/>
            <p:cNvSpPr/>
            <p:nvPr/>
          </p:nvSpPr>
          <p:spPr>
            <a:xfrm>
              <a:off x="0" y="0"/>
              <a:ext cx="687578" cy="687578"/>
            </a:xfrm>
            <a:custGeom>
              <a:avLst/>
              <a:gdLst/>
              <a:ahLst/>
              <a:cxnLst/>
              <a:rect l="l" t="t" r="r" b="b"/>
              <a:pathLst>
                <a:path w="687578" h="687578">
                  <a:moveTo>
                    <a:pt x="0" y="0"/>
                  </a:moveTo>
                  <a:lnTo>
                    <a:pt x="687578" y="0"/>
                  </a:lnTo>
                  <a:lnTo>
                    <a:pt x="687578" y="687578"/>
                  </a:lnTo>
                  <a:lnTo>
                    <a:pt x="0" y="687578"/>
                  </a:lnTo>
                  <a:lnTo>
                    <a:pt x="0" y="0"/>
                  </a:lnTo>
                  <a:close/>
                </a:path>
              </a:pathLst>
            </a:custGeom>
            <a:blipFill>
              <a:blip r:embed="rId11"/>
              <a:stretch>
                <a:fillRect r="-4" b="-4"/>
              </a:stretch>
            </a:blipFill>
          </p:spPr>
        </p:sp>
      </p:grpSp>
      <p:grpSp>
        <p:nvGrpSpPr>
          <p:cNvPr id="22" name="Group 22"/>
          <p:cNvGrpSpPr/>
          <p:nvPr/>
        </p:nvGrpSpPr>
        <p:grpSpPr>
          <a:xfrm>
            <a:off x="4883555" y="5143500"/>
            <a:ext cx="515705" cy="515705"/>
            <a:chOff x="0" y="0"/>
            <a:chExt cx="687607" cy="687607"/>
          </a:xfrm>
        </p:grpSpPr>
        <p:sp>
          <p:nvSpPr>
            <p:cNvPr id="23" name="Freeform 23"/>
            <p:cNvSpPr/>
            <p:nvPr/>
          </p:nvSpPr>
          <p:spPr>
            <a:xfrm>
              <a:off x="0" y="0"/>
              <a:ext cx="687578" cy="687578"/>
            </a:xfrm>
            <a:custGeom>
              <a:avLst/>
              <a:gdLst/>
              <a:ahLst/>
              <a:cxnLst/>
              <a:rect l="l" t="t" r="r" b="b"/>
              <a:pathLst>
                <a:path w="687578" h="687578">
                  <a:moveTo>
                    <a:pt x="0" y="0"/>
                  </a:moveTo>
                  <a:lnTo>
                    <a:pt x="687578" y="0"/>
                  </a:lnTo>
                  <a:lnTo>
                    <a:pt x="687578" y="687578"/>
                  </a:lnTo>
                  <a:lnTo>
                    <a:pt x="0" y="687578"/>
                  </a:lnTo>
                  <a:lnTo>
                    <a:pt x="0" y="0"/>
                  </a:lnTo>
                  <a:close/>
                </a:path>
              </a:pathLst>
            </a:custGeom>
            <a:blipFill>
              <a:blip r:embed="rId11"/>
              <a:stretch>
                <a:fillRect r="-4" b="-4"/>
              </a:stretch>
            </a:blipFill>
          </p:spPr>
        </p:sp>
      </p:grpSp>
      <p:grpSp>
        <p:nvGrpSpPr>
          <p:cNvPr id="24" name="Group 24"/>
          <p:cNvGrpSpPr/>
          <p:nvPr/>
        </p:nvGrpSpPr>
        <p:grpSpPr>
          <a:xfrm rot="-68255">
            <a:off x="7935782" y="5138432"/>
            <a:ext cx="515705" cy="515705"/>
            <a:chOff x="0" y="0"/>
            <a:chExt cx="687607" cy="687607"/>
          </a:xfrm>
        </p:grpSpPr>
        <p:sp>
          <p:nvSpPr>
            <p:cNvPr id="25" name="Freeform 25"/>
            <p:cNvSpPr/>
            <p:nvPr/>
          </p:nvSpPr>
          <p:spPr>
            <a:xfrm>
              <a:off x="0" y="0"/>
              <a:ext cx="687578" cy="687578"/>
            </a:xfrm>
            <a:custGeom>
              <a:avLst/>
              <a:gdLst/>
              <a:ahLst/>
              <a:cxnLst/>
              <a:rect l="l" t="t" r="r" b="b"/>
              <a:pathLst>
                <a:path w="687578" h="687578">
                  <a:moveTo>
                    <a:pt x="0" y="0"/>
                  </a:moveTo>
                  <a:lnTo>
                    <a:pt x="687578" y="0"/>
                  </a:lnTo>
                  <a:lnTo>
                    <a:pt x="687578" y="687578"/>
                  </a:lnTo>
                  <a:lnTo>
                    <a:pt x="0" y="687578"/>
                  </a:lnTo>
                  <a:lnTo>
                    <a:pt x="0" y="0"/>
                  </a:lnTo>
                  <a:close/>
                </a:path>
              </a:pathLst>
            </a:custGeom>
            <a:blipFill>
              <a:blip r:embed="rId11"/>
              <a:stretch>
                <a:fillRect r="-4" b="-4"/>
              </a:stretch>
            </a:blipFill>
          </p:spPr>
        </p:sp>
      </p:grpSp>
      <p:grpSp>
        <p:nvGrpSpPr>
          <p:cNvPr id="26" name="Group 26"/>
          <p:cNvGrpSpPr/>
          <p:nvPr/>
        </p:nvGrpSpPr>
        <p:grpSpPr>
          <a:xfrm>
            <a:off x="10803717" y="5143500"/>
            <a:ext cx="515705" cy="515705"/>
            <a:chOff x="0" y="0"/>
            <a:chExt cx="687607" cy="687607"/>
          </a:xfrm>
        </p:grpSpPr>
        <p:sp>
          <p:nvSpPr>
            <p:cNvPr id="27" name="Freeform 27"/>
            <p:cNvSpPr/>
            <p:nvPr/>
          </p:nvSpPr>
          <p:spPr>
            <a:xfrm>
              <a:off x="0" y="0"/>
              <a:ext cx="687578" cy="687578"/>
            </a:xfrm>
            <a:custGeom>
              <a:avLst/>
              <a:gdLst/>
              <a:ahLst/>
              <a:cxnLst/>
              <a:rect l="l" t="t" r="r" b="b"/>
              <a:pathLst>
                <a:path w="687578" h="687578">
                  <a:moveTo>
                    <a:pt x="0" y="0"/>
                  </a:moveTo>
                  <a:lnTo>
                    <a:pt x="687578" y="0"/>
                  </a:lnTo>
                  <a:lnTo>
                    <a:pt x="687578" y="687578"/>
                  </a:lnTo>
                  <a:lnTo>
                    <a:pt x="0" y="687578"/>
                  </a:lnTo>
                  <a:lnTo>
                    <a:pt x="0" y="0"/>
                  </a:lnTo>
                  <a:close/>
                </a:path>
              </a:pathLst>
            </a:custGeom>
            <a:blipFill>
              <a:blip r:embed="rId11"/>
              <a:stretch>
                <a:fillRect r="-4" b="-4"/>
              </a:stretch>
            </a:blipFill>
          </p:spPr>
        </p:sp>
      </p:grpSp>
      <p:sp>
        <p:nvSpPr>
          <p:cNvPr id="28" name="TextBox 28"/>
          <p:cNvSpPr txBox="1"/>
          <p:nvPr/>
        </p:nvSpPr>
        <p:spPr>
          <a:xfrm>
            <a:off x="4311834" y="609600"/>
            <a:ext cx="9664332" cy="1419403"/>
          </a:xfrm>
          <a:prstGeom prst="rect">
            <a:avLst/>
          </a:prstGeom>
        </p:spPr>
        <p:txBody>
          <a:bodyPr lIns="0" tIns="0" rIns="0" bIns="0" rtlCol="0" anchor="t">
            <a:spAutoFit/>
          </a:bodyPr>
          <a:lstStyle/>
          <a:p>
            <a:pPr algn="ctr">
              <a:lnSpc>
                <a:spcPts val="10700"/>
              </a:lnSpc>
            </a:pPr>
            <a:r>
              <a:rPr lang="en-US" sz="8230">
                <a:solidFill>
                  <a:srgbClr val="004AAD"/>
                </a:solidFill>
                <a:latin typeface="The Seasons"/>
                <a:ea typeface="The Seasons"/>
                <a:cs typeface="The Seasons"/>
                <a:sym typeface="The Seasons"/>
              </a:rPr>
              <a:t>Cadre du projet</a:t>
            </a:r>
          </a:p>
        </p:txBody>
      </p:sp>
      <p:grpSp>
        <p:nvGrpSpPr>
          <p:cNvPr id="29" name="Group 29"/>
          <p:cNvGrpSpPr/>
          <p:nvPr/>
        </p:nvGrpSpPr>
        <p:grpSpPr>
          <a:xfrm>
            <a:off x="1691801" y="5635860"/>
            <a:ext cx="57150" cy="1235641"/>
            <a:chOff x="0" y="0"/>
            <a:chExt cx="76200" cy="1647521"/>
          </a:xfrm>
        </p:grpSpPr>
        <p:sp>
          <p:nvSpPr>
            <p:cNvPr id="30" name="Freeform 30"/>
            <p:cNvSpPr/>
            <p:nvPr/>
          </p:nvSpPr>
          <p:spPr>
            <a:xfrm>
              <a:off x="0" y="38100"/>
              <a:ext cx="76200" cy="1571371"/>
            </a:xfrm>
            <a:custGeom>
              <a:avLst/>
              <a:gdLst/>
              <a:ahLst/>
              <a:cxnLst/>
              <a:rect l="l" t="t" r="r" b="b"/>
              <a:pathLst>
                <a:path w="76200" h="1571371">
                  <a:moveTo>
                    <a:pt x="0" y="1571371"/>
                  </a:moveTo>
                  <a:lnTo>
                    <a:pt x="0" y="0"/>
                  </a:lnTo>
                  <a:lnTo>
                    <a:pt x="76200" y="0"/>
                  </a:lnTo>
                  <a:lnTo>
                    <a:pt x="76200" y="1571371"/>
                  </a:lnTo>
                  <a:close/>
                </a:path>
              </a:pathLst>
            </a:custGeom>
            <a:solidFill>
              <a:srgbClr val="404040"/>
            </a:solidFill>
          </p:spPr>
        </p:sp>
      </p:grpSp>
      <p:grpSp>
        <p:nvGrpSpPr>
          <p:cNvPr id="31" name="Group 31"/>
          <p:cNvGrpSpPr/>
          <p:nvPr/>
        </p:nvGrpSpPr>
        <p:grpSpPr>
          <a:xfrm>
            <a:off x="5112832" y="5626930"/>
            <a:ext cx="57150" cy="1235641"/>
            <a:chOff x="0" y="0"/>
            <a:chExt cx="76200" cy="1647521"/>
          </a:xfrm>
        </p:grpSpPr>
        <p:sp>
          <p:nvSpPr>
            <p:cNvPr id="32" name="Freeform 32"/>
            <p:cNvSpPr/>
            <p:nvPr/>
          </p:nvSpPr>
          <p:spPr>
            <a:xfrm>
              <a:off x="0" y="38100"/>
              <a:ext cx="76200" cy="1571371"/>
            </a:xfrm>
            <a:custGeom>
              <a:avLst/>
              <a:gdLst/>
              <a:ahLst/>
              <a:cxnLst/>
              <a:rect l="l" t="t" r="r" b="b"/>
              <a:pathLst>
                <a:path w="76200" h="1571371">
                  <a:moveTo>
                    <a:pt x="0" y="1571371"/>
                  </a:moveTo>
                  <a:lnTo>
                    <a:pt x="0" y="0"/>
                  </a:lnTo>
                  <a:lnTo>
                    <a:pt x="76200" y="0"/>
                  </a:lnTo>
                  <a:lnTo>
                    <a:pt x="76200" y="1571371"/>
                  </a:lnTo>
                  <a:close/>
                </a:path>
              </a:pathLst>
            </a:custGeom>
            <a:solidFill>
              <a:srgbClr val="404040"/>
            </a:solidFill>
          </p:spPr>
        </p:sp>
      </p:grpSp>
      <p:grpSp>
        <p:nvGrpSpPr>
          <p:cNvPr id="33" name="Group 33"/>
          <p:cNvGrpSpPr/>
          <p:nvPr/>
        </p:nvGrpSpPr>
        <p:grpSpPr>
          <a:xfrm>
            <a:off x="8193635" y="5617405"/>
            <a:ext cx="57150" cy="1235641"/>
            <a:chOff x="0" y="0"/>
            <a:chExt cx="76200" cy="1647521"/>
          </a:xfrm>
        </p:grpSpPr>
        <p:sp>
          <p:nvSpPr>
            <p:cNvPr id="34" name="Freeform 34"/>
            <p:cNvSpPr/>
            <p:nvPr/>
          </p:nvSpPr>
          <p:spPr>
            <a:xfrm>
              <a:off x="0" y="38100"/>
              <a:ext cx="76200" cy="1571371"/>
            </a:xfrm>
            <a:custGeom>
              <a:avLst/>
              <a:gdLst/>
              <a:ahLst/>
              <a:cxnLst/>
              <a:rect l="l" t="t" r="r" b="b"/>
              <a:pathLst>
                <a:path w="76200" h="1571371">
                  <a:moveTo>
                    <a:pt x="0" y="1571371"/>
                  </a:moveTo>
                  <a:lnTo>
                    <a:pt x="0" y="0"/>
                  </a:lnTo>
                  <a:lnTo>
                    <a:pt x="76200" y="0"/>
                  </a:lnTo>
                  <a:lnTo>
                    <a:pt x="76200" y="1571371"/>
                  </a:lnTo>
                  <a:close/>
                </a:path>
              </a:pathLst>
            </a:custGeom>
            <a:solidFill>
              <a:srgbClr val="404040"/>
            </a:solidFill>
          </p:spPr>
        </p:sp>
      </p:grpSp>
      <p:grpSp>
        <p:nvGrpSpPr>
          <p:cNvPr id="35" name="Group 35"/>
          <p:cNvGrpSpPr/>
          <p:nvPr/>
        </p:nvGrpSpPr>
        <p:grpSpPr>
          <a:xfrm>
            <a:off x="11042519" y="5626930"/>
            <a:ext cx="57150" cy="1235641"/>
            <a:chOff x="0" y="0"/>
            <a:chExt cx="76200" cy="1647521"/>
          </a:xfrm>
        </p:grpSpPr>
        <p:sp>
          <p:nvSpPr>
            <p:cNvPr id="36" name="Freeform 36"/>
            <p:cNvSpPr/>
            <p:nvPr/>
          </p:nvSpPr>
          <p:spPr>
            <a:xfrm>
              <a:off x="0" y="38100"/>
              <a:ext cx="76200" cy="1571371"/>
            </a:xfrm>
            <a:custGeom>
              <a:avLst/>
              <a:gdLst/>
              <a:ahLst/>
              <a:cxnLst/>
              <a:rect l="l" t="t" r="r" b="b"/>
              <a:pathLst>
                <a:path w="76200" h="1571371">
                  <a:moveTo>
                    <a:pt x="0" y="1571371"/>
                  </a:moveTo>
                  <a:lnTo>
                    <a:pt x="0" y="0"/>
                  </a:lnTo>
                  <a:lnTo>
                    <a:pt x="76200" y="0"/>
                  </a:lnTo>
                  <a:lnTo>
                    <a:pt x="76200" y="1571371"/>
                  </a:lnTo>
                  <a:close/>
                </a:path>
              </a:pathLst>
            </a:custGeom>
            <a:solidFill>
              <a:srgbClr val="404040"/>
            </a:solidFill>
          </p:spPr>
        </p:sp>
      </p:grpSp>
      <p:grpSp>
        <p:nvGrpSpPr>
          <p:cNvPr id="37" name="Group 37"/>
          <p:cNvGrpSpPr/>
          <p:nvPr/>
        </p:nvGrpSpPr>
        <p:grpSpPr>
          <a:xfrm>
            <a:off x="1935428" y="5372778"/>
            <a:ext cx="2976702" cy="57150"/>
            <a:chOff x="0" y="0"/>
            <a:chExt cx="3968936" cy="76200"/>
          </a:xfrm>
        </p:grpSpPr>
        <p:sp>
          <p:nvSpPr>
            <p:cNvPr id="38" name="Freeform 38"/>
            <p:cNvSpPr/>
            <p:nvPr/>
          </p:nvSpPr>
          <p:spPr>
            <a:xfrm>
              <a:off x="38100" y="0"/>
              <a:ext cx="3892677" cy="76200"/>
            </a:xfrm>
            <a:custGeom>
              <a:avLst/>
              <a:gdLst/>
              <a:ahLst/>
              <a:cxnLst/>
              <a:rect l="l" t="t" r="r" b="b"/>
              <a:pathLst>
                <a:path w="3892677" h="76200">
                  <a:moveTo>
                    <a:pt x="0" y="0"/>
                  </a:moveTo>
                  <a:lnTo>
                    <a:pt x="3892677" y="0"/>
                  </a:lnTo>
                  <a:lnTo>
                    <a:pt x="3892677" y="76200"/>
                  </a:lnTo>
                  <a:lnTo>
                    <a:pt x="0" y="76200"/>
                  </a:lnTo>
                  <a:close/>
                </a:path>
              </a:pathLst>
            </a:custGeom>
            <a:solidFill>
              <a:srgbClr val="404040"/>
            </a:solidFill>
          </p:spPr>
        </p:sp>
      </p:grpSp>
      <p:grpSp>
        <p:nvGrpSpPr>
          <p:cNvPr id="39" name="Group 39"/>
          <p:cNvGrpSpPr/>
          <p:nvPr/>
        </p:nvGrpSpPr>
        <p:grpSpPr>
          <a:xfrm>
            <a:off x="5370685" y="5372778"/>
            <a:ext cx="2593723" cy="57201"/>
            <a:chOff x="0" y="0"/>
            <a:chExt cx="3458297" cy="76268"/>
          </a:xfrm>
        </p:grpSpPr>
        <p:sp>
          <p:nvSpPr>
            <p:cNvPr id="40" name="Freeform 40"/>
            <p:cNvSpPr/>
            <p:nvPr/>
          </p:nvSpPr>
          <p:spPr>
            <a:xfrm>
              <a:off x="38100" y="0"/>
              <a:ext cx="3382137" cy="76327"/>
            </a:xfrm>
            <a:custGeom>
              <a:avLst/>
              <a:gdLst/>
              <a:ahLst/>
              <a:cxnLst/>
              <a:rect l="l" t="t" r="r" b="b"/>
              <a:pathLst>
                <a:path w="3382137" h="76327">
                  <a:moveTo>
                    <a:pt x="0" y="0"/>
                  </a:moveTo>
                  <a:lnTo>
                    <a:pt x="3382137" y="127"/>
                  </a:lnTo>
                  <a:lnTo>
                    <a:pt x="3382137" y="76327"/>
                  </a:lnTo>
                  <a:lnTo>
                    <a:pt x="0" y="76200"/>
                  </a:lnTo>
                  <a:close/>
                </a:path>
              </a:pathLst>
            </a:custGeom>
            <a:solidFill>
              <a:srgbClr val="404040"/>
            </a:solidFill>
          </p:spPr>
        </p:sp>
      </p:grpSp>
      <p:grpSp>
        <p:nvGrpSpPr>
          <p:cNvPr id="41" name="Group 41"/>
          <p:cNvGrpSpPr/>
          <p:nvPr/>
        </p:nvGrpSpPr>
        <p:grpSpPr>
          <a:xfrm>
            <a:off x="8422861" y="5362590"/>
            <a:ext cx="2409430" cy="67338"/>
            <a:chOff x="0" y="0"/>
            <a:chExt cx="3212573" cy="89784"/>
          </a:xfrm>
        </p:grpSpPr>
        <p:sp>
          <p:nvSpPr>
            <p:cNvPr id="42" name="Freeform 42"/>
            <p:cNvSpPr/>
            <p:nvPr/>
          </p:nvSpPr>
          <p:spPr>
            <a:xfrm>
              <a:off x="37973" y="0"/>
              <a:ext cx="3136646" cy="89789"/>
            </a:xfrm>
            <a:custGeom>
              <a:avLst/>
              <a:gdLst/>
              <a:ahLst/>
              <a:cxnLst/>
              <a:rect l="l" t="t" r="r" b="b"/>
              <a:pathLst>
                <a:path w="3136646" h="89789">
                  <a:moveTo>
                    <a:pt x="254" y="0"/>
                  </a:moveTo>
                  <a:lnTo>
                    <a:pt x="3136646" y="13589"/>
                  </a:lnTo>
                  <a:lnTo>
                    <a:pt x="3136265" y="89789"/>
                  </a:lnTo>
                  <a:lnTo>
                    <a:pt x="0" y="76200"/>
                  </a:lnTo>
                  <a:close/>
                </a:path>
              </a:pathLst>
            </a:custGeom>
            <a:solidFill>
              <a:srgbClr val="404040"/>
            </a:solidFill>
          </p:spPr>
        </p:sp>
      </p:grpSp>
      <p:sp>
        <p:nvSpPr>
          <p:cNvPr id="43" name="TextBox 43"/>
          <p:cNvSpPr txBox="1"/>
          <p:nvPr/>
        </p:nvSpPr>
        <p:spPr>
          <a:xfrm>
            <a:off x="162338" y="7090576"/>
            <a:ext cx="3336630" cy="381000"/>
          </a:xfrm>
          <a:prstGeom prst="rect">
            <a:avLst/>
          </a:prstGeom>
        </p:spPr>
        <p:txBody>
          <a:bodyPr lIns="0" tIns="0" rIns="0" bIns="0" rtlCol="0" anchor="t">
            <a:spAutoFit/>
          </a:bodyPr>
          <a:lstStyle/>
          <a:p>
            <a:pPr algn="ctr">
              <a:lnSpc>
                <a:spcPts val="3055"/>
              </a:lnSpc>
            </a:pPr>
            <a:r>
              <a:rPr lang="en-US" sz="2545" b="1">
                <a:solidFill>
                  <a:srgbClr val="004AAD"/>
                </a:solidFill>
                <a:latin typeface="Fraunces Bold"/>
                <a:ea typeface="Fraunces Bold"/>
                <a:cs typeface="Fraunces Bold"/>
                <a:sym typeface="Fraunces Bold"/>
              </a:rPr>
              <a:t>Organisme d’accueil</a:t>
            </a:r>
          </a:p>
        </p:txBody>
      </p:sp>
      <p:sp>
        <p:nvSpPr>
          <p:cNvPr id="44" name="TextBox 44"/>
          <p:cNvSpPr txBox="1"/>
          <p:nvPr/>
        </p:nvSpPr>
        <p:spPr>
          <a:xfrm>
            <a:off x="3778177" y="7072121"/>
            <a:ext cx="2993160" cy="381000"/>
          </a:xfrm>
          <a:prstGeom prst="rect">
            <a:avLst/>
          </a:prstGeom>
        </p:spPr>
        <p:txBody>
          <a:bodyPr lIns="0" tIns="0" rIns="0" bIns="0" rtlCol="0" anchor="t">
            <a:spAutoFit/>
          </a:bodyPr>
          <a:lstStyle/>
          <a:p>
            <a:pPr algn="ctr">
              <a:lnSpc>
                <a:spcPts val="3055"/>
              </a:lnSpc>
            </a:pPr>
            <a:r>
              <a:rPr lang="en-US" sz="2545" b="1">
                <a:solidFill>
                  <a:srgbClr val="004AAD"/>
                </a:solidFill>
                <a:latin typeface="Fraunces Bold"/>
                <a:ea typeface="Fraunces Bold"/>
                <a:cs typeface="Fraunces Bold"/>
                <a:sym typeface="Fraunces Bold"/>
              </a:rPr>
              <a:t>Etude de l’existant</a:t>
            </a:r>
          </a:p>
        </p:txBody>
      </p:sp>
      <p:sp>
        <p:nvSpPr>
          <p:cNvPr id="45" name="TextBox 45"/>
          <p:cNvSpPr txBox="1"/>
          <p:nvPr/>
        </p:nvSpPr>
        <p:spPr>
          <a:xfrm>
            <a:off x="7047562" y="7090576"/>
            <a:ext cx="2444610" cy="762000"/>
          </a:xfrm>
          <a:prstGeom prst="rect">
            <a:avLst/>
          </a:prstGeom>
        </p:spPr>
        <p:txBody>
          <a:bodyPr lIns="0" tIns="0" rIns="0" bIns="0" rtlCol="0" anchor="t">
            <a:spAutoFit/>
          </a:bodyPr>
          <a:lstStyle/>
          <a:p>
            <a:pPr algn="ctr">
              <a:lnSpc>
                <a:spcPts val="3055"/>
              </a:lnSpc>
            </a:pPr>
            <a:r>
              <a:rPr lang="en-US" sz="2545" b="1">
                <a:solidFill>
                  <a:srgbClr val="004AAD"/>
                </a:solidFill>
                <a:latin typeface="Fraunces Bold"/>
                <a:ea typeface="Fraunces Bold"/>
                <a:cs typeface="Fraunces Bold"/>
                <a:sym typeface="Fraunces Bold"/>
              </a:rPr>
              <a:t>Problématique</a:t>
            </a:r>
          </a:p>
          <a:p>
            <a:pPr algn="ctr">
              <a:lnSpc>
                <a:spcPts val="3055"/>
              </a:lnSpc>
            </a:pPr>
            <a:endParaRPr lang="en-US" sz="2545" b="1">
              <a:solidFill>
                <a:srgbClr val="004AAD"/>
              </a:solidFill>
              <a:latin typeface="Fraunces Bold"/>
              <a:ea typeface="Fraunces Bold"/>
              <a:cs typeface="Fraunces Bold"/>
              <a:sym typeface="Fraunces Bold"/>
            </a:endParaRPr>
          </a:p>
        </p:txBody>
      </p:sp>
      <p:sp>
        <p:nvSpPr>
          <p:cNvPr id="46" name="TextBox 46"/>
          <p:cNvSpPr txBox="1"/>
          <p:nvPr/>
        </p:nvSpPr>
        <p:spPr>
          <a:xfrm>
            <a:off x="9741016" y="7090576"/>
            <a:ext cx="2984006" cy="762000"/>
          </a:xfrm>
          <a:prstGeom prst="rect">
            <a:avLst/>
          </a:prstGeom>
        </p:spPr>
        <p:txBody>
          <a:bodyPr lIns="0" tIns="0" rIns="0" bIns="0" rtlCol="0" anchor="t">
            <a:spAutoFit/>
          </a:bodyPr>
          <a:lstStyle/>
          <a:p>
            <a:pPr algn="ctr">
              <a:lnSpc>
                <a:spcPts val="3055"/>
              </a:lnSpc>
            </a:pPr>
            <a:r>
              <a:rPr lang="en-US" sz="2545" b="1">
                <a:solidFill>
                  <a:srgbClr val="004AAD"/>
                </a:solidFill>
                <a:latin typeface="Fraunces Bold"/>
                <a:ea typeface="Fraunces Bold"/>
                <a:cs typeface="Fraunces Bold"/>
                <a:sym typeface="Fraunces Bold"/>
              </a:rPr>
              <a:t>Solution proposée</a:t>
            </a:r>
          </a:p>
          <a:p>
            <a:pPr algn="ctr">
              <a:lnSpc>
                <a:spcPts val="3055"/>
              </a:lnSpc>
            </a:pPr>
            <a:endParaRPr lang="en-US" sz="2545" b="1">
              <a:solidFill>
                <a:srgbClr val="004AAD"/>
              </a:solidFill>
              <a:latin typeface="Fraunces Bold"/>
              <a:ea typeface="Fraunces Bold"/>
              <a:cs typeface="Fraunces Bold"/>
              <a:sym typeface="Fraunces Bold"/>
            </a:endParaRPr>
          </a:p>
        </p:txBody>
      </p:sp>
      <p:sp>
        <p:nvSpPr>
          <p:cNvPr id="47" name="TextBox 47"/>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4DE"/>
        </a:solidFill>
        <a:effectLst/>
      </p:bgPr>
    </p:bg>
    <p:spTree>
      <p:nvGrpSpPr>
        <p:cNvPr id="1" name=""/>
        <p:cNvGrpSpPr/>
        <p:nvPr/>
      </p:nvGrpSpPr>
      <p:grpSpPr>
        <a:xfrm>
          <a:off x="0" y="0"/>
          <a:ext cx="0" cy="0"/>
          <a:chOff x="0" y="0"/>
          <a:chExt cx="0" cy="0"/>
        </a:xfrm>
      </p:grpSpPr>
      <p:grpSp>
        <p:nvGrpSpPr>
          <p:cNvPr id="2" name="Group 2"/>
          <p:cNvGrpSpPr/>
          <p:nvPr/>
        </p:nvGrpSpPr>
        <p:grpSpPr>
          <a:xfrm>
            <a:off x="0" y="-66675"/>
            <a:ext cx="18406533" cy="10353675"/>
            <a:chOff x="0" y="0"/>
            <a:chExt cx="24542044" cy="13804900"/>
          </a:xfrm>
        </p:grpSpPr>
        <p:sp>
          <p:nvSpPr>
            <p:cNvPr id="3" name="Freeform 3"/>
            <p:cNvSpPr/>
            <p:nvPr/>
          </p:nvSpPr>
          <p:spPr>
            <a:xfrm>
              <a:off x="0" y="0"/>
              <a:ext cx="24541987" cy="13804900"/>
            </a:xfrm>
            <a:custGeom>
              <a:avLst/>
              <a:gdLst/>
              <a:ahLst/>
              <a:cxnLst/>
              <a:rect l="l" t="t" r="r" b="b"/>
              <a:pathLst>
                <a:path w="24541987" h="13804900">
                  <a:moveTo>
                    <a:pt x="0" y="0"/>
                  </a:moveTo>
                  <a:lnTo>
                    <a:pt x="24541987" y="0"/>
                  </a:lnTo>
                  <a:lnTo>
                    <a:pt x="24541987" y="13804900"/>
                  </a:lnTo>
                  <a:lnTo>
                    <a:pt x="0" y="13804900"/>
                  </a:lnTo>
                  <a:lnTo>
                    <a:pt x="0" y="0"/>
                  </a:lnTo>
                  <a:close/>
                </a:path>
              </a:pathLst>
            </a:custGeom>
            <a:blipFill>
              <a:blip r:embed="rId3"/>
              <a:stretch>
                <a:fillRect l="-3849" r="-3849"/>
              </a:stretch>
            </a:blipFill>
          </p:spPr>
        </p:sp>
      </p:grpSp>
      <p:grpSp>
        <p:nvGrpSpPr>
          <p:cNvPr id="4" name="Group 4"/>
          <p:cNvGrpSpPr/>
          <p:nvPr/>
        </p:nvGrpSpPr>
        <p:grpSpPr>
          <a:xfrm>
            <a:off x="9234480" y="5479549"/>
            <a:ext cx="4613434" cy="3530148"/>
            <a:chOff x="0" y="0"/>
            <a:chExt cx="6151245" cy="4706864"/>
          </a:xfrm>
        </p:grpSpPr>
        <p:sp>
          <p:nvSpPr>
            <p:cNvPr id="5" name="Freeform 5"/>
            <p:cNvSpPr/>
            <p:nvPr/>
          </p:nvSpPr>
          <p:spPr>
            <a:xfrm>
              <a:off x="0" y="0"/>
              <a:ext cx="6151245" cy="4706874"/>
            </a:xfrm>
            <a:custGeom>
              <a:avLst/>
              <a:gdLst/>
              <a:ahLst/>
              <a:cxnLst/>
              <a:rect l="l" t="t" r="r" b="b"/>
              <a:pathLst>
                <a:path w="6151245" h="4706874">
                  <a:moveTo>
                    <a:pt x="0" y="0"/>
                  </a:moveTo>
                  <a:lnTo>
                    <a:pt x="6151245" y="0"/>
                  </a:lnTo>
                  <a:lnTo>
                    <a:pt x="6151245" y="4706874"/>
                  </a:lnTo>
                  <a:lnTo>
                    <a:pt x="0" y="4706874"/>
                  </a:lnTo>
                  <a:lnTo>
                    <a:pt x="0" y="0"/>
                  </a:lnTo>
                  <a:close/>
                </a:path>
              </a:pathLst>
            </a:custGeom>
            <a:blipFill>
              <a:blip r:embed="rId4"/>
              <a:stretch>
                <a:fillRect l="-10" r="-10"/>
              </a:stretch>
            </a:blipFill>
          </p:spPr>
        </p:sp>
      </p:grpSp>
      <p:grpSp>
        <p:nvGrpSpPr>
          <p:cNvPr id="6" name="Group 6"/>
          <p:cNvGrpSpPr/>
          <p:nvPr/>
        </p:nvGrpSpPr>
        <p:grpSpPr>
          <a:xfrm>
            <a:off x="1736536" y="5004747"/>
            <a:ext cx="7131874" cy="1056119"/>
            <a:chOff x="0" y="0"/>
            <a:chExt cx="9509165" cy="1408159"/>
          </a:xfrm>
        </p:grpSpPr>
        <p:sp>
          <p:nvSpPr>
            <p:cNvPr id="7" name="Freeform 7"/>
            <p:cNvSpPr/>
            <p:nvPr/>
          </p:nvSpPr>
          <p:spPr>
            <a:xfrm>
              <a:off x="0" y="0"/>
              <a:ext cx="9509125" cy="1408176"/>
            </a:xfrm>
            <a:custGeom>
              <a:avLst/>
              <a:gdLst/>
              <a:ahLst/>
              <a:cxnLst/>
              <a:rect l="l" t="t" r="r" b="b"/>
              <a:pathLst>
                <a:path w="9509125" h="1408176">
                  <a:moveTo>
                    <a:pt x="0" y="0"/>
                  </a:moveTo>
                  <a:lnTo>
                    <a:pt x="0" y="1408176"/>
                  </a:lnTo>
                  <a:lnTo>
                    <a:pt x="9509125" y="1408176"/>
                  </a:lnTo>
                  <a:lnTo>
                    <a:pt x="9509125" y="0"/>
                  </a:lnTo>
                  <a:lnTo>
                    <a:pt x="0" y="0"/>
                  </a:lnTo>
                  <a:close/>
                  <a:moveTo>
                    <a:pt x="9491599" y="1390523"/>
                  </a:moveTo>
                  <a:lnTo>
                    <a:pt x="17272" y="1390523"/>
                  </a:lnTo>
                  <a:lnTo>
                    <a:pt x="17272" y="17272"/>
                  </a:lnTo>
                  <a:lnTo>
                    <a:pt x="9491599" y="17272"/>
                  </a:lnTo>
                  <a:lnTo>
                    <a:pt x="9491599" y="1390523"/>
                  </a:lnTo>
                  <a:close/>
                </a:path>
              </a:pathLst>
            </a:custGeom>
            <a:solidFill>
              <a:srgbClr val="404040"/>
            </a:solidFill>
          </p:spPr>
        </p:sp>
      </p:grpSp>
      <p:grpSp>
        <p:nvGrpSpPr>
          <p:cNvPr id="8" name="Group 8"/>
          <p:cNvGrpSpPr/>
          <p:nvPr/>
        </p:nvGrpSpPr>
        <p:grpSpPr>
          <a:xfrm>
            <a:off x="9918464" y="2706582"/>
            <a:ext cx="3245465" cy="2128155"/>
            <a:chOff x="0" y="0"/>
            <a:chExt cx="4327287" cy="2837540"/>
          </a:xfrm>
        </p:grpSpPr>
        <p:sp>
          <p:nvSpPr>
            <p:cNvPr id="9" name="Freeform 9"/>
            <p:cNvSpPr/>
            <p:nvPr/>
          </p:nvSpPr>
          <p:spPr>
            <a:xfrm>
              <a:off x="0" y="0"/>
              <a:ext cx="4327289" cy="2837561"/>
            </a:xfrm>
            <a:custGeom>
              <a:avLst/>
              <a:gdLst/>
              <a:ahLst/>
              <a:cxnLst/>
              <a:rect l="l" t="t" r="r" b="b"/>
              <a:pathLst>
                <a:path w="4327289" h="2837561">
                  <a:moveTo>
                    <a:pt x="0" y="0"/>
                  </a:moveTo>
                  <a:lnTo>
                    <a:pt x="4327289" y="0"/>
                  </a:lnTo>
                  <a:lnTo>
                    <a:pt x="4327289" y="2837561"/>
                  </a:lnTo>
                  <a:lnTo>
                    <a:pt x="0" y="2837561"/>
                  </a:lnTo>
                  <a:lnTo>
                    <a:pt x="0" y="0"/>
                  </a:lnTo>
                  <a:close/>
                </a:path>
              </a:pathLst>
            </a:custGeom>
            <a:blipFill>
              <a:blip r:embed="rId5"/>
              <a:stretch>
                <a:fillRect t="-26250" b="-26250"/>
              </a:stretch>
            </a:blipFill>
          </p:spPr>
        </p:sp>
      </p:grpSp>
      <p:grpSp>
        <p:nvGrpSpPr>
          <p:cNvPr id="10" name="Group 10"/>
          <p:cNvGrpSpPr/>
          <p:nvPr/>
        </p:nvGrpSpPr>
        <p:grpSpPr>
          <a:xfrm>
            <a:off x="11156239" y="5858434"/>
            <a:ext cx="814296" cy="760349"/>
            <a:chOff x="0" y="0"/>
            <a:chExt cx="1085728" cy="1013799"/>
          </a:xfrm>
        </p:grpSpPr>
        <p:sp>
          <p:nvSpPr>
            <p:cNvPr id="11" name="Freeform 11"/>
            <p:cNvSpPr/>
            <p:nvPr/>
          </p:nvSpPr>
          <p:spPr>
            <a:xfrm>
              <a:off x="0" y="0"/>
              <a:ext cx="1085723" cy="1013841"/>
            </a:xfrm>
            <a:custGeom>
              <a:avLst/>
              <a:gdLst/>
              <a:ahLst/>
              <a:cxnLst/>
              <a:rect l="l" t="t" r="r" b="b"/>
              <a:pathLst>
                <a:path w="1085723" h="1013841">
                  <a:moveTo>
                    <a:pt x="0" y="0"/>
                  </a:moveTo>
                  <a:lnTo>
                    <a:pt x="1085723" y="0"/>
                  </a:lnTo>
                  <a:lnTo>
                    <a:pt x="1085723" y="1013841"/>
                  </a:lnTo>
                  <a:lnTo>
                    <a:pt x="0" y="1013841"/>
                  </a:lnTo>
                  <a:lnTo>
                    <a:pt x="0" y="0"/>
                  </a:lnTo>
                  <a:close/>
                </a:path>
              </a:pathLst>
            </a:custGeom>
            <a:blipFill>
              <a:blip r:embed="rId6"/>
              <a:stretch>
                <a:fillRect t="-44" b="-40"/>
              </a:stretch>
            </a:blipFill>
          </p:spPr>
        </p:sp>
      </p:grpSp>
      <p:sp>
        <p:nvSpPr>
          <p:cNvPr id="12" name="Freeform 12"/>
          <p:cNvSpPr/>
          <p:nvPr/>
        </p:nvSpPr>
        <p:spPr>
          <a:xfrm>
            <a:off x="11175289" y="7220383"/>
            <a:ext cx="731816" cy="908575"/>
          </a:xfrm>
          <a:custGeom>
            <a:avLst/>
            <a:gdLst/>
            <a:ahLst/>
            <a:cxnLst/>
            <a:rect l="l" t="t" r="r" b="b"/>
            <a:pathLst>
              <a:path w="731816" h="908575">
                <a:moveTo>
                  <a:pt x="0" y="0"/>
                </a:moveTo>
                <a:lnTo>
                  <a:pt x="731816" y="0"/>
                </a:lnTo>
                <a:lnTo>
                  <a:pt x="731816" y="908575"/>
                </a:lnTo>
                <a:lnTo>
                  <a:pt x="0" y="908575"/>
                </a:lnTo>
                <a:lnTo>
                  <a:pt x="0" y="0"/>
                </a:lnTo>
                <a:close/>
              </a:path>
            </a:pathLst>
          </a:custGeom>
          <a:blipFill>
            <a:blip r:embed="rId7">
              <a:extLst>
                <a:ext uri="{96DAC541-7B7A-43D3-8B79-37D633B846F1}">
                  <asvg:svgBlip xmlns:asvg="http://schemas.microsoft.com/office/drawing/2016/SVG/main" xmlns="" r:embed="rId8"/>
                </a:ext>
              </a:extLst>
            </a:blip>
            <a:stretch>
              <a:fillRect t="-210" b="-210"/>
            </a:stretch>
          </a:blipFill>
        </p:spPr>
      </p:sp>
      <p:sp>
        <p:nvSpPr>
          <p:cNvPr id="13" name="Freeform 13"/>
          <p:cNvSpPr/>
          <p:nvPr/>
        </p:nvSpPr>
        <p:spPr>
          <a:xfrm>
            <a:off x="14424819" y="4130896"/>
            <a:ext cx="2110170" cy="1502970"/>
          </a:xfrm>
          <a:custGeom>
            <a:avLst/>
            <a:gdLst/>
            <a:ahLst/>
            <a:cxnLst/>
            <a:rect l="l" t="t" r="r" b="b"/>
            <a:pathLst>
              <a:path w="2110170" h="1502970">
                <a:moveTo>
                  <a:pt x="0" y="0"/>
                </a:moveTo>
                <a:lnTo>
                  <a:pt x="2110170" y="0"/>
                </a:lnTo>
                <a:lnTo>
                  <a:pt x="2110170" y="1502970"/>
                </a:lnTo>
                <a:lnTo>
                  <a:pt x="0" y="1502970"/>
                </a:lnTo>
                <a:lnTo>
                  <a:pt x="0" y="0"/>
                </a:lnTo>
                <a:close/>
              </a:path>
            </a:pathLst>
          </a:custGeom>
          <a:blipFill>
            <a:blip r:embed="rId9">
              <a:extLst>
                <a:ext uri="{96DAC541-7B7A-43D3-8B79-37D633B846F1}">
                  <asvg:svgBlip xmlns:asvg="http://schemas.microsoft.com/office/drawing/2016/SVG/main" xmlns="" r:embed="rId10"/>
                </a:ext>
              </a:extLst>
            </a:blip>
            <a:stretch>
              <a:fillRect l="-37" r="-37"/>
            </a:stretch>
          </a:blipFill>
        </p:spPr>
      </p:sp>
      <p:grpSp>
        <p:nvGrpSpPr>
          <p:cNvPr id="14" name="Group 14"/>
          <p:cNvGrpSpPr/>
          <p:nvPr/>
        </p:nvGrpSpPr>
        <p:grpSpPr>
          <a:xfrm>
            <a:off x="39989" y="7567605"/>
            <a:ext cx="2081169" cy="2719395"/>
            <a:chOff x="0" y="0"/>
            <a:chExt cx="2774892" cy="3625860"/>
          </a:xfrm>
        </p:grpSpPr>
        <p:sp>
          <p:nvSpPr>
            <p:cNvPr id="15" name="Freeform 15"/>
            <p:cNvSpPr/>
            <p:nvPr/>
          </p:nvSpPr>
          <p:spPr>
            <a:xfrm>
              <a:off x="0" y="0"/>
              <a:ext cx="2774950" cy="3625850"/>
            </a:xfrm>
            <a:custGeom>
              <a:avLst/>
              <a:gdLst/>
              <a:ahLst/>
              <a:cxnLst/>
              <a:rect l="l" t="t" r="r" b="b"/>
              <a:pathLst>
                <a:path w="2774950" h="3625850">
                  <a:moveTo>
                    <a:pt x="0" y="0"/>
                  </a:moveTo>
                  <a:lnTo>
                    <a:pt x="2774950" y="0"/>
                  </a:lnTo>
                  <a:lnTo>
                    <a:pt x="2774950" y="3625850"/>
                  </a:lnTo>
                  <a:lnTo>
                    <a:pt x="0" y="3625850"/>
                  </a:lnTo>
                  <a:lnTo>
                    <a:pt x="0" y="0"/>
                  </a:lnTo>
                  <a:close/>
                </a:path>
              </a:pathLst>
            </a:custGeom>
            <a:blipFill>
              <a:blip r:embed="rId11"/>
              <a:stretch>
                <a:fillRect r="2"/>
              </a:stretch>
            </a:blipFill>
          </p:spPr>
        </p:sp>
      </p:grpSp>
      <p:grpSp>
        <p:nvGrpSpPr>
          <p:cNvPr id="16" name="Group 16"/>
          <p:cNvGrpSpPr/>
          <p:nvPr/>
        </p:nvGrpSpPr>
        <p:grpSpPr>
          <a:xfrm>
            <a:off x="1051793" y="-66675"/>
            <a:ext cx="28780" cy="7674670"/>
            <a:chOff x="0" y="0"/>
            <a:chExt cx="38373" cy="10232893"/>
          </a:xfrm>
        </p:grpSpPr>
        <p:sp>
          <p:nvSpPr>
            <p:cNvPr id="17" name="Freeform 17"/>
            <p:cNvSpPr/>
            <p:nvPr/>
          </p:nvSpPr>
          <p:spPr>
            <a:xfrm>
              <a:off x="0" y="0"/>
              <a:ext cx="38354" cy="10232898"/>
            </a:xfrm>
            <a:custGeom>
              <a:avLst/>
              <a:gdLst/>
              <a:ahLst/>
              <a:cxnLst/>
              <a:rect l="l" t="t" r="r" b="b"/>
              <a:pathLst>
                <a:path w="38354" h="10232898">
                  <a:moveTo>
                    <a:pt x="0" y="0"/>
                  </a:moveTo>
                  <a:lnTo>
                    <a:pt x="38354" y="0"/>
                  </a:lnTo>
                  <a:lnTo>
                    <a:pt x="38354" y="10232898"/>
                  </a:lnTo>
                  <a:lnTo>
                    <a:pt x="0" y="10232898"/>
                  </a:lnTo>
                  <a:lnTo>
                    <a:pt x="0" y="0"/>
                  </a:lnTo>
                  <a:close/>
                </a:path>
              </a:pathLst>
            </a:custGeom>
            <a:blipFill>
              <a:blip r:embed="rId12"/>
              <a:stretch>
                <a:fillRect t="-2187" r="-50" b="-2187"/>
              </a:stretch>
            </a:blipFill>
          </p:spPr>
        </p:sp>
      </p:grpSp>
      <p:sp>
        <p:nvSpPr>
          <p:cNvPr id="18" name="TextBox 18"/>
          <p:cNvSpPr txBox="1"/>
          <p:nvPr/>
        </p:nvSpPr>
        <p:spPr>
          <a:xfrm>
            <a:off x="10129284" y="6655386"/>
            <a:ext cx="3222101" cy="513715"/>
          </a:xfrm>
          <a:prstGeom prst="rect">
            <a:avLst/>
          </a:prstGeom>
        </p:spPr>
        <p:txBody>
          <a:bodyPr lIns="0" tIns="0" rIns="0" bIns="0" rtlCol="0" anchor="t">
            <a:spAutoFit/>
          </a:bodyPr>
          <a:lstStyle/>
          <a:p>
            <a:pPr algn="just">
              <a:lnSpc>
                <a:spcPts val="4010"/>
              </a:lnSpc>
            </a:pPr>
            <a:r>
              <a:rPr lang="en-US" sz="2865" b="1">
                <a:solidFill>
                  <a:srgbClr val="404040"/>
                </a:solidFill>
                <a:latin typeface="TT Chocolates Bold" panose="02000803020000020003"/>
                <a:ea typeface="TT Chocolates Bold" panose="02000803020000020003"/>
                <a:cs typeface="TT Chocolates Bold" panose="02000803020000020003"/>
                <a:sym typeface="TT Chocolates Bold" panose="02000803020000020003"/>
              </a:rPr>
              <a:t>Fondée en : 201</a:t>
            </a:r>
            <a:r>
              <a:rPr lang="fr-FR" altLang="en-US" sz="2865" b="1">
                <a:solidFill>
                  <a:srgbClr val="404040"/>
                </a:solidFill>
                <a:latin typeface="TT Chocolates Bold" panose="02000803020000020003"/>
                <a:ea typeface="TT Chocolates Bold" panose="02000803020000020003"/>
                <a:cs typeface="TT Chocolates Bold" panose="02000803020000020003"/>
                <a:sym typeface="TT Chocolates Bold" panose="02000803020000020003"/>
              </a:rPr>
              <a:t>9</a:t>
            </a:r>
          </a:p>
        </p:txBody>
      </p:sp>
      <p:sp>
        <p:nvSpPr>
          <p:cNvPr id="19" name="TextBox 19"/>
          <p:cNvSpPr txBox="1"/>
          <p:nvPr/>
        </p:nvSpPr>
        <p:spPr>
          <a:xfrm>
            <a:off x="10184130" y="7998460"/>
            <a:ext cx="3364865" cy="928370"/>
          </a:xfrm>
          <a:prstGeom prst="rect">
            <a:avLst/>
          </a:prstGeom>
        </p:spPr>
        <p:txBody>
          <a:bodyPr lIns="0" tIns="0" rIns="0" bIns="0" rtlCol="0" anchor="t">
            <a:noAutofit/>
          </a:bodyPr>
          <a:lstStyle/>
          <a:p>
            <a:pPr algn="just">
              <a:lnSpc>
                <a:spcPts val="4175"/>
              </a:lnSpc>
            </a:pPr>
            <a:r>
              <a:rPr lang="en-US" sz="2600" b="1">
                <a:solidFill>
                  <a:srgbClr val="404040"/>
                </a:solidFill>
                <a:latin typeface="TT Chocolates Bold" panose="02000803020000020003"/>
                <a:ea typeface="TT Chocolates Bold" panose="02000803020000020003"/>
                <a:cs typeface="TT Chocolates Bold" panose="02000803020000020003"/>
                <a:sym typeface="TT Chocolates Bold" panose="02000803020000020003"/>
              </a:rPr>
              <a:t>Localisation</a:t>
            </a:r>
            <a:r>
              <a:rPr lang="fr-FR" altLang="en-US" sz="2600" b="1">
                <a:solidFill>
                  <a:srgbClr val="404040"/>
                </a:solidFill>
                <a:latin typeface="TT Chocolates Bold" panose="02000803020000020003"/>
                <a:ea typeface="TT Chocolates Bold" panose="02000803020000020003"/>
                <a:cs typeface="TT Chocolates Bold" panose="02000803020000020003"/>
                <a:sym typeface="TT Chocolates Bold" panose="02000803020000020003"/>
              </a:rPr>
              <a:t> </a:t>
            </a:r>
            <a:r>
              <a:rPr lang="en-US" sz="2600" b="1">
                <a:solidFill>
                  <a:srgbClr val="404040"/>
                </a:solidFill>
                <a:latin typeface="TT Chocolates Bold" panose="02000803020000020003"/>
                <a:ea typeface="TT Chocolates Bold" panose="02000803020000020003"/>
                <a:cs typeface="TT Chocolates Bold" panose="02000803020000020003"/>
                <a:sym typeface="TT Chocolates Bold" panose="02000803020000020003"/>
              </a:rPr>
              <a:t>:</a:t>
            </a:r>
          </a:p>
          <a:p>
            <a:pPr algn="just">
              <a:lnSpc>
                <a:spcPts val="4175"/>
              </a:lnSpc>
            </a:pPr>
            <a:r>
              <a:rPr lang="fr-FR" altLang="en-US" sz="2600" b="1">
                <a:solidFill>
                  <a:srgbClr val="404040"/>
                </a:solidFill>
                <a:latin typeface="TT Chocolates Bold" panose="02000803020000020003"/>
                <a:ea typeface="TT Chocolates Bold" panose="02000803020000020003"/>
                <a:cs typeface="TT Chocolates Bold" panose="02000803020000020003"/>
                <a:sym typeface="TT Chocolates Bold" panose="02000803020000020003"/>
              </a:rPr>
              <a:t> Manzel Temin</a:t>
            </a:r>
          </a:p>
        </p:txBody>
      </p:sp>
      <p:sp>
        <p:nvSpPr>
          <p:cNvPr id="20" name="TextBox 20"/>
          <p:cNvSpPr txBox="1"/>
          <p:nvPr/>
        </p:nvSpPr>
        <p:spPr>
          <a:xfrm>
            <a:off x="14357127" y="5837606"/>
            <a:ext cx="3930873" cy="649605"/>
          </a:xfrm>
          <a:prstGeom prst="rect">
            <a:avLst/>
          </a:prstGeom>
        </p:spPr>
        <p:txBody>
          <a:bodyPr lIns="0" tIns="0" rIns="0" bIns="0" rtlCol="0" anchor="t">
            <a:spAutoFit/>
          </a:bodyPr>
          <a:lstStyle/>
          <a:p>
            <a:pPr algn="just">
              <a:lnSpc>
                <a:spcPts val="4620"/>
              </a:lnSpc>
            </a:pPr>
            <a:r>
              <a:rPr lang="en-US" sz="3300" b="1">
                <a:solidFill>
                  <a:srgbClr val="404040"/>
                </a:solidFill>
                <a:latin typeface="TT Chocolates Bold" panose="02000803020000020003"/>
                <a:ea typeface="TT Chocolates Bold" panose="02000803020000020003"/>
                <a:cs typeface="TT Chocolates Bold" panose="02000803020000020003"/>
                <a:sym typeface="TT Chocolates Bold" panose="02000803020000020003"/>
              </a:rPr>
              <a:t>Nos services</a:t>
            </a:r>
          </a:p>
        </p:txBody>
      </p:sp>
      <p:grpSp>
        <p:nvGrpSpPr>
          <p:cNvPr id="21" name="Group 21"/>
          <p:cNvGrpSpPr/>
          <p:nvPr/>
        </p:nvGrpSpPr>
        <p:grpSpPr>
          <a:xfrm>
            <a:off x="13275924" y="3868792"/>
            <a:ext cx="4613434" cy="3530148"/>
            <a:chOff x="0" y="0"/>
            <a:chExt cx="6151245" cy="4706864"/>
          </a:xfrm>
        </p:grpSpPr>
        <p:sp>
          <p:nvSpPr>
            <p:cNvPr id="22" name="Freeform 22"/>
            <p:cNvSpPr/>
            <p:nvPr/>
          </p:nvSpPr>
          <p:spPr>
            <a:xfrm>
              <a:off x="0" y="0"/>
              <a:ext cx="6151245" cy="4706874"/>
            </a:xfrm>
            <a:custGeom>
              <a:avLst/>
              <a:gdLst/>
              <a:ahLst/>
              <a:cxnLst/>
              <a:rect l="l" t="t" r="r" b="b"/>
              <a:pathLst>
                <a:path w="6151245" h="4706874">
                  <a:moveTo>
                    <a:pt x="0" y="0"/>
                  </a:moveTo>
                  <a:lnTo>
                    <a:pt x="6151245" y="0"/>
                  </a:lnTo>
                  <a:lnTo>
                    <a:pt x="6151245" y="4706874"/>
                  </a:lnTo>
                  <a:lnTo>
                    <a:pt x="0" y="4706874"/>
                  </a:lnTo>
                  <a:lnTo>
                    <a:pt x="0" y="0"/>
                  </a:lnTo>
                  <a:close/>
                </a:path>
              </a:pathLst>
            </a:custGeom>
            <a:blipFill>
              <a:blip r:embed="rId4"/>
              <a:stretch>
                <a:fillRect l="-10" r="-10"/>
              </a:stretch>
            </a:blipFill>
          </p:spPr>
        </p:sp>
      </p:grpSp>
      <p:grpSp>
        <p:nvGrpSpPr>
          <p:cNvPr id="23" name="Group 23"/>
          <p:cNvGrpSpPr/>
          <p:nvPr/>
        </p:nvGrpSpPr>
        <p:grpSpPr>
          <a:xfrm>
            <a:off x="531229" y="8377958"/>
            <a:ext cx="1098689" cy="1098689"/>
            <a:chOff x="0" y="0"/>
            <a:chExt cx="1464919" cy="1464919"/>
          </a:xfrm>
        </p:grpSpPr>
        <p:sp>
          <p:nvSpPr>
            <p:cNvPr id="24" name="Freeform 24"/>
            <p:cNvSpPr/>
            <p:nvPr/>
          </p:nvSpPr>
          <p:spPr>
            <a:xfrm>
              <a:off x="0" y="0"/>
              <a:ext cx="1464945" cy="1464945"/>
            </a:xfrm>
            <a:custGeom>
              <a:avLst/>
              <a:gdLst/>
              <a:ahLst/>
              <a:cxnLst/>
              <a:rect l="l" t="t" r="r" b="b"/>
              <a:pathLst>
                <a:path w="1464945" h="1464945">
                  <a:moveTo>
                    <a:pt x="0" y="0"/>
                  </a:moveTo>
                  <a:lnTo>
                    <a:pt x="1464945" y="0"/>
                  </a:lnTo>
                  <a:lnTo>
                    <a:pt x="1464945" y="1464945"/>
                  </a:lnTo>
                  <a:lnTo>
                    <a:pt x="0" y="1464945"/>
                  </a:lnTo>
                  <a:lnTo>
                    <a:pt x="0" y="0"/>
                  </a:lnTo>
                  <a:close/>
                </a:path>
              </a:pathLst>
            </a:custGeom>
            <a:blipFill>
              <a:blip r:embed="rId13"/>
              <a:stretch>
                <a:fillRect r="1" b="1"/>
              </a:stretch>
            </a:blipFill>
          </p:spPr>
        </p:sp>
      </p:grpSp>
      <p:sp>
        <p:nvSpPr>
          <p:cNvPr id="25" name="TextBox 25"/>
          <p:cNvSpPr txBox="1"/>
          <p:nvPr/>
        </p:nvSpPr>
        <p:spPr>
          <a:xfrm>
            <a:off x="1676191" y="5008931"/>
            <a:ext cx="7034752" cy="923330"/>
          </a:xfrm>
          <a:prstGeom prst="rect">
            <a:avLst/>
          </a:prstGeom>
        </p:spPr>
        <p:txBody>
          <a:bodyPr lIns="0" tIns="0" rIns="0" bIns="0" rtlCol="0" anchor="t">
            <a:spAutoFit/>
          </a:bodyPr>
          <a:lstStyle/>
          <a:p>
            <a:pPr algn="ctr">
              <a:lnSpc>
                <a:spcPts val="3600"/>
              </a:lnSpc>
            </a:pPr>
            <a:r>
              <a:rPr lang="fr-FR" altLang="en-US" sz="3000" b="1" dirty="0" err="1">
                <a:solidFill>
                  <a:srgbClr val="404040"/>
                </a:solidFill>
                <a:latin typeface="The Seasons Bold"/>
                <a:ea typeface="The Seasons Bold"/>
                <a:cs typeface="The Seasons Bold"/>
                <a:sym typeface="The Seasons Bold"/>
              </a:rPr>
              <a:t>Designet</a:t>
            </a:r>
            <a:r>
              <a:rPr lang="en-US" sz="3000" b="1" dirty="0">
                <a:solidFill>
                  <a:srgbClr val="404040"/>
                </a:solidFill>
                <a:latin typeface="The Seasons Bold"/>
                <a:ea typeface="The Seasons Bold"/>
                <a:cs typeface="The Seasons Bold"/>
                <a:sym typeface="The Seasons Bold"/>
              </a:rPr>
              <a:t> </a:t>
            </a:r>
            <a:r>
              <a:rPr lang="en-US" sz="3000" dirty="0" smtClean="0">
                <a:solidFill>
                  <a:srgbClr val="404040"/>
                </a:solidFill>
                <a:latin typeface="The Seasons"/>
                <a:ea typeface="The Seasons Bold"/>
                <a:cs typeface="The Seasons Bold"/>
                <a:sym typeface="The Seasons"/>
              </a:rPr>
              <a:t>: </a:t>
            </a:r>
            <a:r>
              <a:rPr lang="en-US" sz="3000" dirty="0" err="1" smtClean="0">
                <a:solidFill>
                  <a:srgbClr val="404040"/>
                </a:solidFill>
                <a:latin typeface="The Seasons"/>
                <a:ea typeface="The Seasons"/>
                <a:cs typeface="The Seasons"/>
                <a:sym typeface="The Seasons"/>
              </a:rPr>
              <a:t>est</a:t>
            </a:r>
            <a:r>
              <a:rPr lang="en-US" sz="3000" dirty="0" smtClean="0">
                <a:solidFill>
                  <a:srgbClr val="404040"/>
                </a:solidFill>
                <a:latin typeface="The Seasons"/>
                <a:ea typeface="The Seasons"/>
                <a:cs typeface="The Seasons"/>
                <a:sym typeface="The Seasons"/>
              </a:rPr>
              <a:t> </a:t>
            </a:r>
            <a:r>
              <a:rPr lang="en-US" sz="3000" dirty="0" err="1" smtClean="0">
                <a:solidFill>
                  <a:srgbClr val="404040"/>
                </a:solidFill>
                <a:latin typeface="The Seasons"/>
                <a:ea typeface="The Seasons"/>
                <a:cs typeface="The Seasons"/>
                <a:sym typeface="The Seasons"/>
              </a:rPr>
              <a:t>une</a:t>
            </a:r>
            <a:r>
              <a:rPr lang="en-US" sz="3000" dirty="0" smtClean="0">
                <a:solidFill>
                  <a:srgbClr val="404040"/>
                </a:solidFill>
                <a:latin typeface="The Seasons"/>
                <a:ea typeface="The Seasons"/>
                <a:cs typeface="The Seasons"/>
                <a:sym typeface="The Seasons"/>
              </a:rPr>
              <a:t> </a:t>
            </a:r>
            <a:r>
              <a:rPr lang="en-US" sz="3000" dirty="0" err="1" smtClean="0">
                <a:solidFill>
                  <a:srgbClr val="404040"/>
                </a:solidFill>
                <a:latin typeface="The Seasons"/>
                <a:ea typeface="The Seasons"/>
                <a:cs typeface="The Seasons"/>
                <a:sym typeface="The Seasons"/>
              </a:rPr>
              <a:t>agnece</a:t>
            </a:r>
            <a:r>
              <a:rPr lang="en-US" sz="3000" dirty="0" smtClean="0">
                <a:solidFill>
                  <a:srgbClr val="404040"/>
                </a:solidFill>
                <a:latin typeface="The Seasons"/>
                <a:ea typeface="The Seasons"/>
                <a:cs typeface="The Seasons"/>
                <a:sym typeface="The Seasons"/>
              </a:rPr>
              <a:t> de </a:t>
            </a:r>
            <a:r>
              <a:rPr lang="en-US" sz="3000" dirty="0" err="1" smtClean="0">
                <a:solidFill>
                  <a:srgbClr val="404040"/>
                </a:solidFill>
                <a:latin typeface="The Seasons"/>
                <a:ea typeface="The Seasons"/>
                <a:cs typeface="The Seasons"/>
                <a:sym typeface="The Seasons"/>
              </a:rPr>
              <a:t>cr</a:t>
            </a:r>
            <a:r>
              <a:rPr lang="en-US" sz="3000" dirty="0" err="1" smtClean="0">
                <a:solidFill>
                  <a:srgbClr val="404040"/>
                </a:solidFill>
                <a:latin typeface="The Seasons"/>
                <a:ea typeface="The Seasons"/>
                <a:cs typeface="The Seasons"/>
                <a:sym typeface="The Seasons"/>
              </a:rPr>
              <a:t>éation</a:t>
            </a:r>
            <a:r>
              <a:rPr lang="en-US" sz="3000" dirty="0" smtClean="0">
                <a:solidFill>
                  <a:srgbClr val="404040"/>
                </a:solidFill>
                <a:latin typeface="The Seasons"/>
                <a:ea typeface="The Seasons"/>
                <a:cs typeface="The Seasons"/>
                <a:sym typeface="The Seasons"/>
              </a:rPr>
              <a:t> site web en </a:t>
            </a:r>
            <a:r>
              <a:rPr lang="en-US" sz="3000" dirty="0" err="1" smtClean="0">
                <a:solidFill>
                  <a:srgbClr val="404040"/>
                </a:solidFill>
                <a:latin typeface="The Seasons"/>
                <a:ea typeface="The Seasons"/>
                <a:cs typeface="The Seasons"/>
                <a:sym typeface="The Seasons"/>
              </a:rPr>
              <a:t>Tunisie</a:t>
            </a:r>
            <a:r>
              <a:rPr lang="en-US" sz="3000" dirty="0" smtClean="0">
                <a:solidFill>
                  <a:srgbClr val="404040"/>
                </a:solidFill>
                <a:latin typeface="The Seasons"/>
                <a:ea typeface="The Seasons"/>
                <a:cs typeface="The Seasons"/>
                <a:sym typeface="The Seasons"/>
              </a:rPr>
              <a:t> </a:t>
            </a:r>
            <a:endParaRPr lang="en-US" sz="3000" dirty="0">
              <a:solidFill>
                <a:srgbClr val="404040"/>
              </a:solidFill>
              <a:latin typeface="The Seasons"/>
              <a:ea typeface="The Seasons"/>
              <a:cs typeface="The Seasons"/>
              <a:sym typeface="The Seasons"/>
            </a:endParaRPr>
          </a:p>
        </p:txBody>
      </p:sp>
      <p:sp>
        <p:nvSpPr>
          <p:cNvPr id="26" name="TextBox 26"/>
          <p:cNvSpPr txBox="1"/>
          <p:nvPr/>
        </p:nvSpPr>
        <p:spPr>
          <a:xfrm>
            <a:off x="-623958" y="1056228"/>
            <a:ext cx="12430967" cy="967105"/>
          </a:xfrm>
          <a:prstGeom prst="rect">
            <a:avLst/>
          </a:prstGeom>
        </p:spPr>
        <p:txBody>
          <a:bodyPr lIns="0" tIns="0" rIns="0" bIns="0" rtlCol="0" anchor="t">
            <a:spAutoFit/>
          </a:bodyPr>
          <a:lstStyle/>
          <a:p>
            <a:pPr algn="ctr">
              <a:lnSpc>
                <a:spcPts val="7280"/>
              </a:lnSpc>
            </a:pPr>
            <a:r>
              <a:rPr lang="en-US" sz="5600">
                <a:solidFill>
                  <a:srgbClr val="004AAD"/>
                </a:solidFill>
                <a:latin typeface="The Seasons"/>
                <a:ea typeface="The Seasons"/>
                <a:cs typeface="The Seasons"/>
                <a:sym typeface="The Seasons"/>
              </a:rPr>
              <a:t> organisme d’accueil </a:t>
            </a:r>
          </a:p>
        </p:txBody>
      </p:sp>
      <p:sp>
        <p:nvSpPr>
          <p:cNvPr id="27" name="TextBox 27"/>
          <p:cNvSpPr txBox="1"/>
          <p:nvPr/>
        </p:nvSpPr>
        <p:spPr>
          <a:xfrm rot="-5400000">
            <a:off x="-4693806" y="3397046"/>
            <a:ext cx="10281811" cy="771525"/>
          </a:xfrm>
          <a:prstGeom prst="rect">
            <a:avLst/>
          </a:prstGeom>
        </p:spPr>
        <p:txBody>
          <a:bodyPr lIns="0" tIns="0" rIns="0" bIns="0" rtlCol="0" anchor="t">
            <a:spAutoFit/>
          </a:bodyPr>
          <a:lstStyle/>
          <a:p>
            <a:pPr algn="ctr">
              <a:lnSpc>
                <a:spcPts val="6020"/>
              </a:lnSpc>
            </a:pPr>
            <a:r>
              <a:rPr lang="en-US" sz="4000">
                <a:solidFill>
                  <a:srgbClr val="004AAD"/>
                </a:solidFill>
                <a:latin typeface="The Seasons"/>
                <a:ea typeface="The Seasons"/>
                <a:cs typeface="The Seasons"/>
                <a:sym typeface="The Seasons"/>
              </a:rPr>
              <a:t>Présentation de l’entreprise</a:t>
            </a:r>
          </a:p>
        </p:txBody>
      </p:sp>
      <p:sp>
        <p:nvSpPr>
          <p:cNvPr id="28" name="TextBox 28"/>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5</a:t>
            </a:r>
          </a:p>
        </p:txBody>
      </p:sp>
      <p:grpSp>
        <p:nvGrpSpPr>
          <p:cNvPr id="29" name="Group 29"/>
          <p:cNvGrpSpPr/>
          <p:nvPr/>
        </p:nvGrpSpPr>
        <p:grpSpPr>
          <a:xfrm>
            <a:off x="9234480" y="1730326"/>
            <a:ext cx="4613434" cy="3682548"/>
            <a:chOff x="0" y="0"/>
            <a:chExt cx="6151245" cy="4910064"/>
          </a:xfrm>
        </p:grpSpPr>
        <p:sp>
          <p:nvSpPr>
            <p:cNvPr id="30" name="Freeform 30"/>
            <p:cNvSpPr/>
            <p:nvPr/>
          </p:nvSpPr>
          <p:spPr>
            <a:xfrm>
              <a:off x="0" y="0"/>
              <a:ext cx="6151245" cy="4910074"/>
            </a:xfrm>
            <a:custGeom>
              <a:avLst/>
              <a:gdLst/>
              <a:ahLst/>
              <a:cxnLst/>
              <a:rect l="l" t="t" r="r" b="b"/>
              <a:pathLst>
                <a:path w="6151245" h="4910074">
                  <a:moveTo>
                    <a:pt x="0" y="0"/>
                  </a:moveTo>
                  <a:lnTo>
                    <a:pt x="6151245" y="0"/>
                  </a:lnTo>
                  <a:lnTo>
                    <a:pt x="6151245" y="4910074"/>
                  </a:lnTo>
                  <a:lnTo>
                    <a:pt x="0" y="4910074"/>
                  </a:lnTo>
                  <a:lnTo>
                    <a:pt x="0" y="0"/>
                  </a:lnTo>
                  <a:close/>
                </a:path>
              </a:pathLst>
            </a:custGeom>
            <a:blipFill>
              <a:blip r:embed="rId4"/>
              <a:stretch>
                <a:fillRect l="-2169" r="-2169"/>
              </a:stretch>
            </a:blipFill>
          </p:spPr>
          <p:txBody>
            <a:bodyPr/>
            <a:lstStyle/>
            <a:p>
              <a:endParaRPr lang="fr-FR" altLang="en-US"/>
            </a:p>
          </p:txBody>
        </p:sp>
      </p:grpSp>
      <p:pic>
        <p:nvPicPr>
          <p:cNvPr id="31" name="Image 42" descr="C:/Users/dahma/Desktop/pfe/Image1.pngImage1"/>
          <p:cNvPicPr/>
          <p:nvPr/>
        </p:nvPicPr>
        <p:blipFill>
          <a:blip r:embed="rId14">
            <a:extLst>
              <a:ext uri="{28A0092B-C50C-407E-A947-70E740481C1C}">
                <a14:useLocalDpi xmlns:a14="http://schemas.microsoft.com/office/drawing/2010/main" val="0"/>
              </a:ext>
            </a:extLst>
          </a:blip>
          <a:srcRect t="2149" b="2149"/>
          <a:stretch>
            <a:fillRect/>
          </a:stretch>
        </p:blipFill>
        <p:spPr>
          <a:xfrm>
            <a:off x="9860915" y="2666365"/>
            <a:ext cx="3340735" cy="218694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4DE"/>
        </a:solidFill>
        <a:effectLst/>
      </p:bgPr>
    </p:bg>
    <p:spTree>
      <p:nvGrpSpPr>
        <p:cNvPr id="1" name=""/>
        <p:cNvGrpSpPr/>
        <p:nvPr/>
      </p:nvGrpSpPr>
      <p:grpSpPr>
        <a:xfrm>
          <a:off x="0" y="0"/>
          <a:ext cx="0" cy="0"/>
          <a:chOff x="0" y="0"/>
          <a:chExt cx="0" cy="0"/>
        </a:xfrm>
      </p:grpSpPr>
      <p:grpSp>
        <p:nvGrpSpPr>
          <p:cNvPr id="2" name="Group 2"/>
          <p:cNvGrpSpPr/>
          <p:nvPr/>
        </p:nvGrpSpPr>
        <p:grpSpPr>
          <a:xfrm>
            <a:off x="-59267" y="-66675"/>
            <a:ext cx="18406533" cy="10353675"/>
            <a:chOff x="0" y="0"/>
            <a:chExt cx="24542044" cy="13804900"/>
          </a:xfrm>
        </p:grpSpPr>
        <p:sp>
          <p:nvSpPr>
            <p:cNvPr id="3" name="Freeform 3"/>
            <p:cNvSpPr/>
            <p:nvPr/>
          </p:nvSpPr>
          <p:spPr>
            <a:xfrm>
              <a:off x="0" y="0"/>
              <a:ext cx="24541987" cy="13804900"/>
            </a:xfrm>
            <a:custGeom>
              <a:avLst/>
              <a:gdLst/>
              <a:ahLst/>
              <a:cxnLst/>
              <a:rect l="l" t="t" r="r" b="b"/>
              <a:pathLst>
                <a:path w="24541987" h="13804900">
                  <a:moveTo>
                    <a:pt x="0" y="0"/>
                  </a:moveTo>
                  <a:lnTo>
                    <a:pt x="24541987" y="0"/>
                  </a:lnTo>
                  <a:lnTo>
                    <a:pt x="24541987" y="13804900"/>
                  </a:lnTo>
                  <a:lnTo>
                    <a:pt x="0" y="13804900"/>
                  </a:lnTo>
                  <a:lnTo>
                    <a:pt x="0" y="0"/>
                  </a:lnTo>
                  <a:close/>
                </a:path>
              </a:pathLst>
            </a:custGeom>
            <a:blipFill>
              <a:blip r:embed="rId3"/>
              <a:stretch>
                <a:fillRect l="-3849" r="-3849"/>
              </a:stretch>
            </a:blipFill>
          </p:spPr>
        </p:sp>
      </p:grpSp>
      <p:grpSp>
        <p:nvGrpSpPr>
          <p:cNvPr id="4" name="Group 4"/>
          <p:cNvGrpSpPr/>
          <p:nvPr/>
        </p:nvGrpSpPr>
        <p:grpSpPr>
          <a:xfrm>
            <a:off x="39989" y="7567605"/>
            <a:ext cx="2081169" cy="2719395"/>
            <a:chOff x="0" y="0"/>
            <a:chExt cx="2774892" cy="3625860"/>
          </a:xfrm>
        </p:grpSpPr>
        <p:sp>
          <p:nvSpPr>
            <p:cNvPr id="5" name="Freeform 5"/>
            <p:cNvSpPr/>
            <p:nvPr/>
          </p:nvSpPr>
          <p:spPr>
            <a:xfrm>
              <a:off x="0" y="0"/>
              <a:ext cx="2774950" cy="3625850"/>
            </a:xfrm>
            <a:custGeom>
              <a:avLst/>
              <a:gdLst/>
              <a:ahLst/>
              <a:cxnLst/>
              <a:rect l="l" t="t" r="r" b="b"/>
              <a:pathLst>
                <a:path w="2774950" h="3625850">
                  <a:moveTo>
                    <a:pt x="0" y="0"/>
                  </a:moveTo>
                  <a:lnTo>
                    <a:pt x="2774950" y="0"/>
                  </a:lnTo>
                  <a:lnTo>
                    <a:pt x="2774950" y="3625850"/>
                  </a:lnTo>
                  <a:lnTo>
                    <a:pt x="0" y="3625850"/>
                  </a:lnTo>
                  <a:lnTo>
                    <a:pt x="0" y="0"/>
                  </a:lnTo>
                  <a:close/>
                </a:path>
              </a:pathLst>
            </a:custGeom>
            <a:blipFill>
              <a:blip r:embed="rId4"/>
              <a:stretch>
                <a:fillRect r="2"/>
              </a:stretch>
            </a:blipFill>
          </p:spPr>
        </p:sp>
      </p:grpSp>
      <p:grpSp>
        <p:nvGrpSpPr>
          <p:cNvPr id="6" name="Group 6"/>
          <p:cNvGrpSpPr/>
          <p:nvPr/>
        </p:nvGrpSpPr>
        <p:grpSpPr>
          <a:xfrm>
            <a:off x="1051793" y="-66675"/>
            <a:ext cx="28780" cy="7674670"/>
            <a:chOff x="0" y="0"/>
            <a:chExt cx="38373" cy="10232893"/>
          </a:xfrm>
        </p:grpSpPr>
        <p:sp>
          <p:nvSpPr>
            <p:cNvPr id="7" name="Freeform 7"/>
            <p:cNvSpPr/>
            <p:nvPr/>
          </p:nvSpPr>
          <p:spPr>
            <a:xfrm>
              <a:off x="0" y="0"/>
              <a:ext cx="38354" cy="10232898"/>
            </a:xfrm>
            <a:custGeom>
              <a:avLst/>
              <a:gdLst/>
              <a:ahLst/>
              <a:cxnLst/>
              <a:rect l="l" t="t" r="r" b="b"/>
              <a:pathLst>
                <a:path w="38354" h="10232898">
                  <a:moveTo>
                    <a:pt x="0" y="0"/>
                  </a:moveTo>
                  <a:lnTo>
                    <a:pt x="38354" y="0"/>
                  </a:lnTo>
                  <a:lnTo>
                    <a:pt x="38354" y="10232898"/>
                  </a:lnTo>
                  <a:lnTo>
                    <a:pt x="0" y="10232898"/>
                  </a:lnTo>
                  <a:lnTo>
                    <a:pt x="0" y="0"/>
                  </a:lnTo>
                  <a:close/>
                </a:path>
              </a:pathLst>
            </a:custGeom>
            <a:blipFill>
              <a:blip r:embed="rId5"/>
              <a:stretch>
                <a:fillRect t="-2187" r="-50" b="-2187"/>
              </a:stretch>
            </a:blipFill>
          </p:spPr>
        </p:sp>
      </p:grpSp>
      <p:grpSp>
        <p:nvGrpSpPr>
          <p:cNvPr id="8" name="Group 8"/>
          <p:cNvGrpSpPr/>
          <p:nvPr/>
        </p:nvGrpSpPr>
        <p:grpSpPr>
          <a:xfrm>
            <a:off x="566162" y="8283098"/>
            <a:ext cx="1352079" cy="1361948"/>
            <a:chOff x="0" y="0"/>
            <a:chExt cx="1802772" cy="1815931"/>
          </a:xfrm>
        </p:grpSpPr>
        <p:sp>
          <p:nvSpPr>
            <p:cNvPr id="9" name="Freeform 9"/>
            <p:cNvSpPr/>
            <p:nvPr/>
          </p:nvSpPr>
          <p:spPr>
            <a:xfrm>
              <a:off x="0" y="0"/>
              <a:ext cx="1802765" cy="1815973"/>
            </a:xfrm>
            <a:custGeom>
              <a:avLst/>
              <a:gdLst/>
              <a:ahLst/>
              <a:cxnLst/>
              <a:rect l="l" t="t" r="r" b="b"/>
              <a:pathLst>
                <a:path w="1802765" h="1815973">
                  <a:moveTo>
                    <a:pt x="0" y="0"/>
                  </a:moveTo>
                  <a:lnTo>
                    <a:pt x="1802765" y="0"/>
                  </a:lnTo>
                  <a:lnTo>
                    <a:pt x="1802765" y="1815973"/>
                  </a:lnTo>
                  <a:lnTo>
                    <a:pt x="0" y="1815973"/>
                  </a:lnTo>
                  <a:lnTo>
                    <a:pt x="0" y="0"/>
                  </a:lnTo>
                  <a:close/>
                </a:path>
              </a:pathLst>
            </a:custGeom>
            <a:blipFill>
              <a:blip r:embed="rId6"/>
              <a:stretch>
                <a:fillRect b="2"/>
              </a:stretch>
            </a:blipFill>
          </p:spPr>
        </p:sp>
      </p:grpSp>
      <p:grpSp>
        <p:nvGrpSpPr>
          <p:cNvPr id="10" name="Group 10"/>
          <p:cNvGrpSpPr/>
          <p:nvPr/>
        </p:nvGrpSpPr>
        <p:grpSpPr>
          <a:xfrm>
            <a:off x="2731509" y="2341734"/>
            <a:ext cx="13950236" cy="4404829"/>
            <a:chOff x="0" y="0"/>
            <a:chExt cx="18600315" cy="5873105"/>
          </a:xfrm>
        </p:grpSpPr>
        <p:sp>
          <p:nvSpPr>
            <p:cNvPr id="11" name="Freeform 11"/>
            <p:cNvSpPr/>
            <p:nvPr/>
          </p:nvSpPr>
          <p:spPr>
            <a:xfrm>
              <a:off x="0" y="0"/>
              <a:ext cx="18600293" cy="5873115"/>
            </a:xfrm>
            <a:custGeom>
              <a:avLst/>
              <a:gdLst/>
              <a:ahLst/>
              <a:cxnLst/>
              <a:rect l="l" t="t" r="r" b="b"/>
              <a:pathLst>
                <a:path w="18600293" h="5873115">
                  <a:moveTo>
                    <a:pt x="0" y="0"/>
                  </a:moveTo>
                  <a:lnTo>
                    <a:pt x="18600293" y="0"/>
                  </a:lnTo>
                  <a:lnTo>
                    <a:pt x="18600293" y="5873115"/>
                  </a:lnTo>
                  <a:lnTo>
                    <a:pt x="0" y="5873115"/>
                  </a:lnTo>
                  <a:lnTo>
                    <a:pt x="0" y="0"/>
                  </a:lnTo>
                  <a:close/>
                </a:path>
              </a:pathLst>
            </a:custGeom>
            <a:blipFill>
              <a:blip r:embed="rId7"/>
              <a:stretch>
                <a:fillRect l="-10246" r="-10246"/>
              </a:stretch>
            </a:blipFill>
          </p:spPr>
        </p:sp>
      </p:grpSp>
      <p:grpSp>
        <p:nvGrpSpPr>
          <p:cNvPr id="12" name="Group 12"/>
          <p:cNvGrpSpPr/>
          <p:nvPr/>
        </p:nvGrpSpPr>
        <p:grpSpPr>
          <a:xfrm>
            <a:off x="12605588" y="1818147"/>
            <a:ext cx="5682412" cy="5682412"/>
            <a:chOff x="0" y="0"/>
            <a:chExt cx="7576549" cy="7576549"/>
          </a:xfrm>
        </p:grpSpPr>
        <p:sp>
          <p:nvSpPr>
            <p:cNvPr id="13" name="Freeform 13"/>
            <p:cNvSpPr/>
            <p:nvPr/>
          </p:nvSpPr>
          <p:spPr>
            <a:xfrm>
              <a:off x="0" y="0"/>
              <a:ext cx="7576566" cy="7576566"/>
            </a:xfrm>
            <a:custGeom>
              <a:avLst/>
              <a:gdLst/>
              <a:ahLst/>
              <a:cxnLst/>
              <a:rect l="l" t="t" r="r" b="b"/>
              <a:pathLst>
                <a:path w="7576566" h="7576566">
                  <a:moveTo>
                    <a:pt x="0" y="0"/>
                  </a:moveTo>
                  <a:lnTo>
                    <a:pt x="7576566" y="0"/>
                  </a:lnTo>
                  <a:lnTo>
                    <a:pt x="7576566" y="7576566"/>
                  </a:lnTo>
                  <a:lnTo>
                    <a:pt x="0" y="7576566"/>
                  </a:lnTo>
                  <a:lnTo>
                    <a:pt x="0" y="0"/>
                  </a:lnTo>
                  <a:close/>
                </a:path>
              </a:pathLst>
            </a:custGeom>
            <a:blipFill>
              <a:blip r:embed="rId8"/>
              <a:stretch>
                <a:fillRect/>
              </a:stretch>
            </a:blipFill>
          </p:spPr>
        </p:sp>
      </p:grpSp>
      <p:grpSp>
        <p:nvGrpSpPr>
          <p:cNvPr id="14" name="Group 14"/>
          <p:cNvGrpSpPr/>
          <p:nvPr/>
        </p:nvGrpSpPr>
        <p:grpSpPr>
          <a:xfrm>
            <a:off x="8237806" y="7961069"/>
            <a:ext cx="2688650" cy="1932467"/>
            <a:chOff x="0" y="0"/>
            <a:chExt cx="3584867" cy="2576623"/>
          </a:xfrm>
        </p:grpSpPr>
        <p:sp>
          <p:nvSpPr>
            <p:cNvPr id="15" name="Freeform 15"/>
            <p:cNvSpPr/>
            <p:nvPr/>
          </p:nvSpPr>
          <p:spPr>
            <a:xfrm>
              <a:off x="0" y="0"/>
              <a:ext cx="3584829" cy="2576576"/>
            </a:xfrm>
            <a:custGeom>
              <a:avLst/>
              <a:gdLst/>
              <a:ahLst/>
              <a:cxnLst/>
              <a:rect l="l" t="t" r="r" b="b"/>
              <a:pathLst>
                <a:path w="3584829" h="2576576">
                  <a:moveTo>
                    <a:pt x="0" y="0"/>
                  </a:moveTo>
                  <a:lnTo>
                    <a:pt x="3584829" y="0"/>
                  </a:lnTo>
                  <a:lnTo>
                    <a:pt x="3584829" y="2576576"/>
                  </a:lnTo>
                  <a:lnTo>
                    <a:pt x="0" y="2576576"/>
                  </a:lnTo>
                  <a:lnTo>
                    <a:pt x="0" y="0"/>
                  </a:lnTo>
                  <a:close/>
                </a:path>
              </a:pathLst>
            </a:custGeom>
            <a:blipFill>
              <a:blip r:embed="rId9"/>
              <a:stretch>
                <a:fillRect t="-53" r="-1" b="-54"/>
              </a:stretch>
            </a:blipFill>
          </p:spPr>
        </p:sp>
      </p:grpSp>
      <p:grpSp>
        <p:nvGrpSpPr>
          <p:cNvPr id="16" name="Group 16"/>
          <p:cNvGrpSpPr/>
          <p:nvPr/>
        </p:nvGrpSpPr>
        <p:grpSpPr>
          <a:xfrm>
            <a:off x="6856130" y="1669419"/>
            <a:ext cx="5749459" cy="5749459"/>
            <a:chOff x="0" y="0"/>
            <a:chExt cx="7665945" cy="7665945"/>
          </a:xfrm>
        </p:grpSpPr>
        <p:sp>
          <p:nvSpPr>
            <p:cNvPr id="17" name="Freeform 17"/>
            <p:cNvSpPr/>
            <p:nvPr/>
          </p:nvSpPr>
          <p:spPr>
            <a:xfrm>
              <a:off x="0" y="0"/>
              <a:ext cx="7665974" cy="7665974"/>
            </a:xfrm>
            <a:custGeom>
              <a:avLst/>
              <a:gdLst/>
              <a:ahLst/>
              <a:cxnLst/>
              <a:rect l="l" t="t" r="r" b="b"/>
              <a:pathLst>
                <a:path w="7665974" h="7665974">
                  <a:moveTo>
                    <a:pt x="0" y="0"/>
                  </a:moveTo>
                  <a:lnTo>
                    <a:pt x="7665974" y="0"/>
                  </a:lnTo>
                  <a:lnTo>
                    <a:pt x="7665974" y="7665974"/>
                  </a:lnTo>
                  <a:lnTo>
                    <a:pt x="0" y="7665974"/>
                  </a:lnTo>
                  <a:lnTo>
                    <a:pt x="0" y="0"/>
                  </a:lnTo>
                  <a:close/>
                </a:path>
              </a:pathLst>
            </a:custGeom>
            <a:blipFill>
              <a:blip r:embed="rId8"/>
              <a:stretch>
                <a:fillRect/>
              </a:stretch>
            </a:blipFill>
          </p:spPr>
        </p:sp>
      </p:grpSp>
      <p:grpSp>
        <p:nvGrpSpPr>
          <p:cNvPr id="18" name="Group 18"/>
          <p:cNvGrpSpPr/>
          <p:nvPr/>
        </p:nvGrpSpPr>
        <p:grpSpPr>
          <a:xfrm>
            <a:off x="1242201" y="1837197"/>
            <a:ext cx="5618385" cy="5618385"/>
            <a:chOff x="0" y="0"/>
            <a:chExt cx="7491180" cy="7491180"/>
          </a:xfrm>
        </p:grpSpPr>
        <p:sp>
          <p:nvSpPr>
            <p:cNvPr id="19" name="Freeform 19"/>
            <p:cNvSpPr/>
            <p:nvPr/>
          </p:nvSpPr>
          <p:spPr>
            <a:xfrm>
              <a:off x="0" y="0"/>
              <a:ext cx="7491222" cy="7491222"/>
            </a:xfrm>
            <a:custGeom>
              <a:avLst/>
              <a:gdLst/>
              <a:ahLst/>
              <a:cxnLst/>
              <a:rect l="l" t="t" r="r" b="b"/>
              <a:pathLst>
                <a:path w="7491222" h="7491222">
                  <a:moveTo>
                    <a:pt x="0" y="0"/>
                  </a:moveTo>
                  <a:lnTo>
                    <a:pt x="7491222" y="0"/>
                  </a:lnTo>
                  <a:lnTo>
                    <a:pt x="7491222" y="7491222"/>
                  </a:lnTo>
                  <a:lnTo>
                    <a:pt x="0" y="7491222"/>
                  </a:lnTo>
                  <a:lnTo>
                    <a:pt x="0" y="0"/>
                  </a:lnTo>
                  <a:close/>
                </a:path>
              </a:pathLst>
            </a:custGeom>
            <a:blipFill>
              <a:blip r:embed="rId8"/>
              <a:stretch>
                <a:fillRect/>
              </a:stretch>
            </a:blipFill>
          </p:spPr>
        </p:sp>
      </p:grpSp>
      <p:grpSp>
        <p:nvGrpSpPr>
          <p:cNvPr id="20" name="Group 20"/>
          <p:cNvGrpSpPr/>
          <p:nvPr/>
        </p:nvGrpSpPr>
        <p:grpSpPr>
          <a:xfrm>
            <a:off x="1708314" y="3346407"/>
            <a:ext cx="4519777" cy="2395482"/>
            <a:chOff x="0" y="0"/>
            <a:chExt cx="6026369" cy="3193976"/>
          </a:xfrm>
        </p:grpSpPr>
        <p:sp>
          <p:nvSpPr>
            <p:cNvPr id="21" name="Freeform 21"/>
            <p:cNvSpPr/>
            <p:nvPr/>
          </p:nvSpPr>
          <p:spPr>
            <a:xfrm>
              <a:off x="0" y="0"/>
              <a:ext cx="6026404" cy="3193923"/>
            </a:xfrm>
            <a:custGeom>
              <a:avLst/>
              <a:gdLst/>
              <a:ahLst/>
              <a:cxnLst/>
              <a:rect l="l" t="t" r="r" b="b"/>
              <a:pathLst>
                <a:path w="6026404" h="3193923">
                  <a:moveTo>
                    <a:pt x="0" y="0"/>
                  </a:moveTo>
                  <a:lnTo>
                    <a:pt x="6026404" y="0"/>
                  </a:lnTo>
                  <a:lnTo>
                    <a:pt x="6026404" y="3193923"/>
                  </a:lnTo>
                  <a:lnTo>
                    <a:pt x="0" y="3193923"/>
                  </a:lnTo>
                  <a:lnTo>
                    <a:pt x="0" y="0"/>
                  </a:lnTo>
                  <a:close/>
                </a:path>
              </a:pathLst>
            </a:custGeom>
            <a:blipFill>
              <a:blip r:embed="rId10"/>
              <a:stretch>
                <a:fillRect t="-63" b="-65"/>
              </a:stretch>
            </a:blipFill>
          </p:spPr>
        </p:sp>
      </p:grpSp>
      <p:grpSp>
        <p:nvGrpSpPr>
          <p:cNvPr id="22" name="Group 22"/>
          <p:cNvGrpSpPr/>
          <p:nvPr/>
        </p:nvGrpSpPr>
        <p:grpSpPr>
          <a:xfrm>
            <a:off x="7193961" y="3368007"/>
            <a:ext cx="5073796" cy="2390383"/>
            <a:chOff x="0" y="0"/>
            <a:chExt cx="6765061" cy="3187177"/>
          </a:xfrm>
        </p:grpSpPr>
        <p:sp>
          <p:nvSpPr>
            <p:cNvPr id="23" name="Freeform 23"/>
            <p:cNvSpPr/>
            <p:nvPr/>
          </p:nvSpPr>
          <p:spPr>
            <a:xfrm>
              <a:off x="0" y="0"/>
              <a:ext cx="6765036" cy="3187192"/>
            </a:xfrm>
            <a:custGeom>
              <a:avLst/>
              <a:gdLst/>
              <a:ahLst/>
              <a:cxnLst/>
              <a:rect l="l" t="t" r="r" b="b"/>
              <a:pathLst>
                <a:path w="6765036" h="3187192">
                  <a:moveTo>
                    <a:pt x="0" y="0"/>
                  </a:moveTo>
                  <a:lnTo>
                    <a:pt x="6765036" y="0"/>
                  </a:lnTo>
                  <a:lnTo>
                    <a:pt x="6765036" y="3187192"/>
                  </a:lnTo>
                  <a:lnTo>
                    <a:pt x="0" y="3187192"/>
                  </a:lnTo>
                  <a:lnTo>
                    <a:pt x="0" y="0"/>
                  </a:lnTo>
                  <a:close/>
                </a:path>
              </a:pathLst>
            </a:custGeom>
            <a:blipFill>
              <a:blip r:embed="rId11"/>
              <a:stretch>
                <a:fillRect l="-2424" r="-2425"/>
              </a:stretch>
            </a:blipFill>
          </p:spPr>
        </p:sp>
      </p:grpSp>
      <p:grpSp>
        <p:nvGrpSpPr>
          <p:cNvPr id="24" name="Group 24"/>
          <p:cNvGrpSpPr/>
          <p:nvPr/>
        </p:nvGrpSpPr>
        <p:grpSpPr>
          <a:xfrm>
            <a:off x="12958715" y="3508838"/>
            <a:ext cx="4976159" cy="2233051"/>
            <a:chOff x="0" y="0"/>
            <a:chExt cx="6634879" cy="2977401"/>
          </a:xfrm>
        </p:grpSpPr>
        <p:sp>
          <p:nvSpPr>
            <p:cNvPr id="25" name="Freeform 25"/>
            <p:cNvSpPr/>
            <p:nvPr/>
          </p:nvSpPr>
          <p:spPr>
            <a:xfrm>
              <a:off x="0" y="0"/>
              <a:ext cx="6634861" cy="2977388"/>
            </a:xfrm>
            <a:custGeom>
              <a:avLst/>
              <a:gdLst/>
              <a:ahLst/>
              <a:cxnLst/>
              <a:rect l="l" t="t" r="r" b="b"/>
              <a:pathLst>
                <a:path w="6634861" h="2977388">
                  <a:moveTo>
                    <a:pt x="0" y="0"/>
                  </a:moveTo>
                  <a:lnTo>
                    <a:pt x="6634861" y="0"/>
                  </a:lnTo>
                  <a:lnTo>
                    <a:pt x="6634861" y="2977388"/>
                  </a:lnTo>
                  <a:lnTo>
                    <a:pt x="0" y="2977388"/>
                  </a:lnTo>
                  <a:lnTo>
                    <a:pt x="0" y="0"/>
                  </a:lnTo>
                  <a:close/>
                </a:path>
              </a:pathLst>
            </a:custGeom>
            <a:blipFill>
              <a:blip r:embed="rId12"/>
              <a:stretch>
                <a:fillRect l="-47" r="-47"/>
              </a:stretch>
            </a:blipFill>
          </p:spPr>
        </p:sp>
      </p:grpSp>
      <p:sp>
        <p:nvSpPr>
          <p:cNvPr id="26" name="TextBox 26"/>
          <p:cNvSpPr txBox="1"/>
          <p:nvPr/>
        </p:nvSpPr>
        <p:spPr>
          <a:xfrm rot="-5400000">
            <a:off x="-4693806" y="3397046"/>
            <a:ext cx="10281811" cy="943491"/>
          </a:xfrm>
          <a:prstGeom prst="rect">
            <a:avLst/>
          </a:prstGeom>
        </p:spPr>
        <p:txBody>
          <a:bodyPr lIns="0" tIns="0" rIns="0" bIns="0" rtlCol="0" anchor="t">
            <a:spAutoFit/>
          </a:bodyPr>
          <a:lstStyle/>
          <a:p>
            <a:pPr algn="ctr">
              <a:lnSpc>
                <a:spcPts val="6020"/>
              </a:lnSpc>
            </a:pPr>
            <a:r>
              <a:rPr lang="en-US" sz="4630">
                <a:solidFill>
                  <a:srgbClr val="004AAD"/>
                </a:solidFill>
                <a:latin typeface="The Seasons"/>
                <a:ea typeface="The Seasons"/>
                <a:cs typeface="The Seasons"/>
                <a:sym typeface="The Seasons"/>
              </a:rPr>
              <a:t>Etude de l’existant</a:t>
            </a:r>
          </a:p>
        </p:txBody>
      </p:sp>
      <p:sp>
        <p:nvSpPr>
          <p:cNvPr id="27" name="TextBox 27"/>
          <p:cNvSpPr txBox="1"/>
          <p:nvPr/>
        </p:nvSpPr>
        <p:spPr>
          <a:xfrm>
            <a:off x="1984916" y="5636583"/>
            <a:ext cx="3945769" cy="820738"/>
          </a:xfrm>
          <a:prstGeom prst="rect">
            <a:avLst/>
          </a:prstGeom>
        </p:spPr>
        <p:txBody>
          <a:bodyPr lIns="0" tIns="0" rIns="0" bIns="0" rtlCol="0" anchor="t">
            <a:spAutoFit/>
          </a:bodyPr>
          <a:lstStyle/>
          <a:p>
            <a:pPr algn="ctr">
              <a:lnSpc>
                <a:spcPts val="6430"/>
              </a:lnSpc>
            </a:pPr>
            <a:r>
              <a:rPr lang="en-US" sz="4400" dirty="0">
                <a:solidFill>
                  <a:srgbClr val="000000"/>
                </a:solidFill>
                <a:latin typeface="The Seasons"/>
                <a:ea typeface="The Seasons"/>
                <a:cs typeface="The Seasons"/>
                <a:sym typeface="The Seasons"/>
              </a:rPr>
              <a:t>Influence4You</a:t>
            </a:r>
          </a:p>
        </p:txBody>
      </p:sp>
      <p:sp>
        <p:nvSpPr>
          <p:cNvPr id="28" name="TextBox 28"/>
          <p:cNvSpPr txBox="1"/>
          <p:nvPr/>
        </p:nvSpPr>
        <p:spPr>
          <a:xfrm>
            <a:off x="6897434" y="5617533"/>
            <a:ext cx="5618385" cy="936154"/>
          </a:xfrm>
          <a:prstGeom prst="rect">
            <a:avLst/>
          </a:prstGeom>
        </p:spPr>
        <p:txBody>
          <a:bodyPr lIns="0" tIns="0" rIns="0" bIns="0" rtlCol="0" anchor="t">
            <a:spAutoFit/>
          </a:bodyPr>
          <a:lstStyle/>
          <a:p>
            <a:pPr algn="ctr">
              <a:lnSpc>
                <a:spcPts val="7280"/>
              </a:lnSpc>
            </a:pPr>
            <a:r>
              <a:rPr lang="en-US" sz="4400" dirty="0" err="1">
                <a:solidFill>
                  <a:srgbClr val="000000"/>
                </a:solidFill>
                <a:latin typeface="The Seasons"/>
                <a:ea typeface="The Seasons"/>
                <a:cs typeface="The Seasons"/>
                <a:sym typeface="The Seasons"/>
              </a:rPr>
              <a:t>Findly</a:t>
            </a:r>
            <a:endParaRPr lang="en-US" sz="4400" dirty="0">
              <a:solidFill>
                <a:srgbClr val="000000"/>
              </a:solidFill>
              <a:latin typeface="The Seasons"/>
              <a:ea typeface="The Seasons"/>
              <a:cs typeface="The Seasons"/>
              <a:sym typeface="The Seasons"/>
            </a:endParaRPr>
          </a:p>
        </p:txBody>
      </p:sp>
      <p:sp>
        <p:nvSpPr>
          <p:cNvPr id="29" name="TextBox 29"/>
          <p:cNvSpPr txBox="1"/>
          <p:nvPr/>
        </p:nvSpPr>
        <p:spPr>
          <a:xfrm>
            <a:off x="14102358" y="5482165"/>
            <a:ext cx="2382441" cy="859787"/>
          </a:xfrm>
          <a:prstGeom prst="rect">
            <a:avLst/>
          </a:prstGeom>
        </p:spPr>
        <p:txBody>
          <a:bodyPr lIns="0" tIns="0" rIns="0" bIns="0" rtlCol="0" anchor="t">
            <a:spAutoFit/>
          </a:bodyPr>
          <a:lstStyle/>
          <a:p>
            <a:pPr algn="ctr">
              <a:lnSpc>
                <a:spcPts val="7280"/>
              </a:lnSpc>
            </a:pPr>
            <a:r>
              <a:rPr lang="en-US" sz="4400" dirty="0" err="1">
                <a:solidFill>
                  <a:srgbClr val="000000"/>
                </a:solidFill>
                <a:latin typeface="The Seasons"/>
                <a:ea typeface="The Seasons"/>
                <a:cs typeface="The Seasons"/>
                <a:sym typeface="The Seasons"/>
              </a:rPr>
              <a:t>Heepsy</a:t>
            </a:r>
            <a:endParaRPr lang="en-US" sz="4400" dirty="0">
              <a:solidFill>
                <a:srgbClr val="000000"/>
              </a:solidFill>
              <a:latin typeface="The Seasons"/>
              <a:ea typeface="The Seasons"/>
              <a:cs typeface="The Seasons"/>
              <a:sym typeface="The Seasons"/>
            </a:endParaRPr>
          </a:p>
        </p:txBody>
      </p:sp>
      <p:sp>
        <p:nvSpPr>
          <p:cNvPr id="30" name="TextBox 30"/>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4DE"/>
        </a:solidFill>
        <a:effectLst/>
      </p:bgPr>
    </p:bg>
    <p:spTree>
      <p:nvGrpSpPr>
        <p:cNvPr id="1" name=""/>
        <p:cNvGrpSpPr/>
        <p:nvPr/>
      </p:nvGrpSpPr>
      <p:grpSpPr>
        <a:xfrm>
          <a:off x="0" y="0"/>
          <a:ext cx="0" cy="0"/>
          <a:chOff x="0" y="0"/>
          <a:chExt cx="0" cy="0"/>
        </a:xfrm>
      </p:grpSpPr>
      <p:grpSp>
        <p:nvGrpSpPr>
          <p:cNvPr id="2" name="Group 2"/>
          <p:cNvGrpSpPr/>
          <p:nvPr/>
        </p:nvGrpSpPr>
        <p:grpSpPr>
          <a:xfrm>
            <a:off x="0" y="-66675"/>
            <a:ext cx="18406533" cy="10353675"/>
            <a:chOff x="0" y="0"/>
            <a:chExt cx="24542044" cy="13804900"/>
          </a:xfrm>
        </p:grpSpPr>
        <p:sp>
          <p:nvSpPr>
            <p:cNvPr id="3" name="Freeform 3"/>
            <p:cNvSpPr/>
            <p:nvPr/>
          </p:nvSpPr>
          <p:spPr>
            <a:xfrm>
              <a:off x="0" y="0"/>
              <a:ext cx="24541987" cy="13804900"/>
            </a:xfrm>
            <a:custGeom>
              <a:avLst/>
              <a:gdLst/>
              <a:ahLst/>
              <a:cxnLst/>
              <a:rect l="l" t="t" r="r" b="b"/>
              <a:pathLst>
                <a:path w="24541987" h="13804900">
                  <a:moveTo>
                    <a:pt x="0" y="0"/>
                  </a:moveTo>
                  <a:lnTo>
                    <a:pt x="24541987" y="0"/>
                  </a:lnTo>
                  <a:lnTo>
                    <a:pt x="24541987" y="13804900"/>
                  </a:lnTo>
                  <a:lnTo>
                    <a:pt x="0" y="13804900"/>
                  </a:lnTo>
                  <a:lnTo>
                    <a:pt x="0" y="0"/>
                  </a:lnTo>
                  <a:close/>
                </a:path>
              </a:pathLst>
            </a:custGeom>
            <a:blipFill>
              <a:blip r:embed="rId3"/>
              <a:stretch>
                <a:fillRect l="-3849" r="-3849"/>
              </a:stretch>
            </a:blipFill>
          </p:spPr>
        </p:sp>
      </p:grpSp>
      <p:grpSp>
        <p:nvGrpSpPr>
          <p:cNvPr id="4" name="Group 4"/>
          <p:cNvGrpSpPr/>
          <p:nvPr/>
        </p:nvGrpSpPr>
        <p:grpSpPr>
          <a:xfrm>
            <a:off x="39989" y="7567605"/>
            <a:ext cx="2081169" cy="2719395"/>
            <a:chOff x="0" y="0"/>
            <a:chExt cx="2774892" cy="3625860"/>
          </a:xfrm>
        </p:grpSpPr>
        <p:sp>
          <p:nvSpPr>
            <p:cNvPr id="5" name="Freeform 5"/>
            <p:cNvSpPr/>
            <p:nvPr/>
          </p:nvSpPr>
          <p:spPr>
            <a:xfrm>
              <a:off x="0" y="0"/>
              <a:ext cx="2774950" cy="3625850"/>
            </a:xfrm>
            <a:custGeom>
              <a:avLst/>
              <a:gdLst/>
              <a:ahLst/>
              <a:cxnLst/>
              <a:rect l="l" t="t" r="r" b="b"/>
              <a:pathLst>
                <a:path w="2774950" h="3625850">
                  <a:moveTo>
                    <a:pt x="0" y="0"/>
                  </a:moveTo>
                  <a:lnTo>
                    <a:pt x="2774950" y="0"/>
                  </a:lnTo>
                  <a:lnTo>
                    <a:pt x="2774950" y="3625850"/>
                  </a:lnTo>
                  <a:lnTo>
                    <a:pt x="0" y="3625850"/>
                  </a:lnTo>
                  <a:lnTo>
                    <a:pt x="0" y="0"/>
                  </a:lnTo>
                  <a:close/>
                </a:path>
              </a:pathLst>
            </a:custGeom>
            <a:blipFill>
              <a:blip r:embed="rId4"/>
              <a:stretch>
                <a:fillRect r="2"/>
              </a:stretch>
            </a:blipFill>
          </p:spPr>
        </p:sp>
      </p:grpSp>
      <p:grpSp>
        <p:nvGrpSpPr>
          <p:cNvPr id="6" name="Group 6"/>
          <p:cNvGrpSpPr/>
          <p:nvPr/>
        </p:nvGrpSpPr>
        <p:grpSpPr>
          <a:xfrm>
            <a:off x="1051793" y="-66675"/>
            <a:ext cx="28780" cy="7674670"/>
            <a:chOff x="0" y="0"/>
            <a:chExt cx="38373" cy="10232893"/>
          </a:xfrm>
        </p:grpSpPr>
        <p:sp>
          <p:nvSpPr>
            <p:cNvPr id="7" name="Freeform 7"/>
            <p:cNvSpPr/>
            <p:nvPr/>
          </p:nvSpPr>
          <p:spPr>
            <a:xfrm>
              <a:off x="0" y="0"/>
              <a:ext cx="38354" cy="10232898"/>
            </a:xfrm>
            <a:custGeom>
              <a:avLst/>
              <a:gdLst/>
              <a:ahLst/>
              <a:cxnLst/>
              <a:rect l="l" t="t" r="r" b="b"/>
              <a:pathLst>
                <a:path w="38354" h="10232898">
                  <a:moveTo>
                    <a:pt x="0" y="0"/>
                  </a:moveTo>
                  <a:lnTo>
                    <a:pt x="38354" y="0"/>
                  </a:lnTo>
                  <a:lnTo>
                    <a:pt x="38354" y="10232898"/>
                  </a:lnTo>
                  <a:lnTo>
                    <a:pt x="0" y="10232898"/>
                  </a:lnTo>
                  <a:lnTo>
                    <a:pt x="0" y="0"/>
                  </a:lnTo>
                  <a:close/>
                </a:path>
              </a:pathLst>
            </a:custGeom>
            <a:blipFill>
              <a:blip r:embed="rId5"/>
              <a:stretch>
                <a:fillRect t="-2187" r="-50" b="-2187"/>
              </a:stretch>
            </a:blipFill>
          </p:spPr>
        </p:sp>
      </p:grpSp>
      <p:sp>
        <p:nvSpPr>
          <p:cNvPr id="8" name="TextBox 8"/>
          <p:cNvSpPr txBox="1"/>
          <p:nvPr/>
        </p:nvSpPr>
        <p:spPr>
          <a:xfrm rot="-5400000">
            <a:off x="-4637058" y="2736088"/>
            <a:ext cx="10281811" cy="943491"/>
          </a:xfrm>
          <a:prstGeom prst="rect">
            <a:avLst/>
          </a:prstGeom>
        </p:spPr>
        <p:txBody>
          <a:bodyPr lIns="0" tIns="0" rIns="0" bIns="0" rtlCol="0" anchor="t">
            <a:spAutoFit/>
          </a:bodyPr>
          <a:lstStyle/>
          <a:p>
            <a:pPr algn="ctr">
              <a:lnSpc>
                <a:spcPts val="6020"/>
              </a:lnSpc>
            </a:pPr>
            <a:r>
              <a:rPr lang="en-US" sz="4630">
                <a:solidFill>
                  <a:srgbClr val="004AAD"/>
                </a:solidFill>
                <a:latin typeface="The Seasons"/>
                <a:ea typeface="The Seasons"/>
                <a:cs typeface="The Seasons"/>
                <a:sym typeface="The Seasons"/>
              </a:rPr>
              <a:t>Problématique</a:t>
            </a:r>
          </a:p>
        </p:txBody>
      </p:sp>
      <p:grpSp>
        <p:nvGrpSpPr>
          <p:cNvPr id="9" name="Group 9"/>
          <p:cNvGrpSpPr/>
          <p:nvPr/>
        </p:nvGrpSpPr>
        <p:grpSpPr>
          <a:xfrm>
            <a:off x="-1057306" y="7607995"/>
            <a:ext cx="4275758" cy="2803194"/>
            <a:chOff x="0" y="0"/>
            <a:chExt cx="5701011" cy="3737592"/>
          </a:xfrm>
        </p:grpSpPr>
        <p:sp>
          <p:nvSpPr>
            <p:cNvPr id="10" name="Freeform 10"/>
            <p:cNvSpPr/>
            <p:nvPr/>
          </p:nvSpPr>
          <p:spPr>
            <a:xfrm>
              <a:off x="0" y="0"/>
              <a:ext cx="5701030" cy="3737610"/>
            </a:xfrm>
            <a:custGeom>
              <a:avLst/>
              <a:gdLst/>
              <a:ahLst/>
              <a:cxnLst/>
              <a:rect l="l" t="t" r="r" b="b"/>
              <a:pathLst>
                <a:path w="5701030" h="3737610">
                  <a:moveTo>
                    <a:pt x="0" y="0"/>
                  </a:moveTo>
                  <a:lnTo>
                    <a:pt x="5701030" y="0"/>
                  </a:lnTo>
                  <a:lnTo>
                    <a:pt x="5701030" y="3737610"/>
                  </a:lnTo>
                  <a:lnTo>
                    <a:pt x="0" y="3737610"/>
                  </a:lnTo>
                  <a:lnTo>
                    <a:pt x="0" y="0"/>
                  </a:lnTo>
                  <a:close/>
                </a:path>
              </a:pathLst>
            </a:custGeom>
            <a:blipFill>
              <a:blip r:embed="rId6"/>
              <a:stretch>
                <a:fillRect/>
              </a:stretch>
            </a:blipFill>
          </p:spPr>
        </p:sp>
      </p:grpSp>
      <p:sp>
        <p:nvSpPr>
          <p:cNvPr id="11" name="Freeform 11"/>
          <p:cNvSpPr/>
          <p:nvPr/>
        </p:nvSpPr>
        <p:spPr>
          <a:xfrm>
            <a:off x="7982887" y="4032596"/>
            <a:ext cx="2900170" cy="3275346"/>
          </a:xfrm>
          <a:custGeom>
            <a:avLst/>
            <a:gdLst/>
            <a:ahLst/>
            <a:cxnLst/>
            <a:rect l="l" t="t" r="r" b="b"/>
            <a:pathLst>
              <a:path w="2900170" h="3275346">
                <a:moveTo>
                  <a:pt x="0" y="0"/>
                </a:moveTo>
                <a:lnTo>
                  <a:pt x="2900170" y="0"/>
                </a:lnTo>
                <a:lnTo>
                  <a:pt x="2900170" y="3275346"/>
                </a:lnTo>
                <a:lnTo>
                  <a:pt x="0" y="3275346"/>
                </a:lnTo>
                <a:lnTo>
                  <a:pt x="0" y="0"/>
                </a:lnTo>
                <a:close/>
              </a:path>
            </a:pathLst>
          </a:custGeom>
          <a:blipFill>
            <a:blip r:embed="rId7">
              <a:extLst>
                <a:ext uri="{96DAC541-7B7A-43D3-8B79-37D633B846F1}">
                  <asvg:svgBlip xmlns:asvg="http://schemas.microsoft.com/office/drawing/2016/SVG/main" xmlns="" r:embed="rId8"/>
                </a:ext>
              </a:extLst>
            </a:blip>
            <a:stretch>
              <a:fillRect l="-66" r="-66"/>
            </a:stretch>
          </a:blipFill>
        </p:spPr>
      </p:sp>
      <p:sp>
        <p:nvSpPr>
          <p:cNvPr id="12" name="Freeform 12"/>
          <p:cNvSpPr/>
          <p:nvPr/>
        </p:nvSpPr>
        <p:spPr>
          <a:xfrm rot="2983650" flipH="1">
            <a:off x="10868769" y="3352611"/>
            <a:ext cx="721156" cy="737242"/>
          </a:xfrm>
          <a:custGeom>
            <a:avLst/>
            <a:gdLst/>
            <a:ahLst/>
            <a:cxnLst/>
            <a:rect l="l" t="t" r="r" b="b"/>
            <a:pathLst>
              <a:path w="721156" h="737242">
                <a:moveTo>
                  <a:pt x="721156" y="0"/>
                </a:moveTo>
                <a:lnTo>
                  <a:pt x="0" y="0"/>
                </a:lnTo>
                <a:lnTo>
                  <a:pt x="0" y="737242"/>
                </a:lnTo>
                <a:lnTo>
                  <a:pt x="721156" y="737242"/>
                </a:lnTo>
                <a:lnTo>
                  <a:pt x="721156" y="0"/>
                </a:lnTo>
                <a:close/>
              </a:path>
            </a:pathLst>
          </a:custGeom>
          <a:blipFill>
            <a:blip r:embed="rId9">
              <a:extLst>
                <a:ext uri="{96DAC541-7B7A-43D3-8B79-37D633B846F1}">
                  <asvg:svgBlip xmlns:asvg="http://schemas.microsoft.com/office/drawing/2016/SVG/main" xmlns="" r:embed="rId10"/>
                </a:ext>
              </a:extLst>
            </a:blip>
            <a:stretch>
              <a:fillRect t="-196" b="-196"/>
            </a:stretch>
          </a:blipFill>
        </p:spPr>
      </p:sp>
      <p:sp>
        <p:nvSpPr>
          <p:cNvPr id="13" name="Freeform 13"/>
          <p:cNvSpPr/>
          <p:nvPr/>
        </p:nvSpPr>
        <p:spPr>
          <a:xfrm rot="-9505335">
            <a:off x="5881448" y="5326596"/>
            <a:ext cx="1572966" cy="687347"/>
          </a:xfrm>
          <a:custGeom>
            <a:avLst/>
            <a:gdLst/>
            <a:ahLst/>
            <a:cxnLst/>
            <a:rect l="l" t="t" r="r" b="b"/>
            <a:pathLst>
              <a:path w="1572966" h="687347">
                <a:moveTo>
                  <a:pt x="0" y="0"/>
                </a:moveTo>
                <a:lnTo>
                  <a:pt x="1572966" y="0"/>
                </a:lnTo>
                <a:lnTo>
                  <a:pt x="1572966" y="687347"/>
                </a:lnTo>
                <a:lnTo>
                  <a:pt x="0" y="687347"/>
                </a:lnTo>
                <a:lnTo>
                  <a:pt x="0" y="0"/>
                </a:lnTo>
                <a:close/>
              </a:path>
            </a:pathLst>
          </a:custGeom>
          <a:blipFill>
            <a:blip r:embed="rId11">
              <a:extLst>
                <a:ext uri="{96DAC541-7B7A-43D3-8B79-37D633B846F1}">
                  <asvg:svgBlip xmlns:asvg="http://schemas.microsoft.com/office/drawing/2016/SVG/main" xmlns="" r:embed="rId12"/>
                </a:ext>
              </a:extLst>
            </a:blip>
            <a:stretch>
              <a:fillRect t="-318" b="-318"/>
            </a:stretch>
          </a:blipFill>
        </p:spPr>
      </p:sp>
      <p:sp>
        <p:nvSpPr>
          <p:cNvPr id="14" name="Freeform 14"/>
          <p:cNvSpPr/>
          <p:nvPr/>
        </p:nvSpPr>
        <p:spPr>
          <a:xfrm rot="-8100000">
            <a:off x="6050193" y="3181943"/>
            <a:ext cx="1463716" cy="639607"/>
          </a:xfrm>
          <a:custGeom>
            <a:avLst/>
            <a:gdLst/>
            <a:ahLst/>
            <a:cxnLst/>
            <a:rect l="l" t="t" r="r" b="b"/>
            <a:pathLst>
              <a:path w="1463716" h="639607">
                <a:moveTo>
                  <a:pt x="0" y="0"/>
                </a:moveTo>
                <a:lnTo>
                  <a:pt x="1463716" y="0"/>
                </a:lnTo>
                <a:lnTo>
                  <a:pt x="1463716" y="639607"/>
                </a:lnTo>
                <a:lnTo>
                  <a:pt x="0" y="639607"/>
                </a:lnTo>
                <a:lnTo>
                  <a:pt x="0" y="0"/>
                </a:lnTo>
                <a:close/>
              </a:path>
            </a:pathLst>
          </a:custGeom>
          <a:blipFill>
            <a:blip r:embed="rId11">
              <a:extLst>
                <a:ext uri="{96DAC541-7B7A-43D3-8B79-37D633B846F1}">
                  <asvg:svgBlip xmlns:asvg="http://schemas.microsoft.com/office/drawing/2016/SVG/main" xmlns="" r:embed="rId12"/>
                </a:ext>
              </a:extLst>
            </a:blip>
            <a:stretch>
              <a:fillRect t="-524" b="-524"/>
            </a:stretch>
          </a:blipFill>
        </p:spPr>
      </p:sp>
      <p:sp>
        <p:nvSpPr>
          <p:cNvPr id="15" name="Freeform 15"/>
          <p:cNvSpPr/>
          <p:nvPr/>
        </p:nvSpPr>
        <p:spPr>
          <a:xfrm rot="183993">
            <a:off x="7764959" y="3915012"/>
            <a:ext cx="707451" cy="500361"/>
          </a:xfrm>
          <a:custGeom>
            <a:avLst/>
            <a:gdLst/>
            <a:ahLst/>
            <a:cxnLst/>
            <a:rect l="l" t="t" r="r" b="b"/>
            <a:pathLst>
              <a:path w="707451" h="500361">
                <a:moveTo>
                  <a:pt x="0" y="0"/>
                </a:moveTo>
                <a:lnTo>
                  <a:pt x="707451" y="0"/>
                </a:lnTo>
                <a:lnTo>
                  <a:pt x="707451" y="500361"/>
                </a:lnTo>
                <a:lnTo>
                  <a:pt x="0" y="500361"/>
                </a:lnTo>
                <a:lnTo>
                  <a:pt x="0" y="0"/>
                </a:lnTo>
                <a:close/>
              </a:path>
            </a:pathLst>
          </a:custGeom>
          <a:blipFill>
            <a:blip r:embed="rId13">
              <a:extLst>
                <a:ext uri="{96DAC541-7B7A-43D3-8B79-37D633B846F1}">
                  <asvg:svgBlip xmlns:asvg="http://schemas.microsoft.com/office/drawing/2016/SVG/main" xmlns="" r:embed="rId14"/>
                </a:ext>
              </a:extLst>
            </a:blip>
            <a:stretch>
              <a:fillRect l="-42" r="-42"/>
            </a:stretch>
          </a:blipFill>
        </p:spPr>
      </p:sp>
      <p:sp>
        <p:nvSpPr>
          <p:cNvPr id="16" name="Freeform 16"/>
          <p:cNvSpPr/>
          <p:nvPr/>
        </p:nvSpPr>
        <p:spPr>
          <a:xfrm>
            <a:off x="8458520" y="4091579"/>
            <a:ext cx="531872" cy="684718"/>
          </a:xfrm>
          <a:custGeom>
            <a:avLst/>
            <a:gdLst/>
            <a:ahLst/>
            <a:cxnLst/>
            <a:rect l="l" t="t" r="r" b="b"/>
            <a:pathLst>
              <a:path w="531872" h="684718">
                <a:moveTo>
                  <a:pt x="0" y="0"/>
                </a:moveTo>
                <a:lnTo>
                  <a:pt x="531872" y="0"/>
                </a:lnTo>
                <a:lnTo>
                  <a:pt x="531872" y="684718"/>
                </a:lnTo>
                <a:lnTo>
                  <a:pt x="0" y="684718"/>
                </a:lnTo>
                <a:lnTo>
                  <a:pt x="0" y="0"/>
                </a:lnTo>
                <a:close/>
              </a:path>
            </a:pathLst>
          </a:custGeom>
          <a:blipFill>
            <a:blip r:embed="rId15">
              <a:extLst>
                <a:ext uri="{96DAC541-7B7A-43D3-8B79-37D633B846F1}">
                  <asvg:svgBlip xmlns:asvg="http://schemas.microsoft.com/office/drawing/2016/SVG/main" xmlns="" r:embed="rId16"/>
                </a:ext>
              </a:extLst>
            </a:blip>
            <a:stretch>
              <a:fillRect l="-64" r="-64"/>
            </a:stretch>
          </a:blipFill>
        </p:spPr>
      </p:sp>
      <p:sp>
        <p:nvSpPr>
          <p:cNvPr id="17" name="Freeform 17"/>
          <p:cNvSpPr/>
          <p:nvPr/>
        </p:nvSpPr>
        <p:spPr>
          <a:xfrm>
            <a:off x="10171876" y="3320938"/>
            <a:ext cx="718187" cy="711658"/>
          </a:xfrm>
          <a:custGeom>
            <a:avLst/>
            <a:gdLst/>
            <a:ahLst/>
            <a:cxnLst/>
            <a:rect l="l" t="t" r="r" b="b"/>
            <a:pathLst>
              <a:path w="718187" h="711658">
                <a:moveTo>
                  <a:pt x="0" y="0"/>
                </a:moveTo>
                <a:lnTo>
                  <a:pt x="718187" y="0"/>
                </a:lnTo>
                <a:lnTo>
                  <a:pt x="718187" y="711658"/>
                </a:lnTo>
                <a:lnTo>
                  <a:pt x="0" y="711658"/>
                </a:lnTo>
                <a:lnTo>
                  <a:pt x="0" y="0"/>
                </a:lnTo>
                <a:close/>
              </a:path>
            </a:pathLst>
          </a:custGeom>
          <a:blipFill>
            <a:blip r:embed="rId17">
              <a:extLst>
                <a:ext uri="{96DAC541-7B7A-43D3-8B79-37D633B846F1}">
                  <asvg:svgBlip xmlns:asvg="http://schemas.microsoft.com/office/drawing/2016/SVG/main" xmlns="" r:embed="rId18"/>
                </a:ext>
              </a:extLst>
            </a:blip>
            <a:stretch>
              <a:fillRect t="-458" b="-458"/>
            </a:stretch>
          </a:blipFill>
        </p:spPr>
      </p:sp>
      <p:sp>
        <p:nvSpPr>
          <p:cNvPr id="18" name="Freeform 18"/>
          <p:cNvSpPr/>
          <p:nvPr/>
        </p:nvSpPr>
        <p:spPr>
          <a:xfrm>
            <a:off x="8657946" y="3377495"/>
            <a:ext cx="484775" cy="655102"/>
          </a:xfrm>
          <a:custGeom>
            <a:avLst/>
            <a:gdLst/>
            <a:ahLst/>
            <a:cxnLst/>
            <a:rect l="l" t="t" r="r" b="b"/>
            <a:pathLst>
              <a:path w="484775" h="655102">
                <a:moveTo>
                  <a:pt x="0" y="0"/>
                </a:moveTo>
                <a:lnTo>
                  <a:pt x="484775" y="0"/>
                </a:lnTo>
                <a:lnTo>
                  <a:pt x="484775" y="655102"/>
                </a:lnTo>
                <a:lnTo>
                  <a:pt x="0" y="655102"/>
                </a:lnTo>
                <a:lnTo>
                  <a:pt x="0" y="0"/>
                </a:lnTo>
                <a:close/>
              </a:path>
            </a:pathLst>
          </a:custGeom>
          <a:blipFill>
            <a:blip r:embed="rId19">
              <a:extLst>
                <a:ext uri="{96DAC541-7B7A-43D3-8B79-37D633B846F1}">
                  <asvg:svgBlip xmlns:asvg="http://schemas.microsoft.com/office/drawing/2016/SVG/main" xmlns="" r:embed="rId20"/>
                </a:ext>
              </a:extLst>
            </a:blip>
            <a:stretch>
              <a:fillRect t="-58" b="-58"/>
            </a:stretch>
          </a:blipFill>
        </p:spPr>
      </p:sp>
      <p:sp>
        <p:nvSpPr>
          <p:cNvPr id="19" name="Freeform 19"/>
          <p:cNvSpPr/>
          <p:nvPr/>
        </p:nvSpPr>
        <p:spPr>
          <a:xfrm>
            <a:off x="10550778" y="4091579"/>
            <a:ext cx="678569" cy="719014"/>
          </a:xfrm>
          <a:custGeom>
            <a:avLst/>
            <a:gdLst/>
            <a:ahLst/>
            <a:cxnLst/>
            <a:rect l="l" t="t" r="r" b="b"/>
            <a:pathLst>
              <a:path w="678569" h="719014">
                <a:moveTo>
                  <a:pt x="0" y="0"/>
                </a:moveTo>
                <a:lnTo>
                  <a:pt x="678569" y="0"/>
                </a:lnTo>
                <a:lnTo>
                  <a:pt x="678569" y="719014"/>
                </a:lnTo>
                <a:lnTo>
                  <a:pt x="0" y="719014"/>
                </a:lnTo>
                <a:lnTo>
                  <a:pt x="0" y="0"/>
                </a:lnTo>
                <a:close/>
              </a:path>
            </a:pathLst>
          </a:custGeom>
          <a:blipFill>
            <a:blip r:embed="rId21">
              <a:extLst>
                <a:ext uri="{96DAC541-7B7A-43D3-8B79-37D633B846F1}">
                  <asvg:svgBlip xmlns:asvg="http://schemas.microsoft.com/office/drawing/2016/SVG/main" xmlns="" r:embed="rId22"/>
                </a:ext>
              </a:extLst>
            </a:blip>
            <a:stretch>
              <a:fillRect l="-191" r="-191"/>
            </a:stretch>
          </a:blipFill>
        </p:spPr>
      </p:sp>
      <p:sp>
        <p:nvSpPr>
          <p:cNvPr id="20" name="Freeform 20"/>
          <p:cNvSpPr/>
          <p:nvPr/>
        </p:nvSpPr>
        <p:spPr>
          <a:xfrm rot="-3237083">
            <a:off x="11704918" y="3095752"/>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11">
              <a:extLst>
                <a:ext uri="{96DAC541-7B7A-43D3-8B79-37D633B846F1}">
                  <asvg:svgBlip xmlns:asvg="http://schemas.microsoft.com/office/drawing/2016/SVG/main" xmlns="" r:embed="rId12"/>
                </a:ext>
              </a:extLst>
            </a:blip>
            <a:stretch>
              <a:fillRect t="-673" b="-673"/>
            </a:stretch>
          </a:blipFill>
        </p:spPr>
      </p:sp>
      <p:sp>
        <p:nvSpPr>
          <p:cNvPr id="21" name="Freeform 21"/>
          <p:cNvSpPr/>
          <p:nvPr/>
        </p:nvSpPr>
        <p:spPr>
          <a:xfrm rot="-1061944">
            <a:off x="12199248" y="5487662"/>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11">
              <a:extLst>
                <a:ext uri="{96DAC541-7B7A-43D3-8B79-37D633B846F1}">
                  <asvg:svgBlip xmlns:asvg="http://schemas.microsoft.com/office/drawing/2016/SVG/main" xmlns="" r:embed="rId12"/>
                </a:ext>
              </a:extLst>
            </a:blip>
            <a:stretch>
              <a:fillRect t="-673" b="-673"/>
            </a:stretch>
          </a:blipFill>
        </p:spPr>
      </p:sp>
      <p:sp>
        <p:nvSpPr>
          <p:cNvPr id="22" name="Freeform 22"/>
          <p:cNvSpPr/>
          <p:nvPr/>
        </p:nvSpPr>
        <p:spPr>
          <a:xfrm rot="-5400000">
            <a:off x="8720966" y="2637051"/>
            <a:ext cx="1235906" cy="540060"/>
          </a:xfrm>
          <a:custGeom>
            <a:avLst/>
            <a:gdLst/>
            <a:ahLst/>
            <a:cxnLst/>
            <a:rect l="l" t="t" r="r" b="b"/>
            <a:pathLst>
              <a:path w="1235906" h="540060">
                <a:moveTo>
                  <a:pt x="0" y="0"/>
                </a:moveTo>
                <a:lnTo>
                  <a:pt x="1235906" y="0"/>
                </a:lnTo>
                <a:lnTo>
                  <a:pt x="1235906" y="540060"/>
                </a:lnTo>
                <a:lnTo>
                  <a:pt x="0" y="540060"/>
                </a:lnTo>
                <a:lnTo>
                  <a:pt x="0" y="0"/>
                </a:lnTo>
                <a:close/>
              </a:path>
            </a:pathLst>
          </a:custGeom>
          <a:blipFill>
            <a:blip r:embed="rId11">
              <a:extLst>
                <a:ext uri="{96DAC541-7B7A-43D3-8B79-37D633B846F1}">
                  <asvg:svgBlip xmlns:asvg="http://schemas.microsoft.com/office/drawing/2016/SVG/main" xmlns="" r:embed="rId12"/>
                </a:ext>
              </a:extLst>
            </a:blip>
            <a:stretch>
              <a:fillRect t="-170" b="-170"/>
            </a:stretch>
          </a:blipFill>
        </p:spPr>
      </p:sp>
      <p:grpSp>
        <p:nvGrpSpPr>
          <p:cNvPr id="23" name="Group 23"/>
          <p:cNvGrpSpPr/>
          <p:nvPr/>
        </p:nvGrpSpPr>
        <p:grpSpPr>
          <a:xfrm>
            <a:off x="1852531" y="4245383"/>
            <a:ext cx="3500511" cy="1384935"/>
            <a:chOff x="0" y="0"/>
            <a:chExt cx="4667348" cy="1846580"/>
          </a:xfrm>
        </p:grpSpPr>
        <p:sp>
          <p:nvSpPr>
            <p:cNvPr id="24" name="Freeform 24"/>
            <p:cNvSpPr/>
            <p:nvPr/>
          </p:nvSpPr>
          <p:spPr>
            <a:xfrm>
              <a:off x="0" y="0"/>
              <a:ext cx="4667377" cy="1846580"/>
            </a:xfrm>
            <a:custGeom>
              <a:avLst/>
              <a:gdLst/>
              <a:ahLst/>
              <a:cxnLst/>
              <a:rect l="l" t="t" r="r" b="b"/>
              <a:pathLst>
                <a:path w="4667377" h="1846580">
                  <a:moveTo>
                    <a:pt x="570992" y="0"/>
                  </a:moveTo>
                  <a:lnTo>
                    <a:pt x="4096385" y="0"/>
                  </a:lnTo>
                  <a:cubicBezTo>
                    <a:pt x="4411726" y="0"/>
                    <a:pt x="4667377" y="255651"/>
                    <a:pt x="4667377" y="570992"/>
                  </a:cubicBezTo>
                  <a:lnTo>
                    <a:pt x="4667377" y="1275588"/>
                  </a:lnTo>
                  <a:cubicBezTo>
                    <a:pt x="4667377" y="1590929"/>
                    <a:pt x="4411726" y="1846580"/>
                    <a:pt x="4096385" y="1846580"/>
                  </a:cubicBezTo>
                  <a:lnTo>
                    <a:pt x="570992" y="1846580"/>
                  </a:lnTo>
                  <a:cubicBezTo>
                    <a:pt x="255651" y="1846580"/>
                    <a:pt x="0" y="1590929"/>
                    <a:pt x="0" y="1275588"/>
                  </a:cubicBezTo>
                  <a:lnTo>
                    <a:pt x="0" y="570992"/>
                  </a:lnTo>
                  <a:cubicBezTo>
                    <a:pt x="0" y="255651"/>
                    <a:pt x="255651" y="0"/>
                    <a:pt x="570992" y="0"/>
                  </a:cubicBezTo>
                  <a:close/>
                </a:path>
              </a:pathLst>
            </a:custGeom>
            <a:solidFill>
              <a:srgbClr val="CC9EA7"/>
            </a:solidFill>
          </p:spPr>
        </p:sp>
      </p:grpSp>
      <p:grpSp>
        <p:nvGrpSpPr>
          <p:cNvPr id="25" name="Group 25"/>
          <p:cNvGrpSpPr/>
          <p:nvPr/>
        </p:nvGrpSpPr>
        <p:grpSpPr>
          <a:xfrm>
            <a:off x="1852531" y="4136887"/>
            <a:ext cx="3500511" cy="1493431"/>
            <a:chOff x="0" y="0"/>
            <a:chExt cx="4667348" cy="1991241"/>
          </a:xfrm>
        </p:grpSpPr>
        <p:sp>
          <p:nvSpPr>
            <p:cNvPr id="26" name="Freeform 26"/>
            <p:cNvSpPr/>
            <p:nvPr/>
          </p:nvSpPr>
          <p:spPr>
            <a:xfrm>
              <a:off x="0" y="0"/>
              <a:ext cx="4667348" cy="1991241"/>
            </a:xfrm>
            <a:custGeom>
              <a:avLst/>
              <a:gdLst/>
              <a:ahLst/>
              <a:cxnLst/>
              <a:rect l="l" t="t" r="r" b="b"/>
              <a:pathLst>
                <a:path w="4667348" h="1991241">
                  <a:moveTo>
                    <a:pt x="0" y="0"/>
                  </a:moveTo>
                  <a:lnTo>
                    <a:pt x="4667348" y="0"/>
                  </a:lnTo>
                  <a:lnTo>
                    <a:pt x="4667348" y="1991241"/>
                  </a:lnTo>
                  <a:lnTo>
                    <a:pt x="0" y="1991241"/>
                  </a:lnTo>
                  <a:close/>
                </a:path>
              </a:pathLst>
            </a:custGeom>
            <a:solidFill>
              <a:srgbClr val="000000">
                <a:alpha val="0"/>
              </a:srgbClr>
            </a:solidFill>
          </p:spPr>
        </p:sp>
        <p:sp>
          <p:nvSpPr>
            <p:cNvPr id="27" name="TextBox 27"/>
            <p:cNvSpPr txBox="1"/>
            <p:nvPr/>
          </p:nvSpPr>
          <p:spPr>
            <a:xfrm>
              <a:off x="0" y="-28575"/>
              <a:ext cx="4667348" cy="2019816"/>
            </a:xfrm>
            <a:prstGeom prst="rect">
              <a:avLst/>
            </a:prstGeom>
          </p:spPr>
          <p:txBody>
            <a:bodyPr lIns="0" tIns="0" rIns="0" bIns="0" rtlCol="0" anchor="ctr"/>
            <a:lstStyle/>
            <a:p>
              <a:pPr algn="ctr">
                <a:lnSpc>
                  <a:spcPts val="3250"/>
                </a:lnSpc>
              </a:pPr>
              <a:r>
                <a:rPr lang="en-US" sz="2500">
                  <a:solidFill>
                    <a:srgbClr val="000000"/>
                  </a:solidFill>
                  <a:latin typeface="TT Chocolates" panose="02000503020000020003"/>
                  <a:ea typeface="TT Chocolates" panose="02000503020000020003"/>
                  <a:cs typeface="TT Chocolates" panose="02000503020000020003"/>
                  <a:sym typeface="TT Chocolates" panose="02000503020000020003"/>
                </a:rPr>
                <a:t>ABSENCE DE PLATEFORME LOCALE DÉDIÉE</a:t>
              </a:r>
            </a:p>
          </p:txBody>
        </p:sp>
      </p:grpSp>
      <p:grpSp>
        <p:nvGrpSpPr>
          <p:cNvPr id="28" name="Group 28"/>
          <p:cNvGrpSpPr/>
          <p:nvPr/>
        </p:nvGrpSpPr>
        <p:grpSpPr>
          <a:xfrm>
            <a:off x="2537903" y="1479942"/>
            <a:ext cx="3500511" cy="1384935"/>
            <a:chOff x="0" y="0"/>
            <a:chExt cx="4667348" cy="1846580"/>
          </a:xfrm>
        </p:grpSpPr>
        <p:sp>
          <p:nvSpPr>
            <p:cNvPr id="29" name="Freeform 29"/>
            <p:cNvSpPr/>
            <p:nvPr/>
          </p:nvSpPr>
          <p:spPr>
            <a:xfrm>
              <a:off x="0" y="0"/>
              <a:ext cx="4667377" cy="1846580"/>
            </a:xfrm>
            <a:custGeom>
              <a:avLst/>
              <a:gdLst/>
              <a:ahLst/>
              <a:cxnLst/>
              <a:rect l="l" t="t" r="r" b="b"/>
              <a:pathLst>
                <a:path w="4667377" h="1846580">
                  <a:moveTo>
                    <a:pt x="570992" y="0"/>
                  </a:moveTo>
                  <a:lnTo>
                    <a:pt x="4096385" y="0"/>
                  </a:lnTo>
                  <a:cubicBezTo>
                    <a:pt x="4411726" y="0"/>
                    <a:pt x="4667377" y="255651"/>
                    <a:pt x="4667377" y="570992"/>
                  </a:cubicBezTo>
                  <a:lnTo>
                    <a:pt x="4667377" y="1275588"/>
                  </a:lnTo>
                  <a:cubicBezTo>
                    <a:pt x="4667377" y="1590929"/>
                    <a:pt x="4411726" y="1846580"/>
                    <a:pt x="4096385" y="1846580"/>
                  </a:cubicBezTo>
                  <a:lnTo>
                    <a:pt x="570992" y="1846580"/>
                  </a:lnTo>
                  <a:cubicBezTo>
                    <a:pt x="255651" y="1846580"/>
                    <a:pt x="0" y="1590929"/>
                    <a:pt x="0" y="1275588"/>
                  </a:cubicBezTo>
                  <a:lnTo>
                    <a:pt x="0" y="570992"/>
                  </a:lnTo>
                  <a:cubicBezTo>
                    <a:pt x="0" y="255651"/>
                    <a:pt x="255651" y="0"/>
                    <a:pt x="570992" y="0"/>
                  </a:cubicBezTo>
                  <a:close/>
                </a:path>
              </a:pathLst>
            </a:custGeom>
            <a:solidFill>
              <a:srgbClr val="CC9EA7"/>
            </a:solidFill>
          </p:spPr>
        </p:sp>
      </p:grpSp>
      <p:grpSp>
        <p:nvGrpSpPr>
          <p:cNvPr id="30" name="Group 30"/>
          <p:cNvGrpSpPr/>
          <p:nvPr/>
        </p:nvGrpSpPr>
        <p:grpSpPr>
          <a:xfrm>
            <a:off x="2537903" y="1371446"/>
            <a:ext cx="3500511" cy="1493431"/>
            <a:chOff x="0" y="0"/>
            <a:chExt cx="4667348" cy="1991241"/>
          </a:xfrm>
        </p:grpSpPr>
        <p:sp>
          <p:nvSpPr>
            <p:cNvPr id="31" name="Freeform 31"/>
            <p:cNvSpPr/>
            <p:nvPr/>
          </p:nvSpPr>
          <p:spPr>
            <a:xfrm>
              <a:off x="0" y="0"/>
              <a:ext cx="4667348" cy="1991241"/>
            </a:xfrm>
            <a:custGeom>
              <a:avLst/>
              <a:gdLst/>
              <a:ahLst/>
              <a:cxnLst/>
              <a:rect l="l" t="t" r="r" b="b"/>
              <a:pathLst>
                <a:path w="4667348" h="1991241">
                  <a:moveTo>
                    <a:pt x="0" y="0"/>
                  </a:moveTo>
                  <a:lnTo>
                    <a:pt x="4667348" y="0"/>
                  </a:lnTo>
                  <a:lnTo>
                    <a:pt x="4667348" y="1991241"/>
                  </a:lnTo>
                  <a:lnTo>
                    <a:pt x="0" y="1991241"/>
                  </a:lnTo>
                  <a:close/>
                </a:path>
              </a:pathLst>
            </a:custGeom>
            <a:solidFill>
              <a:srgbClr val="000000">
                <a:alpha val="0"/>
              </a:srgbClr>
            </a:solidFill>
          </p:spPr>
        </p:sp>
        <p:sp>
          <p:nvSpPr>
            <p:cNvPr id="32" name="TextBox 32"/>
            <p:cNvSpPr txBox="1"/>
            <p:nvPr/>
          </p:nvSpPr>
          <p:spPr>
            <a:xfrm>
              <a:off x="0" y="-28575"/>
              <a:ext cx="4667348" cy="2019816"/>
            </a:xfrm>
            <a:prstGeom prst="rect">
              <a:avLst/>
            </a:prstGeom>
          </p:spPr>
          <p:txBody>
            <a:bodyPr lIns="0" tIns="0" rIns="0" bIns="0" rtlCol="0" anchor="ctr"/>
            <a:lstStyle/>
            <a:p>
              <a:pPr algn="ctr">
                <a:lnSpc>
                  <a:spcPts val="3250"/>
                </a:lnSpc>
              </a:pPr>
              <a:r>
                <a:rPr lang="en-US" sz="2500">
                  <a:solidFill>
                    <a:srgbClr val="000000"/>
                  </a:solidFill>
                  <a:latin typeface="TT Chocolates" panose="02000503020000020003"/>
                  <a:ea typeface="TT Chocolates" panose="02000503020000020003"/>
                  <a:cs typeface="TT Chocolates" panose="02000503020000020003"/>
                  <a:sym typeface="TT Chocolates" panose="02000503020000020003"/>
                </a:rPr>
                <a:t>🔄 PROCESSUS DE COLLABORATION NON STRUCTURÉ</a:t>
              </a:r>
            </a:p>
          </p:txBody>
        </p:sp>
      </p:grpSp>
      <p:grpSp>
        <p:nvGrpSpPr>
          <p:cNvPr id="33" name="Group 33"/>
          <p:cNvGrpSpPr/>
          <p:nvPr/>
        </p:nvGrpSpPr>
        <p:grpSpPr>
          <a:xfrm>
            <a:off x="7588663" y="446823"/>
            <a:ext cx="3500511" cy="1384935"/>
            <a:chOff x="0" y="0"/>
            <a:chExt cx="4667348" cy="1846580"/>
          </a:xfrm>
        </p:grpSpPr>
        <p:sp>
          <p:nvSpPr>
            <p:cNvPr id="34" name="Freeform 34"/>
            <p:cNvSpPr/>
            <p:nvPr/>
          </p:nvSpPr>
          <p:spPr>
            <a:xfrm>
              <a:off x="0" y="0"/>
              <a:ext cx="4667377" cy="1846580"/>
            </a:xfrm>
            <a:custGeom>
              <a:avLst/>
              <a:gdLst/>
              <a:ahLst/>
              <a:cxnLst/>
              <a:rect l="l" t="t" r="r" b="b"/>
              <a:pathLst>
                <a:path w="4667377" h="1846580">
                  <a:moveTo>
                    <a:pt x="570992" y="0"/>
                  </a:moveTo>
                  <a:lnTo>
                    <a:pt x="4096385" y="0"/>
                  </a:lnTo>
                  <a:cubicBezTo>
                    <a:pt x="4411726" y="0"/>
                    <a:pt x="4667377" y="255651"/>
                    <a:pt x="4667377" y="570992"/>
                  </a:cubicBezTo>
                  <a:lnTo>
                    <a:pt x="4667377" y="1275588"/>
                  </a:lnTo>
                  <a:cubicBezTo>
                    <a:pt x="4667377" y="1590929"/>
                    <a:pt x="4411726" y="1846580"/>
                    <a:pt x="4096385" y="1846580"/>
                  </a:cubicBezTo>
                  <a:lnTo>
                    <a:pt x="570992" y="1846580"/>
                  </a:lnTo>
                  <a:cubicBezTo>
                    <a:pt x="255651" y="1846580"/>
                    <a:pt x="0" y="1590929"/>
                    <a:pt x="0" y="1275588"/>
                  </a:cubicBezTo>
                  <a:lnTo>
                    <a:pt x="0" y="570992"/>
                  </a:lnTo>
                  <a:cubicBezTo>
                    <a:pt x="0" y="255651"/>
                    <a:pt x="255651" y="0"/>
                    <a:pt x="570992" y="0"/>
                  </a:cubicBezTo>
                  <a:close/>
                </a:path>
              </a:pathLst>
            </a:custGeom>
            <a:solidFill>
              <a:srgbClr val="CC9EA7"/>
            </a:solidFill>
          </p:spPr>
        </p:sp>
      </p:grpSp>
      <p:grpSp>
        <p:nvGrpSpPr>
          <p:cNvPr id="35" name="Group 35"/>
          <p:cNvGrpSpPr/>
          <p:nvPr/>
        </p:nvGrpSpPr>
        <p:grpSpPr>
          <a:xfrm>
            <a:off x="7588663" y="338327"/>
            <a:ext cx="3500511" cy="1493431"/>
            <a:chOff x="0" y="-28575"/>
            <a:chExt cx="4667348" cy="2019816"/>
          </a:xfrm>
        </p:grpSpPr>
        <p:sp>
          <p:nvSpPr>
            <p:cNvPr id="36" name="Freeform 36"/>
            <p:cNvSpPr/>
            <p:nvPr/>
          </p:nvSpPr>
          <p:spPr>
            <a:xfrm>
              <a:off x="0" y="0"/>
              <a:ext cx="4667348" cy="1991241"/>
            </a:xfrm>
            <a:custGeom>
              <a:avLst/>
              <a:gdLst/>
              <a:ahLst/>
              <a:cxnLst/>
              <a:rect l="l" t="t" r="r" b="b"/>
              <a:pathLst>
                <a:path w="4667348" h="1991241">
                  <a:moveTo>
                    <a:pt x="0" y="0"/>
                  </a:moveTo>
                  <a:lnTo>
                    <a:pt x="4667348" y="0"/>
                  </a:lnTo>
                  <a:lnTo>
                    <a:pt x="4667348" y="1991241"/>
                  </a:lnTo>
                  <a:lnTo>
                    <a:pt x="0" y="1991241"/>
                  </a:lnTo>
                  <a:close/>
                </a:path>
              </a:pathLst>
            </a:custGeom>
            <a:solidFill>
              <a:srgbClr val="000000">
                <a:alpha val="0"/>
              </a:srgbClr>
            </a:solidFill>
          </p:spPr>
        </p:sp>
        <p:sp>
          <p:nvSpPr>
            <p:cNvPr id="37" name="TextBox 37"/>
            <p:cNvSpPr txBox="1"/>
            <p:nvPr/>
          </p:nvSpPr>
          <p:spPr>
            <a:xfrm>
              <a:off x="0" y="-28575"/>
              <a:ext cx="4667348" cy="2019816"/>
            </a:xfrm>
            <a:prstGeom prst="rect">
              <a:avLst/>
            </a:prstGeom>
          </p:spPr>
          <p:txBody>
            <a:bodyPr lIns="0" tIns="0" rIns="0" bIns="0" rtlCol="0" anchor="ctr"/>
            <a:lstStyle/>
            <a:p>
              <a:pPr algn="ctr">
                <a:lnSpc>
                  <a:spcPts val="3250"/>
                </a:lnSpc>
              </a:pPr>
              <a:r>
                <a:rPr lang="en-US" sz="2500" dirty="0">
                  <a:solidFill>
                    <a:srgbClr val="000000"/>
                  </a:solidFill>
                  <a:latin typeface="TT Chocolates" panose="02000503020000020003"/>
                  <a:ea typeface="TT Chocolates" panose="02000503020000020003"/>
                  <a:cs typeface="TT Chocolates" panose="02000503020000020003"/>
                  <a:sym typeface="TT Chocolates" panose="02000503020000020003"/>
                </a:rPr>
                <a:t>💰 </a:t>
              </a:r>
              <a:r>
                <a:rPr lang="en-US" sz="2400" dirty="0" smtClean="0">
                  <a:solidFill>
                    <a:srgbClr val="000000"/>
                  </a:solidFill>
                  <a:latin typeface="TT Chocolates" panose="02000503020000020003"/>
                  <a:ea typeface="TT Chocolates" panose="02000503020000020003"/>
                  <a:cs typeface="TT Chocolates" panose="02000503020000020003"/>
                  <a:sym typeface="TT Chocolates" panose="02000503020000020003"/>
                </a:rPr>
                <a:t>MANQUE </a:t>
              </a:r>
              <a:r>
                <a:rPr lang="en-US" sz="2400" dirty="0">
                  <a:solidFill>
                    <a:srgbClr val="000000"/>
                  </a:solidFill>
                  <a:latin typeface="TT Chocolates" panose="02000503020000020003"/>
                  <a:ea typeface="TT Chocolates" panose="02000503020000020003"/>
                  <a:cs typeface="TT Chocolates" panose="02000503020000020003"/>
                  <a:sym typeface="TT Chocolates" panose="02000503020000020003"/>
                </a:rPr>
                <a:t>DE TRANSPARENCE DANS LES PAIEMENTS</a:t>
              </a:r>
            </a:p>
          </p:txBody>
        </p:sp>
      </p:grpSp>
      <p:grpSp>
        <p:nvGrpSpPr>
          <p:cNvPr id="38" name="Group 38"/>
          <p:cNvGrpSpPr/>
          <p:nvPr/>
        </p:nvGrpSpPr>
        <p:grpSpPr>
          <a:xfrm>
            <a:off x="12708424" y="1496527"/>
            <a:ext cx="3500511" cy="1384935"/>
            <a:chOff x="0" y="0"/>
            <a:chExt cx="4667348" cy="1846580"/>
          </a:xfrm>
        </p:grpSpPr>
        <p:sp>
          <p:nvSpPr>
            <p:cNvPr id="39" name="Freeform 39"/>
            <p:cNvSpPr/>
            <p:nvPr/>
          </p:nvSpPr>
          <p:spPr>
            <a:xfrm>
              <a:off x="0" y="0"/>
              <a:ext cx="4667377" cy="1846580"/>
            </a:xfrm>
            <a:custGeom>
              <a:avLst/>
              <a:gdLst/>
              <a:ahLst/>
              <a:cxnLst/>
              <a:rect l="l" t="t" r="r" b="b"/>
              <a:pathLst>
                <a:path w="4667377" h="1846580">
                  <a:moveTo>
                    <a:pt x="570992" y="0"/>
                  </a:moveTo>
                  <a:lnTo>
                    <a:pt x="4096385" y="0"/>
                  </a:lnTo>
                  <a:cubicBezTo>
                    <a:pt x="4411726" y="0"/>
                    <a:pt x="4667377" y="255651"/>
                    <a:pt x="4667377" y="570992"/>
                  </a:cubicBezTo>
                  <a:lnTo>
                    <a:pt x="4667377" y="1275588"/>
                  </a:lnTo>
                  <a:cubicBezTo>
                    <a:pt x="4667377" y="1590929"/>
                    <a:pt x="4411726" y="1846580"/>
                    <a:pt x="4096385" y="1846580"/>
                  </a:cubicBezTo>
                  <a:lnTo>
                    <a:pt x="570992" y="1846580"/>
                  </a:lnTo>
                  <a:cubicBezTo>
                    <a:pt x="255651" y="1846580"/>
                    <a:pt x="0" y="1590929"/>
                    <a:pt x="0" y="1275588"/>
                  </a:cubicBezTo>
                  <a:lnTo>
                    <a:pt x="0" y="570992"/>
                  </a:lnTo>
                  <a:cubicBezTo>
                    <a:pt x="0" y="255651"/>
                    <a:pt x="255651" y="0"/>
                    <a:pt x="570992" y="0"/>
                  </a:cubicBezTo>
                  <a:close/>
                </a:path>
              </a:pathLst>
            </a:custGeom>
            <a:solidFill>
              <a:srgbClr val="CC9EA7"/>
            </a:solidFill>
          </p:spPr>
        </p:sp>
      </p:grpSp>
      <p:grpSp>
        <p:nvGrpSpPr>
          <p:cNvPr id="40" name="Group 40"/>
          <p:cNvGrpSpPr/>
          <p:nvPr/>
        </p:nvGrpSpPr>
        <p:grpSpPr>
          <a:xfrm>
            <a:off x="12708424" y="1388031"/>
            <a:ext cx="3500511" cy="1493431"/>
            <a:chOff x="0" y="0"/>
            <a:chExt cx="4667348" cy="1991241"/>
          </a:xfrm>
        </p:grpSpPr>
        <p:sp>
          <p:nvSpPr>
            <p:cNvPr id="41" name="Freeform 41"/>
            <p:cNvSpPr/>
            <p:nvPr/>
          </p:nvSpPr>
          <p:spPr>
            <a:xfrm>
              <a:off x="0" y="0"/>
              <a:ext cx="4667348" cy="1991241"/>
            </a:xfrm>
            <a:custGeom>
              <a:avLst/>
              <a:gdLst/>
              <a:ahLst/>
              <a:cxnLst/>
              <a:rect l="l" t="t" r="r" b="b"/>
              <a:pathLst>
                <a:path w="4667348" h="1991241">
                  <a:moveTo>
                    <a:pt x="0" y="0"/>
                  </a:moveTo>
                  <a:lnTo>
                    <a:pt x="4667348" y="0"/>
                  </a:lnTo>
                  <a:lnTo>
                    <a:pt x="4667348" y="1991241"/>
                  </a:lnTo>
                  <a:lnTo>
                    <a:pt x="0" y="1991241"/>
                  </a:lnTo>
                  <a:close/>
                </a:path>
              </a:pathLst>
            </a:custGeom>
            <a:solidFill>
              <a:srgbClr val="000000">
                <a:alpha val="0"/>
              </a:srgbClr>
            </a:solidFill>
          </p:spPr>
        </p:sp>
        <p:sp>
          <p:nvSpPr>
            <p:cNvPr id="42" name="TextBox 42"/>
            <p:cNvSpPr txBox="1"/>
            <p:nvPr/>
          </p:nvSpPr>
          <p:spPr>
            <a:xfrm>
              <a:off x="0" y="-28575"/>
              <a:ext cx="4667348" cy="2019816"/>
            </a:xfrm>
            <a:prstGeom prst="rect">
              <a:avLst/>
            </a:prstGeom>
          </p:spPr>
          <p:txBody>
            <a:bodyPr lIns="0" tIns="0" rIns="0" bIns="0" rtlCol="0" anchor="ctr"/>
            <a:lstStyle/>
            <a:p>
              <a:pPr algn="ctr">
                <a:lnSpc>
                  <a:spcPts val="3250"/>
                </a:lnSpc>
              </a:pPr>
              <a:r>
                <a:rPr lang="en-US" sz="2500" dirty="0">
                  <a:solidFill>
                    <a:srgbClr val="000000"/>
                  </a:solidFill>
                  <a:latin typeface="TT Chocolates" panose="02000503020000020003"/>
                  <a:ea typeface="TT Chocolates" panose="02000503020000020003"/>
                  <a:cs typeface="TT Chocolates" panose="02000503020000020003"/>
                  <a:sym typeface="TT Chocolates" panose="02000503020000020003"/>
                </a:rPr>
                <a:t>📉 DIFFICULTÉ À ÉVALUER LES PERFORMANCES</a:t>
              </a:r>
            </a:p>
          </p:txBody>
        </p:sp>
      </p:grpSp>
      <p:grpSp>
        <p:nvGrpSpPr>
          <p:cNvPr id="43" name="Group 43"/>
          <p:cNvGrpSpPr/>
          <p:nvPr/>
        </p:nvGrpSpPr>
        <p:grpSpPr>
          <a:xfrm>
            <a:off x="13816773" y="4751270"/>
            <a:ext cx="3500511" cy="1184687"/>
            <a:chOff x="0" y="0"/>
            <a:chExt cx="4667348" cy="1579583"/>
          </a:xfrm>
        </p:grpSpPr>
        <p:sp>
          <p:nvSpPr>
            <p:cNvPr id="44" name="Freeform 44"/>
            <p:cNvSpPr/>
            <p:nvPr/>
          </p:nvSpPr>
          <p:spPr>
            <a:xfrm>
              <a:off x="0" y="0"/>
              <a:ext cx="4667377" cy="1579626"/>
            </a:xfrm>
            <a:custGeom>
              <a:avLst/>
              <a:gdLst/>
              <a:ahLst/>
              <a:cxnLst/>
              <a:rect l="l" t="t" r="r" b="b"/>
              <a:pathLst>
                <a:path w="4667377" h="1579626">
                  <a:moveTo>
                    <a:pt x="570992" y="0"/>
                  </a:moveTo>
                  <a:lnTo>
                    <a:pt x="4096385" y="0"/>
                  </a:lnTo>
                  <a:cubicBezTo>
                    <a:pt x="4411726" y="0"/>
                    <a:pt x="4667377" y="255651"/>
                    <a:pt x="4667377" y="570992"/>
                  </a:cubicBezTo>
                  <a:lnTo>
                    <a:pt x="4667377" y="1008507"/>
                  </a:lnTo>
                  <a:cubicBezTo>
                    <a:pt x="4667377" y="1323848"/>
                    <a:pt x="4411726" y="1579499"/>
                    <a:pt x="4096385" y="1579499"/>
                  </a:cubicBezTo>
                  <a:lnTo>
                    <a:pt x="570992" y="1579499"/>
                  </a:lnTo>
                  <a:cubicBezTo>
                    <a:pt x="255651" y="1579626"/>
                    <a:pt x="0" y="1323975"/>
                    <a:pt x="0" y="1008507"/>
                  </a:cubicBezTo>
                  <a:lnTo>
                    <a:pt x="0" y="570992"/>
                  </a:lnTo>
                  <a:cubicBezTo>
                    <a:pt x="0" y="255651"/>
                    <a:pt x="255651" y="0"/>
                    <a:pt x="570992" y="0"/>
                  </a:cubicBezTo>
                  <a:close/>
                </a:path>
              </a:pathLst>
            </a:custGeom>
            <a:solidFill>
              <a:srgbClr val="CC9EA7"/>
            </a:solidFill>
          </p:spPr>
        </p:sp>
      </p:grpSp>
      <p:grpSp>
        <p:nvGrpSpPr>
          <p:cNvPr id="45" name="Group 45"/>
          <p:cNvGrpSpPr/>
          <p:nvPr/>
        </p:nvGrpSpPr>
        <p:grpSpPr>
          <a:xfrm>
            <a:off x="13816773" y="4642774"/>
            <a:ext cx="3500511" cy="1293183"/>
            <a:chOff x="0" y="0"/>
            <a:chExt cx="4667348" cy="1724244"/>
          </a:xfrm>
        </p:grpSpPr>
        <p:sp>
          <p:nvSpPr>
            <p:cNvPr id="46" name="Freeform 46"/>
            <p:cNvSpPr/>
            <p:nvPr/>
          </p:nvSpPr>
          <p:spPr>
            <a:xfrm>
              <a:off x="0" y="0"/>
              <a:ext cx="4667348" cy="1724244"/>
            </a:xfrm>
            <a:custGeom>
              <a:avLst/>
              <a:gdLst/>
              <a:ahLst/>
              <a:cxnLst/>
              <a:rect l="l" t="t" r="r" b="b"/>
              <a:pathLst>
                <a:path w="4667348" h="1724244">
                  <a:moveTo>
                    <a:pt x="0" y="0"/>
                  </a:moveTo>
                  <a:lnTo>
                    <a:pt x="4667348" y="0"/>
                  </a:lnTo>
                  <a:lnTo>
                    <a:pt x="4667348" y="1724244"/>
                  </a:lnTo>
                  <a:lnTo>
                    <a:pt x="0" y="1724244"/>
                  </a:lnTo>
                  <a:close/>
                </a:path>
              </a:pathLst>
            </a:custGeom>
            <a:solidFill>
              <a:srgbClr val="000000">
                <a:alpha val="0"/>
              </a:srgbClr>
            </a:solidFill>
          </p:spPr>
        </p:sp>
        <p:sp>
          <p:nvSpPr>
            <p:cNvPr id="47" name="TextBox 47"/>
            <p:cNvSpPr txBox="1"/>
            <p:nvPr/>
          </p:nvSpPr>
          <p:spPr>
            <a:xfrm>
              <a:off x="0" y="-28575"/>
              <a:ext cx="4667348" cy="1752819"/>
            </a:xfrm>
            <a:prstGeom prst="rect">
              <a:avLst/>
            </a:prstGeom>
          </p:spPr>
          <p:txBody>
            <a:bodyPr lIns="0" tIns="0" rIns="0" bIns="0" rtlCol="0" anchor="ctr"/>
            <a:lstStyle/>
            <a:p>
              <a:pPr algn="ctr">
                <a:lnSpc>
                  <a:spcPts val="3250"/>
                </a:lnSpc>
              </a:pPr>
              <a:r>
                <a:rPr lang="en-US" sz="2500">
                  <a:solidFill>
                    <a:srgbClr val="000000"/>
                  </a:solidFill>
                  <a:latin typeface="TT Chocolates" panose="02000503020000020003"/>
                  <a:ea typeface="TT Chocolates" panose="02000503020000020003"/>
                  <a:cs typeface="TT Chocolates" panose="02000503020000020003"/>
                  <a:sym typeface="TT Chocolates" panose="02000503020000020003"/>
                </a:rPr>
                <a:t>⚠️ ABSENCE DE CADRE PROFESSIONNEL CLAIR</a:t>
              </a:r>
            </a:p>
          </p:txBody>
        </p:sp>
      </p:grpSp>
      <p:grpSp>
        <p:nvGrpSpPr>
          <p:cNvPr id="48" name="Group 48"/>
          <p:cNvGrpSpPr/>
          <p:nvPr/>
        </p:nvGrpSpPr>
        <p:grpSpPr>
          <a:xfrm>
            <a:off x="4350809" y="8059294"/>
            <a:ext cx="9099049" cy="1384935"/>
            <a:chOff x="0" y="0"/>
            <a:chExt cx="12132065" cy="1846580"/>
          </a:xfrm>
        </p:grpSpPr>
        <p:sp>
          <p:nvSpPr>
            <p:cNvPr id="49" name="Freeform 49"/>
            <p:cNvSpPr/>
            <p:nvPr/>
          </p:nvSpPr>
          <p:spPr>
            <a:xfrm>
              <a:off x="0" y="0"/>
              <a:ext cx="12132056" cy="1846580"/>
            </a:xfrm>
            <a:custGeom>
              <a:avLst/>
              <a:gdLst/>
              <a:ahLst/>
              <a:cxnLst/>
              <a:rect l="l" t="t" r="r" b="b"/>
              <a:pathLst>
                <a:path w="12132056" h="1846580">
                  <a:moveTo>
                    <a:pt x="219710" y="0"/>
                  </a:moveTo>
                  <a:lnTo>
                    <a:pt x="11912346" y="0"/>
                  </a:lnTo>
                  <a:cubicBezTo>
                    <a:pt x="12033631" y="0"/>
                    <a:pt x="12132056" y="98298"/>
                    <a:pt x="12132056" y="219710"/>
                  </a:cubicBezTo>
                  <a:lnTo>
                    <a:pt x="12132056" y="1626870"/>
                  </a:lnTo>
                  <a:cubicBezTo>
                    <a:pt x="12132056" y="1748155"/>
                    <a:pt x="12033758" y="1846580"/>
                    <a:pt x="11912346" y="1846580"/>
                  </a:cubicBezTo>
                  <a:lnTo>
                    <a:pt x="219710" y="1846580"/>
                  </a:lnTo>
                  <a:cubicBezTo>
                    <a:pt x="161417" y="1846580"/>
                    <a:pt x="105537" y="1823466"/>
                    <a:pt x="64389" y="1782191"/>
                  </a:cubicBezTo>
                  <a:cubicBezTo>
                    <a:pt x="23241" y="1740916"/>
                    <a:pt x="0" y="1685163"/>
                    <a:pt x="0" y="1626870"/>
                  </a:cubicBezTo>
                  <a:lnTo>
                    <a:pt x="0" y="219710"/>
                  </a:lnTo>
                  <a:cubicBezTo>
                    <a:pt x="0" y="98298"/>
                    <a:pt x="98298" y="0"/>
                    <a:pt x="219710" y="0"/>
                  </a:cubicBezTo>
                  <a:close/>
                </a:path>
              </a:pathLst>
            </a:custGeom>
            <a:solidFill>
              <a:srgbClr val="CC9EA7"/>
            </a:solidFill>
          </p:spPr>
        </p:sp>
      </p:grpSp>
      <p:grpSp>
        <p:nvGrpSpPr>
          <p:cNvPr id="50" name="Group 50"/>
          <p:cNvGrpSpPr/>
          <p:nvPr/>
        </p:nvGrpSpPr>
        <p:grpSpPr>
          <a:xfrm>
            <a:off x="4350809" y="7950798"/>
            <a:ext cx="9099049" cy="1493431"/>
            <a:chOff x="0" y="0"/>
            <a:chExt cx="12132065" cy="1991241"/>
          </a:xfrm>
        </p:grpSpPr>
        <p:sp>
          <p:nvSpPr>
            <p:cNvPr id="51" name="Freeform 51"/>
            <p:cNvSpPr/>
            <p:nvPr/>
          </p:nvSpPr>
          <p:spPr>
            <a:xfrm>
              <a:off x="0" y="0"/>
              <a:ext cx="12132066" cy="1991241"/>
            </a:xfrm>
            <a:custGeom>
              <a:avLst/>
              <a:gdLst/>
              <a:ahLst/>
              <a:cxnLst/>
              <a:rect l="l" t="t" r="r" b="b"/>
              <a:pathLst>
                <a:path w="12132066" h="1991241">
                  <a:moveTo>
                    <a:pt x="0" y="0"/>
                  </a:moveTo>
                  <a:lnTo>
                    <a:pt x="12132066" y="0"/>
                  </a:lnTo>
                  <a:lnTo>
                    <a:pt x="12132066" y="1991241"/>
                  </a:lnTo>
                  <a:lnTo>
                    <a:pt x="0" y="1991241"/>
                  </a:lnTo>
                  <a:close/>
                </a:path>
              </a:pathLst>
            </a:custGeom>
            <a:solidFill>
              <a:srgbClr val="000000">
                <a:alpha val="0"/>
              </a:srgbClr>
            </a:solidFill>
          </p:spPr>
        </p:sp>
        <p:sp>
          <p:nvSpPr>
            <p:cNvPr id="52" name="TextBox 52"/>
            <p:cNvSpPr txBox="1"/>
            <p:nvPr/>
          </p:nvSpPr>
          <p:spPr>
            <a:xfrm>
              <a:off x="0" y="-28575"/>
              <a:ext cx="12132065" cy="2019816"/>
            </a:xfrm>
            <a:prstGeom prst="rect">
              <a:avLst/>
            </a:prstGeom>
          </p:spPr>
          <p:txBody>
            <a:bodyPr lIns="0" tIns="0" rIns="0" bIns="0" rtlCol="0" anchor="ctr"/>
            <a:lstStyle/>
            <a:p>
              <a:pPr algn="ctr">
                <a:lnSpc>
                  <a:spcPts val="3250"/>
                </a:lnSpc>
              </a:pPr>
              <a:r>
                <a:rPr lang="en-US" sz="2500">
                  <a:solidFill>
                    <a:srgbClr val="000000"/>
                  </a:solidFill>
                  <a:latin typeface="TT Chocolates" panose="02000503020000020003"/>
                  <a:ea typeface="TT Chocolates" panose="02000503020000020003"/>
                  <a:cs typeface="TT Chocolates" panose="02000503020000020003"/>
                  <a:sym typeface="TT Chocolates" panose="02000503020000020003"/>
                </a:rPr>
                <a:t>LES PLATEFORMES INTERNATIONALES EXISTANTES SONT COÛTEUSES, ORIENTÉES VERS LES GRANDES MARQUES, ET INADAPTÉES AU MARCHÉ TUNISIEN.</a:t>
              </a:r>
            </a:p>
          </p:txBody>
        </p:sp>
      </p:grpSp>
      <p:sp>
        <p:nvSpPr>
          <p:cNvPr id="53" name="Freeform 53"/>
          <p:cNvSpPr/>
          <p:nvPr/>
        </p:nvSpPr>
        <p:spPr>
          <a:xfrm rot="5400000">
            <a:off x="9244551" y="7560519"/>
            <a:ext cx="694201" cy="303349"/>
          </a:xfrm>
          <a:custGeom>
            <a:avLst/>
            <a:gdLst/>
            <a:ahLst/>
            <a:cxnLst/>
            <a:rect l="l" t="t" r="r" b="b"/>
            <a:pathLst>
              <a:path w="694201" h="303349">
                <a:moveTo>
                  <a:pt x="0" y="0"/>
                </a:moveTo>
                <a:lnTo>
                  <a:pt x="694201" y="0"/>
                </a:lnTo>
                <a:lnTo>
                  <a:pt x="694201" y="303349"/>
                </a:lnTo>
                <a:lnTo>
                  <a:pt x="0" y="303349"/>
                </a:lnTo>
                <a:lnTo>
                  <a:pt x="0" y="0"/>
                </a:lnTo>
                <a:close/>
              </a:path>
            </a:pathLst>
          </a:custGeom>
          <a:blipFill>
            <a:blip r:embed="rId11">
              <a:extLst>
                <a:ext uri="{96DAC541-7B7A-43D3-8B79-37D633B846F1}">
                  <asvg:svgBlip xmlns:asvg="http://schemas.microsoft.com/office/drawing/2016/SVG/main" xmlns="" r:embed="rId12"/>
                </a:ext>
              </a:extLst>
            </a:blip>
            <a:stretch>
              <a:fillRect t="-157" b="-157"/>
            </a:stretch>
          </a:blipFill>
        </p:spPr>
      </p:sp>
      <p:sp>
        <p:nvSpPr>
          <p:cNvPr id="54" name="TextBox 54"/>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4DE"/>
        </a:solidFill>
        <a:effectLst/>
      </p:bgPr>
    </p:bg>
    <p:spTree>
      <p:nvGrpSpPr>
        <p:cNvPr id="1" name=""/>
        <p:cNvGrpSpPr/>
        <p:nvPr/>
      </p:nvGrpSpPr>
      <p:grpSpPr>
        <a:xfrm>
          <a:off x="0" y="0"/>
          <a:ext cx="0" cy="0"/>
          <a:chOff x="0" y="0"/>
          <a:chExt cx="0" cy="0"/>
        </a:xfrm>
      </p:grpSpPr>
      <p:grpSp>
        <p:nvGrpSpPr>
          <p:cNvPr id="2" name="Group 2"/>
          <p:cNvGrpSpPr/>
          <p:nvPr/>
        </p:nvGrpSpPr>
        <p:grpSpPr>
          <a:xfrm>
            <a:off x="-59267" y="-66675"/>
            <a:ext cx="18406533" cy="10353675"/>
            <a:chOff x="0" y="0"/>
            <a:chExt cx="24542044" cy="13804900"/>
          </a:xfrm>
        </p:grpSpPr>
        <p:sp>
          <p:nvSpPr>
            <p:cNvPr id="3" name="Freeform 3"/>
            <p:cNvSpPr/>
            <p:nvPr/>
          </p:nvSpPr>
          <p:spPr>
            <a:xfrm>
              <a:off x="0" y="0"/>
              <a:ext cx="24541987" cy="13804900"/>
            </a:xfrm>
            <a:custGeom>
              <a:avLst/>
              <a:gdLst/>
              <a:ahLst/>
              <a:cxnLst/>
              <a:rect l="l" t="t" r="r" b="b"/>
              <a:pathLst>
                <a:path w="24541987" h="13804900">
                  <a:moveTo>
                    <a:pt x="0" y="0"/>
                  </a:moveTo>
                  <a:lnTo>
                    <a:pt x="24541987" y="0"/>
                  </a:lnTo>
                  <a:lnTo>
                    <a:pt x="24541987" y="13804900"/>
                  </a:lnTo>
                  <a:lnTo>
                    <a:pt x="0" y="13804900"/>
                  </a:lnTo>
                  <a:lnTo>
                    <a:pt x="0" y="0"/>
                  </a:lnTo>
                  <a:close/>
                </a:path>
              </a:pathLst>
            </a:custGeom>
            <a:blipFill>
              <a:blip r:embed="rId3"/>
              <a:stretch>
                <a:fillRect l="-3849" r="-3849"/>
              </a:stretch>
            </a:blipFill>
          </p:spPr>
        </p:sp>
      </p:grpSp>
      <p:grpSp>
        <p:nvGrpSpPr>
          <p:cNvPr id="4" name="Group 4"/>
          <p:cNvGrpSpPr/>
          <p:nvPr/>
        </p:nvGrpSpPr>
        <p:grpSpPr>
          <a:xfrm>
            <a:off x="39989" y="7567605"/>
            <a:ext cx="2081169" cy="2719395"/>
            <a:chOff x="0" y="0"/>
            <a:chExt cx="2774892" cy="3625860"/>
          </a:xfrm>
        </p:grpSpPr>
        <p:sp>
          <p:nvSpPr>
            <p:cNvPr id="5" name="Freeform 5"/>
            <p:cNvSpPr/>
            <p:nvPr/>
          </p:nvSpPr>
          <p:spPr>
            <a:xfrm>
              <a:off x="0" y="0"/>
              <a:ext cx="2774950" cy="3625850"/>
            </a:xfrm>
            <a:custGeom>
              <a:avLst/>
              <a:gdLst/>
              <a:ahLst/>
              <a:cxnLst/>
              <a:rect l="l" t="t" r="r" b="b"/>
              <a:pathLst>
                <a:path w="2774950" h="3625850">
                  <a:moveTo>
                    <a:pt x="0" y="0"/>
                  </a:moveTo>
                  <a:lnTo>
                    <a:pt x="2774950" y="0"/>
                  </a:lnTo>
                  <a:lnTo>
                    <a:pt x="2774950" y="3625850"/>
                  </a:lnTo>
                  <a:lnTo>
                    <a:pt x="0" y="3625850"/>
                  </a:lnTo>
                  <a:lnTo>
                    <a:pt x="0" y="0"/>
                  </a:lnTo>
                  <a:close/>
                </a:path>
              </a:pathLst>
            </a:custGeom>
            <a:blipFill>
              <a:blip r:embed="rId4"/>
              <a:stretch>
                <a:fillRect r="2"/>
              </a:stretch>
            </a:blipFill>
          </p:spPr>
        </p:sp>
      </p:grpSp>
      <p:grpSp>
        <p:nvGrpSpPr>
          <p:cNvPr id="6" name="Group 6"/>
          <p:cNvGrpSpPr/>
          <p:nvPr/>
        </p:nvGrpSpPr>
        <p:grpSpPr>
          <a:xfrm>
            <a:off x="1051793" y="-66675"/>
            <a:ext cx="28780" cy="7674670"/>
            <a:chOff x="0" y="0"/>
            <a:chExt cx="38373" cy="10232893"/>
          </a:xfrm>
        </p:grpSpPr>
        <p:sp>
          <p:nvSpPr>
            <p:cNvPr id="7" name="Freeform 7"/>
            <p:cNvSpPr/>
            <p:nvPr/>
          </p:nvSpPr>
          <p:spPr>
            <a:xfrm>
              <a:off x="0" y="0"/>
              <a:ext cx="38354" cy="10232898"/>
            </a:xfrm>
            <a:custGeom>
              <a:avLst/>
              <a:gdLst/>
              <a:ahLst/>
              <a:cxnLst/>
              <a:rect l="l" t="t" r="r" b="b"/>
              <a:pathLst>
                <a:path w="38354" h="10232898">
                  <a:moveTo>
                    <a:pt x="0" y="0"/>
                  </a:moveTo>
                  <a:lnTo>
                    <a:pt x="38354" y="0"/>
                  </a:lnTo>
                  <a:lnTo>
                    <a:pt x="38354" y="10232898"/>
                  </a:lnTo>
                  <a:lnTo>
                    <a:pt x="0" y="10232898"/>
                  </a:lnTo>
                  <a:lnTo>
                    <a:pt x="0" y="0"/>
                  </a:lnTo>
                  <a:close/>
                </a:path>
              </a:pathLst>
            </a:custGeom>
            <a:blipFill>
              <a:blip r:embed="rId5"/>
              <a:stretch>
                <a:fillRect t="-2187" r="-50" b="-2187"/>
              </a:stretch>
            </a:blipFill>
          </p:spPr>
        </p:sp>
      </p:grpSp>
      <p:grpSp>
        <p:nvGrpSpPr>
          <p:cNvPr id="8" name="Group 8"/>
          <p:cNvGrpSpPr/>
          <p:nvPr/>
        </p:nvGrpSpPr>
        <p:grpSpPr>
          <a:xfrm>
            <a:off x="528062" y="8497787"/>
            <a:ext cx="1135268" cy="952679"/>
            <a:chOff x="0" y="0"/>
            <a:chExt cx="1513691" cy="1270239"/>
          </a:xfrm>
        </p:grpSpPr>
        <p:sp>
          <p:nvSpPr>
            <p:cNvPr id="9" name="Freeform 9"/>
            <p:cNvSpPr/>
            <p:nvPr/>
          </p:nvSpPr>
          <p:spPr>
            <a:xfrm>
              <a:off x="0" y="0"/>
              <a:ext cx="1513713" cy="1270254"/>
            </a:xfrm>
            <a:custGeom>
              <a:avLst/>
              <a:gdLst/>
              <a:ahLst/>
              <a:cxnLst/>
              <a:rect l="l" t="t" r="r" b="b"/>
              <a:pathLst>
                <a:path w="1513713" h="1270254">
                  <a:moveTo>
                    <a:pt x="0" y="0"/>
                  </a:moveTo>
                  <a:lnTo>
                    <a:pt x="1513713" y="0"/>
                  </a:lnTo>
                  <a:lnTo>
                    <a:pt x="1513713" y="1270254"/>
                  </a:lnTo>
                  <a:lnTo>
                    <a:pt x="0" y="1270254"/>
                  </a:lnTo>
                  <a:lnTo>
                    <a:pt x="0" y="0"/>
                  </a:lnTo>
                  <a:close/>
                </a:path>
              </a:pathLst>
            </a:custGeom>
            <a:blipFill>
              <a:blip r:embed="rId6"/>
              <a:stretch>
                <a:fillRect l="-5675" r="-5673" b="1"/>
              </a:stretch>
            </a:blipFill>
          </p:spPr>
        </p:sp>
      </p:grpSp>
      <p:grpSp>
        <p:nvGrpSpPr>
          <p:cNvPr id="10" name="Group 10"/>
          <p:cNvGrpSpPr/>
          <p:nvPr/>
        </p:nvGrpSpPr>
        <p:grpSpPr>
          <a:xfrm>
            <a:off x="2035421" y="513452"/>
            <a:ext cx="13950236" cy="1601463"/>
            <a:chOff x="0" y="0"/>
            <a:chExt cx="18600315" cy="2135284"/>
          </a:xfrm>
        </p:grpSpPr>
        <p:sp>
          <p:nvSpPr>
            <p:cNvPr id="11" name="Freeform 11"/>
            <p:cNvSpPr/>
            <p:nvPr/>
          </p:nvSpPr>
          <p:spPr>
            <a:xfrm>
              <a:off x="0" y="0"/>
              <a:ext cx="18600293" cy="2135251"/>
            </a:xfrm>
            <a:custGeom>
              <a:avLst/>
              <a:gdLst/>
              <a:ahLst/>
              <a:cxnLst/>
              <a:rect l="l" t="t" r="r" b="b"/>
              <a:pathLst>
                <a:path w="18600293" h="2135251">
                  <a:moveTo>
                    <a:pt x="0" y="0"/>
                  </a:moveTo>
                  <a:lnTo>
                    <a:pt x="18600293" y="0"/>
                  </a:lnTo>
                  <a:lnTo>
                    <a:pt x="18600293" y="2135251"/>
                  </a:lnTo>
                  <a:lnTo>
                    <a:pt x="0" y="2135251"/>
                  </a:lnTo>
                  <a:lnTo>
                    <a:pt x="0" y="0"/>
                  </a:lnTo>
                  <a:close/>
                </a:path>
              </a:pathLst>
            </a:custGeom>
            <a:blipFill>
              <a:blip r:embed="rId7"/>
              <a:stretch>
                <a:fillRect t="-64136" b="-64138"/>
              </a:stretch>
            </a:blipFill>
          </p:spPr>
        </p:sp>
      </p:grpSp>
      <p:sp>
        <p:nvSpPr>
          <p:cNvPr id="12" name="Freeform 12"/>
          <p:cNvSpPr/>
          <p:nvPr/>
        </p:nvSpPr>
        <p:spPr>
          <a:xfrm>
            <a:off x="7421291" y="4102254"/>
            <a:ext cx="3445418" cy="3337749"/>
          </a:xfrm>
          <a:custGeom>
            <a:avLst/>
            <a:gdLst/>
            <a:ahLst/>
            <a:cxnLst/>
            <a:rect l="l" t="t" r="r" b="b"/>
            <a:pathLst>
              <a:path w="3445418" h="3337749">
                <a:moveTo>
                  <a:pt x="0" y="0"/>
                </a:moveTo>
                <a:lnTo>
                  <a:pt x="3445418" y="0"/>
                </a:lnTo>
                <a:lnTo>
                  <a:pt x="3445418" y="3337749"/>
                </a:lnTo>
                <a:lnTo>
                  <a:pt x="0" y="3337749"/>
                </a:lnTo>
                <a:lnTo>
                  <a:pt x="0" y="0"/>
                </a:lnTo>
                <a:close/>
              </a:path>
            </a:pathLst>
          </a:custGeom>
          <a:blipFill>
            <a:blip r:embed="rId8">
              <a:extLst>
                <a:ext uri="{96DAC541-7B7A-43D3-8B79-37D633B846F1}">
                  <asvg:svgBlip xmlns:asvg="http://schemas.microsoft.com/office/drawing/2016/SVG/main" xmlns="" r:embed="rId9"/>
                </a:ext>
              </a:extLst>
            </a:blip>
            <a:stretch>
              <a:fillRect l="-93" r="-93"/>
            </a:stretch>
          </a:blipFill>
        </p:spPr>
      </p:sp>
      <p:sp>
        <p:nvSpPr>
          <p:cNvPr id="13" name="Freeform 13"/>
          <p:cNvSpPr/>
          <p:nvPr/>
        </p:nvSpPr>
        <p:spPr>
          <a:xfrm>
            <a:off x="9144000" y="6662015"/>
            <a:ext cx="905590" cy="905590"/>
          </a:xfrm>
          <a:custGeom>
            <a:avLst/>
            <a:gdLst/>
            <a:ahLst/>
            <a:cxnLst/>
            <a:rect l="l" t="t" r="r" b="b"/>
            <a:pathLst>
              <a:path w="905590" h="905590">
                <a:moveTo>
                  <a:pt x="0" y="0"/>
                </a:moveTo>
                <a:lnTo>
                  <a:pt x="905590" y="0"/>
                </a:lnTo>
                <a:lnTo>
                  <a:pt x="905590" y="905590"/>
                </a:lnTo>
                <a:lnTo>
                  <a:pt x="0" y="905590"/>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grpSp>
        <p:nvGrpSpPr>
          <p:cNvPr id="14" name="Group 14"/>
          <p:cNvGrpSpPr/>
          <p:nvPr/>
        </p:nvGrpSpPr>
        <p:grpSpPr>
          <a:xfrm>
            <a:off x="1931885" y="3375341"/>
            <a:ext cx="4476365" cy="1013124"/>
            <a:chOff x="0" y="0"/>
            <a:chExt cx="5968487" cy="1350832"/>
          </a:xfrm>
        </p:grpSpPr>
        <p:sp>
          <p:nvSpPr>
            <p:cNvPr id="15" name="Freeform 15"/>
            <p:cNvSpPr/>
            <p:nvPr/>
          </p:nvSpPr>
          <p:spPr>
            <a:xfrm>
              <a:off x="0" y="0"/>
              <a:ext cx="5968492" cy="1350772"/>
            </a:xfrm>
            <a:custGeom>
              <a:avLst/>
              <a:gdLst/>
              <a:ahLst/>
              <a:cxnLst/>
              <a:rect l="l" t="t" r="r" b="b"/>
              <a:pathLst>
                <a:path w="5968492" h="1350772">
                  <a:moveTo>
                    <a:pt x="446532" y="0"/>
                  </a:moveTo>
                  <a:lnTo>
                    <a:pt x="5521960" y="0"/>
                  </a:lnTo>
                  <a:cubicBezTo>
                    <a:pt x="5768594" y="0"/>
                    <a:pt x="5968492" y="199898"/>
                    <a:pt x="5968492" y="446532"/>
                  </a:cubicBezTo>
                  <a:lnTo>
                    <a:pt x="5968492" y="904240"/>
                  </a:lnTo>
                  <a:cubicBezTo>
                    <a:pt x="5968492" y="1150874"/>
                    <a:pt x="5768594" y="1350772"/>
                    <a:pt x="5521960" y="1350772"/>
                  </a:cubicBezTo>
                  <a:lnTo>
                    <a:pt x="446532" y="1350772"/>
                  </a:lnTo>
                  <a:cubicBezTo>
                    <a:pt x="199898" y="1350772"/>
                    <a:pt x="0" y="1150874"/>
                    <a:pt x="0" y="904240"/>
                  </a:cubicBezTo>
                  <a:lnTo>
                    <a:pt x="0" y="446532"/>
                  </a:lnTo>
                  <a:cubicBezTo>
                    <a:pt x="0" y="199898"/>
                    <a:pt x="199898" y="0"/>
                    <a:pt x="446532" y="0"/>
                  </a:cubicBezTo>
                  <a:close/>
                </a:path>
              </a:pathLst>
            </a:custGeom>
            <a:solidFill>
              <a:srgbClr val="CC9EA7"/>
            </a:solidFill>
          </p:spPr>
        </p:sp>
      </p:grpSp>
      <p:grpSp>
        <p:nvGrpSpPr>
          <p:cNvPr id="16" name="Group 16"/>
          <p:cNvGrpSpPr/>
          <p:nvPr/>
        </p:nvGrpSpPr>
        <p:grpSpPr>
          <a:xfrm>
            <a:off x="1931885" y="3266845"/>
            <a:ext cx="4476365" cy="1121620"/>
            <a:chOff x="0" y="0"/>
            <a:chExt cx="5968487" cy="1495493"/>
          </a:xfrm>
        </p:grpSpPr>
        <p:sp>
          <p:nvSpPr>
            <p:cNvPr id="17" name="Freeform 17"/>
            <p:cNvSpPr/>
            <p:nvPr/>
          </p:nvSpPr>
          <p:spPr>
            <a:xfrm>
              <a:off x="0" y="0"/>
              <a:ext cx="5968487" cy="1495493"/>
            </a:xfrm>
            <a:custGeom>
              <a:avLst/>
              <a:gdLst/>
              <a:ahLst/>
              <a:cxnLst/>
              <a:rect l="l" t="t" r="r" b="b"/>
              <a:pathLst>
                <a:path w="5968487" h="1495493">
                  <a:moveTo>
                    <a:pt x="0" y="0"/>
                  </a:moveTo>
                  <a:lnTo>
                    <a:pt x="5968487" y="0"/>
                  </a:lnTo>
                  <a:lnTo>
                    <a:pt x="5968487" y="1495493"/>
                  </a:lnTo>
                  <a:lnTo>
                    <a:pt x="0" y="1495493"/>
                  </a:lnTo>
                  <a:close/>
                </a:path>
              </a:pathLst>
            </a:custGeom>
            <a:solidFill>
              <a:srgbClr val="000000">
                <a:alpha val="0"/>
              </a:srgbClr>
            </a:solidFill>
          </p:spPr>
        </p:sp>
        <p:sp>
          <p:nvSpPr>
            <p:cNvPr id="18" name="TextBox 18"/>
            <p:cNvSpPr txBox="1"/>
            <p:nvPr/>
          </p:nvSpPr>
          <p:spPr>
            <a:xfrm>
              <a:off x="0" y="-28575"/>
              <a:ext cx="5968487" cy="1524068"/>
            </a:xfrm>
            <a:prstGeom prst="rect">
              <a:avLst/>
            </a:prstGeom>
          </p:spPr>
          <p:txBody>
            <a:bodyPr lIns="0" tIns="0" rIns="0" bIns="0" rtlCol="0" anchor="ctr"/>
            <a:lstStyle/>
            <a:p>
              <a:pPr algn="ctr">
                <a:lnSpc>
                  <a:spcPts val="3250"/>
                </a:lnSpc>
              </a:pPr>
              <a:r>
                <a:rPr lang="en-US" sz="2500">
                  <a:solidFill>
                    <a:srgbClr val="000000"/>
                  </a:solidFill>
                  <a:latin typeface="TT Chocolates" panose="02000503020000020003"/>
                  <a:ea typeface="TT Chocolates" panose="02000503020000020003"/>
                  <a:cs typeface="TT Chocolates" panose="02000503020000020003"/>
                  <a:sym typeface="TT Chocolates" panose="02000503020000020003"/>
                </a:rPr>
                <a:t>GESTION DES UTILISATEURS</a:t>
              </a:r>
            </a:p>
          </p:txBody>
        </p:sp>
      </p:grpSp>
      <p:sp>
        <p:nvSpPr>
          <p:cNvPr id="19" name="TextBox 19"/>
          <p:cNvSpPr txBox="1"/>
          <p:nvPr/>
        </p:nvSpPr>
        <p:spPr>
          <a:xfrm rot="-5400000">
            <a:off x="-4693806" y="3397046"/>
            <a:ext cx="10281811" cy="943491"/>
          </a:xfrm>
          <a:prstGeom prst="rect">
            <a:avLst/>
          </a:prstGeom>
        </p:spPr>
        <p:txBody>
          <a:bodyPr lIns="0" tIns="0" rIns="0" bIns="0" rtlCol="0" anchor="t">
            <a:spAutoFit/>
          </a:bodyPr>
          <a:lstStyle/>
          <a:p>
            <a:pPr algn="ctr">
              <a:lnSpc>
                <a:spcPts val="6020"/>
              </a:lnSpc>
            </a:pPr>
            <a:r>
              <a:rPr lang="en-US" sz="4630">
                <a:solidFill>
                  <a:srgbClr val="004AAD"/>
                </a:solidFill>
                <a:latin typeface="The Seasons"/>
                <a:ea typeface="The Seasons"/>
                <a:cs typeface="The Seasons"/>
                <a:sym typeface="The Seasons"/>
              </a:rPr>
              <a:t>Solution proposée</a:t>
            </a:r>
          </a:p>
        </p:txBody>
      </p:sp>
      <p:sp>
        <p:nvSpPr>
          <p:cNvPr id="20" name="TextBox 20"/>
          <p:cNvSpPr txBox="1"/>
          <p:nvPr/>
        </p:nvSpPr>
        <p:spPr>
          <a:xfrm>
            <a:off x="918845" y="318879"/>
            <a:ext cx="15321681" cy="1100607"/>
          </a:xfrm>
          <a:prstGeom prst="rect">
            <a:avLst/>
          </a:prstGeom>
        </p:spPr>
        <p:txBody>
          <a:bodyPr lIns="0" tIns="0" rIns="0" bIns="0" rtlCol="0" anchor="t">
            <a:spAutoFit/>
          </a:bodyPr>
          <a:lstStyle/>
          <a:p>
            <a:pPr algn="ctr">
              <a:lnSpc>
                <a:spcPts val="8250"/>
              </a:lnSpc>
            </a:pPr>
            <a:r>
              <a:rPr lang="en-US" sz="6345">
                <a:solidFill>
                  <a:srgbClr val="004AAD"/>
                </a:solidFill>
                <a:latin typeface="The Seasons"/>
                <a:ea typeface="The Seasons"/>
                <a:cs typeface="The Seasons"/>
                <a:sym typeface="The Seasons"/>
              </a:rPr>
              <a:t>Solution proposée </a:t>
            </a:r>
          </a:p>
        </p:txBody>
      </p:sp>
      <p:sp>
        <p:nvSpPr>
          <p:cNvPr id="21" name="TextBox 21"/>
          <p:cNvSpPr txBox="1"/>
          <p:nvPr/>
        </p:nvSpPr>
        <p:spPr>
          <a:xfrm>
            <a:off x="6251912" y="7417495"/>
            <a:ext cx="5784175" cy="1318130"/>
          </a:xfrm>
          <a:prstGeom prst="rect">
            <a:avLst/>
          </a:prstGeom>
        </p:spPr>
        <p:txBody>
          <a:bodyPr lIns="0" tIns="0" rIns="0" bIns="0" rtlCol="0" anchor="t">
            <a:spAutoFit/>
          </a:bodyPr>
          <a:lstStyle/>
          <a:p>
            <a:pPr algn="ctr">
              <a:lnSpc>
                <a:spcPts val="5070"/>
              </a:lnSpc>
            </a:pPr>
            <a:r>
              <a:rPr lang="en-US" sz="3900" b="1">
                <a:solidFill>
                  <a:srgbClr val="004AAD"/>
                </a:solidFill>
                <a:latin typeface="The Seasons Bold"/>
                <a:ea typeface="The Seasons Bold"/>
                <a:cs typeface="The Seasons Bold"/>
                <a:sym typeface="The Seasons Bold"/>
              </a:rPr>
              <a:t>Fonctionnalités principales</a:t>
            </a:r>
          </a:p>
        </p:txBody>
      </p:sp>
      <p:grpSp>
        <p:nvGrpSpPr>
          <p:cNvPr id="22" name="Group 22"/>
          <p:cNvGrpSpPr/>
          <p:nvPr/>
        </p:nvGrpSpPr>
        <p:grpSpPr>
          <a:xfrm>
            <a:off x="11866834" y="3140273"/>
            <a:ext cx="4354480" cy="1013124"/>
            <a:chOff x="0" y="0"/>
            <a:chExt cx="5805973" cy="1350832"/>
          </a:xfrm>
        </p:grpSpPr>
        <p:sp>
          <p:nvSpPr>
            <p:cNvPr id="23" name="Freeform 23"/>
            <p:cNvSpPr/>
            <p:nvPr/>
          </p:nvSpPr>
          <p:spPr>
            <a:xfrm>
              <a:off x="0" y="0"/>
              <a:ext cx="5806059" cy="1350899"/>
            </a:xfrm>
            <a:custGeom>
              <a:avLst/>
              <a:gdLst/>
              <a:ahLst/>
              <a:cxnLst/>
              <a:rect l="l" t="t" r="r" b="b"/>
              <a:pathLst>
                <a:path w="5806059" h="1350899">
                  <a:moveTo>
                    <a:pt x="458978" y="0"/>
                  </a:moveTo>
                  <a:lnTo>
                    <a:pt x="5346954" y="0"/>
                  </a:lnTo>
                  <a:cubicBezTo>
                    <a:pt x="5468747" y="0"/>
                    <a:pt x="5585460" y="48387"/>
                    <a:pt x="5671566" y="134493"/>
                  </a:cubicBezTo>
                  <a:cubicBezTo>
                    <a:pt x="5757672" y="220599"/>
                    <a:pt x="5806059" y="337312"/>
                    <a:pt x="5806059" y="459105"/>
                  </a:cubicBezTo>
                  <a:lnTo>
                    <a:pt x="5806059" y="891794"/>
                  </a:lnTo>
                  <a:cubicBezTo>
                    <a:pt x="5806059" y="1013587"/>
                    <a:pt x="5757672" y="1130300"/>
                    <a:pt x="5671566" y="1216406"/>
                  </a:cubicBezTo>
                  <a:cubicBezTo>
                    <a:pt x="5585460" y="1302512"/>
                    <a:pt x="5468747" y="1350899"/>
                    <a:pt x="5346954" y="1350899"/>
                  </a:cubicBezTo>
                  <a:lnTo>
                    <a:pt x="458978" y="1350899"/>
                  </a:lnTo>
                  <a:cubicBezTo>
                    <a:pt x="337185" y="1350899"/>
                    <a:pt x="220472" y="1302512"/>
                    <a:pt x="134366" y="1216406"/>
                  </a:cubicBezTo>
                  <a:cubicBezTo>
                    <a:pt x="48260" y="1130300"/>
                    <a:pt x="0" y="1013587"/>
                    <a:pt x="0" y="891794"/>
                  </a:cubicBezTo>
                  <a:lnTo>
                    <a:pt x="0" y="458978"/>
                  </a:lnTo>
                  <a:cubicBezTo>
                    <a:pt x="0" y="337185"/>
                    <a:pt x="48387" y="220472"/>
                    <a:pt x="134493" y="134366"/>
                  </a:cubicBezTo>
                  <a:cubicBezTo>
                    <a:pt x="220599" y="48260"/>
                    <a:pt x="337312" y="0"/>
                    <a:pt x="458978" y="0"/>
                  </a:cubicBezTo>
                  <a:close/>
                </a:path>
              </a:pathLst>
            </a:custGeom>
            <a:solidFill>
              <a:srgbClr val="CC9EA7"/>
            </a:solidFill>
          </p:spPr>
        </p:sp>
      </p:grpSp>
      <p:grpSp>
        <p:nvGrpSpPr>
          <p:cNvPr id="24" name="Group 24"/>
          <p:cNvGrpSpPr/>
          <p:nvPr/>
        </p:nvGrpSpPr>
        <p:grpSpPr>
          <a:xfrm>
            <a:off x="11866834" y="3031777"/>
            <a:ext cx="4354480" cy="1121620"/>
            <a:chOff x="0" y="0"/>
            <a:chExt cx="5805973" cy="1495493"/>
          </a:xfrm>
        </p:grpSpPr>
        <p:sp>
          <p:nvSpPr>
            <p:cNvPr id="25" name="Freeform 25"/>
            <p:cNvSpPr/>
            <p:nvPr/>
          </p:nvSpPr>
          <p:spPr>
            <a:xfrm>
              <a:off x="0" y="0"/>
              <a:ext cx="5805974" cy="1495493"/>
            </a:xfrm>
            <a:custGeom>
              <a:avLst/>
              <a:gdLst/>
              <a:ahLst/>
              <a:cxnLst/>
              <a:rect l="l" t="t" r="r" b="b"/>
              <a:pathLst>
                <a:path w="5805974" h="1495493">
                  <a:moveTo>
                    <a:pt x="0" y="0"/>
                  </a:moveTo>
                  <a:lnTo>
                    <a:pt x="5805974" y="0"/>
                  </a:lnTo>
                  <a:lnTo>
                    <a:pt x="5805974" y="1495493"/>
                  </a:lnTo>
                  <a:lnTo>
                    <a:pt x="0" y="1495493"/>
                  </a:lnTo>
                  <a:close/>
                </a:path>
              </a:pathLst>
            </a:custGeom>
            <a:solidFill>
              <a:srgbClr val="000000">
                <a:alpha val="0"/>
              </a:srgbClr>
            </a:solidFill>
          </p:spPr>
        </p:sp>
        <p:sp>
          <p:nvSpPr>
            <p:cNvPr id="26" name="TextBox 26"/>
            <p:cNvSpPr txBox="1"/>
            <p:nvPr/>
          </p:nvSpPr>
          <p:spPr>
            <a:xfrm>
              <a:off x="0" y="-28575"/>
              <a:ext cx="5805973" cy="1524068"/>
            </a:xfrm>
            <a:prstGeom prst="rect">
              <a:avLst/>
            </a:prstGeom>
          </p:spPr>
          <p:txBody>
            <a:bodyPr lIns="0" tIns="0" rIns="0" bIns="0" rtlCol="0" anchor="ctr"/>
            <a:lstStyle/>
            <a:p>
              <a:pPr algn="ctr">
                <a:lnSpc>
                  <a:spcPts val="3250"/>
                </a:lnSpc>
              </a:pPr>
              <a:r>
                <a:rPr lang="en-US" sz="2500">
                  <a:solidFill>
                    <a:srgbClr val="000000"/>
                  </a:solidFill>
                  <a:latin typeface="TT Chocolates" panose="02000503020000020003"/>
                  <a:ea typeface="TT Chocolates" panose="02000503020000020003"/>
                  <a:cs typeface="TT Chocolates" panose="02000503020000020003"/>
                  <a:sym typeface="TT Chocolates" panose="02000503020000020003"/>
                </a:rPr>
                <a:t>ESPACE MARQUES</a:t>
              </a:r>
            </a:p>
          </p:txBody>
        </p:sp>
      </p:grpSp>
      <p:grpSp>
        <p:nvGrpSpPr>
          <p:cNvPr id="27" name="Group 27"/>
          <p:cNvGrpSpPr/>
          <p:nvPr/>
        </p:nvGrpSpPr>
        <p:grpSpPr>
          <a:xfrm>
            <a:off x="1733815" y="5648891"/>
            <a:ext cx="4476365" cy="1013124"/>
            <a:chOff x="0" y="0"/>
            <a:chExt cx="5968487" cy="1350832"/>
          </a:xfrm>
        </p:grpSpPr>
        <p:sp>
          <p:nvSpPr>
            <p:cNvPr id="28" name="Freeform 28"/>
            <p:cNvSpPr/>
            <p:nvPr/>
          </p:nvSpPr>
          <p:spPr>
            <a:xfrm>
              <a:off x="0" y="0"/>
              <a:ext cx="5968492" cy="1350772"/>
            </a:xfrm>
            <a:custGeom>
              <a:avLst/>
              <a:gdLst/>
              <a:ahLst/>
              <a:cxnLst/>
              <a:rect l="l" t="t" r="r" b="b"/>
              <a:pathLst>
                <a:path w="5968492" h="1350772">
                  <a:moveTo>
                    <a:pt x="446532" y="0"/>
                  </a:moveTo>
                  <a:lnTo>
                    <a:pt x="5521960" y="0"/>
                  </a:lnTo>
                  <a:cubicBezTo>
                    <a:pt x="5768594" y="0"/>
                    <a:pt x="5968492" y="199898"/>
                    <a:pt x="5968492" y="446532"/>
                  </a:cubicBezTo>
                  <a:lnTo>
                    <a:pt x="5968492" y="904240"/>
                  </a:lnTo>
                  <a:cubicBezTo>
                    <a:pt x="5968492" y="1150874"/>
                    <a:pt x="5768594" y="1350772"/>
                    <a:pt x="5521960" y="1350772"/>
                  </a:cubicBezTo>
                  <a:lnTo>
                    <a:pt x="446532" y="1350772"/>
                  </a:lnTo>
                  <a:cubicBezTo>
                    <a:pt x="199898" y="1350772"/>
                    <a:pt x="0" y="1150874"/>
                    <a:pt x="0" y="904240"/>
                  </a:cubicBezTo>
                  <a:lnTo>
                    <a:pt x="0" y="446532"/>
                  </a:lnTo>
                  <a:cubicBezTo>
                    <a:pt x="0" y="199898"/>
                    <a:pt x="199898" y="0"/>
                    <a:pt x="446532" y="0"/>
                  </a:cubicBezTo>
                  <a:close/>
                </a:path>
              </a:pathLst>
            </a:custGeom>
            <a:solidFill>
              <a:srgbClr val="CC9EA7"/>
            </a:solidFill>
          </p:spPr>
        </p:sp>
      </p:grpSp>
      <p:grpSp>
        <p:nvGrpSpPr>
          <p:cNvPr id="29" name="Group 29"/>
          <p:cNvGrpSpPr/>
          <p:nvPr/>
        </p:nvGrpSpPr>
        <p:grpSpPr>
          <a:xfrm>
            <a:off x="1733815" y="5540395"/>
            <a:ext cx="4476365" cy="1121620"/>
            <a:chOff x="0" y="0"/>
            <a:chExt cx="5968487" cy="1495493"/>
          </a:xfrm>
        </p:grpSpPr>
        <p:sp>
          <p:nvSpPr>
            <p:cNvPr id="30" name="Freeform 30"/>
            <p:cNvSpPr/>
            <p:nvPr/>
          </p:nvSpPr>
          <p:spPr>
            <a:xfrm>
              <a:off x="0" y="0"/>
              <a:ext cx="5968487" cy="1495493"/>
            </a:xfrm>
            <a:custGeom>
              <a:avLst/>
              <a:gdLst/>
              <a:ahLst/>
              <a:cxnLst/>
              <a:rect l="l" t="t" r="r" b="b"/>
              <a:pathLst>
                <a:path w="5968487" h="1495493">
                  <a:moveTo>
                    <a:pt x="0" y="0"/>
                  </a:moveTo>
                  <a:lnTo>
                    <a:pt x="5968487" y="0"/>
                  </a:lnTo>
                  <a:lnTo>
                    <a:pt x="5968487" y="1495493"/>
                  </a:lnTo>
                  <a:lnTo>
                    <a:pt x="0" y="1495493"/>
                  </a:lnTo>
                  <a:close/>
                </a:path>
              </a:pathLst>
            </a:custGeom>
            <a:solidFill>
              <a:srgbClr val="000000">
                <a:alpha val="0"/>
              </a:srgbClr>
            </a:solidFill>
          </p:spPr>
        </p:sp>
        <p:sp>
          <p:nvSpPr>
            <p:cNvPr id="31" name="TextBox 31"/>
            <p:cNvSpPr txBox="1"/>
            <p:nvPr/>
          </p:nvSpPr>
          <p:spPr>
            <a:xfrm>
              <a:off x="0" y="-28575"/>
              <a:ext cx="5968487" cy="1524068"/>
            </a:xfrm>
            <a:prstGeom prst="rect">
              <a:avLst/>
            </a:prstGeom>
          </p:spPr>
          <p:txBody>
            <a:bodyPr lIns="0" tIns="0" rIns="0" bIns="0" rtlCol="0" anchor="ctr"/>
            <a:lstStyle/>
            <a:p>
              <a:pPr algn="ctr">
                <a:lnSpc>
                  <a:spcPts val="3250"/>
                </a:lnSpc>
              </a:pPr>
              <a:r>
                <a:rPr lang="en-US" sz="2500">
                  <a:solidFill>
                    <a:srgbClr val="000000"/>
                  </a:solidFill>
                  <a:latin typeface="TT Chocolates" panose="02000503020000020003"/>
                  <a:ea typeface="TT Chocolates" panose="02000503020000020003"/>
                  <a:cs typeface="TT Chocolates" panose="02000503020000020003"/>
                  <a:sym typeface="TT Chocolates" panose="02000503020000020003"/>
                </a:rPr>
                <a:t>ESPACE INFLUENCEURS</a:t>
              </a:r>
            </a:p>
          </p:txBody>
        </p:sp>
      </p:grpSp>
      <p:grpSp>
        <p:nvGrpSpPr>
          <p:cNvPr id="32" name="Group 32"/>
          <p:cNvGrpSpPr/>
          <p:nvPr/>
        </p:nvGrpSpPr>
        <p:grpSpPr>
          <a:xfrm>
            <a:off x="12475957" y="5521624"/>
            <a:ext cx="4354480" cy="1013124"/>
            <a:chOff x="0" y="0"/>
            <a:chExt cx="5805973" cy="1350832"/>
          </a:xfrm>
        </p:grpSpPr>
        <p:sp>
          <p:nvSpPr>
            <p:cNvPr id="33" name="Freeform 33"/>
            <p:cNvSpPr/>
            <p:nvPr/>
          </p:nvSpPr>
          <p:spPr>
            <a:xfrm>
              <a:off x="0" y="0"/>
              <a:ext cx="5806059" cy="1350899"/>
            </a:xfrm>
            <a:custGeom>
              <a:avLst/>
              <a:gdLst/>
              <a:ahLst/>
              <a:cxnLst/>
              <a:rect l="l" t="t" r="r" b="b"/>
              <a:pathLst>
                <a:path w="5806059" h="1350899">
                  <a:moveTo>
                    <a:pt x="458978" y="0"/>
                  </a:moveTo>
                  <a:lnTo>
                    <a:pt x="5346954" y="0"/>
                  </a:lnTo>
                  <a:cubicBezTo>
                    <a:pt x="5468747" y="0"/>
                    <a:pt x="5585460" y="48387"/>
                    <a:pt x="5671566" y="134493"/>
                  </a:cubicBezTo>
                  <a:cubicBezTo>
                    <a:pt x="5757672" y="220599"/>
                    <a:pt x="5806059" y="337312"/>
                    <a:pt x="5806059" y="459105"/>
                  </a:cubicBezTo>
                  <a:lnTo>
                    <a:pt x="5806059" y="891794"/>
                  </a:lnTo>
                  <a:cubicBezTo>
                    <a:pt x="5806059" y="1013587"/>
                    <a:pt x="5757672" y="1130300"/>
                    <a:pt x="5671566" y="1216406"/>
                  </a:cubicBezTo>
                  <a:cubicBezTo>
                    <a:pt x="5585460" y="1302512"/>
                    <a:pt x="5468747" y="1350899"/>
                    <a:pt x="5346954" y="1350899"/>
                  </a:cubicBezTo>
                  <a:lnTo>
                    <a:pt x="458978" y="1350899"/>
                  </a:lnTo>
                  <a:cubicBezTo>
                    <a:pt x="337185" y="1350899"/>
                    <a:pt x="220472" y="1302512"/>
                    <a:pt x="134366" y="1216406"/>
                  </a:cubicBezTo>
                  <a:cubicBezTo>
                    <a:pt x="48260" y="1130300"/>
                    <a:pt x="0" y="1013587"/>
                    <a:pt x="0" y="891794"/>
                  </a:cubicBezTo>
                  <a:lnTo>
                    <a:pt x="0" y="458978"/>
                  </a:lnTo>
                  <a:cubicBezTo>
                    <a:pt x="0" y="337185"/>
                    <a:pt x="48387" y="220472"/>
                    <a:pt x="134493" y="134366"/>
                  </a:cubicBezTo>
                  <a:cubicBezTo>
                    <a:pt x="220599" y="48260"/>
                    <a:pt x="337312" y="0"/>
                    <a:pt x="458978" y="0"/>
                  </a:cubicBezTo>
                  <a:close/>
                </a:path>
              </a:pathLst>
            </a:custGeom>
            <a:solidFill>
              <a:srgbClr val="CC9EA7"/>
            </a:solidFill>
          </p:spPr>
        </p:sp>
      </p:grpSp>
      <p:grpSp>
        <p:nvGrpSpPr>
          <p:cNvPr id="34" name="Group 34"/>
          <p:cNvGrpSpPr/>
          <p:nvPr/>
        </p:nvGrpSpPr>
        <p:grpSpPr>
          <a:xfrm>
            <a:off x="12475957" y="5413128"/>
            <a:ext cx="4354480" cy="1121620"/>
            <a:chOff x="0" y="0"/>
            <a:chExt cx="5805973" cy="1495493"/>
          </a:xfrm>
        </p:grpSpPr>
        <p:sp>
          <p:nvSpPr>
            <p:cNvPr id="35" name="Freeform 35"/>
            <p:cNvSpPr/>
            <p:nvPr/>
          </p:nvSpPr>
          <p:spPr>
            <a:xfrm>
              <a:off x="0" y="0"/>
              <a:ext cx="5805974" cy="1495493"/>
            </a:xfrm>
            <a:custGeom>
              <a:avLst/>
              <a:gdLst/>
              <a:ahLst/>
              <a:cxnLst/>
              <a:rect l="l" t="t" r="r" b="b"/>
              <a:pathLst>
                <a:path w="5805974" h="1495493">
                  <a:moveTo>
                    <a:pt x="0" y="0"/>
                  </a:moveTo>
                  <a:lnTo>
                    <a:pt x="5805974" y="0"/>
                  </a:lnTo>
                  <a:lnTo>
                    <a:pt x="5805974" y="1495493"/>
                  </a:lnTo>
                  <a:lnTo>
                    <a:pt x="0" y="1495493"/>
                  </a:lnTo>
                  <a:close/>
                </a:path>
              </a:pathLst>
            </a:custGeom>
            <a:solidFill>
              <a:srgbClr val="000000">
                <a:alpha val="0"/>
              </a:srgbClr>
            </a:solidFill>
          </p:spPr>
        </p:sp>
        <p:sp>
          <p:nvSpPr>
            <p:cNvPr id="36" name="TextBox 36"/>
            <p:cNvSpPr txBox="1"/>
            <p:nvPr/>
          </p:nvSpPr>
          <p:spPr>
            <a:xfrm>
              <a:off x="0" y="-28575"/>
              <a:ext cx="5805973" cy="1524068"/>
            </a:xfrm>
            <a:prstGeom prst="rect">
              <a:avLst/>
            </a:prstGeom>
          </p:spPr>
          <p:txBody>
            <a:bodyPr lIns="0" tIns="0" rIns="0" bIns="0" rtlCol="0" anchor="ctr"/>
            <a:lstStyle/>
            <a:p>
              <a:pPr algn="ctr">
                <a:lnSpc>
                  <a:spcPts val="3250"/>
                </a:lnSpc>
              </a:pPr>
              <a:r>
                <a:rPr lang="en-US" sz="2500">
                  <a:solidFill>
                    <a:srgbClr val="000000"/>
                  </a:solidFill>
                  <a:latin typeface="TT Chocolates" panose="02000503020000020003"/>
                  <a:ea typeface="TT Chocolates" panose="02000503020000020003"/>
                  <a:cs typeface="TT Chocolates" panose="02000503020000020003"/>
                  <a:sym typeface="TT Chocolates" panose="02000503020000020003"/>
                </a:rPr>
                <a:t>SYSTÈME DE PAIEMENT INTÉGRÉ</a:t>
              </a:r>
            </a:p>
          </p:txBody>
        </p:sp>
      </p:grpSp>
      <p:sp>
        <p:nvSpPr>
          <p:cNvPr id="37" name="Freeform 37"/>
          <p:cNvSpPr/>
          <p:nvPr/>
        </p:nvSpPr>
        <p:spPr>
          <a:xfrm rot="-2311796">
            <a:off x="10507380" y="3793906"/>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12">
              <a:extLst>
                <a:ext uri="{96DAC541-7B7A-43D3-8B79-37D633B846F1}">
                  <asvg:svgBlip xmlns:asvg="http://schemas.microsoft.com/office/drawing/2016/SVG/main" xmlns="" r:embed="rId13"/>
                </a:ext>
              </a:extLst>
            </a:blip>
            <a:stretch>
              <a:fillRect t="-673" b="-673"/>
            </a:stretch>
          </a:blipFill>
        </p:spPr>
      </p:sp>
      <p:sp>
        <p:nvSpPr>
          <p:cNvPr id="38" name="Freeform 38"/>
          <p:cNvSpPr/>
          <p:nvPr/>
        </p:nvSpPr>
        <p:spPr>
          <a:xfrm rot="-10800000">
            <a:off x="6408250" y="5903687"/>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12">
              <a:extLst>
                <a:ext uri="{96DAC541-7B7A-43D3-8B79-37D633B846F1}">
                  <asvg:svgBlip xmlns:asvg="http://schemas.microsoft.com/office/drawing/2016/SVG/main" xmlns="" r:embed="rId13"/>
                </a:ext>
              </a:extLst>
            </a:blip>
            <a:stretch>
              <a:fillRect t="-673" b="-673"/>
            </a:stretch>
          </a:blipFill>
        </p:spPr>
      </p:sp>
      <p:sp>
        <p:nvSpPr>
          <p:cNvPr id="39" name="Freeform 39"/>
          <p:cNvSpPr/>
          <p:nvPr/>
        </p:nvSpPr>
        <p:spPr>
          <a:xfrm rot="119648">
            <a:off x="10902984" y="5589770"/>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12">
              <a:extLst>
                <a:ext uri="{96DAC541-7B7A-43D3-8B79-37D633B846F1}">
                  <asvg:svgBlip xmlns:asvg="http://schemas.microsoft.com/office/drawing/2016/SVG/main" xmlns="" r:embed="rId13"/>
                </a:ext>
              </a:extLst>
            </a:blip>
            <a:stretch>
              <a:fillRect t="-673" b="-673"/>
            </a:stretch>
          </a:blipFill>
        </p:spPr>
      </p:sp>
      <p:sp>
        <p:nvSpPr>
          <p:cNvPr id="40" name="Freeform 40"/>
          <p:cNvSpPr/>
          <p:nvPr/>
        </p:nvSpPr>
        <p:spPr>
          <a:xfrm rot="-8884639">
            <a:off x="6542259" y="4078705"/>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12">
              <a:extLst>
                <a:ext uri="{96DAC541-7B7A-43D3-8B79-37D633B846F1}">
                  <asvg:svgBlip xmlns:asvg="http://schemas.microsoft.com/office/drawing/2016/SVG/main" xmlns="" r:embed="rId13"/>
                </a:ext>
              </a:extLst>
            </a:blip>
            <a:stretch>
              <a:fillRect t="-673" b="-673"/>
            </a:stretch>
          </a:blipFill>
        </p:spPr>
      </p:sp>
      <p:sp>
        <p:nvSpPr>
          <p:cNvPr id="41" name="TextBox 41"/>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4E5E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16902" y="3131735"/>
            <a:ext cx="14908931" cy="4023531"/>
            <a:chOff x="0" y="0"/>
            <a:chExt cx="19878575" cy="5364708"/>
          </a:xfrm>
        </p:grpSpPr>
        <p:sp>
          <p:nvSpPr>
            <p:cNvPr id="5" name="Freeform 5"/>
            <p:cNvSpPr/>
            <p:nvPr/>
          </p:nvSpPr>
          <p:spPr>
            <a:xfrm>
              <a:off x="0" y="0"/>
              <a:ext cx="19878548" cy="5364734"/>
            </a:xfrm>
            <a:custGeom>
              <a:avLst/>
              <a:gdLst/>
              <a:ahLst/>
              <a:cxnLst/>
              <a:rect l="l" t="t" r="r" b="b"/>
              <a:pathLst>
                <a:path w="19878548" h="5364734">
                  <a:moveTo>
                    <a:pt x="0" y="0"/>
                  </a:moveTo>
                  <a:lnTo>
                    <a:pt x="19878548" y="0"/>
                  </a:lnTo>
                  <a:lnTo>
                    <a:pt x="19878548" y="5364734"/>
                  </a:lnTo>
                  <a:lnTo>
                    <a:pt x="0" y="5364734"/>
                  </a:lnTo>
                  <a:lnTo>
                    <a:pt x="0" y="0"/>
                  </a:lnTo>
                  <a:close/>
                </a:path>
              </a:pathLst>
            </a:custGeom>
            <a:blipFill>
              <a:blip r:embed="rId3"/>
              <a:stretch>
                <a:fillRect l="-46757" r="-46757"/>
              </a:stretch>
            </a:blipFill>
          </p:spPr>
        </p:sp>
      </p:grpSp>
      <p:grpSp>
        <p:nvGrpSpPr>
          <p:cNvPr id="6" name="Group 6"/>
          <p:cNvGrpSpPr/>
          <p:nvPr/>
        </p:nvGrpSpPr>
        <p:grpSpPr>
          <a:xfrm>
            <a:off x="10365889" y="1801175"/>
            <a:ext cx="7207027" cy="7217206"/>
            <a:chOff x="0" y="0"/>
            <a:chExt cx="9609369" cy="9622941"/>
          </a:xfrm>
        </p:grpSpPr>
        <p:sp>
          <p:nvSpPr>
            <p:cNvPr id="7" name="Freeform 7"/>
            <p:cNvSpPr/>
            <p:nvPr/>
          </p:nvSpPr>
          <p:spPr>
            <a:xfrm>
              <a:off x="0" y="0"/>
              <a:ext cx="9609328" cy="9622917"/>
            </a:xfrm>
            <a:custGeom>
              <a:avLst/>
              <a:gdLst/>
              <a:ahLst/>
              <a:cxnLst/>
              <a:rect l="l" t="t" r="r" b="b"/>
              <a:pathLst>
                <a:path w="9609328" h="9622917">
                  <a:moveTo>
                    <a:pt x="0" y="0"/>
                  </a:moveTo>
                  <a:lnTo>
                    <a:pt x="9609328" y="0"/>
                  </a:lnTo>
                  <a:lnTo>
                    <a:pt x="9609328" y="9622917"/>
                  </a:lnTo>
                  <a:lnTo>
                    <a:pt x="0" y="9622917"/>
                  </a:lnTo>
                  <a:lnTo>
                    <a:pt x="0" y="0"/>
                  </a:lnTo>
                  <a:close/>
                </a:path>
              </a:pathLst>
            </a:custGeom>
            <a:blipFill>
              <a:blip r:embed="rId4"/>
              <a:stretch>
                <a:fillRect/>
              </a:stretch>
            </a:blipFill>
          </p:spPr>
        </p:sp>
      </p:grpSp>
      <p:sp>
        <p:nvSpPr>
          <p:cNvPr id="8" name="TextBox 8"/>
          <p:cNvSpPr txBox="1"/>
          <p:nvPr/>
        </p:nvSpPr>
        <p:spPr>
          <a:xfrm>
            <a:off x="-607401" y="3907182"/>
            <a:ext cx="12303573" cy="2022170"/>
          </a:xfrm>
          <a:prstGeom prst="rect">
            <a:avLst/>
          </a:prstGeom>
        </p:spPr>
        <p:txBody>
          <a:bodyPr lIns="0" tIns="0" rIns="0" bIns="0" rtlCol="0" anchor="t">
            <a:spAutoFit/>
          </a:bodyPr>
          <a:lstStyle/>
          <a:p>
            <a:pPr algn="ctr">
              <a:lnSpc>
                <a:spcPts val="7700"/>
              </a:lnSpc>
            </a:pPr>
            <a:r>
              <a:rPr lang="en-US" sz="5920" b="1">
                <a:solidFill>
                  <a:srgbClr val="004AAD"/>
                </a:solidFill>
                <a:latin typeface="The Seasons Bold"/>
                <a:ea typeface="The Seasons Bold"/>
                <a:cs typeface="The Seasons Bold"/>
                <a:sym typeface="The Seasons Bold"/>
              </a:rPr>
              <a:t>Méthodologie de travail  et Technologies utilisées</a:t>
            </a:r>
          </a:p>
        </p:txBody>
      </p:sp>
      <p:sp>
        <p:nvSpPr>
          <p:cNvPr id="9" name="TextBox 9"/>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l="-3849" r="-3849"/>
              </a:stretch>
            </a:blipFill>
          </p:spPr>
        </p:sp>
      </p:grpSp>
      <p:grpSp>
        <p:nvGrpSpPr>
          <p:cNvPr id="4" name="Group 4"/>
          <p:cNvGrpSpPr/>
          <p:nvPr/>
        </p:nvGrpSpPr>
        <p:grpSpPr>
          <a:xfrm>
            <a:off x="175895" y="8057218"/>
            <a:ext cx="1706465" cy="2229782"/>
            <a:chOff x="0" y="0"/>
            <a:chExt cx="2275287" cy="2973043"/>
          </a:xfrm>
        </p:grpSpPr>
        <p:sp>
          <p:nvSpPr>
            <p:cNvPr id="5" name="Freeform 5"/>
            <p:cNvSpPr/>
            <p:nvPr/>
          </p:nvSpPr>
          <p:spPr>
            <a:xfrm>
              <a:off x="0" y="0"/>
              <a:ext cx="2275332" cy="2973070"/>
            </a:xfrm>
            <a:custGeom>
              <a:avLst/>
              <a:gdLst/>
              <a:ahLst/>
              <a:cxnLst/>
              <a:rect l="l" t="t" r="r" b="b"/>
              <a:pathLst>
                <a:path w="2275332" h="2973070">
                  <a:moveTo>
                    <a:pt x="0" y="0"/>
                  </a:moveTo>
                  <a:lnTo>
                    <a:pt x="2275332" y="0"/>
                  </a:lnTo>
                  <a:lnTo>
                    <a:pt x="2275332" y="2973070"/>
                  </a:lnTo>
                  <a:lnTo>
                    <a:pt x="0" y="2973070"/>
                  </a:lnTo>
                  <a:lnTo>
                    <a:pt x="0" y="0"/>
                  </a:lnTo>
                  <a:close/>
                </a:path>
              </a:pathLst>
            </a:custGeom>
            <a:blipFill>
              <a:blip r:embed="rId4"/>
              <a:stretch>
                <a:fillRect l="-47" r="-45"/>
              </a:stretch>
            </a:blipFill>
          </p:spPr>
        </p:sp>
      </p:grpSp>
      <p:grpSp>
        <p:nvGrpSpPr>
          <p:cNvPr id="6" name="Group 6"/>
          <p:cNvGrpSpPr/>
          <p:nvPr/>
        </p:nvGrpSpPr>
        <p:grpSpPr>
          <a:xfrm>
            <a:off x="551038" y="8694448"/>
            <a:ext cx="955323" cy="955323"/>
            <a:chOff x="0" y="0"/>
            <a:chExt cx="1273764" cy="1273764"/>
          </a:xfrm>
        </p:grpSpPr>
        <p:sp>
          <p:nvSpPr>
            <p:cNvPr id="7" name="Freeform 7"/>
            <p:cNvSpPr/>
            <p:nvPr/>
          </p:nvSpPr>
          <p:spPr>
            <a:xfrm>
              <a:off x="0" y="0"/>
              <a:ext cx="1273810" cy="1273810"/>
            </a:xfrm>
            <a:custGeom>
              <a:avLst/>
              <a:gdLst/>
              <a:ahLst/>
              <a:cxnLst/>
              <a:rect l="l" t="t" r="r" b="b"/>
              <a:pathLst>
                <a:path w="1273810" h="1273810">
                  <a:moveTo>
                    <a:pt x="0" y="0"/>
                  </a:moveTo>
                  <a:lnTo>
                    <a:pt x="1273810" y="0"/>
                  </a:lnTo>
                  <a:lnTo>
                    <a:pt x="1273810" y="1273810"/>
                  </a:lnTo>
                  <a:lnTo>
                    <a:pt x="0" y="1273810"/>
                  </a:lnTo>
                  <a:lnTo>
                    <a:pt x="0" y="0"/>
                  </a:lnTo>
                  <a:close/>
                </a:path>
              </a:pathLst>
            </a:custGeom>
            <a:blipFill>
              <a:blip r:embed="rId5"/>
              <a:stretch>
                <a:fillRect r="3" b="3"/>
              </a:stretch>
            </a:blipFill>
          </p:spPr>
        </p:sp>
      </p:grpSp>
      <p:grpSp>
        <p:nvGrpSpPr>
          <p:cNvPr id="8" name="Group 8"/>
          <p:cNvGrpSpPr/>
          <p:nvPr/>
        </p:nvGrpSpPr>
        <p:grpSpPr>
          <a:xfrm>
            <a:off x="1002067" y="0"/>
            <a:ext cx="30215" cy="8057218"/>
            <a:chOff x="0" y="0"/>
            <a:chExt cx="40287" cy="10742957"/>
          </a:xfrm>
        </p:grpSpPr>
        <p:sp>
          <p:nvSpPr>
            <p:cNvPr id="9" name="Freeform 9"/>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6"/>
              <a:stretch>
                <a:fillRect t="-2188" r="-68" b="-2188"/>
              </a:stretch>
            </a:blipFill>
          </p:spPr>
        </p:sp>
      </p:grpSp>
      <p:grpSp>
        <p:nvGrpSpPr>
          <p:cNvPr id="10" name="Group 10"/>
          <p:cNvGrpSpPr/>
          <p:nvPr/>
        </p:nvGrpSpPr>
        <p:grpSpPr>
          <a:xfrm>
            <a:off x="878713" y="2332754"/>
            <a:ext cx="10915654" cy="5313925"/>
            <a:chOff x="0" y="0"/>
            <a:chExt cx="14554205" cy="7085233"/>
          </a:xfrm>
        </p:grpSpPr>
        <p:sp>
          <p:nvSpPr>
            <p:cNvPr id="11" name="Freeform 11"/>
            <p:cNvSpPr/>
            <p:nvPr/>
          </p:nvSpPr>
          <p:spPr>
            <a:xfrm>
              <a:off x="0" y="0"/>
              <a:ext cx="14554200" cy="7085203"/>
            </a:xfrm>
            <a:custGeom>
              <a:avLst/>
              <a:gdLst/>
              <a:ahLst/>
              <a:cxnLst/>
              <a:rect l="l" t="t" r="r" b="b"/>
              <a:pathLst>
                <a:path w="14554200" h="7085203">
                  <a:moveTo>
                    <a:pt x="0" y="0"/>
                  </a:moveTo>
                  <a:lnTo>
                    <a:pt x="14554200" y="0"/>
                  </a:lnTo>
                  <a:lnTo>
                    <a:pt x="14554200" y="7085203"/>
                  </a:lnTo>
                  <a:lnTo>
                    <a:pt x="0" y="7085203"/>
                  </a:lnTo>
                  <a:lnTo>
                    <a:pt x="0" y="0"/>
                  </a:lnTo>
                  <a:close/>
                </a:path>
              </a:pathLst>
            </a:custGeom>
            <a:blipFill>
              <a:blip r:embed="rId7"/>
              <a:stretch>
                <a:fillRect l="-702" r="-702"/>
              </a:stretch>
            </a:blipFill>
          </p:spPr>
        </p:sp>
      </p:grpSp>
      <p:sp>
        <p:nvSpPr>
          <p:cNvPr id="24" name="TextBox 24"/>
          <p:cNvSpPr txBox="1"/>
          <p:nvPr/>
        </p:nvSpPr>
        <p:spPr>
          <a:xfrm rot="-5400000">
            <a:off x="-3345664" y="3792684"/>
            <a:ext cx="7374434" cy="807568"/>
          </a:xfrm>
          <a:prstGeom prst="rect">
            <a:avLst/>
          </a:prstGeom>
        </p:spPr>
        <p:txBody>
          <a:bodyPr lIns="0" tIns="0" rIns="0" bIns="0" rtlCol="0" anchor="t">
            <a:spAutoFit/>
          </a:bodyPr>
          <a:lstStyle/>
          <a:p>
            <a:pPr algn="ctr">
              <a:lnSpc>
                <a:spcPts val="6055"/>
              </a:lnSpc>
            </a:pPr>
            <a:r>
              <a:rPr lang="en-US" sz="4660">
                <a:solidFill>
                  <a:srgbClr val="004AAD"/>
                </a:solidFill>
                <a:latin typeface="The Seasons"/>
                <a:ea typeface="The Seasons"/>
                <a:cs typeface="The Seasons"/>
                <a:sym typeface="The Seasons"/>
              </a:rPr>
              <a:t>Méthodologie de travail</a:t>
            </a:r>
          </a:p>
        </p:txBody>
      </p:sp>
      <p:sp>
        <p:nvSpPr>
          <p:cNvPr id="25" name="TextBox 25"/>
          <p:cNvSpPr txBox="1"/>
          <p:nvPr/>
        </p:nvSpPr>
        <p:spPr>
          <a:xfrm>
            <a:off x="4774740" y="319723"/>
            <a:ext cx="7019627" cy="1906270"/>
          </a:xfrm>
          <a:prstGeom prst="rect">
            <a:avLst/>
          </a:prstGeom>
        </p:spPr>
        <p:txBody>
          <a:bodyPr lIns="0" tIns="0" rIns="0" bIns="0" rtlCol="0" anchor="t">
            <a:spAutoFit/>
          </a:bodyPr>
          <a:lstStyle/>
          <a:p>
            <a:pPr algn="ctr">
              <a:lnSpc>
                <a:spcPts val="7280"/>
              </a:lnSpc>
            </a:pPr>
            <a:r>
              <a:rPr lang="en-US" sz="5600" b="1">
                <a:solidFill>
                  <a:srgbClr val="004AAD"/>
                </a:solidFill>
                <a:latin typeface="The Seasons Bold"/>
                <a:ea typeface="The Seasons Bold"/>
                <a:cs typeface="The Seasons Bold"/>
                <a:sym typeface="The Seasons Bold"/>
              </a:rPr>
              <a:t>Méthodologie SCRUM</a:t>
            </a:r>
          </a:p>
        </p:txBody>
      </p:sp>
      <p:sp>
        <p:nvSpPr>
          <p:cNvPr id="26" name="TextBox 26"/>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10</a:t>
            </a:r>
          </a:p>
        </p:txBody>
      </p:sp>
      <p:sp>
        <p:nvSpPr>
          <p:cNvPr id="27" name="Zone de texte 26"/>
          <p:cNvSpPr txBox="1"/>
          <p:nvPr/>
        </p:nvSpPr>
        <p:spPr>
          <a:xfrm>
            <a:off x="11658600" y="7983220"/>
            <a:ext cx="6209665" cy="1198880"/>
          </a:xfrm>
          <a:prstGeom prst="rect">
            <a:avLst/>
          </a:prstGeom>
          <a:noFill/>
          <a:ln w="12700" cmpd="sng">
            <a:gradFill>
              <a:gsLst>
                <a:gs pos="95000">
                  <a:schemeClr val="tx1"/>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p:spPr>
        <p:txBody>
          <a:bodyPr wrap="square" rtlCol="0">
            <a:spAutoFit/>
          </a:bodyPr>
          <a:lstStyle/>
          <a:p>
            <a:r>
              <a:rPr lang="en-US" altLang="fr-FR" sz="2400" b="1">
                <a:ln>
                  <a:noFill/>
                </a:ln>
              </a:rPr>
              <a:t>Sprint </a:t>
            </a:r>
            <a:r>
              <a:rPr lang="fr-FR" altLang="en-US" sz="2400" b="1">
                <a:ln>
                  <a:noFill/>
                </a:ln>
              </a:rPr>
              <a:t>4 : </a:t>
            </a:r>
            <a:r>
              <a:rPr lang="en-US" altLang="fr-FR" sz="2400" b="1">
                <a:ln>
                  <a:noFill/>
                </a:ln>
              </a:rPr>
              <a:t>Statistiques d'audience, gestion des contacts et recette g</a:t>
            </a:r>
            <a:r>
              <a:rPr lang="en-US" altLang="en-US" sz="2400" b="1">
                <a:ln>
                  <a:noFill/>
                </a:ln>
              </a:rPr>
              <a:t>é</a:t>
            </a:r>
            <a:r>
              <a:rPr lang="en-US" altLang="fr-FR" sz="2400" b="1">
                <a:ln>
                  <a:noFill/>
                </a:ln>
              </a:rPr>
              <a:t>n</a:t>
            </a:r>
            <a:r>
              <a:rPr lang="en-US" altLang="en-US" sz="2400" b="1">
                <a:ln>
                  <a:noFill/>
                </a:ln>
              </a:rPr>
              <a:t>é</a:t>
            </a:r>
            <a:r>
              <a:rPr lang="en-US" altLang="fr-FR" sz="2400" b="1">
                <a:ln>
                  <a:noFill/>
                </a:ln>
              </a:rPr>
              <a:t>rale du projet , intelligence artificielle .</a:t>
            </a:r>
          </a:p>
        </p:txBody>
      </p:sp>
      <p:sp>
        <p:nvSpPr>
          <p:cNvPr id="28" name="Zone de texte 27"/>
          <p:cNvSpPr txBox="1"/>
          <p:nvPr/>
        </p:nvSpPr>
        <p:spPr>
          <a:xfrm>
            <a:off x="11824335" y="2280285"/>
            <a:ext cx="6209665" cy="1198880"/>
          </a:xfrm>
          <a:prstGeom prst="rect">
            <a:avLst/>
          </a:prstGeom>
          <a:noFill/>
          <a:ln w="12700" cmpd="sng">
            <a:gradFill>
              <a:gsLst>
                <a:gs pos="95000">
                  <a:schemeClr val="tx1"/>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p:spPr>
        <p:txBody>
          <a:bodyPr wrap="square" rtlCol="0">
            <a:spAutoFit/>
          </a:bodyPr>
          <a:lstStyle/>
          <a:p>
            <a:r>
              <a:rPr lang="en-US" altLang="fr-FR" sz="2400" b="1">
                <a:ln>
                  <a:noFill/>
                </a:ln>
              </a:rPr>
              <a:t>Sprint 1</a:t>
            </a:r>
            <a:r>
              <a:rPr lang="fr-FR" altLang="en-US" sz="2400" b="1">
                <a:ln>
                  <a:noFill/>
                </a:ln>
              </a:rPr>
              <a:t> : </a:t>
            </a:r>
            <a:r>
              <a:rPr lang="en-US" altLang="fr-FR" sz="2400" b="1">
                <a:ln>
                  <a:noFill/>
                </a:ln>
              </a:rPr>
              <a:t>Authentification, Gestion du profil et des rôles. Administration g</a:t>
            </a:r>
            <a:r>
              <a:rPr lang="en-US" altLang="en-US" sz="2400" b="1">
                <a:ln>
                  <a:noFill/>
                </a:ln>
              </a:rPr>
              <a:t>é</a:t>
            </a:r>
            <a:r>
              <a:rPr lang="en-US" altLang="fr-FR" sz="2400" b="1">
                <a:ln>
                  <a:noFill/>
                </a:ln>
              </a:rPr>
              <a:t>n</a:t>
            </a:r>
            <a:r>
              <a:rPr lang="en-US" altLang="en-US" sz="2400" b="1">
                <a:ln>
                  <a:noFill/>
                </a:ln>
              </a:rPr>
              <a:t>é</a:t>
            </a:r>
            <a:r>
              <a:rPr lang="en-US" altLang="fr-FR" sz="2400" b="1">
                <a:ln>
                  <a:noFill/>
                </a:ln>
              </a:rPr>
              <a:t>rale de la </a:t>
            </a:r>
            <a:r>
              <a:rPr lang="en-US" altLang="fr-FR" sz="2400" b="1">
                <a:ln w="28575" cmpd="sng">
                  <a:noFill/>
                  <a:prstDash val="solid"/>
                </a:ln>
              </a:rPr>
              <a:t>plateforme</a:t>
            </a:r>
            <a:r>
              <a:rPr lang="en-US" altLang="fr-FR" sz="2400" b="1">
                <a:ln>
                  <a:noFill/>
                </a:ln>
              </a:rPr>
              <a:t>.</a:t>
            </a:r>
          </a:p>
        </p:txBody>
      </p:sp>
      <p:sp>
        <p:nvSpPr>
          <p:cNvPr id="29" name="Zone de texte 28"/>
          <p:cNvSpPr txBox="1"/>
          <p:nvPr/>
        </p:nvSpPr>
        <p:spPr>
          <a:xfrm>
            <a:off x="11697335" y="6177915"/>
            <a:ext cx="6209665" cy="1198880"/>
          </a:xfrm>
          <a:prstGeom prst="rect">
            <a:avLst/>
          </a:prstGeom>
          <a:noFill/>
          <a:ln w="12700" cmpd="sng">
            <a:gradFill>
              <a:gsLst>
                <a:gs pos="95000">
                  <a:schemeClr val="tx1"/>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p:spPr>
        <p:txBody>
          <a:bodyPr wrap="square" rtlCol="0">
            <a:spAutoFit/>
          </a:bodyPr>
          <a:lstStyle/>
          <a:p>
            <a:r>
              <a:rPr lang="en-US" altLang="fr-FR" sz="2400" b="1">
                <a:ln>
                  <a:noFill/>
                </a:ln>
              </a:rPr>
              <a:t>Sprint </a:t>
            </a:r>
            <a:r>
              <a:rPr lang="fr-FR" altLang="en-US" sz="2400" b="1">
                <a:ln>
                  <a:noFill/>
                </a:ln>
              </a:rPr>
              <a:t>3 : </a:t>
            </a:r>
            <a:r>
              <a:rPr lang="en-US" altLang="fr-FR" sz="2400" b="1">
                <a:ln>
                  <a:noFill/>
                </a:ln>
              </a:rPr>
              <a:t>Collaboration, messagerie instantan</a:t>
            </a:r>
            <a:r>
              <a:rPr lang="en-US" altLang="en-US" sz="2400" b="1">
                <a:ln>
                  <a:noFill/>
                </a:ln>
              </a:rPr>
              <a:t>é</a:t>
            </a:r>
            <a:r>
              <a:rPr lang="en-US" altLang="fr-FR" sz="2400" b="1">
                <a:ln>
                  <a:noFill/>
                </a:ln>
              </a:rPr>
              <a:t>e, syst</a:t>
            </a:r>
            <a:r>
              <a:rPr lang="" altLang="en-US" sz="2400" b="1">
                <a:ln>
                  <a:noFill/>
                </a:ln>
              </a:rPr>
              <a:t>è</a:t>
            </a:r>
            <a:r>
              <a:rPr lang="en-US" altLang="fr-FR" sz="2400" b="1">
                <a:ln>
                  <a:noFill/>
                </a:ln>
              </a:rPr>
              <a:t>me de notifications temps-r</a:t>
            </a:r>
            <a:r>
              <a:rPr lang="en-US" altLang="en-US" sz="2400" b="1">
                <a:ln>
                  <a:noFill/>
                </a:ln>
              </a:rPr>
              <a:t>é</a:t>
            </a:r>
            <a:r>
              <a:rPr lang="en-US" altLang="fr-FR" sz="2400" b="1">
                <a:ln>
                  <a:noFill/>
                </a:ln>
              </a:rPr>
              <a:t>el et gestion des transactions financi</a:t>
            </a:r>
            <a:r>
              <a:rPr lang="" altLang="en-US" sz="2400" b="1">
                <a:ln>
                  <a:noFill/>
                </a:ln>
              </a:rPr>
              <a:t>è</a:t>
            </a:r>
            <a:r>
              <a:rPr lang="en-US" altLang="fr-FR" sz="2400" b="1">
                <a:ln>
                  <a:noFill/>
                </a:ln>
              </a:rPr>
              <a:t>res.</a:t>
            </a:r>
          </a:p>
        </p:txBody>
      </p:sp>
      <p:sp>
        <p:nvSpPr>
          <p:cNvPr id="30" name="Zone de texte 29"/>
          <p:cNvSpPr txBox="1"/>
          <p:nvPr/>
        </p:nvSpPr>
        <p:spPr>
          <a:xfrm>
            <a:off x="11794490" y="4229100"/>
            <a:ext cx="6209665" cy="1198880"/>
          </a:xfrm>
          <a:prstGeom prst="rect">
            <a:avLst/>
          </a:prstGeom>
          <a:noFill/>
          <a:ln w="12700" cmpd="sng">
            <a:gradFill>
              <a:gsLst>
                <a:gs pos="95000">
                  <a:schemeClr val="tx1"/>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p:spPr>
        <p:txBody>
          <a:bodyPr wrap="square" rtlCol="0">
            <a:spAutoFit/>
          </a:bodyPr>
          <a:lstStyle/>
          <a:p>
            <a:r>
              <a:rPr lang="en-US" altLang="fr-FR" sz="2400" b="1">
                <a:ln>
                  <a:noFill/>
                </a:ln>
              </a:rPr>
              <a:t>Sprint </a:t>
            </a:r>
            <a:r>
              <a:rPr lang="fr-FR" altLang="en-US" sz="2400" b="1">
                <a:ln>
                  <a:noFill/>
                </a:ln>
              </a:rPr>
              <a:t>2 : </a:t>
            </a:r>
            <a:r>
              <a:rPr lang="en-US" altLang="fr-FR" sz="2400" b="1">
                <a:ln>
                  <a:noFill/>
                </a:ln>
              </a:rPr>
              <a:t>Gestion des campagnes de marketing d'influence par la marque et des publications par l'influenceur.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4"/>
              <a:stretch>
                <a:fillRect l="-42" r="-44"/>
              </a:stretch>
            </a:blipFill>
          </p:spPr>
        </p:sp>
      </p:grpSp>
      <p:grpSp>
        <p:nvGrpSpPr>
          <p:cNvPr id="6" name="Group 6"/>
          <p:cNvGrpSpPr/>
          <p:nvPr/>
        </p:nvGrpSpPr>
        <p:grpSpPr>
          <a:xfrm>
            <a:off x="435971" y="8342757"/>
            <a:ext cx="1185458" cy="1185458"/>
            <a:chOff x="0" y="0"/>
            <a:chExt cx="1580611" cy="1580611"/>
          </a:xfrm>
        </p:grpSpPr>
        <p:sp>
          <p:nvSpPr>
            <p:cNvPr id="7" name="Freeform 7"/>
            <p:cNvSpPr/>
            <p:nvPr/>
          </p:nvSpPr>
          <p:spPr>
            <a:xfrm>
              <a:off x="0" y="0"/>
              <a:ext cx="1580642" cy="1580642"/>
            </a:xfrm>
            <a:custGeom>
              <a:avLst/>
              <a:gdLst/>
              <a:ahLst/>
              <a:cxnLst/>
              <a:rect l="l" t="t" r="r" b="b"/>
              <a:pathLst>
                <a:path w="1580642" h="1580642">
                  <a:moveTo>
                    <a:pt x="0" y="0"/>
                  </a:moveTo>
                  <a:lnTo>
                    <a:pt x="1580642" y="0"/>
                  </a:lnTo>
                  <a:lnTo>
                    <a:pt x="1580642" y="1580642"/>
                  </a:lnTo>
                  <a:lnTo>
                    <a:pt x="0" y="1580642"/>
                  </a:lnTo>
                  <a:lnTo>
                    <a:pt x="0" y="0"/>
                  </a:lnTo>
                  <a:close/>
                </a:path>
              </a:pathLst>
            </a:custGeom>
            <a:blipFill>
              <a:blip r:embed="rId5"/>
              <a:stretch>
                <a:fillRect r="1" b="1"/>
              </a:stretch>
            </a:blipFill>
          </p:spPr>
        </p:sp>
      </p:grpSp>
      <p:grpSp>
        <p:nvGrpSpPr>
          <p:cNvPr id="8" name="Group 8"/>
          <p:cNvGrpSpPr/>
          <p:nvPr/>
        </p:nvGrpSpPr>
        <p:grpSpPr>
          <a:xfrm>
            <a:off x="1028700" y="0"/>
            <a:ext cx="28440" cy="7583972"/>
            <a:chOff x="0" y="0"/>
            <a:chExt cx="37920" cy="10111963"/>
          </a:xfrm>
        </p:grpSpPr>
        <p:sp>
          <p:nvSpPr>
            <p:cNvPr id="9" name="Freeform 9"/>
            <p:cNvSpPr/>
            <p:nvPr/>
          </p:nvSpPr>
          <p:spPr>
            <a:xfrm>
              <a:off x="0" y="0"/>
              <a:ext cx="37973" cy="10111994"/>
            </a:xfrm>
            <a:custGeom>
              <a:avLst/>
              <a:gdLst/>
              <a:ahLst/>
              <a:cxnLst/>
              <a:rect l="l" t="t" r="r" b="b"/>
              <a:pathLst>
                <a:path w="37973" h="10111994">
                  <a:moveTo>
                    <a:pt x="0" y="0"/>
                  </a:moveTo>
                  <a:lnTo>
                    <a:pt x="37973" y="0"/>
                  </a:lnTo>
                  <a:lnTo>
                    <a:pt x="37973" y="10111994"/>
                  </a:lnTo>
                  <a:lnTo>
                    <a:pt x="0" y="10111994"/>
                  </a:lnTo>
                  <a:lnTo>
                    <a:pt x="0" y="0"/>
                  </a:lnTo>
                  <a:close/>
                </a:path>
              </a:pathLst>
            </a:custGeom>
            <a:blipFill>
              <a:blip r:embed="rId6"/>
              <a:stretch>
                <a:fillRect t="-2187" r="139" b="-2187"/>
              </a:stretch>
            </a:blipFill>
          </p:spPr>
        </p:sp>
      </p:grpSp>
      <p:grpSp>
        <p:nvGrpSpPr>
          <p:cNvPr id="10" name="Group 10"/>
          <p:cNvGrpSpPr/>
          <p:nvPr/>
        </p:nvGrpSpPr>
        <p:grpSpPr>
          <a:xfrm>
            <a:off x="1621429" y="5614664"/>
            <a:ext cx="7268935" cy="1795592"/>
            <a:chOff x="0" y="0"/>
            <a:chExt cx="9691913" cy="2394123"/>
          </a:xfrm>
        </p:grpSpPr>
        <p:sp>
          <p:nvSpPr>
            <p:cNvPr id="11" name="Freeform 11"/>
            <p:cNvSpPr/>
            <p:nvPr/>
          </p:nvSpPr>
          <p:spPr>
            <a:xfrm>
              <a:off x="0" y="0"/>
              <a:ext cx="9691878" cy="2394077"/>
            </a:xfrm>
            <a:custGeom>
              <a:avLst/>
              <a:gdLst/>
              <a:ahLst/>
              <a:cxnLst/>
              <a:rect l="l" t="t" r="r" b="b"/>
              <a:pathLst>
                <a:path w="9691878" h="2394077">
                  <a:moveTo>
                    <a:pt x="0" y="0"/>
                  </a:moveTo>
                  <a:lnTo>
                    <a:pt x="9691878" y="0"/>
                  </a:lnTo>
                  <a:lnTo>
                    <a:pt x="9691878" y="2394077"/>
                  </a:lnTo>
                  <a:lnTo>
                    <a:pt x="0" y="2394077"/>
                  </a:lnTo>
                  <a:lnTo>
                    <a:pt x="0" y="0"/>
                  </a:lnTo>
                  <a:close/>
                </a:path>
              </a:pathLst>
            </a:custGeom>
            <a:blipFill>
              <a:blip r:embed="rId7"/>
              <a:stretch>
                <a:fillRect t="-7732" b="-7734"/>
              </a:stretch>
            </a:blipFill>
          </p:spPr>
        </p:sp>
      </p:grpSp>
      <p:grpSp>
        <p:nvGrpSpPr>
          <p:cNvPr id="12" name="Group 12"/>
          <p:cNvGrpSpPr/>
          <p:nvPr/>
        </p:nvGrpSpPr>
        <p:grpSpPr>
          <a:xfrm>
            <a:off x="6358325" y="7543626"/>
            <a:ext cx="1983514" cy="1780498"/>
            <a:chOff x="0" y="0"/>
            <a:chExt cx="2644685" cy="2373997"/>
          </a:xfrm>
        </p:grpSpPr>
        <p:sp>
          <p:nvSpPr>
            <p:cNvPr id="13" name="Freeform 13"/>
            <p:cNvSpPr/>
            <p:nvPr/>
          </p:nvSpPr>
          <p:spPr>
            <a:xfrm>
              <a:off x="0" y="0"/>
              <a:ext cx="2644648" cy="2374011"/>
            </a:xfrm>
            <a:custGeom>
              <a:avLst/>
              <a:gdLst/>
              <a:ahLst/>
              <a:cxnLst/>
              <a:rect l="l" t="t" r="r" b="b"/>
              <a:pathLst>
                <a:path w="2644648" h="2374011">
                  <a:moveTo>
                    <a:pt x="0" y="0"/>
                  </a:moveTo>
                  <a:lnTo>
                    <a:pt x="2644648" y="0"/>
                  </a:lnTo>
                  <a:lnTo>
                    <a:pt x="2644648" y="2374011"/>
                  </a:lnTo>
                  <a:lnTo>
                    <a:pt x="0" y="2374011"/>
                  </a:lnTo>
                  <a:lnTo>
                    <a:pt x="0" y="0"/>
                  </a:lnTo>
                  <a:close/>
                </a:path>
              </a:pathLst>
            </a:custGeom>
            <a:blipFill>
              <a:blip r:embed="rId8"/>
              <a:stretch>
                <a:fillRect l="-35359" r="-35361"/>
              </a:stretch>
            </a:blipFill>
          </p:spPr>
        </p:sp>
      </p:grpSp>
      <p:grpSp>
        <p:nvGrpSpPr>
          <p:cNvPr id="14" name="Group 14"/>
          <p:cNvGrpSpPr/>
          <p:nvPr/>
        </p:nvGrpSpPr>
        <p:grpSpPr>
          <a:xfrm>
            <a:off x="14855300" y="5989013"/>
            <a:ext cx="1320516" cy="1370858"/>
            <a:chOff x="0" y="0"/>
            <a:chExt cx="1760688" cy="1827811"/>
          </a:xfrm>
        </p:grpSpPr>
        <p:sp>
          <p:nvSpPr>
            <p:cNvPr id="15" name="Freeform 15"/>
            <p:cNvSpPr/>
            <p:nvPr/>
          </p:nvSpPr>
          <p:spPr>
            <a:xfrm>
              <a:off x="0" y="0"/>
              <a:ext cx="1760728" cy="1827784"/>
            </a:xfrm>
            <a:custGeom>
              <a:avLst/>
              <a:gdLst/>
              <a:ahLst/>
              <a:cxnLst/>
              <a:rect l="l" t="t" r="r" b="b"/>
              <a:pathLst>
                <a:path w="1760728" h="1827784">
                  <a:moveTo>
                    <a:pt x="0" y="0"/>
                  </a:moveTo>
                  <a:lnTo>
                    <a:pt x="1760728" y="0"/>
                  </a:lnTo>
                  <a:lnTo>
                    <a:pt x="1760728" y="1827784"/>
                  </a:lnTo>
                  <a:lnTo>
                    <a:pt x="0" y="1827784"/>
                  </a:lnTo>
                  <a:lnTo>
                    <a:pt x="0" y="0"/>
                  </a:lnTo>
                  <a:close/>
                </a:path>
              </a:pathLst>
            </a:custGeom>
            <a:blipFill>
              <a:blip r:embed="rId9"/>
              <a:stretch>
                <a:fillRect l="-1906" r="-1903" b="-1"/>
              </a:stretch>
            </a:blipFill>
          </p:spPr>
        </p:sp>
      </p:grpSp>
      <p:grpSp>
        <p:nvGrpSpPr>
          <p:cNvPr id="16" name="Group 16"/>
          <p:cNvGrpSpPr/>
          <p:nvPr/>
        </p:nvGrpSpPr>
        <p:grpSpPr>
          <a:xfrm>
            <a:off x="11681919" y="7410255"/>
            <a:ext cx="1428011" cy="1428011"/>
            <a:chOff x="0" y="0"/>
            <a:chExt cx="1904015" cy="1904015"/>
          </a:xfrm>
        </p:grpSpPr>
        <p:sp>
          <p:nvSpPr>
            <p:cNvPr id="17" name="Freeform 17"/>
            <p:cNvSpPr/>
            <p:nvPr/>
          </p:nvSpPr>
          <p:spPr>
            <a:xfrm>
              <a:off x="0" y="0"/>
              <a:ext cx="1903984" cy="1903984"/>
            </a:xfrm>
            <a:custGeom>
              <a:avLst/>
              <a:gdLst/>
              <a:ahLst/>
              <a:cxnLst/>
              <a:rect l="l" t="t" r="r" b="b"/>
              <a:pathLst>
                <a:path w="1903984" h="1903984">
                  <a:moveTo>
                    <a:pt x="0" y="0"/>
                  </a:moveTo>
                  <a:lnTo>
                    <a:pt x="1903984" y="0"/>
                  </a:lnTo>
                  <a:lnTo>
                    <a:pt x="1903984" y="1903984"/>
                  </a:lnTo>
                  <a:lnTo>
                    <a:pt x="0" y="1903984"/>
                  </a:lnTo>
                  <a:lnTo>
                    <a:pt x="0" y="0"/>
                  </a:lnTo>
                  <a:close/>
                </a:path>
              </a:pathLst>
            </a:custGeom>
            <a:blipFill>
              <a:blip r:embed="rId10"/>
              <a:stretch>
                <a:fillRect r="-1" b="-1"/>
              </a:stretch>
            </a:blipFill>
          </p:spPr>
        </p:sp>
      </p:grpSp>
      <p:grpSp>
        <p:nvGrpSpPr>
          <p:cNvPr id="18" name="Group 18"/>
          <p:cNvGrpSpPr/>
          <p:nvPr/>
        </p:nvGrpSpPr>
        <p:grpSpPr>
          <a:xfrm>
            <a:off x="9349594" y="5775105"/>
            <a:ext cx="1671957" cy="1671957"/>
            <a:chOff x="0" y="0"/>
            <a:chExt cx="2229276" cy="2229276"/>
          </a:xfrm>
        </p:grpSpPr>
        <p:sp>
          <p:nvSpPr>
            <p:cNvPr id="19" name="Freeform 19"/>
            <p:cNvSpPr/>
            <p:nvPr/>
          </p:nvSpPr>
          <p:spPr>
            <a:xfrm>
              <a:off x="0" y="0"/>
              <a:ext cx="2229231" cy="2229231"/>
            </a:xfrm>
            <a:custGeom>
              <a:avLst/>
              <a:gdLst/>
              <a:ahLst/>
              <a:cxnLst/>
              <a:rect l="l" t="t" r="r" b="b"/>
              <a:pathLst>
                <a:path w="2229231" h="2229231">
                  <a:moveTo>
                    <a:pt x="0" y="0"/>
                  </a:moveTo>
                  <a:lnTo>
                    <a:pt x="2229231" y="0"/>
                  </a:lnTo>
                  <a:lnTo>
                    <a:pt x="2229231" y="2229231"/>
                  </a:lnTo>
                  <a:lnTo>
                    <a:pt x="0" y="2229231"/>
                  </a:lnTo>
                  <a:lnTo>
                    <a:pt x="0" y="0"/>
                  </a:lnTo>
                  <a:close/>
                </a:path>
              </a:pathLst>
            </a:custGeom>
            <a:blipFill>
              <a:blip r:embed="rId11"/>
              <a:stretch>
                <a:fillRect r="-2" b="-2"/>
              </a:stretch>
            </a:blipFill>
          </p:spPr>
        </p:sp>
      </p:grpSp>
      <p:grpSp>
        <p:nvGrpSpPr>
          <p:cNvPr id="20" name="Group 20"/>
          <p:cNvGrpSpPr/>
          <p:nvPr/>
        </p:nvGrpSpPr>
        <p:grpSpPr>
          <a:xfrm>
            <a:off x="1621429" y="3110165"/>
            <a:ext cx="7268935" cy="1769331"/>
            <a:chOff x="0" y="0"/>
            <a:chExt cx="9691913" cy="2359108"/>
          </a:xfrm>
        </p:grpSpPr>
        <p:sp>
          <p:nvSpPr>
            <p:cNvPr id="21" name="Freeform 21"/>
            <p:cNvSpPr/>
            <p:nvPr/>
          </p:nvSpPr>
          <p:spPr>
            <a:xfrm>
              <a:off x="0" y="0"/>
              <a:ext cx="9691878" cy="2359152"/>
            </a:xfrm>
            <a:custGeom>
              <a:avLst/>
              <a:gdLst/>
              <a:ahLst/>
              <a:cxnLst/>
              <a:rect l="l" t="t" r="r" b="b"/>
              <a:pathLst>
                <a:path w="9691878" h="2359152">
                  <a:moveTo>
                    <a:pt x="0" y="0"/>
                  </a:moveTo>
                  <a:lnTo>
                    <a:pt x="9691878" y="0"/>
                  </a:lnTo>
                  <a:lnTo>
                    <a:pt x="9691878" y="2359152"/>
                  </a:lnTo>
                  <a:lnTo>
                    <a:pt x="0" y="2359152"/>
                  </a:lnTo>
                  <a:lnTo>
                    <a:pt x="0" y="0"/>
                  </a:lnTo>
                  <a:close/>
                </a:path>
              </a:pathLst>
            </a:custGeom>
            <a:blipFill>
              <a:blip r:embed="rId12"/>
              <a:stretch>
                <a:fillRect t="-8892" b="-8890"/>
              </a:stretch>
            </a:blipFill>
          </p:spPr>
        </p:sp>
      </p:grpSp>
      <p:grpSp>
        <p:nvGrpSpPr>
          <p:cNvPr id="22" name="Group 22"/>
          <p:cNvGrpSpPr/>
          <p:nvPr/>
        </p:nvGrpSpPr>
        <p:grpSpPr>
          <a:xfrm>
            <a:off x="9302087" y="3087945"/>
            <a:ext cx="1530633" cy="1530633"/>
            <a:chOff x="0" y="0"/>
            <a:chExt cx="2040844" cy="2040844"/>
          </a:xfrm>
        </p:grpSpPr>
        <p:sp>
          <p:nvSpPr>
            <p:cNvPr id="23" name="Freeform 23"/>
            <p:cNvSpPr/>
            <p:nvPr/>
          </p:nvSpPr>
          <p:spPr>
            <a:xfrm>
              <a:off x="0" y="0"/>
              <a:ext cx="2040890" cy="2040890"/>
            </a:xfrm>
            <a:custGeom>
              <a:avLst/>
              <a:gdLst/>
              <a:ahLst/>
              <a:cxnLst/>
              <a:rect l="l" t="t" r="r" b="b"/>
              <a:pathLst>
                <a:path w="2040890" h="2040890">
                  <a:moveTo>
                    <a:pt x="0" y="0"/>
                  </a:moveTo>
                  <a:lnTo>
                    <a:pt x="2040890" y="0"/>
                  </a:lnTo>
                  <a:lnTo>
                    <a:pt x="2040890" y="2040890"/>
                  </a:lnTo>
                  <a:lnTo>
                    <a:pt x="0" y="2040890"/>
                  </a:lnTo>
                  <a:lnTo>
                    <a:pt x="0" y="0"/>
                  </a:lnTo>
                  <a:close/>
                </a:path>
              </a:pathLst>
            </a:custGeom>
            <a:blipFill>
              <a:blip r:embed="rId13"/>
              <a:stretch>
                <a:fillRect r="2" b="2"/>
              </a:stretch>
            </a:blipFill>
          </p:spPr>
        </p:sp>
      </p:grpSp>
      <p:grpSp>
        <p:nvGrpSpPr>
          <p:cNvPr id="24" name="Group 24"/>
          <p:cNvGrpSpPr/>
          <p:nvPr/>
        </p:nvGrpSpPr>
        <p:grpSpPr>
          <a:xfrm>
            <a:off x="11733922" y="2999808"/>
            <a:ext cx="1206905" cy="1706908"/>
            <a:chOff x="0" y="0"/>
            <a:chExt cx="1609207" cy="2275877"/>
          </a:xfrm>
        </p:grpSpPr>
        <p:sp>
          <p:nvSpPr>
            <p:cNvPr id="25" name="Freeform 25"/>
            <p:cNvSpPr/>
            <p:nvPr/>
          </p:nvSpPr>
          <p:spPr>
            <a:xfrm>
              <a:off x="0" y="0"/>
              <a:ext cx="1609217" cy="2275840"/>
            </a:xfrm>
            <a:custGeom>
              <a:avLst/>
              <a:gdLst/>
              <a:ahLst/>
              <a:cxnLst/>
              <a:rect l="l" t="t" r="r" b="b"/>
              <a:pathLst>
                <a:path w="1609217" h="2275840">
                  <a:moveTo>
                    <a:pt x="0" y="0"/>
                  </a:moveTo>
                  <a:lnTo>
                    <a:pt x="1609217" y="0"/>
                  </a:lnTo>
                  <a:lnTo>
                    <a:pt x="1609217" y="2275840"/>
                  </a:lnTo>
                  <a:lnTo>
                    <a:pt x="0" y="2275840"/>
                  </a:lnTo>
                  <a:lnTo>
                    <a:pt x="0" y="0"/>
                  </a:lnTo>
                  <a:close/>
                </a:path>
              </a:pathLst>
            </a:custGeom>
            <a:blipFill>
              <a:blip r:embed="rId14"/>
              <a:stretch>
                <a:fillRect b="-1"/>
              </a:stretch>
            </a:blipFill>
          </p:spPr>
        </p:sp>
      </p:grpSp>
      <p:grpSp>
        <p:nvGrpSpPr>
          <p:cNvPr id="26" name="Group 26"/>
          <p:cNvGrpSpPr/>
          <p:nvPr/>
        </p:nvGrpSpPr>
        <p:grpSpPr>
          <a:xfrm>
            <a:off x="16449724" y="3087945"/>
            <a:ext cx="1351946" cy="1527412"/>
            <a:chOff x="0" y="0"/>
            <a:chExt cx="1802595" cy="2036549"/>
          </a:xfrm>
        </p:grpSpPr>
        <p:sp>
          <p:nvSpPr>
            <p:cNvPr id="27" name="Freeform 27"/>
            <p:cNvSpPr/>
            <p:nvPr/>
          </p:nvSpPr>
          <p:spPr>
            <a:xfrm>
              <a:off x="0" y="0"/>
              <a:ext cx="1802638" cy="2036572"/>
            </a:xfrm>
            <a:custGeom>
              <a:avLst/>
              <a:gdLst/>
              <a:ahLst/>
              <a:cxnLst/>
              <a:rect l="l" t="t" r="r" b="b"/>
              <a:pathLst>
                <a:path w="1802638" h="2036572">
                  <a:moveTo>
                    <a:pt x="0" y="0"/>
                  </a:moveTo>
                  <a:lnTo>
                    <a:pt x="1802638" y="0"/>
                  </a:lnTo>
                  <a:lnTo>
                    <a:pt x="1802638" y="2036572"/>
                  </a:lnTo>
                  <a:lnTo>
                    <a:pt x="0" y="2036572"/>
                  </a:lnTo>
                  <a:lnTo>
                    <a:pt x="0" y="0"/>
                  </a:lnTo>
                  <a:close/>
                </a:path>
              </a:pathLst>
            </a:custGeom>
            <a:blipFill>
              <a:blip r:embed="rId15"/>
              <a:stretch>
                <a:fillRect t="-94" r="2" b="-93"/>
              </a:stretch>
            </a:blipFill>
          </p:spPr>
        </p:sp>
      </p:grpSp>
      <p:grpSp>
        <p:nvGrpSpPr>
          <p:cNvPr id="28" name="Group 28"/>
          <p:cNvGrpSpPr/>
          <p:nvPr/>
        </p:nvGrpSpPr>
        <p:grpSpPr>
          <a:xfrm>
            <a:off x="1621429" y="895333"/>
            <a:ext cx="7268935" cy="1481407"/>
            <a:chOff x="0" y="0"/>
            <a:chExt cx="9691913" cy="1975209"/>
          </a:xfrm>
        </p:grpSpPr>
        <p:sp>
          <p:nvSpPr>
            <p:cNvPr id="29" name="Freeform 29"/>
            <p:cNvSpPr/>
            <p:nvPr/>
          </p:nvSpPr>
          <p:spPr>
            <a:xfrm>
              <a:off x="0" y="0"/>
              <a:ext cx="9691878" cy="1975231"/>
            </a:xfrm>
            <a:custGeom>
              <a:avLst/>
              <a:gdLst/>
              <a:ahLst/>
              <a:cxnLst/>
              <a:rect l="l" t="t" r="r" b="b"/>
              <a:pathLst>
                <a:path w="9691878" h="1975231">
                  <a:moveTo>
                    <a:pt x="0" y="0"/>
                  </a:moveTo>
                  <a:lnTo>
                    <a:pt x="9691878" y="0"/>
                  </a:lnTo>
                  <a:lnTo>
                    <a:pt x="9691878" y="1975231"/>
                  </a:lnTo>
                  <a:lnTo>
                    <a:pt x="0" y="1975231"/>
                  </a:lnTo>
                  <a:lnTo>
                    <a:pt x="0" y="0"/>
                  </a:lnTo>
                  <a:close/>
                </a:path>
              </a:pathLst>
            </a:custGeom>
            <a:blipFill>
              <a:blip r:embed="rId16"/>
              <a:stretch>
                <a:fillRect b="1"/>
              </a:stretch>
            </a:blipFill>
          </p:spPr>
        </p:sp>
      </p:grpSp>
      <p:grpSp>
        <p:nvGrpSpPr>
          <p:cNvPr id="30" name="Group 30"/>
          <p:cNvGrpSpPr/>
          <p:nvPr/>
        </p:nvGrpSpPr>
        <p:grpSpPr>
          <a:xfrm>
            <a:off x="10968811" y="292743"/>
            <a:ext cx="1806264" cy="1438560"/>
            <a:chOff x="0" y="0"/>
            <a:chExt cx="2408352" cy="1918080"/>
          </a:xfrm>
        </p:grpSpPr>
        <p:sp>
          <p:nvSpPr>
            <p:cNvPr id="31" name="Freeform 31"/>
            <p:cNvSpPr/>
            <p:nvPr/>
          </p:nvSpPr>
          <p:spPr>
            <a:xfrm>
              <a:off x="0" y="0"/>
              <a:ext cx="2408301" cy="1918081"/>
            </a:xfrm>
            <a:custGeom>
              <a:avLst/>
              <a:gdLst/>
              <a:ahLst/>
              <a:cxnLst/>
              <a:rect l="l" t="t" r="r" b="b"/>
              <a:pathLst>
                <a:path w="2408301" h="1918081">
                  <a:moveTo>
                    <a:pt x="0" y="0"/>
                  </a:moveTo>
                  <a:lnTo>
                    <a:pt x="2408301" y="0"/>
                  </a:lnTo>
                  <a:lnTo>
                    <a:pt x="2408301" y="1918081"/>
                  </a:lnTo>
                  <a:lnTo>
                    <a:pt x="0" y="1918081"/>
                  </a:lnTo>
                  <a:lnTo>
                    <a:pt x="0" y="0"/>
                  </a:lnTo>
                  <a:close/>
                </a:path>
              </a:pathLst>
            </a:custGeom>
            <a:blipFill>
              <a:blip r:embed="rId17"/>
              <a:stretch>
                <a:fillRect r="-2"/>
              </a:stretch>
            </a:blipFill>
          </p:spPr>
        </p:sp>
      </p:grpSp>
      <p:grpSp>
        <p:nvGrpSpPr>
          <p:cNvPr id="32" name="Group 32"/>
          <p:cNvGrpSpPr/>
          <p:nvPr/>
        </p:nvGrpSpPr>
        <p:grpSpPr>
          <a:xfrm>
            <a:off x="13683777" y="3293248"/>
            <a:ext cx="1939785" cy="1046913"/>
            <a:chOff x="0" y="0"/>
            <a:chExt cx="2586380" cy="1395884"/>
          </a:xfrm>
        </p:grpSpPr>
        <p:sp>
          <p:nvSpPr>
            <p:cNvPr id="33" name="Freeform 33"/>
            <p:cNvSpPr/>
            <p:nvPr/>
          </p:nvSpPr>
          <p:spPr>
            <a:xfrm>
              <a:off x="0" y="0"/>
              <a:ext cx="2586355" cy="1395857"/>
            </a:xfrm>
            <a:custGeom>
              <a:avLst/>
              <a:gdLst/>
              <a:ahLst/>
              <a:cxnLst/>
              <a:rect l="l" t="t" r="r" b="b"/>
              <a:pathLst>
                <a:path w="2586355" h="1395857">
                  <a:moveTo>
                    <a:pt x="0" y="0"/>
                  </a:moveTo>
                  <a:lnTo>
                    <a:pt x="2586355" y="0"/>
                  </a:lnTo>
                  <a:lnTo>
                    <a:pt x="2586355" y="1395857"/>
                  </a:lnTo>
                  <a:lnTo>
                    <a:pt x="0" y="1395857"/>
                  </a:lnTo>
                  <a:lnTo>
                    <a:pt x="0" y="0"/>
                  </a:lnTo>
                  <a:close/>
                </a:path>
              </a:pathLst>
            </a:custGeom>
            <a:blipFill>
              <a:blip r:embed="rId18"/>
              <a:stretch>
                <a:fillRect t="-68" b="-70"/>
              </a:stretch>
            </a:blipFill>
          </p:spPr>
        </p:sp>
      </p:grpSp>
      <p:grpSp>
        <p:nvGrpSpPr>
          <p:cNvPr id="34" name="Group 34"/>
          <p:cNvGrpSpPr/>
          <p:nvPr/>
        </p:nvGrpSpPr>
        <p:grpSpPr>
          <a:xfrm>
            <a:off x="14164227" y="323153"/>
            <a:ext cx="1382146" cy="1438560"/>
            <a:chOff x="0" y="0"/>
            <a:chExt cx="1842861" cy="1918080"/>
          </a:xfrm>
        </p:grpSpPr>
        <p:sp>
          <p:nvSpPr>
            <p:cNvPr id="35" name="Freeform 35"/>
            <p:cNvSpPr/>
            <p:nvPr/>
          </p:nvSpPr>
          <p:spPr>
            <a:xfrm>
              <a:off x="0" y="0"/>
              <a:ext cx="1842897" cy="1918081"/>
            </a:xfrm>
            <a:custGeom>
              <a:avLst/>
              <a:gdLst/>
              <a:ahLst/>
              <a:cxnLst/>
              <a:rect l="l" t="t" r="r" b="b"/>
              <a:pathLst>
                <a:path w="1842897" h="1918081">
                  <a:moveTo>
                    <a:pt x="0" y="0"/>
                  </a:moveTo>
                  <a:lnTo>
                    <a:pt x="1842897" y="0"/>
                  </a:lnTo>
                  <a:lnTo>
                    <a:pt x="1842897" y="1918081"/>
                  </a:lnTo>
                  <a:lnTo>
                    <a:pt x="0" y="1918081"/>
                  </a:lnTo>
                  <a:lnTo>
                    <a:pt x="0" y="0"/>
                  </a:lnTo>
                  <a:close/>
                </a:path>
              </a:pathLst>
            </a:custGeom>
            <a:blipFill>
              <a:blip r:embed="rId19"/>
              <a:stretch>
                <a:fillRect r="1"/>
              </a:stretch>
            </a:blipFill>
          </p:spPr>
        </p:sp>
      </p:grpSp>
      <p:sp>
        <p:nvSpPr>
          <p:cNvPr id="36" name="TextBox 36"/>
          <p:cNvSpPr txBox="1"/>
          <p:nvPr/>
        </p:nvSpPr>
        <p:spPr>
          <a:xfrm rot="-5400000">
            <a:off x="-3033354" y="3769594"/>
            <a:ext cx="6821190" cy="807568"/>
          </a:xfrm>
          <a:prstGeom prst="rect">
            <a:avLst/>
          </a:prstGeom>
        </p:spPr>
        <p:txBody>
          <a:bodyPr lIns="0" tIns="0" rIns="0" bIns="0" rtlCol="0" anchor="t">
            <a:spAutoFit/>
          </a:bodyPr>
          <a:lstStyle/>
          <a:p>
            <a:pPr algn="ctr">
              <a:lnSpc>
                <a:spcPts val="6055"/>
              </a:lnSpc>
            </a:pPr>
            <a:r>
              <a:rPr lang="en-US" sz="4660">
                <a:solidFill>
                  <a:srgbClr val="004AAD"/>
                </a:solidFill>
                <a:latin typeface="The Seasons"/>
                <a:ea typeface="The Seasons"/>
                <a:cs typeface="The Seasons"/>
                <a:sym typeface="The Seasons"/>
              </a:rPr>
              <a:t>Technologies utilisées</a:t>
            </a:r>
          </a:p>
        </p:txBody>
      </p:sp>
      <p:sp>
        <p:nvSpPr>
          <p:cNvPr id="37" name="TextBox 37"/>
          <p:cNvSpPr txBox="1"/>
          <p:nvPr/>
        </p:nvSpPr>
        <p:spPr>
          <a:xfrm>
            <a:off x="6358325" y="9274624"/>
            <a:ext cx="2267453" cy="930260"/>
          </a:xfrm>
          <a:prstGeom prst="rect">
            <a:avLst/>
          </a:prstGeom>
        </p:spPr>
        <p:txBody>
          <a:bodyPr lIns="0" tIns="0" rIns="0" bIns="0" rtlCol="0" anchor="t">
            <a:spAutoFit/>
          </a:bodyPr>
          <a:lstStyle/>
          <a:p>
            <a:pPr algn="ctr">
              <a:lnSpc>
                <a:spcPts val="5825"/>
              </a:lnSpc>
            </a:pPr>
            <a:r>
              <a:rPr lang="en-US" sz="4480">
                <a:solidFill>
                  <a:srgbClr val="004AAD"/>
                </a:solidFill>
                <a:latin typeface="The Seasons"/>
                <a:ea typeface="The Seasons"/>
                <a:cs typeface="The Seasons"/>
                <a:sym typeface="The Seasons"/>
              </a:rPr>
              <a:t>StarUmL</a:t>
            </a:r>
          </a:p>
        </p:txBody>
      </p:sp>
      <p:sp>
        <p:nvSpPr>
          <p:cNvPr id="38" name="TextBox 38"/>
          <p:cNvSpPr txBox="1"/>
          <p:nvPr/>
        </p:nvSpPr>
        <p:spPr>
          <a:xfrm>
            <a:off x="13362675" y="7489257"/>
            <a:ext cx="4568635" cy="863510"/>
          </a:xfrm>
          <a:prstGeom prst="rect">
            <a:avLst/>
          </a:prstGeom>
        </p:spPr>
        <p:txBody>
          <a:bodyPr lIns="0" tIns="0" rIns="0" bIns="0" rtlCol="0" anchor="t">
            <a:spAutoFit/>
          </a:bodyPr>
          <a:lstStyle/>
          <a:p>
            <a:pPr algn="ctr">
              <a:lnSpc>
                <a:spcPts val="5580"/>
              </a:lnSpc>
            </a:pPr>
            <a:r>
              <a:rPr lang="en-US" sz="4295">
                <a:solidFill>
                  <a:srgbClr val="004AAD"/>
                </a:solidFill>
                <a:latin typeface="The Seasons"/>
                <a:ea typeface="The Seasons"/>
                <a:cs typeface="The Seasons"/>
                <a:sym typeface="The Seasons"/>
              </a:rPr>
              <a:t>Visual Studio Code</a:t>
            </a:r>
          </a:p>
        </p:txBody>
      </p:sp>
      <p:sp>
        <p:nvSpPr>
          <p:cNvPr id="39" name="TextBox 39"/>
          <p:cNvSpPr txBox="1"/>
          <p:nvPr/>
        </p:nvSpPr>
        <p:spPr>
          <a:xfrm>
            <a:off x="11248975" y="8938404"/>
            <a:ext cx="2678823" cy="851611"/>
          </a:xfrm>
          <a:prstGeom prst="rect">
            <a:avLst/>
          </a:prstGeom>
        </p:spPr>
        <p:txBody>
          <a:bodyPr lIns="0" tIns="0" rIns="0" bIns="0" rtlCol="0" anchor="t">
            <a:spAutoFit/>
          </a:bodyPr>
          <a:lstStyle/>
          <a:p>
            <a:pPr algn="ctr">
              <a:lnSpc>
                <a:spcPts val="6425"/>
              </a:lnSpc>
            </a:pPr>
            <a:r>
              <a:rPr lang="en-US" sz="4945">
                <a:solidFill>
                  <a:srgbClr val="004AAD"/>
                </a:solidFill>
                <a:latin typeface="The Seasons"/>
                <a:ea typeface="The Seasons"/>
                <a:cs typeface="The Seasons"/>
                <a:sym typeface="The Seasons"/>
              </a:rPr>
              <a:t>Heid SQL</a:t>
            </a:r>
          </a:p>
        </p:txBody>
      </p:sp>
      <p:sp>
        <p:nvSpPr>
          <p:cNvPr id="40" name="TextBox 40"/>
          <p:cNvSpPr txBox="1"/>
          <p:nvPr/>
        </p:nvSpPr>
        <p:spPr>
          <a:xfrm>
            <a:off x="9104473" y="7404441"/>
            <a:ext cx="2366674" cy="851739"/>
          </a:xfrm>
          <a:prstGeom prst="rect">
            <a:avLst/>
          </a:prstGeom>
        </p:spPr>
        <p:txBody>
          <a:bodyPr lIns="0" tIns="0" rIns="0" bIns="0" rtlCol="0" anchor="t">
            <a:spAutoFit/>
          </a:bodyPr>
          <a:lstStyle/>
          <a:p>
            <a:pPr algn="ctr">
              <a:lnSpc>
                <a:spcPts val="6415"/>
              </a:lnSpc>
            </a:pPr>
            <a:r>
              <a:rPr lang="en-US" sz="4935">
                <a:solidFill>
                  <a:srgbClr val="004AAD"/>
                </a:solidFill>
                <a:latin typeface="The Seasons"/>
                <a:ea typeface="The Seasons"/>
                <a:cs typeface="The Seasons"/>
                <a:sym typeface="The Seasons"/>
              </a:rPr>
              <a:t>Laragon</a:t>
            </a:r>
          </a:p>
        </p:txBody>
      </p:sp>
      <p:sp>
        <p:nvSpPr>
          <p:cNvPr id="41" name="TextBox 41"/>
          <p:cNvSpPr txBox="1"/>
          <p:nvPr/>
        </p:nvSpPr>
        <p:spPr>
          <a:xfrm>
            <a:off x="9302087" y="4600400"/>
            <a:ext cx="1688885" cy="867124"/>
          </a:xfrm>
          <a:prstGeom prst="rect">
            <a:avLst/>
          </a:prstGeom>
        </p:spPr>
        <p:txBody>
          <a:bodyPr lIns="0" tIns="0" rIns="0" bIns="0" rtlCol="0" anchor="t">
            <a:spAutoFit/>
          </a:bodyPr>
          <a:lstStyle/>
          <a:p>
            <a:pPr algn="ctr">
              <a:lnSpc>
                <a:spcPts val="5530"/>
              </a:lnSpc>
            </a:pPr>
            <a:r>
              <a:rPr lang="en-US" sz="4255">
                <a:solidFill>
                  <a:srgbClr val="004AAD"/>
                </a:solidFill>
                <a:latin typeface="The Seasons"/>
                <a:ea typeface="The Seasons"/>
                <a:cs typeface="The Seasons"/>
                <a:sym typeface="The Seasons"/>
              </a:rPr>
              <a:t>HTML5</a:t>
            </a:r>
          </a:p>
        </p:txBody>
      </p:sp>
      <p:sp>
        <p:nvSpPr>
          <p:cNvPr id="42" name="TextBox 42"/>
          <p:cNvSpPr txBox="1"/>
          <p:nvPr/>
        </p:nvSpPr>
        <p:spPr>
          <a:xfrm>
            <a:off x="11733922" y="4600400"/>
            <a:ext cx="1324005" cy="905160"/>
          </a:xfrm>
          <a:prstGeom prst="rect">
            <a:avLst/>
          </a:prstGeom>
        </p:spPr>
        <p:txBody>
          <a:bodyPr lIns="0" tIns="0" rIns="0" bIns="0" rtlCol="0" anchor="t">
            <a:spAutoFit/>
          </a:bodyPr>
          <a:lstStyle/>
          <a:p>
            <a:pPr algn="ctr">
              <a:lnSpc>
                <a:spcPts val="5855"/>
              </a:lnSpc>
            </a:pPr>
            <a:r>
              <a:rPr lang="en-US" sz="4505">
                <a:solidFill>
                  <a:srgbClr val="004AAD"/>
                </a:solidFill>
                <a:latin typeface="The Seasons"/>
                <a:ea typeface="The Seasons"/>
                <a:cs typeface="The Seasons"/>
                <a:sym typeface="The Seasons"/>
              </a:rPr>
              <a:t>CSS3</a:t>
            </a:r>
          </a:p>
        </p:txBody>
      </p:sp>
      <p:sp>
        <p:nvSpPr>
          <p:cNvPr id="43" name="TextBox 43"/>
          <p:cNvSpPr txBox="1"/>
          <p:nvPr/>
        </p:nvSpPr>
        <p:spPr>
          <a:xfrm>
            <a:off x="15905184" y="4521546"/>
            <a:ext cx="2382816" cy="768007"/>
          </a:xfrm>
          <a:prstGeom prst="rect">
            <a:avLst/>
          </a:prstGeom>
        </p:spPr>
        <p:txBody>
          <a:bodyPr lIns="0" tIns="0" rIns="0" bIns="0" rtlCol="0" anchor="t">
            <a:spAutoFit/>
          </a:bodyPr>
          <a:lstStyle/>
          <a:p>
            <a:pPr algn="ctr">
              <a:lnSpc>
                <a:spcPts val="4850"/>
              </a:lnSpc>
            </a:pPr>
            <a:r>
              <a:rPr lang="en-US" sz="3730">
                <a:solidFill>
                  <a:srgbClr val="004AAD"/>
                </a:solidFill>
                <a:latin typeface="The Seasons"/>
                <a:ea typeface="The Seasons"/>
                <a:cs typeface="The Seasons"/>
                <a:sym typeface="The Seasons"/>
              </a:rPr>
              <a:t>JavaScript</a:t>
            </a:r>
          </a:p>
        </p:txBody>
      </p:sp>
      <p:sp>
        <p:nvSpPr>
          <p:cNvPr id="44" name="TextBox 44"/>
          <p:cNvSpPr txBox="1"/>
          <p:nvPr/>
        </p:nvSpPr>
        <p:spPr>
          <a:xfrm>
            <a:off x="14250745" y="4600400"/>
            <a:ext cx="989053" cy="867124"/>
          </a:xfrm>
          <a:prstGeom prst="rect">
            <a:avLst/>
          </a:prstGeom>
        </p:spPr>
        <p:txBody>
          <a:bodyPr lIns="0" tIns="0" rIns="0" bIns="0" rtlCol="0" anchor="t">
            <a:spAutoFit/>
          </a:bodyPr>
          <a:lstStyle/>
          <a:p>
            <a:pPr algn="ctr">
              <a:lnSpc>
                <a:spcPts val="5530"/>
              </a:lnSpc>
            </a:pPr>
            <a:r>
              <a:rPr lang="en-US" sz="4255">
                <a:solidFill>
                  <a:srgbClr val="004AAD"/>
                </a:solidFill>
                <a:latin typeface="The Seasons"/>
                <a:ea typeface="The Seasons"/>
                <a:cs typeface="The Seasons"/>
                <a:sym typeface="The Seasons"/>
              </a:rPr>
              <a:t>PHP</a:t>
            </a:r>
          </a:p>
        </p:txBody>
      </p:sp>
      <p:sp>
        <p:nvSpPr>
          <p:cNvPr id="45" name="TextBox 45"/>
          <p:cNvSpPr txBox="1"/>
          <p:nvPr/>
        </p:nvSpPr>
        <p:spPr>
          <a:xfrm>
            <a:off x="10832720" y="1665958"/>
            <a:ext cx="2207237" cy="728219"/>
          </a:xfrm>
          <a:prstGeom prst="rect">
            <a:avLst/>
          </a:prstGeom>
        </p:spPr>
        <p:txBody>
          <a:bodyPr lIns="0" tIns="0" rIns="0" bIns="0" rtlCol="0" anchor="t">
            <a:spAutoFit/>
          </a:bodyPr>
          <a:lstStyle/>
          <a:p>
            <a:pPr algn="ctr">
              <a:lnSpc>
                <a:spcPts val="5400"/>
              </a:lnSpc>
            </a:pPr>
            <a:r>
              <a:rPr lang="en-US" sz="4155">
                <a:solidFill>
                  <a:srgbClr val="004AAD"/>
                </a:solidFill>
                <a:latin typeface="The Seasons"/>
                <a:ea typeface="The Seasons"/>
                <a:cs typeface="The Seasons"/>
                <a:sym typeface="The Seasons"/>
              </a:rPr>
              <a:t>Bootsrap</a:t>
            </a:r>
          </a:p>
        </p:txBody>
      </p:sp>
      <p:sp>
        <p:nvSpPr>
          <p:cNvPr id="46" name="TextBox 46"/>
          <p:cNvSpPr txBox="1"/>
          <p:nvPr/>
        </p:nvSpPr>
        <p:spPr>
          <a:xfrm>
            <a:off x="13995703" y="1713583"/>
            <a:ext cx="1719194" cy="700916"/>
          </a:xfrm>
          <a:prstGeom prst="rect">
            <a:avLst/>
          </a:prstGeom>
        </p:spPr>
        <p:txBody>
          <a:bodyPr lIns="0" tIns="0" rIns="0" bIns="0" rtlCol="0" anchor="t">
            <a:spAutoFit/>
          </a:bodyPr>
          <a:lstStyle/>
          <a:p>
            <a:pPr algn="ctr">
              <a:lnSpc>
                <a:spcPts val="5270"/>
              </a:lnSpc>
            </a:pPr>
            <a:r>
              <a:rPr lang="en-US" sz="4055">
                <a:solidFill>
                  <a:srgbClr val="004AAD"/>
                </a:solidFill>
                <a:latin typeface="The Seasons"/>
                <a:ea typeface="The Seasons"/>
                <a:cs typeface="The Seasons"/>
                <a:sym typeface="The Seasons"/>
              </a:rPr>
              <a:t>Laravel</a:t>
            </a:r>
          </a:p>
        </p:txBody>
      </p:sp>
      <p:sp>
        <p:nvSpPr>
          <p:cNvPr id="47" name="TextBox 47"/>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288" y="9229725"/>
            <a:ext cx="18297525" cy="9525"/>
            <a:chOff x="0" y="0"/>
            <a:chExt cx="24396700" cy="12700"/>
          </a:xfrm>
        </p:grpSpPr>
        <p:sp>
          <p:nvSpPr>
            <p:cNvPr id="3" name="Freeform 3"/>
            <p:cNvSpPr/>
            <p:nvPr/>
          </p:nvSpPr>
          <p:spPr>
            <a:xfrm>
              <a:off x="0" y="0"/>
              <a:ext cx="24396700" cy="12700"/>
            </a:xfrm>
            <a:custGeom>
              <a:avLst/>
              <a:gdLst/>
              <a:ahLst/>
              <a:cxnLst/>
              <a:rect l="l" t="t" r="r" b="b"/>
              <a:pathLst>
                <a:path w="24396700" h="12700">
                  <a:moveTo>
                    <a:pt x="6350" y="0"/>
                  </a:moveTo>
                  <a:lnTo>
                    <a:pt x="24390350" y="0"/>
                  </a:lnTo>
                  <a:cubicBezTo>
                    <a:pt x="24393906" y="0"/>
                    <a:pt x="24396700" y="2794"/>
                    <a:pt x="24396700" y="6350"/>
                  </a:cubicBezTo>
                  <a:cubicBezTo>
                    <a:pt x="24396700" y="9906"/>
                    <a:pt x="24393906" y="12700"/>
                    <a:pt x="24390350" y="12700"/>
                  </a:cubicBezTo>
                  <a:lnTo>
                    <a:pt x="6350" y="12700"/>
                  </a:lnTo>
                  <a:cubicBezTo>
                    <a:pt x="2794" y="12700"/>
                    <a:pt x="0" y="9906"/>
                    <a:pt x="0" y="6350"/>
                  </a:cubicBezTo>
                  <a:cubicBezTo>
                    <a:pt x="0" y="2794"/>
                    <a:pt x="2794" y="0"/>
                    <a:pt x="6350" y="0"/>
                  </a:cubicBezTo>
                  <a:close/>
                </a:path>
              </a:pathLst>
            </a:custGeom>
            <a:solidFill>
              <a:srgbClr val="40404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l="-3849" r="-3849"/>
              </a:stretch>
            </a:blipFill>
          </p:spPr>
        </p:sp>
      </p:grpSp>
      <p:grpSp>
        <p:nvGrpSpPr>
          <p:cNvPr id="6" name="Group 6"/>
          <p:cNvGrpSpPr/>
          <p:nvPr/>
        </p:nvGrpSpPr>
        <p:grpSpPr>
          <a:xfrm>
            <a:off x="38649" y="7583972"/>
            <a:ext cx="2066873" cy="2703028"/>
            <a:chOff x="0" y="0"/>
            <a:chExt cx="2755831" cy="3604037"/>
          </a:xfrm>
        </p:grpSpPr>
        <p:sp>
          <p:nvSpPr>
            <p:cNvPr id="7" name="Freeform 7"/>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4"/>
              <a:stretch>
                <a:fillRect l="-42" r="-44"/>
              </a:stretch>
            </a:blipFill>
          </p:spPr>
        </p:sp>
      </p:grpSp>
      <p:grpSp>
        <p:nvGrpSpPr>
          <p:cNvPr id="8" name="Group 8"/>
          <p:cNvGrpSpPr/>
          <p:nvPr/>
        </p:nvGrpSpPr>
        <p:grpSpPr>
          <a:xfrm>
            <a:off x="1041871" y="-420548"/>
            <a:ext cx="30215" cy="8057218"/>
            <a:chOff x="0" y="0"/>
            <a:chExt cx="40287" cy="10742957"/>
          </a:xfrm>
        </p:grpSpPr>
        <p:sp>
          <p:nvSpPr>
            <p:cNvPr id="9" name="Freeform 9"/>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5"/>
              <a:stretch>
                <a:fillRect t="-2188" r="-68" b="-2188"/>
              </a:stretch>
            </a:blipFill>
          </p:spPr>
        </p:sp>
      </p:grpSp>
      <p:grpSp>
        <p:nvGrpSpPr>
          <p:cNvPr id="10" name="Group 10"/>
          <p:cNvGrpSpPr/>
          <p:nvPr/>
        </p:nvGrpSpPr>
        <p:grpSpPr>
          <a:xfrm>
            <a:off x="486923" y="8494556"/>
            <a:ext cx="1083554" cy="1083554"/>
            <a:chOff x="0" y="0"/>
            <a:chExt cx="1444739" cy="1444739"/>
          </a:xfrm>
        </p:grpSpPr>
        <p:sp>
          <p:nvSpPr>
            <p:cNvPr id="11" name="Freeform 11"/>
            <p:cNvSpPr/>
            <p:nvPr/>
          </p:nvSpPr>
          <p:spPr>
            <a:xfrm>
              <a:off x="0" y="0"/>
              <a:ext cx="1444752" cy="1444752"/>
            </a:xfrm>
            <a:custGeom>
              <a:avLst/>
              <a:gdLst/>
              <a:ahLst/>
              <a:cxnLst/>
              <a:rect l="l" t="t" r="r" b="b"/>
              <a:pathLst>
                <a:path w="1444752" h="1444752">
                  <a:moveTo>
                    <a:pt x="0" y="0"/>
                  </a:moveTo>
                  <a:lnTo>
                    <a:pt x="1444752" y="0"/>
                  </a:lnTo>
                  <a:lnTo>
                    <a:pt x="1444752" y="1444752"/>
                  </a:lnTo>
                  <a:lnTo>
                    <a:pt x="0" y="1444752"/>
                  </a:lnTo>
                  <a:lnTo>
                    <a:pt x="0" y="0"/>
                  </a:lnTo>
                  <a:close/>
                </a:path>
              </a:pathLst>
            </a:custGeom>
            <a:blipFill>
              <a:blip r:embed="rId6"/>
              <a:stretch>
                <a:fillRect/>
              </a:stretch>
            </a:blipFill>
          </p:spPr>
        </p:sp>
      </p:grpSp>
      <p:grpSp>
        <p:nvGrpSpPr>
          <p:cNvPr id="12" name="Group 12"/>
          <p:cNvGrpSpPr/>
          <p:nvPr/>
        </p:nvGrpSpPr>
        <p:grpSpPr>
          <a:xfrm>
            <a:off x="2799446" y="1674622"/>
            <a:ext cx="13482095" cy="7583678"/>
            <a:chOff x="0" y="0"/>
            <a:chExt cx="17976127" cy="10111571"/>
          </a:xfrm>
        </p:grpSpPr>
        <p:sp>
          <p:nvSpPr>
            <p:cNvPr id="13" name="Freeform 13"/>
            <p:cNvSpPr/>
            <p:nvPr/>
          </p:nvSpPr>
          <p:spPr>
            <a:xfrm>
              <a:off x="0" y="0"/>
              <a:ext cx="17976087" cy="10111613"/>
            </a:xfrm>
            <a:custGeom>
              <a:avLst/>
              <a:gdLst/>
              <a:ahLst/>
              <a:cxnLst/>
              <a:rect l="l" t="t" r="r" b="b"/>
              <a:pathLst>
                <a:path w="17976087" h="10111613">
                  <a:moveTo>
                    <a:pt x="0" y="0"/>
                  </a:moveTo>
                  <a:lnTo>
                    <a:pt x="17976087" y="0"/>
                  </a:lnTo>
                  <a:lnTo>
                    <a:pt x="17976087" y="10111613"/>
                  </a:lnTo>
                  <a:lnTo>
                    <a:pt x="0" y="10111613"/>
                  </a:lnTo>
                  <a:lnTo>
                    <a:pt x="0" y="0"/>
                  </a:lnTo>
                  <a:close/>
                </a:path>
              </a:pathLst>
            </a:custGeom>
            <a:solidFill>
              <a:srgbClr val="000000">
                <a:alpha val="0"/>
              </a:srgbClr>
            </a:solidFill>
            <a:ln w="12700">
              <a:solidFill>
                <a:srgbClr val="000000"/>
              </a:solidFill>
            </a:ln>
          </p:spPr>
        </p:sp>
      </p:grpSp>
      <p:sp>
        <p:nvSpPr>
          <p:cNvPr id="14" name="Freeform 14"/>
          <p:cNvSpPr/>
          <p:nvPr/>
        </p:nvSpPr>
        <p:spPr>
          <a:xfrm>
            <a:off x="2799446" y="1674622"/>
            <a:ext cx="13482095" cy="7583678"/>
          </a:xfrm>
          <a:custGeom>
            <a:avLst/>
            <a:gdLst/>
            <a:ahLst/>
            <a:cxnLst/>
            <a:rect l="l" t="t" r="r" b="b"/>
            <a:pathLst>
              <a:path w="13482095" h="7583678">
                <a:moveTo>
                  <a:pt x="0" y="0"/>
                </a:moveTo>
                <a:lnTo>
                  <a:pt x="13482095" y="0"/>
                </a:lnTo>
                <a:lnTo>
                  <a:pt x="13482095" y="7583678"/>
                </a:lnTo>
                <a:lnTo>
                  <a:pt x="0" y="7583678"/>
                </a:lnTo>
                <a:lnTo>
                  <a:pt x="0" y="0"/>
                </a:lnTo>
                <a:close/>
              </a:path>
            </a:pathLst>
          </a:custGeom>
          <a:blipFill>
            <a:blip r:embed="rId7"/>
            <a:stretch>
              <a:fillRect l="-3095" t="-7680" r="-1335"/>
            </a:stretch>
          </a:blipFill>
        </p:spPr>
      </p:sp>
      <p:sp>
        <p:nvSpPr>
          <p:cNvPr id="15" name="TextBox 15"/>
          <p:cNvSpPr txBox="1"/>
          <p:nvPr/>
        </p:nvSpPr>
        <p:spPr>
          <a:xfrm rot="-5400000">
            <a:off x="-3033354" y="3607668"/>
            <a:ext cx="6821190" cy="807568"/>
          </a:xfrm>
          <a:prstGeom prst="rect">
            <a:avLst/>
          </a:prstGeom>
        </p:spPr>
        <p:txBody>
          <a:bodyPr lIns="0" tIns="0" rIns="0" bIns="0" rtlCol="0" anchor="t">
            <a:spAutoFit/>
          </a:bodyPr>
          <a:lstStyle/>
          <a:p>
            <a:pPr algn="ctr">
              <a:lnSpc>
                <a:spcPts val="6055"/>
              </a:lnSpc>
            </a:pPr>
            <a:r>
              <a:rPr lang="en-US" sz="4660">
                <a:solidFill>
                  <a:srgbClr val="004AAD"/>
                </a:solidFill>
                <a:latin typeface="The Seasons"/>
                <a:ea typeface="The Seasons"/>
                <a:cs typeface="The Seasons"/>
                <a:sym typeface="The Seasons"/>
              </a:rPr>
              <a:t>Architecture </a:t>
            </a:r>
          </a:p>
        </p:txBody>
      </p:sp>
      <p:sp>
        <p:nvSpPr>
          <p:cNvPr id="16" name="TextBox 16"/>
          <p:cNvSpPr txBox="1"/>
          <p:nvPr/>
        </p:nvSpPr>
        <p:spPr>
          <a:xfrm>
            <a:off x="6097250" y="324632"/>
            <a:ext cx="6093500" cy="933450"/>
          </a:xfrm>
          <a:prstGeom prst="rect">
            <a:avLst/>
          </a:prstGeom>
        </p:spPr>
        <p:txBody>
          <a:bodyPr lIns="0" tIns="0" rIns="0" bIns="0" rtlCol="0" anchor="t">
            <a:spAutoFit/>
          </a:bodyPr>
          <a:lstStyle/>
          <a:p>
            <a:pPr algn="ctr">
              <a:lnSpc>
                <a:spcPts val="7280"/>
              </a:lnSpc>
            </a:pPr>
            <a:r>
              <a:rPr lang="en-US" sz="4800" b="1">
                <a:solidFill>
                  <a:srgbClr val="004AAD"/>
                </a:solidFill>
                <a:latin typeface="The Seasons Bold"/>
                <a:ea typeface="The Seasons Bold"/>
                <a:cs typeface="The Seasons Bold"/>
                <a:sym typeface="The Seasons Bold"/>
              </a:rPr>
              <a:t>Architecture MVC</a:t>
            </a:r>
            <a:r>
              <a:rPr lang="en-US" sz="4800">
                <a:solidFill>
                  <a:srgbClr val="004AAD"/>
                </a:solidFill>
                <a:latin typeface="The Seasons"/>
                <a:ea typeface="The Seasons"/>
                <a:cs typeface="The Seasons"/>
                <a:sym typeface="The Seasons"/>
              </a:rPr>
              <a:t> </a:t>
            </a:r>
          </a:p>
        </p:txBody>
      </p:sp>
      <p:sp>
        <p:nvSpPr>
          <p:cNvPr id="17" name="TextBox 17"/>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0" y="3453004"/>
            <a:ext cx="14982275" cy="3380991"/>
            <a:chOff x="0" y="0"/>
            <a:chExt cx="19976367" cy="4507988"/>
          </a:xfrm>
        </p:grpSpPr>
        <p:sp>
          <p:nvSpPr>
            <p:cNvPr id="5" name="Freeform 5"/>
            <p:cNvSpPr/>
            <p:nvPr/>
          </p:nvSpPr>
          <p:spPr>
            <a:xfrm>
              <a:off x="0" y="0"/>
              <a:ext cx="19976337" cy="4507992"/>
            </a:xfrm>
            <a:custGeom>
              <a:avLst/>
              <a:gdLst/>
              <a:ahLst/>
              <a:cxnLst/>
              <a:rect l="l" t="t" r="r" b="b"/>
              <a:pathLst>
                <a:path w="19976337" h="4507992">
                  <a:moveTo>
                    <a:pt x="0" y="0"/>
                  </a:moveTo>
                  <a:lnTo>
                    <a:pt x="19976337" y="0"/>
                  </a:lnTo>
                  <a:lnTo>
                    <a:pt x="19976337" y="4507992"/>
                  </a:lnTo>
                  <a:lnTo>
                    <a:pt x="0" y="4507992"/>
                  </a:lnTo>
                  <a:lnTo>
                    <a:pt x="0" y="0"/>
                  </a:lnTo>
                  <a:close/>
                </a:path>
              </a:pathLst>
            </a:custGeom>
            <a:blipFill>
              <a:blip r:embed="rId3"/>
              <a:stretch>
                <a:fillRect t="-8061" b="-8061"/>
              </a:stretch>
            </a:blipFill>
          </p:spPr>
        </p:sp>
      </p:grpSp>
      <p:grpSp>
        <p:nvGrpSpPr>
          <p:cNvPr id="6" name="Group 6"/>
          <p:cNvGrpSpPr/>
          <p:nvPr/>
        </p:nvGrpSpPr>
        <p:grpSpPr>
          <a:xfrm>
            <a:off x="11192156" y="2400038"/>
            <a:ext cx="5956664" cy="5956664"/>
            <a:chOff x="0" y="0"/>
            <a:chExt cx="7942219" cy="7942219"/>
          </a:xfrm>
        </p:grpSpPr>
        <p:sp>
          <p:nvSpPr>
            <p:cNvPr id="7" name="Freeform 7"/>
            <p:cNvSpPr/>
            <p:nvPr/>
          </p:nvSpPr>
          <p:spPr>
            <a:xfrm>
              <a:off x="0" y="0"/>
              <a:ext cx="7942199" cy="7942199"/>
            </a:xfrm>
            <a:custGeom>
              <a:avLst/>
              <a:gdLst/>
              <a:ahLst/>
              <a:cxnLst/>
              <a:rect l="l" t="t" r="r" b="b"/>
              <a:pathLst>
                <a:path w="7942199" h="7942199">
                  <a:moveTo>
                    <a:pt x="0" y="0"/>
                  </a:moveTo>
                  <a:lnTo>
                    <a:pt x="7942199" y="0"/>
                  </a:lnTo>
                  <a:lnTo>
                    <a:pt x="7942199" y="7942199"/>
                  </a:lnTo>
                  <a:lnTo>
                    <a:pt x="0" y="7942199"/>
                  </a:lnTo>
                  <a:lnTo>
                    <a:pt x="0" y="0"/>
                  </a:lnTo>
                  <a:close/>
                </a:path>
              </a:pathLst>
            </a:custGeom>
            <a:blipFill>
              <a:blip r:embed="rId4"/>
              <a:stretch>
                <a:fillRect/>
              </a:stretch>
            </a:blipFill>
          </p:spPr>
        </p:sp>
      </p:grpSp>
      <p:grpSp>
        <p:nvGrpSpPr>
          <p:cNvPr id="8" name="Group 8"/>
          <p:cNvGrpSpPr/>
          <p:nvPr/>
        </p:nvGrpSpPr>
        <p:grpSpPr>
          <a:xfrm>
            <a:off x="11506830" y="3715538"/>
            <a:ext cx="5120111" cy="3118457"/>
            <a:chOff x="0" y="0"/>
            <a:chExt cx="6826815" cy="4157943"/>
          </a:xfrm>
        </p:grpSpPr>
        <p:sp>
          <p:nvSpPr>
            <p:cNvPr id="9" name="Freeform 9"/>
            <p:cNvSpPr/>
            <p:nvPr/>
          </p:nvSpPr>
          <p:spPr>
            <a:xfrm>
              <a:off x="0" y="0"/>
              <a:ext cx="6826758" cy="4157980"/>
            </a:xfrm>
            <a:custGeom>
              <a:avLst/>
              <a:gdLst/>
              <a:ahLst/>
              <a:cxnLst/>
              <a:rect l="l" t="t" r="r" b="b"/>
              <a:pathLst>
                <a:path w="6826758" h="4157980">
                  <a:moveTo>
                    <a:pt x="0" y="0"/>
                  </a:moveTo>
                  <a:lnTo>
                    <a:pt x="6826758" y="0"/>
                  </a:lnTo>
                  <a:lnTo>
                    <a:pt x="6826758" y="4157980"/>
                  </a:lnTo>
                  <a:lnTo>
                    <a:pt x="0" y="4157980"/>
                  </a:lnTo>
                  <a:lnTo>
                    <a:pt x="0" y="0"/>
                  </a:lnTo>
                  <a:close/>
                </a:path>
              </a:pathLst>
            </a:custGeom>
            <a:blipFill>
              <a:blip r:embed="rId5"/>
              <a:stretch>
                <a:fillRect/>
              </a:stretch>
            </a:blipFill>
          </p:spPr>
        </p:sp>
      </p:grpSp>
      <p:sp>
        <p:nvSpPr>
          <p:cNvPr id="10" name="TextBox 10"/>
          <p:cNvSpPr txBox="1"/>
          <p:nvPr/>
        </p:nvSpPr>
        <p:spPr>
          <a:xfrm>
            <a:off x="1028700" y="4317832"/>
            <a:ext cx="8738991" cy="2089582"/>
          </a:xfrm>
          <a:prstGeom prst="rect">
            <a:avLst/>
          </a:prstGeom>
        </p:spPr>
        <p:txBody>
          <a:bodyPr lIns="0" tIns="0" rIns="0" bIns="0" rtlCol="0" anchor="t">
            <a:spAutoFit/>
          </a:bodyPr>
          <a:lstStyle/>
          <a:p>
            <a:pPr algn="ctr">
              <a:lnSpc>
                <a:spcPts val="8005"/>
              </a:lnSpc>
            </a:pPr>
            <a:r>
              <a:rPr lang="en-US" sz="6155" b="1">
                <a:solidFill>
                  <a:srgbClr val="004AAD"/>
                </a:solidFill>
                <a:latin typeface="The Seasons Bold"/>
                <a:ea typeface="The Seasons Bold"/>
                <a:cs typeface="The Seasons Bold"/>
                <a:sym typeface="The Seasons Bold"/>
              </a:rPr>
              <a:t>Spécification des besoins</a:t>
            </a:r>
          </a:p>
        </p:txBody>
      </p:sp>
      <p:sp>
        <p:nvSpPr>
          <p:cNvPr id="11" name="TextBox 11"/>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4"/>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5"/>
              <a:stretch>
                <a:fillRect t="-2188" r="-68" b="-2188"/>
              </a:stretch>
            </a:blipFill>
          </p:spPr>
        </p:sp>
      </p:grpSp>
      <p:grpSp>
        <p:nvGrpSpPr>
          <p:cNvPr id="8" name="Group 8"/>
          <p:cNvGrpSpPr/>
          <p:nvPr/>
        </p:nvGrpSpPr>
        <p:grpSpPr>
          <a:xfrm>
            <a:off x="429462" y="8292862"/>
            <a:ext cx="1285248" cy="1285248"/>
            <a:chOff x="0" y="0"/>
            <a:chExt cx="1713664" cy="1713664"/>
          </a:xfrm>
        </p:grpSpPr>
        <p:sp>
          <p:nvSpPr>
            <p:cNvPr id="9" name="Freeform 9"/>
            <p:cNvSpPr/>
            <p:nvPr/>
          </p:nvSpPr>
          <p:spPr>
            <a:xfrm>
              <a:off x="0" y="0"/>
              <a:ext cx="1713611" cy="1713611"/>
            </a:xfrm>
            <a:custGeom>
              <a:avLst/>
              <a:gdLst/>
              <a:ahLst/>
              <a:cxnLst/>
              <a:rect l="l" t="t" r="r" b="b"/>
              <a:pathLst>
                <a:path w="1713611" h="1713611">
                  <a:moveTo>
                    <a:pt x="0" y="0"/>
                  </a:moveTo>
                  <a:lnTo>
                    <a:pt x="1713611" y="0"/>
                  </a:lnTo>
                  <a:lnTo>
                    <a:pt x="1713611" y="1713611"/>
                  </a:lnTo>
                  <a:lnTo>
                    <a:pt x="0" y="1713611"/>
                  </a:lnTo>
                  <a:lnTo>
                    <a:pt x="0" y="0"/>
                  </a:lnTo>
                  <a:close/>
                </a:path>
              </a:pathLst>
            </a:custGeom>
            <a:blipFill>
              <a:blip r:embed="rId6"/>
              <a:stretch>
                <a:fillRect r="-3" b="-3"/>
              </a:stretch>
            </a:blipFill>
          </p:spPr>
        </p:sp>
      </p:grpSp>
      <p:grpSp>
        <p:nvGrpSpPr>
          <p:cNvPr id="10" name="Group 10"/>
          <p:cNvGrpSpPr/>
          <p:nvPr/>
        </p:nvGrpSpPr>
        <p:grpSpPr>
          <a:xfrm>
            <a:off x="2869488" y="3115393"/>
            <a:ext cx="3741912" cy="3741912"/>
            <a:chOff x="0" y="0"/>
            <a:chExt cx="4989216" cy="4989216"/>
          </a:xfrm>
        </p:grpSpPr>
        <p:sp>
          <p:nvSpPr>
            <p:cNvPr id="11" name="Freeform 11"/>
            <p:cNvSpPr/>
            <p:nvPr/>
          </p:nvSpPr>
          <p:spPr>
            <a:xfrm>
              <a:off x="0" y="0"/>
              <a:ext cx="4989195" cy="4989195"/>
            </a:xfrm>
            <a:custGeom>
              <a:avLst/>
              <a:gdLst/>
              <a:ahLst/>
              <a:cxnLst/>
              <a:rect l="l" t="t" r="r" b="b"/>
              <a:pathLst>
                <a:path w="4989195" h="4989195">
                  <a:moveTo>
                    <a:pt x="0" y="0"/>
                  </a:moveTo>
                  <a:lnTo>
                    <a:pt x="4989195" y="0"/>
                  </a:lnTo>
                  <a:lnTo>
                    <a:pt x="4989195" y="4989195"/>
                  </a:lnTo>
                  <a:lnTo>
                    <a:pt x="0" y="4989195"/>
                  </a:lnTo>
                  <a:lnTo>
                    <a:pt x="0" y="0"/>
                  </a:lnTo>
                  <a:close/>
                </a:path>
              </a:pathLst>
            </a:custGeom>
            <a:blipFill>
              <a:blip r:embed="rId7"/>
              <a:stretch>
                <a:fillRect/>
              </a:stretch>
            </a:blipFill>
          </p:spPr>
        </p:sp>
      </p:grpSp>
      <p:grpSp>
        <p:nvGrpSpPr>
          <p:cNvPr id="12" name="Group 12"/>
          <p:cNvGrpSpPr/>
          <p:nvPr/>
        </p:nvGrpSpPr>
        <p:grpSpPr>
          <a:xfrm>
            <a:off x="8411625" y="3115393"/>
            <a:ext cx="3627341" cy="3741912"/>
            <a:chOff x="0" y="0"/>
            <a:chExt cx="4836455" cy="4989216"/>
          </a:xfrm>
        </p:grpSpPr>
        <p:sp>
          <p:nvSpPr>
            <p:cNvPr id="13" name="Freeform 13"/>
            <p:cNvSpPr/>
            <p:nvPr/>
          </p:nvSpPr>
          <p:spPr>
            <a:xfrm>
              <a:off x="0" y="0"/>
              <a:ext cx="4836414" cy="4989195"/>
            </a:xfrm>
            <a:custGeom>
              <a:avLst/>
              <a:gdLst/>
              <a:ahLst/>
              <a:cxnLst/>
              <a:rect l="l" t="t" r="r" b="b"/>
              <a:pathLst>
                <a:path w="4836414" h="4989195">
                  <a:moveTo>
                    <a:pt x="0" y="0"/>
                  </a:moveTo>
                  <a:lnTo>
                    <a:pt x="4836414" y="0"/>
                  </a:lnTo>
                  <a:lnTo>
                    <a:pt x="4836414" y="4989195"/>
                  </a:lnTo>
                  <a:lnTo>
                    <a:pt x="0" y="4989195"/>
                  </a:lnTo>
                  <a:lnTo>
                    <a:pt x="0" y="0"/>
                  </a:lnTo>
                  <a:close/>
                </a:path>
              </a:pathLst>
            </a:custGeom>
            <a:blipFill>
              <a:blip r:embed="rId8"/>
              <a:stretch>
                <a:fillRect l="-1579" r="-1580"/>
              </a:stretch>
            </a:blipFill>
          </p:spPr>
        </p:sp>
      </p:grpSp>
      <p:grpSp>
        <p:nvGrpSpPr>
          <p:cNvPr id="14" name="Group 14"/>
          <p:cNvGrpSpPr/>
          <p:nvPr/>
        </p:nvGrpSpPr>
        <p:grpSpPr>
          <a:xfrm>
            <a:off x="13399636" y="1028700"/>
            <a:ext cx="3437862" cy="5966945"/>
            <a:chOff x="0" y="0"/>
            <a:chExt cx="4583816" cy="7955927"/>
          </a:xfrm>
        </p:grpSpPr>
        <p:sp>
          <p:nvSpPr>
            <p:cNvPr id="15" name="Freeform 15"/>
            <p:cNvSpPr/>
            <p:nvPr/>
          </p:nvSpPr>
          <p:spPr>
            <a:xfrm>
              <a:off x="0" y="0"/>
              <a:ext cx="4583811" cy="7955915"/>
            </a:xfrm>
            <a:custGeom>
              <a:avLst/>
              <a:gdLst/>
              <a:ahLst/>
              <a:cxnLst/>
              <a:rect l="l" t="t" r="r" b="b"/>
              <a:pathLst>
                <a:path w="4583811" h="7955915">
                  <a:moveTo>
                    <a:pt x="0" y="0"/>
                  </a:moveTo>
                  <a:lnTo>
                    <a:pt x="4583811" y="0"/>
                  </a:lnTo>
                  <a:lnTo>
                    <a:pt x="4583811" y="7955915"/>
                  </a:lnTo>
                  <a:lnTo>
                    <a:pt x="0" y="7955915"/>
                  </a:lnTo>
                  <a:lnTo>
                    <a:pt x="0" y="0"/>
                  </a:lnTo>
                  <a:close/>
                </a:path>
              </a:pathLst>
            </a:custGeom>
            <a:blipFill>
              <a:blip r:embed="rId9"/>
              <a:stretch>
                <a:fillRect t="-1162" b="-1162"/>
              </a:stretch>
            </a:blipFill>
          </p:spPr>
        </p:sp>
      </p:grpSp>
      <p:sp>
        <p:nvSpPr>
          <p:cNvPr id="16" name="TextBox 16"/>
          <p:cNvSpPr txBox="1"/>
          <p:nvPr/>
        </p:nvSpPr>
        <p:spPr>
          <a:xfrm rot="-5400000">
            <a:off x="-3033354" y="360766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Spécification des besoins</a:t>
            </a:r>
          </a:p>
        </p:txBody>
      </p:sp>
      <p:sp>
        <p:nvSpPr>
          <p:cNvPr id="17" name="TextBox 17"/>
          <p:cNvSpPr txBox="1"/>
          <p:nvPr/>
        </p:nvSpPr>
        <p:spPr>
          <a:xfrm>
            <a:off x="5668431" y="906194"/>
            <a:ext cx="7731204" cy="1891030"/>
          </a:xfrm>
          <a:prstGeom prst="rect">
            <a:avLst/>
          </a:prstGeom>
        </p:spPr>
        <p:txBody>
          <a:bodyPr lIns="0" tIns="0" rIns="0" bIns="0" rtlCol="0" anchor="t">
            <a:spAutoFit/>
          </a:bodyPr>
          <a:lstStyle/>
          <a:p>
            <a:pPr algn="ctr">
              <a:lnSpc>
                <a:spcPts val="7280"/>
              </a:lnSpc>
            </a:pPr>
            <a:r>
              <a:rPr lang="en-US" sz="5600">
                <a:solidFill>
                  <a:srgbClr val="004AAD"/>
                </a:solidFill>
                <a:latin typeface="The Seasons"/>
                <a:ea typeface="The Seasons"/>
                <a:cs typeface="The Seasons"/>
                <a:sym typeface="The Seasons"/>
              </a:rPr>
              <a:t>Les besoins fonctionnels</a:t>
            </a:r>
          </a:p>
        </p:txBody>
      </p:sp>
      <p:sp>
        <p:nvSpPr>
          <p:cNvPr id="18" name="TextBox 18"/>
          <p:cNvSpPr txBox="1"/>
          <p:nvPr/>
        </p:nvSpPr>
        <p:spPr>
          <a:xfrm>
            <a:off x="2509147" y="6709895"/>
            <a:ext cx="4763453" cy="958850"/>
          </a:xfrm>
          <a:prstGeom prst="rect">
            <a:avLst/>
          </a:prstGeom>
        </p:spPr>
        <p:txBody>
          <a:bodyPr lIns="0" tIns="0" rIns="0" bIns="0" rtlCol="0" anchor="t">
            <a:spAutoFit/>
          </a:bodyPr>
          <a:lstStyle/>
          <a:p>
            <a:pPr algn="ctr">
              <a:lnSpc>
                <a:spcPts val="7150"/>
              </a:lnSpc>
            </a:pPr>
            <a:r>
              <a:rPr lang="en-US" sz="5500">
                <a:solidFill>
                  <a:srgbClr val="000000"/>
                </a:solidFill>
                <a:latin typeface="The Seasons"/>
                <a:ea typeface="The Seasons"/>
                <a:cs typeface="The Seasons"/>
                <a:sym typeface="The Seasons"/>
              </a:rPr>
              <a:t>Administrateur</a:t>
            </a:r>
          </a:p>
        </p:txBody>
      </p:sp>
      <p:sp>
        <p:nvSpPr>
          <p:cNvPr id="19" name="TextBox 19"/>
          <p:cNvSpPr txBox="1"/>
          <p:nvPr/>
        </p:nvSpPr>
        <p:spPr>
          <a:xfrm>
            <a:off x="9011632" y="6709895"/>
            <a:ext cx="2427327" cy="958850"/>
          </a:xfrm>
          <a:prstGeom prst="rect">
            <a:avLst/>
          </a:prstGeom>
        </p:spPr>
        <p:txBody>
          <a:bodyPr lIns="0" tIns="0" rIns="0" bIns="0" rtlCol="0" anchor="t">
            <a:spAutoFit/>
          </a:bodyPr>
          <a:lstStyle/>
          <a:p>
            <a:pPr algn="ctr">
              <a:lnSpc>
                <a:spcPts val="7150"/>
              </a:lnSpc>
            </a:pPr>
            <a:r>
              <a:rPr lang="en-US" sz="5500">
                <a:solidFill>
                  <a:srgbClr val="000000"/>
                </a:solidFill>
                <a:latin typeface="The Seasons"/>
                <a:ea typeface="The Seasons"/>
                <a:cs typeface="The Seasons"/>
                <a:sym typeface="The Seasons"/>
              </a:rPr>
              <a:t>Marque</a:t>
            </a:r>
          </a:p>
        </p:txBody>
      </p:sp>
      <p:sp>
        <p:nvSpPr>
          <p:cNvPr id="20" name="TextBox 20"/>
          <p:cNvSpPr txBox="1"/>
          <p:nvPr/>
        </p:nvSpPr>
        <p:spPr>
          <a:xfrm>
            <a:off x="13457561" y="6747995"/>
            <a:ext cx="3639860" cy="958850"/>
          </a:xfrm>
          <a:prstGeom prst="rect">
            <a:avLst/>
          </a:prstGeom>
        </p:spPr>
        <p:txBody>
          <a:bodyPr lIns="0" tIns="0" rIns="0" bIns="0" rtlCol="0" anchor="t">
            <a:spAutoFit/>
          </a:bodyPr>
          <a:lstStyle/>
          <a:p>
            <a:pPr algn="ctr">
              <a:lnSpc>
                <a:spcPts val="7150"/>
              </a:lnSpc>
            </a:pPr>
            <a:r>
              <a:rPr lang="en-US" sz="5500">
                <a:solidFill>
                  <a:srgbClr val="000000"/>
                </a:solidFill>
                <a:latin typeface="The Seasons"/>
                <a:ea typeface="The Seasons"/>
                <a:cs typeface="The Seasons"/>
                <a:sym typeface="The Seasons"/>
              </a:rPr>
              <a:t>Influenceur</a:t>
            </a:r>
          </a:p>
        </p:txBody>
      </p:sp>
      <p:sp>
        <p:nvSpPr>
          <p:cNvPr id="21" name="TextBox 21"/>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4"/>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5"/>
              <a:stretch>
                <a:fillRect t="-2188" r="-68" b="-2188"/>
              </a:stretch>
            </a:blipFill>
          </p:spPr>
        </p:sp>
      </p:grpSp>
      <p:grpSp>
        <p:nvGrpSpPr>
          <p:cNvPr id="8" name="Group 8"/>
          <p:cNvGrpSpPr/>
          <p:nvPr/>
        </p:nvGrpSpPr>
        <p:grpSpPr>
          <a:xfrm>
            <a:off x="429462" y="8292862"/>
            <a:ext cx="1285248" cy="1285248"/>
            <a:chOff x="0" y="0"/>
            <a:chExt cx="1713664" cy="1713664"/>
          </a:xfrm>
        </p:grpSpPr>
        <p:sp>
          <p:nvSpPr>
            <p:cNvPr id="9" name="Freeform 9"/>
            <p:cNvSpPr/>
            <p:nvPr/>
          </p:nvSpPr>
          <p:spPr>
            <a:xfrm>
              <a:off x="0" y="0"/>
              <a:ext cx="1713611" cy="1713611"/>
            </a:xfrm>
            <a:custGeom>
              <a:avLst/>
              <a:gdLst/>
              <a:ahLst/>
              <a:cxnLst/>
              <a:rect l="l" t="t" r="r" b="b"/>
              <a:pathLst>
                <a:path w="1713611" h="1713611">
                  <a:moveTo>
                    <a:pt x="0" y="0"/>
                  </a:moveTo>
                  <a:lnTo>
                    <a:pt x="1713611" y="0"/>
                  </a:lnTo>
                  <a:lnTo>
                    <a:pt x="1713611" y="1713611"/>
                  </a:lnTo>
                  <a:lnTo>
                    <a:pt x="0" y="1713611"/>
                  </a:lnTo>
                  <a:lnTo>
                    <a:pt x="0" y="0"/>
                  </a:lnTo>
                  <a:close/>
                </a:path>
              </a:pathLst>
            </a:custGeom>
            <a:blipFill>
              <a:blip r:embed="rId6"/>
              <a:stretch>
                <a:fillRect r="-3" b="-3"/>
              </a:stretch>
            </a:blipFill>
          </p:spPr>
        </p:sp>
      </p:grpSp>
      <p:grpSp>
        <p:nvGrpSpPr>
          <p:cNvPr id="10" name="Group 10"/>
          <p:cNvGrpSpPr/>
          <p:nvPr/>
        </p:nvGrpSpPr>
        <p:grpSpPr>
          <a:xfrm>
            <a:off x="8036763" y="3608061"/>
            <a:ext cx="3741912" cy="3741912"/>
            <a:chOff x="0" y="0"/>
            <a:chExt cx="4989216" cy="4989216"/>
          </a:xfrm>
        </p:grpSpPr>
        <p:sp>
          <p:nvSpPr>
            <p:cNvPr id="11" name="Freeform 11"/>
            <p:cNvSpPr/>
            <p:nvPr/>
          </p:nvSpPr>
          <p:spPr>
            <a:xfrm>
              <a:off x="0" y="0"/>
              <a:ext cx="4989195" cy="4989195"/>
            </a:xfrm>
            <a:custGeom>
              <a:avLst/>
              <a:gdLst/>
              <a:ahLst/>
              <a:cxnLst/>
              <a:rect l="l" t="t" r="r" b="b"/>
              <a:pathLst>
                <a:path w="4989195" h="4989195">
                  <a:moveTo>
                    <a:pt x="0" y="0"/>
                  </a:moveTo>
                  <a:lnTo>
                    <a:pt x="4989195" y="0"/>
                  </a:lnTo>
                  <a:lnTo>
                    <a:pt x="4989195" y="4989195"/>
                  </a:lnTo>
                  <a:lnTo>
                    <a:pt x="0" y="4989195"/>
                  </a:lnTo>
                  <a:lnTo>
                    <a:pt x="0" y="0"/>
                  </a:lnTo>
                  <a:close/>
                </a:path>
              </a:pathLst>
            </a:custGeom>
            <a:blipFill>
              <a:blip r:embed="rId7"/>
              <a:stretch>
                <a:fillRect/>
              </a:stretch>
            </a:blipFill>
          </p:spPr>
        </p:sp>
      </p:grpSp>
      <p:sp>
        <p:nvSpPr>
          <p:cNvPr id="12" name="TextBox 12"/>
          <p:cNvSpPr txBox="1"/>
          <p:nvPr/>
        </p:nvSpPr>
        <p:spPr>
          <a:xfrm rot="-5400000">
            <a:off x="-3033354" y="360766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Spécification des besoins</a:t>
            </a:r>
          </a:p>
        </p:txBody>
      </p:sp>
      <p:sp>
        <p:nvSpPr>
          <p:cNvPr id="13" name="TextBox 13"/>
          <p:cNvSpPr txBox="1"/>
          <p:nvPr/>
        </p:nvSpPr>
        <p:spPr>
          <a:xfrm>
            <a:off x="5668431" y="906194"/>
            <a:ext cx="7731204" cy="1906270"/>
          </a:xfrm>
          <a:prstGeom prst="rect">
            <a:avLst/>
          </a:prstGeom>
        </p:spPr>
        <p:txBody>
          <a:bodyPr lIns="0" tIns="0" rIns="0" bIns="0" rtlCol="0" anchor="t">
            <a:spAutoFit/>
          </a:bodyPr>
          <a:lstStyle/>
          <a:p>
            <a:pPr algn="ctr">
              <a:lnSpc>
                <a:spcPts val="7280"/>
              </a:lnSpc>
            </a:pPr>
            <a:r>
              <a:rPr lang="en-US" sz="5600" b="1">
                <a:solidFill>
                  <a:srgbClr val="004AAD"/>
                </a:solidFill>
                <a:latin typeface="The Seasons Bold"/>
                <a:ea typeface="The Seasons Bold"/>
                <a:cs typeface="The Seasons Bold"/>
                <a:sym typeface="The Seasons Bold"/>
              </a:rPr>
              <a:t>Les besoins fonctionnels</a:t>
            </a:r>
          </a:p>
        </p:txBody>
      </p:sp>
      <p:sp>
        <p:nvSpPr>
          <p:cNvPr id="14" name="TextBox 14"/>
          <p:cNvSpPr txBox="1"/>
          <p:nvPr/>
        </p:nvSpPr>
        <p:spPr>
          <a:xfrm>
            <a:off x="7525992" y="7154307"/>
            <a:ext cx="4763453" cy="916940"/>
          </a:xfrm>
          <a:prstGeom prst="rect">
            <a:avLst/>
          </a:prstGeom>
        </p:spPr>
        <p:txBody>
          <a:bodyPr lIns="0" tIns="0" rIns="0" bIns="0" rtlCol="0" anchor="t">
            <a:spAutoFit/>
          </a:bodyPr>
          <a:lstStyle/>
          <a:p>
            <a:pPr algn="ctr">
              <a:lnSpc>
                <a:spcPts val="7150"/>
              </a:lnSpc>
            </a:pPr>
            <a:r>
              <a:rPr lang="en-US" sz="4400">
                <a:solidFill>
                  <a:srgbClr val="000000"/>
                </a:solidFill>
                <a:latin typeface="The Seasons"/>
                <a:ea typeface="The Seasons"/>
                <a:cs typeface="The Seasons"/>
                <a:sym typeface="The Seasons"/>
              </a:rPr>
              <a:t>Administrateur</a:t>
            </a:r>
          </a:p>
        </p:txBody>
      </p:sp>
      <p:grpSp>
        <p:nvGrpSpPr>
          <p:cNvPr id="15" name="Group 15"/>
          <p:cNvGrpSpPr/>
          <p:nvPr/>
        </p:nvGrpSpPr>
        <p:grpSpPr>
          <a:xfrm>
            <a:off x="2483952" y="2353409"/>
            <a:ext cx="3736546" cy="722872"/>
            <a:chOff x="0" y="0"/>
            <a:chExt cx="4982061" cy="963829"/>
          </a:xfrm>
        </p:grpSpPr>
        <p:sp>
          <p:nvSpPr>
            <p:cNvPr id="16" name="Freeform 16"/>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17" name="Group 17"/>
          <p:cNvGrpSpPr/>
          <p:nvPr/>
        </p:nvGrpSpPr>
        <p:grpSpPr>
          <a:xfrm>
            <a:off x="2483952" y="2208748"/>
            <a:ext cx="3736546" cy="867533"/>
            <a:chOff x="0" y="0"/>
            <a:chExt cx="4982061" cy="1156711"/>
          </a:xfrm>
        </p:grpSpPr>
        <p:sp>
          <p:nvSpPr>
            <p:cNvPr id="18" name="Freeform 18"/>
            <p:cNvSpPr/>
            <p:nvPr/>
          </p:nvSpPr>
          <p:spPr>
            <a:xfrm>
              <a:off x="0" y="0"/>
              <a:ext cx="4982061" cy="1156711"/>
            </a:xfrm>
            <a:custGeom>
              <a:avLst/>
              <a:gdLst/>
              <a:ahLst/>
              <a:cxnLst/>
              <a:rect l="l" t="t" r="r" b="b"/>
              <a:pathLst>
                <a:path w="4982061" h="1156711">
                  <a:moveTo>
                    <a:pt x="0" y="0"/>
                  </a:moveTo>
                  <a:lnTo>
                    <a:pt x="4982061" y="0"/>
                  </a:lnTo>
                  <a:lnTo>
                    <a:pt x="4982061" y="1156711"/>
                  </a:lnTo>
                  <a:lnTo>
                    <a:pt x="0" y="1156711"/>
                  </a:lnTo>
                  <a:close/>
                </a:path>
              </a:pathLst>
            </a:custGeom>
            <a:solidFill>
              <a:srgbClr val="000000">
                <a:alpha val="0"/>
              </a:srgbClr>
            </a:solidFill>
          </p:spPr>
        </p:sp>
        <p:sp>
          <p:nvSpPr>
            <p:cNvPr id="19" name="TextBox 19"/>
            <p:cNvSpPr txBox="1"/>
            <p:nvPr/>
          </p:nvSpPr>
          <p:spPr>
            <a:xfrm>
              <a:off x="0" y="-38100"/>
              <a:ext cx="4982061" cy="1194811"/>
            </a:xfrm>
            <a:prstGeom prst="rect">
              <a:avLst/>
            </a:prstGeom>
          </p:spPr>
          <p:txBody>
            <a:bodyPr lIns="0" tIns="0" rIns="0" bIns="0" rtlCol="0" anchor="ctr"/>
            <a:lstStyle/>
            <a:p>
              <a:pPr algn="ctr">
                <a:lnSpc>
                  <a:spcPts val="3250"/>
                </a:lnSpc>
              </a:pPr>
              <a:r>
                <a:rPr lang="en-US" sz="2500">
                  <a:solidFill>
                    <a:srgbClr val="000000"/>
                  </a:solidFill>
                  <a:latin typeface="Alice" panose="00000500000000000000"/>
                  <a:ea typeface="Alice" panose="00000500000000000000"/>
                  <a:cs typeface="Alice" panose="00000500000000000000"/>
                  <a:sym typeface="Alice" panose="00000500000000000000"/>
                </a:rPr>
                <a:t>S’AUTHENTIFIER</a:t>
              </a:r>
            </a:p>
          </p:txBody>
        </p:sp>
      </p:grpSp>
      <p:sp>
        <p:nvSpPr>
          <p:cNvPr id="20" name="Freeform 20"/>
          <p:cNvSpPr/>
          <p:nvPr/>
        </p:nvSpPr>
        <p:spPr>
          <a:xfrm rot="-8884639">
            <a:off x="6652073" y="3121556"/>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8">
              <a:extLst>
                <a:ext uri="{96DAC541-7B7A-43D3-8B79-37D633B846F1}">
                  <asvg:svgBlip xmlns:asvg="http://schemas.microsoft.com/office/drawing/2016/SVG/main" xmlns="" r:embed="rId9"/>
                </a:ext>
              </a:extLst>
            </a:blip>
            <a:stretch>
              <a:fillRect t="-673" b="-673"/>
            </a:stretch>
          </a:blipFill>
        </p:spPr>
      </p:sp>
      <p:grpSp>
        <p:nvGrpSpPr>
          <p:cNvPr id="21" name="Group 21"/>
          <p:cNvGrpSpPr/>
          <p:nvPr/>
        </p:nvGrpSpPr>
        <p:grpSpPr>
          <a:xfrm>
            <a:off x="2483952" y="3355770"/>
            <a:ext cx="3736546" cy="722872"/>
            <a:chOff x="0" y="0"/>
            <a:chExt cx="4982061" cy="963829"/>
          </a:xfrm>
        </p:grpSpPr>
        <p:sp>
          <p:nvSpPr>
            <p:cNvPr id="22" name="Freeform 22"/>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23" name="Group 23"/>
          <p:cNvGrpSpPr/>
          <p:nvPr/>
        </p:nvGrpSpPr>
        <p:grpSpPr>
          <a:xfrm>
            <a:off x="2483952" y="3247274"/>
            <a:ext cx="3736546" cy="831368"/>
            <a:chOff x="0" y="0"/>
            <a:chExt cx="4982061" cy="1108490"/>
          </a:xfrm>
        </p:grpSpPr>
        <p:sp>
          <p:nvSpPr>
            <p:cNvPr id="24" name="Freeform 24"/>
            <p:cNvSpPr/>
            <p:nvPr/>
          </p:nvSpPr>
          <p:spPr>
            <a:xfrm>
              <a:off x="0" y="0"/>
              <a:ext cx="4982061" cy="1108490"/>
            </a:xfrm>
            <a:custGeom>
              <a:avLst/>
              <a:gdLst/>
              <a:ahLst/>
              <a:cxnLst/>
              <a:rect l="l" t="t" r="r" b="b"/>
              <a:pathLst>
                <a:path w="4982061" h="1108490">
                  <a:moveTo>
                    <a:pt x="0" y="0"/>
                  </a:moveTo>
                  <a:lnTo>
                    <a:pt x="4982061" y="0"/>
                  </a:lnTo>
                  <a:lnTo>
                    <a:pt x="4982061" y="1108490"/>
                  </a:lnTo>
                  <a:lnTo>
                    <a:pt x="0" y="1108490"/>
                  </a:lnTo>
                  <a:close/>
                </a:path>
              </a:pathLst>
            </a:custGeom>
            <a:solidFill>
              <a:srgbClr val="000000">
                <a:alpha val="0"/>
              </a:srgbClr>
            </a:solidFill>
          </p:spPr>
        </p:sp>
        <p:sp>
          <p:nvSpPr>
            <p:cNvPr id="25" name="TextBox 25"/>
            <p:cNvSpPr txBox="1"/>
            <p:nvPr/>
          </p:nvSpPr>
          <p:spPr>
            <a:xfrm>
              <a:off x="0" y="-28575"/>
              <a:ext cx="4982061" cy="1137065"/>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GÉRER LES</a:t>
              </a:r>
              <a:r>
                <a:rPr lang="fr-FR" altLang="en-US" sz="2200">
                  <a:solidFill>
                    <a:srgbClr val="000000"/>
                  </a:solidFill>
                  <a:latin typeface="Alice" panose="00000500000000000000"/>
                  <a:ea typeface="Alice" panose="00000500000000000000"/>
                  <a:cs typeface="Alice" panose="00000500000000000000"/>
                  <a:sym typeface="Alice" panose="00000500000000000000"/>
                </a:rPr>
                <a:t> </a:t>
              </a:r>
              <a:r>
                <a:rPr lang="en-US" sz="2200">
                  <a:solidFill>
                    <a:srgbClr val="000000"/>
                  </a:solidFill>
                  <a:latin typeface="Alice" panose="00000500000000000000"/>
                  <a:ea typeface="Alice" panose="00000500000000000000"/>
                  <a:cs typeface="Alice" panose="00000500000000000000"/>
                  <a:sym typeface="Alice" panose="00000500000000000000"/>
                </a:rPr>
                <a:t>ADMIN</a:t>
              </a:r>
            </a:p>
          </p:txBody>
        </p:sp>
      </p:grpSp>
      <p:grpSp>
        <p:nvGrpSpPr>
          <p:cNvPr id="26" name="Group 26"/>
          <p:cNvGrpSpPr/>
          <p:nvPr/>
        </p:nvGrpSpPr>
        <p:grpSpPr>
          <a:xfrm>
            <a:off x="2483952" y="4461900"/>
            <a:ext cx="3736546" cy="722872"/>
            <a:chOff x="0" y="0"/>
            <a:chExt cx="4982061" cy="963829"/>
          </a:xfrm>
        </p:grpSpPr>
        <p:sp>
          <p:nvSpPr>
            <p:cNvPr id="27" name="Freeform 27"/>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28" name="Group 28"/>
          <p:cNvGrpSpPr/>
          <p:nvPr/>
        </p:nvGrpSpPr>
        <p:grpSpPr>
          <a:xfrm>
            <a:off x="2483952" y="4393439"/>
            <a:ext cx="3736546" cy="867533"/>
            <a:chOff x="0" y="0"/>
            <a:chExt cx="4982061" cy="1156711"/>
          </a:xfrm>
        </p:grpSpPr>
        <p:sp>
          <p:nvSpPr>
            <p:cNvPr id="29" name="Freeform 29"/>
            <p:cNvSpPr/>
            <p:nvPr/>
          </p:nvSpPr>
          <p:spPr>
            <a:xfrm>
              <a:off x="0" y="0"/>
              <a:ext cx="4982061" cy="1156711"/>
            </a:xfrm>
            <a:custGeom>
              <a:avLst/>
              <a:gdLst/>
              <a:ahLst/>
              <a:cxnLst/>
              <a:rect l="l" t="t" r="r" b="b"/>
              <a:pathLst>
                <a:path w="4982061" h="1156711">
                  <a:moveTo>
                    <a:pt x="0" y="0"/>
                  </a:moveTo>
                  <a:lnTo>
                    <a:pt x="4982061" y="0"/>
                  </a:lnTo>
                  <a:lnTo>
                    <a:pt x="4982061" y="1156711"/>
                  </a:lnTo>
                  <a:lnTo>
                    <a:pt x="0" y="1156711"/>
                  </a:lnTo>
                  <a:close/>
                </a:path>
              </a:pathLst>
            </a:custGeom>
            <a:solidFill>
              <a:srgbClr val="000000">
                <a:alpha val="0"/>
              </a:srgbClr>
            </a:solidFill>
          </p:spPr>
        </p:sp>
        <p:sp>
          <p:nvSpPr>
            <p:cNvPr id="30" name="TextBox 30"/>
            <p:cNvSpPr txBox="1"/>
            <p:nvPr/>
          </p:nvSpPr>
          <p:spPr>
            <a:xfrm>
              <a:off x="0" y="-38100"/>
              <a:ext cx="4982061" cy="1194811"/>
            </a:xfrm>
            <a:prstGeom prst="rect">
              <a:avLst/>
            </a:prstGeom>
          </p:spPr>
          <p:txBody>
            <a:bodyPr lIns="0" tIns="0" rIns="0" bIns="0" rtlCol="0" anchor="ctr"/>
            <a:lstStyle/>
            <a:p>
              <a:pPr algn="ctr">
                <a:lnSpc>
                  <a:spcPts val="3250"/>
                </a:lnSpc>
              </a:pPr>
              <a:r>
                <a:rPr lang="en-US" sz="2500">
                  <a:solidFill>
                    <a:srgbClr val="000000"/>
                  </a:solidFill>
                  <a:latin typeface="Alice" panose="00000500000000000000"/>
                  <a:ea typeface="Alice" panose="00000500000000000000"/>
                  <a:cs typeface="Alice" panose="00000500000000000000"/>
                  <a:sym typeface="Alice" panose="00000500000000000000"/>
                </a:rPr>
                <a:t>GÉRER PROFIL</a:t>
              </a:r>
            </a:p>
          </p:txBody>
        </p:sp>
      </p:grpSp>
      <p:grpSp>
        <p:nvGrpSpPr>
          <p:cNvPr id="31" name="Group 31"/>
          <p:cNvGrpSpPr/>
          <p:nvPr/>
        </p:nvGrpSpPr>
        <p:grpSpPr>
          <a:xfrm>
            <a:off x="2483952" y="5565772"/>
            <a:ext cx="3736546" cy="847598"/>
            <a:chOff x="0" y="0"/>
            <a:chExt cx="4982061" cy="1130131"/>
          </a:xfrm>
        </p:grpSpPr>
        <p:sp>
          <p:nvSpPr>
            <p:cNvPr id="32" name="Freeform 32"/>
            <p:cNvSpPr/>
            <p:nvPr/>
          </p:nvSpPr>
          <p:spPr>
            <a:xfrm>
              <a:off x="0" y="0"/>
              <a:ext cx="4982083" cy="1130173"/>
            </a:xfrm>
            <a:custGeom>
              <a:avLst/>
              <a:gdLst/>
              <a:ahLst/>
              <a:cxnLst/>
              <a:rect l="l" t="t" r="r" b="b"/>
              <a:pathLst>
                <a:path w="4982083" h="1130173">
                  <a:moveTo>
                    <a:pt x="534924" y="0"/>
                  </a:moveTo>
                  <a:lnTo>
                    <a:pt x="4447159" y="0"/>
                  </a:lnTo>
                  <a:cubicBezTo>
                    <a:pt x="4589018" y="0"/>
                    <a:pt x="4725162" y="56388"/>
                    <a:pt x="4825365" y="156718"/>
                  </a:cubicBezTo>
                  <a:cubicBezTo>
                    <a:pt x="4925568" y="257048"/>
                    <a:pt x="4982083" y="393065"/>
                    <a:pt x="4982083" y="534924"/>
                  </a:cubicBezTo>
                  <a:lnTo>
                    <a:pt x="4982083" y="595122"/>
                  </a:lnTo>
                  <a:cubicBezTo>
                    <a:pt x="4982083" y="736981"/>
                    <a:pt x="4925695" y="873125"/>
                    <a:pt x="4825365" y="973328"/>
                  </a:cubicBezTo>
                  <a:cubicBezTo>
                    <a:pt x="4725035" y="1073531"/>
                    <a:pt x="4589018" y="1130046"/>
                    <a:pt x="4447159" y="1130046"/>
                  </a:cubicBezTo>
                  <a:lnTo>
                    <a:pt x="534924" y="1130046"/>
                  </a:lnTo>
                  <a:cubicBezTo>
                    <a:pt x="239522" y="1130173"/>
                    <a:pt x="0" y="890651"/>
                    <a:pt x="0" y="595122"/>
                  </a:cubicBezTo>
                  <a:lnTo>
                    <a:pt x="0" y="534924"/>
                  </a:lnTo>
                  <a:cubicBezTo>
                    <a:pt x="0" y="393065"/>
                    <a:pt x="56388" y="257048"/>
                    <a:pt x="156718" y="156718"/>
                  </a:cubicBezTo>
                  <a:cubicBezTo>
                    <a:pt x="257048" y="56388"/>
                    <a:pt x="393065" y="0"/>
                    <a:pt x="534924" y="0"/>
                  </a:cubicBezTo>
                  <a:close/>
                </a:path>
              </a:pathLst>
            </a:custGeom>
            <a:solidFill>
              <a:srgbClr val="CC9EA7"/>
            </a:solidFill>
          </p:spPr>
        </p:sp>
      </p:grpSp>
      <p:grpSp>
        <p:nvGrpSpPr>
          <p:cNvPr id="33" name="Group 33"/>
          <p:cNvGrpSpPr/>
          <p:nvPr/>
        </p:nvGrpSpPr>
        <p:grpSpPr>
          <a:xfrm>
            <a:off x="2483952" y="5457276"/>
            <a:ext cx="3736546" cy="956094"/>
            <a:chOff x="0" y="0"/>
            <a:chExt cx="4982061" cy="1274791"/>
          </a:xfrm>
        </p:grpSpPr>
        <p:sp>
          <p:nvSpPr>
            <p:cNvPr id="34" name="Freeform 34"/>
            <p:cNvSpPr/>
            <p:nvPr/>
          </p:nvSpPr>
          <p:spPr>
            <a:xfrm>
              <a:off x="0" y="0"/>
              <a:ext cx="4982061" cy="1274791"/>
            </a:xfrm>
            <a:custGeom>
              <a:avLst/>
              <a:gdLst/>
              <a:ahLst/>
              <a:cxnLst/>
              <a:rect l="l" t="t" r="r" b="b"/>
              <a:pathLst>
                <a:path w="4982061" h="1274791">
                  <a:moveTo>
                    <a:pt x="0" y="0"/>
                  </a:moveTo>
                  <a:lnTo>
                    <a:pt x="4982061" y="0"/>
                  </a:lnTo>
                  <a:lnTo>
                    <a:pt x="4982061" y="1274791"/>
                  </a:lnTo>
                  <a:lnTo>
                    <a:pt x="0" y="1274791"/>
                  </a:lnTo>
                  <a:close/>
                </a:path>
              </a:pathLst>
            </a:custGeom>
            <a:solidFill>
              <a:srgbClr val="000000">
                <a:alpha val="0"/>
              </a:srgbClr>
            </a:solidFill>
          </p:spPr>
        </p:sp>
        <p:sp>
          <p:nvSpPr>
            <p:cNvPr id="35" name="TextBox 35"/>
            <p:cNvSpPr txBox="1"/>
            <p:nvPr/>
          </p:nvSpPr>
          <p:spPr>
            <a:xfrm>
              <a:off x="0" y="-28575"/>
              <a:ext cx="4982061" cy="1303366"/>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GÉRER LES INSCRIPTIONS DES MARQUES</a:t>
              </a:r>
            </a:p>
          </p:txBody>
        </p:sp>
      </p:grpSp>
      <p:grpSp>
        <p:nvGrpSpPr>
          <p:cNvPr id="36" name="Group 36"/>
          <p:cNvGrpSpPr/>
          <p:nvPr/>
        </p:nvGrpSpPr>
        <p:grpSpPr>
          <a:xfrm>
            <a:off x="2483952" y="6928290"/>
            <a:ext cx="3736546" cy="722872"/>
            <a:chOff x="0" y="0"/>
            <a:chExt cx="4982061" cy="963829"/>
          </a:xfrm>
        </p:grpSpPr>
        <p:sp>
          <p:nvSpPr>
            <p:cNvPr id="37" name="Freeform 37"/>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38" name="Group 38"/>
          <p:cNvGrpSpPr/>
          <p:nvPr/>
        </p:nvGrpSpPr>
        <p:grpSpPr>
          <a:xfrm>
            <a:off x="2483952" y="6819794"/>
            <a:ext cx="3736546" cy="831368"/>
            <a:chOff x="0" y="0"/>
            <a:chExt cx="4982061" cy="1108490"/>
          </a:xfrm>
        </p:grpSpPr>
        <p:sp>
          <p:nvSpPr>
            <p:cNvPr id="39" name="Freeform 39"/>
            <p:cNvSpPr/>
            <p:nvPr/>
          </p:nvSpPr>
          <p:spPr>
            <a:xfrm>
              <a:off x="0" y="0"/>
              <a:ext cx="4982061" cy="1108490"/>
            </a:xfrm>
            <a:custGeom>
              <a:avLst/>
              <a:gdLst/>
              <a:ahLst/>
              <a:cxnLst/>
              <a:rect l="l" t="t" r="r" b="b"/>
              <a:pathLst>
                <a:path w="4982061" h="1108490">
                  <a:moveTo>
                    <a:pt x="0" y="0"/>
                  </a:moveTo>
                  <a:lnTo>
                    <a:pt x="4982061" y="0"/>
                  </a:lnTo>
                  <a:lnTo>
                    <a:pt x="4982061" y="1108490"/>
                  </a:lnTo>
                  <a:lnTo>
                    <a:pt x="0" y="1108490"/>
                  </a:lnTo>
                  <a:close/>
                </a:path>
              </a:pathLst>
            </a:custGeom>
            <a:solidFill>
              <a:srgbClr val="000000">
                <a:alpha val="0"/>
              </a:srgbClr>
            </a:solidFill>
          </p:spPr>
        </p:sp>
        <p:sp>
          <p:nvSpPr>
            <p:cNvPr id="40" name="TextBox 40"/>
            <p:cNvSpPr txBox="1"/>
            <p:nvPr/>
          </p:nvSpPr>
          <p:spPr>
            <a:xfrm>
              <a:off x="0" y="-28575"/>
              <a:ext cx="4982061" cy="1137065"/>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GÉRER LES MARQUES</a:t>
              </a:r>
            </a:p>
          </p:txBody>
        </p:sp>
      </p:grpSp>
      <p:grpSp>
        <p:nvGrpSpPr>
          <p:cNvPr id="41" name="Group 41"/>
          <p:cNvGrpSpPr/>
          <p:nvPr/>
        </p:nvGrpSpPr>
        <p:grpSpPr>
          <a:xfrm>
            <a:off x="2483952" y="8041687"/>
            <a:ext cx="3736546" cy="722872"/>
            <a:chOff x="0" y="0"/>
            <a:chExt cx="4982061" cy="963829"/>
          </a:xfrm>
        </p:grpSpPr>
        <p:sp>
          <p:nvSpPr>
            <p:cNvPr id="42" name="Freeform 42"/>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43" name="Group 43"/>
          <p:cNvGrpSpPr/>
          <p:nvPr/>
        </p:nvGrpSpPr>
        <p:grpSpPr>
          <a:xfrm>
            <a:off x="2483952" y="7933191"/>
            <a:ext cx="3736546" cy="831368"/>
            <a:chOff x="0" y="0"/>
            <a:chExt cx="4982061" cy="1108490"/>
          </a:xfrm>
        </p:grpSpPr>
        <p:sp>
          <p:nvSpPr>
            <p:cNvPr id="44" name="Freeform 44"/>
            <p:cNvSpPr/>
            <p:nvPr/>
          </p:nvSpPr>
          <p:spPr>
            <a:xfrm>
              <a:off x="0" y="0"/>
              <a:ext cx="4982061" cy="1108490"/>
            </a:xfrm>
            <a:custGeom>
              <a:avLst/>
              <a:gdLst/>
              <a:ahLst/>
              <a:cxnLst/>
              <a:rect l="l" t="t" r="r" b="b"/>
              <a:pathLst>
                <a:path w="4982061" h="1108490">
                  <a:moveTo>
                    <a:pt x="0" y="0"/>
                  </a:moveTo>
                  <a:lnTo>
                    <a:pt x="4982061" y="0"/>
                  </a:lnTo>
                  <a:lnTo>
                    <a:pt x="4982061" y="1108490"/>
                  </a:lnTo>
                  <a:lnTo>
                    <a:pt x="0" y="1108490"/>
                  </a:lnTo>
                  <a:close/>
                </a:path>
              </a:pathLst>
            </a:custGeom>
            <a:solidFill>
              <a:srgbClr val="000000">
                <a:alpha val="0"/>
              </a:srgbClr>
            </a:solidFill>
          </p:spPr>
        </p:sp>
        <p:sp>
          <p:nvSpPr>
            <p:cNvPr id="45" name="TextBox 45"/>
            <p:cNvSpPr txBox="1"/>
            <p:nvPr/>
          </p:nvSpPr>
          <p:spPr>
            <a:xfrm>
              <a:off x="0" y="-28575"/>
              <a:ext cx="4982061" cy="1137065"/>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GÉRER LES INFLUENCEURS</a:t>
              </a:r>
            </a:p>
          </p:txBody>
        </p:sp>
      </p:grpSp>
      <p:grpSp>
        <p:nvGrpSpPr>
          <p:cNvPr id="46" name="Group 46"/>
          <p:cNvGrpSpPr/>
          <p:nvPr/>
        </p:nvGrpSpPr>
        <p:grpSpPr>
          <a:xfrm>
            <a:off x="13451938" y="2452075"/>
            <a:ext cx="3736546" cy="722872"/>
            <a:chOff x="0" y="0"/>
            <a:chExt cx="4982061" cy="963829"/>
          </a:xfrm>
        </p:grpSpPr>
        <p:sp>
          <p:nvSpPr>
            <p:cNvPr id="47" name="Freeform 47"/>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48" name="Group 48"/>
          <p:cNvGrpSpPr/>
          <p:nvPr/>
        </p:nvGrpSpPr>
        <p:grpSpPr>
          <a:xfrm>
            <a:off x="13451938" y="2343579"/>
            <a:ext cx="3736546" cy="831368"/>
            <a:chOff x="0" y="0"/>
            <a:chExt cx="4982061" cy="1108490"/>
          </a:xfrm>
        </p:grpSpPr>
        <p:sp>
          <p:nvSpPr>
            <p:cNvPr id="49" name="Freeform 49"/>
            <p:cNvSpPr/>
            <p:nvPr/>
          </p:nvSpPr>
          <p:spPr>
            <a:xfrm>
              <a:off x="0" y="0"/>
              <a:ext cx="4982061" cy="1108490"/>
            </a:xfrm>
            <a:custGeom>
              <a:avLst/>
              <a:gdLst/>
              <a:ahLst/>
              <a:cxnLst/>
              <a:rect l="l" t="t" r="r" b="b"/>
              <a:pathLst>
                <a:path w="4982061" h="1108490">
                  <a:moveTo>
                    <a:pt x="0" y="0"/>
                  </a:moveTo>
                  <a:lnTo>
                    <a:pt x="4982061" y="0"/>
                  </a:lnTo>
                  <a:lnTo>
                    <a:pt x="4982061" y="1108490"/>
                  </a:lnTo>
                  <a:lnTo>
                    <a:pt x="0" y="1108490"/>
                  </a:lnTo>
                  <a:close/>
                </a:path>
              </a:pathLst>
            </a:custGeom>
            <a:solidFill>
              <a:srgbClr val="000000">
                <a:alpha val="0"/>
              </a:srgbClr>
            </a:solidFill>
          </p:spPr>
        </p:sp>
        <p:sp>
          <p:nvSpPr>
            <p:cNvPr id="50" name="TextBox 50"/>
            <p:cNvSpPr txBox="1"/>
            <p:nvPr/>
          </p:nvSpPr>
          <p:spPr>
            <a:xfrm>
              <a:off x="0" y="-28575"/>
              <a:ext cx="4982061" cy="1137065"/>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GÉRER CONTACTS</a:t>
              </a:r>
            </a:p>
          </p:txBody>
        </p:sp>
      </p:grpSp>
      <p:grpSp>
        <p:nvGrpSpPr>
          <p:cNvPr id="51" name="Group 51"/>
          <p:cNvGrpSpPr/>
          <p:nvPr/>
        </p:nvGrpSpPr>
        <p:grpSpPr>
          <a:xfrm>
            <a:off x="13522754" y="3687158"/>
            <a:ext cx="3736546" cy="847598"/>
            <a:chOff x="0" y="0"/>
            <a:chExt cx="4982061" cy="1130131"/>
          </a:xfrm>
        </p:grpSpPr>
        <p:sp>
          <p:nvSpPr>
            <p:cNvPr id="52" name="Freeform 52"/>
            <p:cNvSpPr/>
            <p:nvPr/>
          </p:nvSpPr>
          <p:spPr>
            <a:xfrm>
              <a:off x="0" y="0"/>
              <a:ext cx="4982083" cy="1130173"/>
            </a:xfrm>
            <a:custGeom>
              <a:avLst/>
              <a:gdLst/>
              <a:ahLst/>
              <a:cxnLst/>
              <a:rect l="l" t="t" r="r" b="b"/>
              <a:pathLst>
                <a:path w="4982083" h="1130173">
                  <a:moveTo>
                    <a:pt x="534924" y="0"/>
                  </a:moveTo>
                  <a:lnTo>
                    <a:pt x="4447159" y="0"/>
                  </a:lnTo>
                  <a:cubicBezTo>
                    <a:pt x="4589018" y="0"/>
                    <a:pt x="4725162" y="56388"/>
                    <a:pt x="4825365" y="156718"/>
                  </a:cubicBezTo>
                  <a:cubicBezTo>
                    <a:pt x="4925568" y="257048"/>
                    <a:pt x="4982083" y="393065"/>
                    <a:pt x="4982083" y="534924"/>
                  </a:cubicBezTo>
                  <a:lnTo>
                    <a:pt x="4982083" y="595122"/>
                  </a:lnTo>
                  <a:cubicBezTo>
                    <a:pt x="4982083" y="736981"/>
                    <a:pt x="4925695" y="873125"/>
                    <a:pt x="4825365" y="973328"/>
                  </a:cubicBezTo>
                  <a:cubicBezTo>
                    <a:pt x="4725035" y="1073531"/>
                    <a:pt x="4589018" y="1130046"/>
                    <a:pt x="4447159" y="1130046"/>
                  </a:cubicBezTo>
                  <a:lnTo>
                    <a:pt x="534924" y="1130046"/>
                  </a:lnTo>
                  <a:cubicBezTo>
                    <a:pt x="239522" y="1130173"/>
                    <a:pt x="0" y="890651"/>
                    <a:pt x="0" y="595122"/>
                  </a:cubicBezTo>
                  <a:lnTo>
                    <a:pt x="0" y="534924"/>
                  </a:lnTo>
                  <a:cubicBezTo>
                    <a:pt x="0" y="393065"/>
                    <a:pt x="56388" y="257048"/>
                    <a:pt x="156718" y="156718"/>
                  </a:cubicBezTo>
                  <a:cubicBezTo>
                    <a:pt x="257048" y="56388"/>
                    <a:pt x="393065" y="0"/>
                    <a:pt x="534924" y="0"/>
                  </a:cubicBezTo>
                  <a:close/>
                </a:path>
              </a:pathLst>
            </a:custGeom>
            <a:solidFill>
              <a:srgbClr val="CC9EA7"/>
            </a:solidFill>
          </p:spPr>
        </p:sp>
      </p:grpSp>
      <p:grpSp>
        <p:nvGrpSpPr>
          <p:cNvPr id="53" name="Group 53"/>
          <p:cNvGrpSpPr/>
          <p:nvPr/>
        </p:nvGrpSpPr>
        <p:grpSpPr>
          <a:xfrm>
            <a:off x="13522754" y="3578662"/>
            <a:ext cx="3736546" cy="956094"/>
            <a:chOff x="0" y="0"/>
            <a:chExt cx="4982061" cy="1274791"/>
          </a:xfrm>
        </p:grpSpPr>
        <p:sp>
          <p:nvSpPr>
            <p:cNvPr id="54" name="Freeform 54"/>
            <p:cNvSpPr/>
            <p:nvPr/>
          </p:nvSpPr>
          <p:spPr>
            <a:xfrm>
              <a:off x="0" y="0"/>
              <a:ext cx="4982061" cy="1274791"/>
            </a:xfrm>
            <a:custGeom>
              <a:avLst/>
              <a:gdLst/>
              <a:ahLst/>
              <a:cxnLst/>
              <a:rect l="l" t="t" r="r" b="b"/>
              <a:pathLst>
                <a:path w="4982061" h="1274791">
                  <a:moveTo>
                    <a:pt x="0" y="0"/>
                  </a:moveTo>
                  <a:lnTo>
                    <a:pt x="4982061" y="0"/>
                  </a:lnTo>
                  <a:lnTo>
                    <a:pt x="4982061" y="1274791"/>
                  </a:lnTo>
                  <a:lnTo>
                    <a:pt x="0" y="1274791"/>
                  </a:lnTo>
                  <a:close/>
                </a:path>
              </a:pathLst>
            </a:custGeom>
            <a:solidFill>
              <a:srgbClr val="000000">
                <a:alpha val="0"/>
              </a:srgbClr>
            </a:solidFill>
          </p:spPr>
        </p:sp>
        <p:sp>
          <p:nvSpPr>
            <p:cNvPr id="55" name="TextBox 55"/>
            <p:cNvSpPr txBox="1"/>
            <p:nvPr/>
          </p:nvSpPr>
          <p:spPr>
            <a:xfrm>
              <a:off x="0" y="-28575"/>
              <a:ext cx="4982061" cy="1303366"/>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VISUALISER LES COLLABORATIONS</a:t>
              </a:r>
            </a:p>
          </p:txBody>
        </p:sp>
      </p:grpSp>
      <p:grpSp>
        <p:nvGrpSpPr>
          <p:cNvPr id="56" name="Group 56"/>
          <p:cNvGrpSpPr/>
          <p:nvPr/>
        </p:nvGrpSpPr>
        <p:grpSpPr>
          <a:xfrm>
            <a:off x="13597950" y="4942867"/>
            <a:ext cx="3736546" cy="847598"/>
            <a:chOff x="0" y="0"/>
            <a:chExt cx="4982061" cy="1130131"/>
          </a:xfrm>
        </p:grpSpPr>
        <p:sp>
          <p:nvSpPr>
            <p:cNvPr id="57" name="Freeform 57"/>
            <p:cNvSpPr/>
            <p:nvPr/>
          </p:nvSpPr>
          <p:spPr>
            <a:xfrm>
              <a:off x="0" y="0"/>
              <a:ext cx="4982083" cy="1130173"/>
            </a:xfrm>
            <a:custGeom>
              <a:avLst/>
              <a:gdLst/>
              <a:ahLst/>
              <a:cxnLst/>
              <a:rect l="l" t="t" r="r" b="b"/>
              <a:pathLst>
                <a:path w="4982083" h="1130173">
                  <a:moveTo>
                    <a:pt x="534924" y="0"/>
                  </a:moveTo>
                  <a:lnTo>
                    <a:pt x="4447159" y="0"/>
                  </a:lnTo>
                  <a:cubicBezTo>
                    <a:pt x="4589018" y="0"/>
                    <a:pt x="4725162" y="56388"/>
                    <a:pt x="4825365" y="156718"/>
                  </a:cubicBezTo>
                  <a:cubicBezTo>
                    <a:pt x="4925568" y="257048"/>
                    <a:pt x="4982083" y="393065"/>
                    <a:pt x="4982083" y="534924"/>
                  </a:cubicBezTo>
                  <a:lnTo>
                    <a:pt x="4982083" y="595122"/>
                  </a:lnTo>
                  <a:cubicBezTo>
                    <a:pt x="4982083" y="736981"/>
                    <a:pt x="4925695" y="873125"/>
                    <a:pt x="4825365" y="973328"/>
                  </a:cubicBezTo>
                  <a:cubicBezTo>
                    <a:pt x="4725035" y="1073531"/>
                    <a:pt x="4589018" y="1130046"/>
                    <a:pt x="4447159" y="1130046"/>
                  </a:cubicBezTo>
                  <a:lnTo>
                    <a:pt x="534924" y="1130046"/>
                  </a:lnTo>
                  <a:cubicBezTo>
                    <a:pt x="239522" y="1130173"/>
                    <a:pt x="0" y="890651"/>
                    <a:pt x="0" y="595122"/>
                  </a:cubicBezTo>
                  <a:lnTo>
                    <a:pt x="0" y="534924"/>
                  </a:lnTo>
                  <a:cubicBezTo>
                    <a:pt x="0" y="393065"/>
                    <a:pt x="56388" y="257048"/>
                    <a:pt x="156718" y="156718"/>
                  </a:cubicBezTo>
                  <a:cubicBezTo>
                    <a:pt x="257048" y="56388"/>
                    <a:pt x="393065" y="0"/>
                    <a:pt x="534924" y="0"/>
                  </a:cubicBezTo>
                  <a:close/>
                </a:path>
              </a:pathLst>
            </a:custGeom>
            <a:solidFill>
              <a:srgbClr val="CC9EA7"/>
            </a:solidFill>
          </p:spPr>
        </p:sp>
      </p:grpSp>
      <p:grpSp>
        <p:nvGrpSpPr>
          <p:cNvPr id="58" name="Group 58"/>
          <p:cNvGrpSpPr/>
          <p:nvPr/>
        </p:nvGrpSpPr>
        <p:grpSpPr>
          <a:xfrm>
            <a:off x="13597950" y="4834371"/>
            <a:ext cx="3736546" cy="956094"/>
            <a:chOff x="0" y="0"/>
            <a:chExt cx="4982061" cy="1274791"/>
          </a:xfrm>
        </p:grpSpPr>
        <p:sp>
          <p:nvSpPr>
            <p:cNvPr id="59" name="Freeform 59"/>
            <p:cNvSpPr/>
            <p:nvPr/>
          </p:nvSpPr>
          <p:spPr>
            <a:xfrm>
              <a:off x="0" y="0"/>
              <a:ext cx="4982061" cy="1274791"/>
            </a:xfrm>
            <a:custGeom>
              <a:avLst/>
              <a:gdLst/>
              <a:ahLst/>
              <a:cxnLst/>
              <a:rect l="l" t="t" r="r" b="b"/>
              <a:pathLst>
                <a:path w="4982061" h="1274791">
                  <a:moveTo>
                    <a:pt x="0" y="0"/>
                  </a:moveTo>
                  <a:lnTo>
                    <a:pt x="4982061" y="0"/>
                  </a:lnTo>
                  <a:lnTo>
                    <a:pt x="4982061" y="1274791"/>
                  </a:lnTo>
                  <a:lnTo>
                    <a:pt x="0" y="1274791"/>
                  </a:lnTo>
                  <a:close/>
                </a:path>
              </a:pathLst>
            </a:custGeom>
            <a:solidFill>
              <a:srgbClr val="000000">
                <a:alpha val="0"/>
              </a:srgbClr>
            </a:solidFill>
          </p:spPr>
        </p:sp>
        <p:sp>
          <p:nvSpPr>
            <p:cNvPr id="60" name="TextBox 60"/>
            <p:cNvSpPr txBox="1"/>
            <p:nvPr/>
          </p:nvSpPr>
          <p:spPr>
            <a:xfrm>
              <a:off x="0" y="-28575"/>
              <a:ext cx="4982061" cy="1303366"/>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VISUALISER LES STATISTIQUES</a:t>
              </a:r>
            </a:p>
          </p:txBody>
        </p:sp>
      </p:grpSp>
      <p:grpSp>
        <p:nvGrpSpPr>
          <p:cNvPr id="61" name="Group 61"/>
          <p:cNvGrpSpPr/>
          <p:nvPr/>
        </p:nvGrpSpPr>
        <p:grpSpPr>
          <a:xfrm>
            <a:off x="13451938" y="6230509"/>
            <a:ext cx="3736546" cy="1209548"/>
            <a:chOff x="0" y="0"/>
            <a:chExt cx="4982061" cy="1612731"/>
          </a:xfrm>
        </p:grpSpPr>
        <p:sp>
          <p:nvSpPr>
            <p:cNvPr id="62" name="Freeform 62"/>
            <p:cNvSpPr/>
            <p:nvPr/>
          </p:nvSpPr>
          <p:spPr>
            <a:xfrm>
              <a:off x="0" y="0"/>
              <a:ext cx="4982083" cy="1612773"/>
            </a:xfrm>
            <a:custGeom>
              <a:avLst/>
              <a:gdLst/>
              <a:ahLst/>
              <a:cxnLst/>
              <a:rect l="l" t="t" r="r" b="b"/>
              <a:pathLst>
                <a:path w="4982083" h="1612773">
                  <a:moveTo>
                    <a:pt x="534924" y="0"/>
                  </a:moveTo>
                  <a:lnTo>
                    <a:pt x="4447159" y="0"/>
                  </a:lnTo>
                  <a:cubicBezTo>
                    <a:pt x="4589018" y="0"/>
                    <a:pt x="4725162" y="56388"/>
                    <a:pt x="4825365" y="156718"/>
                  </a:cubicBezTo>
                  <a:cubicBezTo>
                    <a:pt x="4925568" y="257048"/>
                    <a:pt x="4982083" y="393065"/>
                    <a:pt x="4982083" y="534924"/>
                  </a:cubicBezTo>
                  <a:lnTo>
                    <a:pt x="4982083" y="1077722"/>
                  </a:lnTo>
                  <a:cubicBezTo>
                    <a:pt x="4982083" y="1219581"/>
                    <a:pt x="4925695" y="1355725"/>
                    <a:pt x="4825365" y="1455928"/>
                  </a:cubicBezTo>
                  <a:cubicBezTo>
                    <a:pt x="4725035" y="1556131"/>
                    <a:pt x="4589018" y="1612646"/>
                    <a:pt x="4447159" y="1612646"/>
                  </a:cubicBezTo>
                  <a:lnTo>
                    <a:pt x="534924" y="1612646"/>
                  </a:lnTo>
                  <a:cubicBezTo>
                    <a:pt x="239522" y="1612773"/>
                    <a:pt x="0" y="1373251"/>
                    <a:pt x="0" y="1077722"/>
                  </a:cubicBezTo>
                  <a:lnTo>
                    <a:pt x="0" y="534924"/>
                  </a:lnTo>
                  <a:cubicBezTo>
                    <a:pt x="0" y="393065"/>
                    <a:pt x="56388" y="257048"/>
                    <a:pt x="156718" y="156718"/>
                  </a:cubicBezTo>
                  <a:cubicBezTo>
                    <a:pt x="257048" y="56388"/>
                    <a:pt x="393065" y="0"/>
                    <a:pt x="534924" y="0"/>
                  </a:cubicBezTo>
                  <a:close/>
                </a:path>
              </a:pathLst>
            </a:custGeom>
            <a:solidFill>
              <a:srgbClr val="CC9EA7"/>
            </a:solidFill>
          </p:spPr>
        </p:sp>
      </p:grpSp>
      <p:grpSp>
        <p:nvGrpSpPr>
          <p:cNvPr id="63" name="Group 63"/>
          <p:cNvGrpSpPr/>
          <p:nvPr/>
        </p:nvGrpSpPr>
        <p:grpSpPr>
          <a:xfrm>
            <a:off x="13451938" y="6122013"/>
            <a:ext cx="3736546" cy="1318044"/>
            <a:chOff x="0" y="0"/>
            <a:chExt cx="4982061" cy="1757392"/>
          </a:xfrm>
        </p:grpSpPr>
        <p:sp>
          <p:nvSpPr>
            <p:cNvPr id="64" name="Freeform 64"/>
            <p:cNvSpPr/>
            <p:nvPr/>
          </p:nvSpPr>
          <p:spPr>
            <a:xfrm>
              <a:off x="0" y="0"/>
              <a:ext cx="4982061" cy="1757392"/>
            </a:xfrm>
            <a:custGeom>
              <a:avLst/>
              <a:gdLst/>
              <a:ahLst/>
              <a:cxnLst/>
              <a:rect l="l" t="t" r="r" b="b"/>
              <a:pathLst>
                <a:path w="4982061" h="1757392">
                  <a:moveTo>
                    <a:pt x="0" y="0"/>
                  </a:moveTo>
                  <a:lnTo>
                    <a:pt x="4982061" y="0"/>
                  </a:lnTo>
                  <a:lnTo>
                    <a:pt x="4982061" y="1757392"/>
                  </a:lnTo>
                  <a:lnTo>
                    <a:pt x="0" y="1757392"/>
                  </a:lnTo>
                  <a:close/>
                </a:path>
              </a:pathLst>
            </a:custGeom>
            <a:solidFill>
              <a:srgbClr val="000000">
                <a:alpha val="0"/>
              </a:srgbClr>
            </a:solidFill>
          </p:spPr>
        </p:sp>
        <p:sp>
          <p:nvSpPr>
            <p:cNvPr id="65" name="TextBox 65"/>
            <p:cNvSpPr txBox="1"/>
            <p:nvPr/>
          </p:nvSpPr>
          <p:spPr>
            <a:xfrm>
              <a:off x="0" y="-28575"/>
              <a:ext cx="4982061" cy="1785967"/>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VISUALISATIONS DES TRANSACTIONS FINANCIÈRES </a:t>
              </a:r>
            </a:p>
          </p:txBody>
        </p:sp>
      </p:grpSp>
      <p:sp>
        <p:nvSpPr>
          <p:cNvPr id="66" name="Freeform 66"/>
          <p:cNvSpPr/>
          <p:nvPr/>
        </p:nvSpPr>
        <p:spPr>
          <a:xfrm rot="-9571791">
            <a:off x="6652073" y="3916106"/>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8">
              <a:extLst>
                <a:ext uri="{96DAC541-7B7A-43D3-8B79-37D633B846F1}">
                  <asvg:svgBlip xmlns:asvg="http://schemas.microsoft.com/office/drawing/2016/SVG/main" xmlns="" r:embed="rId9"/>
                </a:ext>
              </a:extLst>
            </a:blip>
            <a:stretch>
              <a:fillRect t="-673" b="-673"/>
            </a:stretch>
          </a:blipFill>
        </p:spPr>
      </p:sp>
      <p:sp>
        <p:nvSpPr>
          <p:cNvPr id="67" name="Freeform 67"/>
          <p:cNvSpPr/>
          <p:nvPr/>
        </p:nvSpPr>
        <p:spPr>
          <a:xfrm rot="-10123486">
            <a:off x="6645515" y="4852574"/>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8">
              <a:extLst>
                <a:ext uri="{96DAC541-7B7A-43D3-8B79-37D633B846F1}">
                  <asvg:svgBlip xmlns:asvg="http://schemas.microsoft.com/office/drawing/2016/SVG/main" xmlns="" r:embed="rId9"/>
                </a:ext>
              </a:extLst>
            </a:blip>
            <a:stretch>
              <a:fillRect t="-673" b="-673"/>
            </a:stretch>
          </a:blipFill>
        </p:spPr>
      </p:sp>
      <p:sp>
        <p:nvSpPr>
          <p:cNvPr id="68" name="Freeform 68"/>
          <p:cNvSpPr/>
          <p:nvPr/>
        </p:nvSpPr>
        <p:spPr>
          <a:xfrm rot="10715290">
            <a:off x="6638958" y="5789042"/>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8">
              <a:extLst>
                <a:ext uri="{96DAC541-7B7A-43D3-8B79-37D633B846F1}">
                  <asvg:svgBlip xmlns:asvg="http://schemas.microsoft.com/office/drawing/2016/SVG/main" xmlns="" r:embed="rId9"/>
                </a:ext>
              </a:extLst>
            </a:blip>
            <a:stretch>
              <a:fillRect t="-673" b="-673"/>
            </a:stretch>
          </a:blipFill>
        </p:spPr>
      </p:sp>
      <p:sp>
        <p:nvSpPr>
          <p:cNvPr id="69" name="Freeform 69"/>
          <p:cNvSpPr/>
          <p:nvPr/>
        </p:nvSpPr>
        <p:spPr>
          <a:xfrm rot="9937030">
            <a:off x="6632400" y="6725511"/>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8">
              <a:extLst>
                <a:ext uri="{96DAC541-7B7A-43D3-8B79-37D633B846F1}">
                  <asvg:svgBlip xmlns:asvg="http://schemas.microsoft.com/office/drawing/2016/SVG/main" xmlns="" r:embed="rId9"/>
                </a:ext>
              </a:extLst>
            </a:blip>
            <a:stretch>
              <a:fillRect t="-673" b="-673"/>
            </a:stretch>
          </a:blipFill>
        </p:spPr>
      </p:sp>
      <p:sp>
        <p:nvSpPr>
          <p:cNvPr id="70" name="Freeform 70"/>
          <p:cNvSpPr/>
          <p:nvPr/>
        </p:nvSpPr>
        <p:spPr>
          <a:xfrm rot="-1087634">
            <a:off x="11836146" y="3116733"/>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8">
              <a:extLst>
                <a:ext uri="{96DAC541-7B7A-43D3-8B79-37D633B846F1}">
                  <asvg:svgBlip xmlns:asvg="http://schemas.microsoft.com/office/drawing/2016/SVG/main" xmlns="" r:embed="rId9"/>
                </a:ext>
              </a:extLst>
            </a:blip>
            <a:stretch>
              <a:fillRect t="-673" b="-673"/>
            </a:stretch>
          </a:blipFill>
        </p:spPr>
      </p:sp>
      <p:sp>
        <p:nvSpPr>
          <p:cNvPr id="71" name="Freeform 71"/>
          <p:cNvSpPr/>
          <p:nvPr/>
        </p:nvSpPr>
        <p:spPr>
          <a:xfrm rot="-679227">
            <a:off x="12061588" y="4235986"/>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8">
              <a:extLst>
                <a:ext uri="{96DAC541-7B7A-43D3-8B79-37D633B846F1}">
                  <asvg:svgBlip xmlns:asvg="http://schemas.microsoft.com/office/drawing/2016/SVG/main" xmlns="" r:embed="rId9"/>
                </a:ext>
              </a:extLst>
            </a:blip>
            <a:stretch>
              <a:fillRect t="-673" b="-673"/>
            </a:stretch>
          </a:blipFill>
        </p:spPr>
      </p:sp>
      <p:sp>
        <p:nvSpPr>
          <p:cNvPr id="72" name="Freeform 72"/>
          <p:cNvSpPr/>
          <p:nvPr/>
        </p:nvSpPr>
        <p:spPr>
          <a:xfrm rot="-403782">
            <a:off x="12022540" y="5331704"/>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8">
              <a:extLst>
                <a:ext uri="{96DAC541-7B7A-43D3-8B79-37D633B846F1}">
                  <asvg:svgBlip xmlns:asvg="http://schemas.microsoft.com/office/drawing/2016/SVG/main" xmlns="" r:embed="rId9"/>
                </a:ext>
              </a:extLst>
            </a:blip>
            <a:stretch>
              <a:fillRect t="-673" b="-673"/>
            </a:stretch>
          </a:blipFill>
        </p:spPr>
      </p:sp>
      <p:sp>
        <p:nvSpPr>
          <p:cNvPr id="73" name="Freeform 73"/>
          <p:cNvSpPr/>
          <p:nvPr/>
        </p:nvSpPr>
        <p:spPr>
          <a:xfrm rot="899872">
            <a:off x="12118900" y="6392890"/>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8">
              <a:extLst>
                <a:ext uri="{96DAC541-7B7A-43D3-8B79-37D633B846F1}">
                  <asvg:svgBlip xmlns:asvg="http://schemas.microsoft.com/office/drawing/2016/SVG/main" xmlns="" r:embed="rId9"/>
                </a:ext>
              </a:extLst>
            </a:blip>
            <a:stretch>
              <a:fillRect t="-673" b="-673"/>
            </a:stretch>
          </a:blipFill>
        </p:spPr>
      </p:sp>
      <p:sp>
        <p:nvSpPr>
          <p:cNvPr id="74" name="Freeform 74"/>
          <p:cNvSpPr/>
          <p:nvPr/>
        </p:nvSpPr>
        <p:spPr>
          <a:xfrm rot="9374165">
            <a:off x="6281284" y="7880290"/>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8">
              <a:extLst>
                <a:ext uri="{96DAC541-7B7A-43D3-8B79-37D633B846F1}">
                  <asvg:svgBlip xmlns:asvg="http://schemas.microsoft.com/office/drawing/2016/SVG/main" xmlns="" r:embed="rId9"/>
                </a:ext>
              </a:extLst>
            </a:blip>
            <a:stretch>
              <a:fillRect t="-673" b="-673"/>
            </a:stretch>
          </a:blipFill>
        </p:spPr>
      </p:sp>
      <p:sp>
        <p:nvSpPr>
          <p:cNvPr id="75" name="TextBox 75"/>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4E5E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4"/>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5"/>
              <a:stretch>
                <a:fillRect t="-2188" r="-68" b="-2188"/>
              </a:stretch>
            </a:blipFill>
          </p:spPr>
        </p:sp>
      </p:grpSp>
      <p:grpSp>
        <p:nvGrpSpPr>
          <p:cNvPr id="8" name="Group 8"/>
          <p:cNvGrpSpPr/>
          <p:nvPr/>
        </p:nvGrpSpPr>
        <p:grpSpPr>
          <a:xfrm>
            <a:off x="429462" y="8292862"/>
            <a:ext cx="1285248" cy="1285248"/>
            <a:chOff x="0" y="0"/>
            <a:chExt cx="1713664" cy="1713664"/>
          </a:xfrm>
        </p:grpSpPr>
        <p:sp>
          <p:nvSpPr>
            <p:cNvPr id="9" name="Freeform 9"/>
            <p:cNvSpPr/>
            <p:nvPr/>
          </p:nvSpPr>
          <p:spPr>
            <a:xfrm>
              <a:off x="0" y="0"/>
              <a:ext cx="1713611" cy="1713611"/>
            </a:xfrm>
            <a:custGeom>
              <a:avLst/>
              <a:gdLst/>
              <a:ahLst/>
              <a:cxnLst/>
              <a:rect l="l" t="t" r="r" b="b"/>
              <a:pathLst>
                <a:path w="1713611" h="1713611">
                  <a:moveTo>
                    <a:pt x="0" y="0"/>
                  </a:moveTo>
                  <a:lnTo>
                    <a:pt x="1713611" y="0"/>
                  </a:lnTo>
                  <a:lnTo>
                    <a:pt x="1713611" y="1713611"/>
                  </a:lnTo>
                  <a:lnTo>
                    <a:pt x="0" y="1713611"/>
                  </a:lnTo>
                  <a:lnTo>
                    <a:pt x="0" y="0"/>
                  </a:lnTo>
                  <a:close/>
                </a:path>
              </a:pathLst>
            </a:custGeom>
            <a:blipFill>
              <a:blip r:embed="rId6"/>
              <a:stretch>
                <a:fillRect r="-3" b="-3"/>
              </a:stretch>
            </a:blipFill>
          </p:spPr>
        </p:sp>
      </p:grpSp>
      <p:sp>
        <p:nvSpPr>
          <p:cNvPr id="10" name="TextBox 10"/>
          <p:cNvSpPr txBox="1"/>
          <p:nvPr/>
        </p:nvSpPr>
        <p:spPr>
          <a:xfrm rot="-5400000">
            <a:off x="-3033354" y="360766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Spécification des besoins</a:t>
            </a:r>
          </a:p>
        </p:txBody>
      </p:sp>
      <p:sp>
        <p:nvSpPr>
          <p:cNvPr id="11" name="TextBox 11"/>
          <p:cNvSpPr txBox="1"/>
          <p:nvPr/>
        </p:nvSpPr>
        <p:spPr>
          <a:xfrm>
            <a:off x="5668431" y="305582"/>
            <a:ext cx="7731204" cy="1906270"/>
          </a:xfrm>
          <a:prstGeom prst="rect">
            <a:avLst/>
          </a:prstGeom>
        </p:spPr>
        <p:txBody>
          <a:bodyPr lIns="0" tIns="0" rIns="0" bIns="0" rtlCol="0" anchor="t">
            <a:spAutoFit/>
          </a:bodyPr>
          <a:lstStyle/>
          <a:p>
            <a:pPr algn="ctr">
              <a:lnSpc>
                <a:spcPts val="7280"/>
              </a:lnSpc>
            </a:pPr>
            <a:r>
              <a:rPr lang="en-US" sz="5600" b="1">
                <a:solidFill>
                  <a:srgbClr val="004AAD"/>
                </a:solidFill>
                <a:latin typeface="The Seasons Bold"/>
                <a:ea typeface="The Seasons Bold"/>
                <a:cs typeface="The Seasons Bold"/>
                <a:sym typeface="The Seasons Bold"/>
              </a:rPr>
              <a:t>Les besoins fonctionnels</a:t>
            </a:r>
          </a:p>
        </p:txBody>
      </p:sp>
      <p:sp>
        <p:nvSpPr>
          <p:cNvPr id="12" name="TextBox 12"/>
          <p:cNvSpPr txBox="1"/>
          <p:nvPr/>
        </p:nvSpPr>
        <p:spPr>
          <a:xfrm>
            <a:off x="8651364" y="6553695"/>
            <a:ext cx="2427327" cy="916940"/>
          </a:xfrm>
          <a:prstGeom prst="rect">
            <a:avLst/>
          </a:prstGeom>
        </p:spPr>
        <p:txBody>
          <a:bodyPr lIns="0" tIns="0" rIns="0" bIns="0" rtlCol="0" anchor="t">
            <a:spAutoFit/>
          </a:bodyPr>
          <a:lstStyle/>
          <a:p>
            <a:pPr algn="ctr">
              <a:lnSpc>
                <a:spcPts val="7150"/>
              </a:lnSpc>
            </a:pPr>
            <a:r>
              <a:rPr lang="en-US" sz="4800">
                <a:solidFill>
                  <a:srgbClr val="000000"/>
                </a:solidFill>
                <a:latin typeface="The Seasons"/>
                <a:ea typeface="The Seasons"/>
                <a:cs typeface="The Seasons"/>
                <a:sym typeface="The Seasons"/>
              </a:rPr>
              <a:t>Marq</a:t>
            </a:r>
            <a:r>
              <a:rPr lang="fr-FR" altLang="en-US" sz="4800">
                <a:solidFill>
                  <a:srgbClr val="000000"/>
                </a:solidFill>
                <a:latin typeface="The Seasons"/>
                <a:ea typeface="The Seasons"/>
                <a:cs typeface="The Seasons"/>
                <a:sym typeface="The Seasons"/>
              </a:rPr>
              <a:t>u</a:t>
            </a:r>
            <a:r>
              <a:rPr lang="en-US" sz="4800">
                <a:solidFill>
                  <a:srgbClr val="000000"/>
                </a:solidFill>
                <a:latin typeface="The Seasons"/>
                <a:ea typeface="The Seasons"/>
                <a:cs typeface="The Seasons"/>
                <a:sym typeface="The Seasons"/>
              </a:rPr>
              <a:t>e</a:t>
            </a:r>
            <a:endParaRPr lang="en-US" sz="5500">
              <a:solidFill>
                <a:srgbClr val="000000"/>
              </a:solidFill>
              <a:latin typeface="The Seasons"/>
              <a:ea typeface="The Seasons"/>
              <a:cs typeface="The Seasons"/>
              <a:sym typeface="The Seasons"/>
            </a:endParaRPr>
          </a:p>
        </p:txBody>
      </p:sp>
      <p:grpSp>
        <p:nvGrpSpPr>
          <p:cNvPr id="13" name="Group 13"/>
          <p:cNvGrpSpPr/>
          <p:nvPr/>
        </p:nvGrpSpPr>
        <p:grpSpPr>
          <a:xfrm>
            <a:off x="2483952" y="1923724"/>
            <a:ext cx="3736546" cy="722872"/>
            <a:chOff x="0" y="0"/>
            <a:chExt cx="4982061" cy="963829"/>
          </a:xfrm>
        </p:grpSpPr>
        <p:sp>
          <p:nvSpPr>
            <p:cNvPr id="14" name="Freeform 14"/>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15" name="Group 15"/>
          <p:cNvGrpSpPr/>
          <p:nvPr/>
        </p:nvGrpSpPr>
        <p:grpSpPr>
          <a:xfrm>
            <a:off x="2483952" y="1779063"/>
            <a:ext cx="3736546" cy="867533"/>
            <a:chOff x="0" y="0"/>
            <a:chExt cx="4982061" cy="1156711"/>
          </a:xfrm>
        </p:grpSpPr>
        <p:sp>
          <p:nvSpPr>
            <p:cNvPr id="16" name="Freeform 16"/>
            <p:cNvSpPr/>
            <p:nvPr/>
          </p:nvSpPr>
          <p:spPr>
            <a:xfrm>
              <a:off x="0" y="0"/>
              <a:ext cx="4982061" cy="1156711"/>
            </a:xfrm>
            <a:custGeom>
              <a:avLst/>
              <a:gdLst/>
              <a:ahLst/>
              <a:cxnLst/>
              <a:rect l="l" t="t" r="r" b="b"/>
              <a:pathLst>
                <a:path w="4982061" h="1156711">
                  <a:moveTo>
                    <a:pt x="0" y="0"/>
                  </a:moveTo>
                  <a:lnTo>
                    <a:pt x="4982061" y="0"/>
                  </a:lnTo>
                  <a:lnTo>
                    <a:pt x="4982061" y="1156711"/>
                  </a:lnTo>
                  <a:lnTo>
                    <a:pt x="0" y="1156711"/>
                  </a:lnTo>
                  <a:close/>
                </a:path>
              </a:pathLst>
            </a:custGeom>
            <a:solidFill>
              <a:srgbClr val="000000">
                <a:alpha val="0"/>
              </a:srgbClr>
            </a:solidFill>
          </p:spPr>
        </p:sp>
        <p:sp>
          <p:nvSpPr>
            <p:cNvPr id="17" name="TextBox 17"/>
            <p:cNvSpPr txBox="1"/>
            <p:nvPr/>
          </p:nvSpPr>
          <p:spPr>
            <a:xfrm>
              <a:off x="0" y="-38100"/>
              <a:ext cx="4982061" cy="1194811"/>
            </a:xfrm>
            <a:prstGeom prst="rect">
              <a:avLst/>
            </a:prstGeom>
          </p:spPr>
          <p:txBody>
            <a:bodyPr lIns="0" tIns="0" rIns="0" bIns="0" rtlCol="0" anchor="ctr"/>
            <a:lstStyle/>
            <a:p>
              <a:pPr algn="ctr">
                <a:lnSpc>
                  <a:spcPts val="3250"/>
                </a:lnSpc>
              </a:pPr>
              <a:r>
                <a:rPr lang="en-US" sz="2500">
                  <a:solidFill>
                    <a:srgbClr val="000000"/>
                  </a:solidFill>
                  <a:latin typeface="Alice" panose="00000500000000000000"/>
                  <a:ea typeface="Alice" panose="00000500000000000000"/>
                  <a:cs typeface="Alice" panose="00000500000000000000"/>
                  <a:sym typeface="Alice" panose="00000500000000000000"/>
                </a:rPr>
                <a:t>S’INSCRIRE</a:t>
              </a:r>
            </a:p>
          </p:txBody>
        </p:sp>
      </p:grpSp>
      <p:sp>
        <p:nvSpPr>
          <p:cNvPr id="18" name="Freeform 18"/>
          <p:cNvSpPr/>
          <p:nvPr/>
        </p:nvSpPr>
        <p:spPr>
          <a:xfrm rot="-8884639">
            <a:off x="6652073" y="2520944"/>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grpSp>
        <p:nvGrpSpPr>
          <p:cNvPr id="19" name="Group 19"/>
          <p:cNvGrpSpPr/>
          <p:nvPr/>
        </p:nvGrpSpPr>
        <p:grpSpPr>
          <a:xfrm>
            <a:off x="2483952" y="2926085"/>
            <a:ext cx="3736546" cy="722872"/>
            <a:chOff x="0" y="0"/>
            <a:chExt cx="4982061" cy="963829"/>
          </a:xfrm>
        </p:grpSpPr>
        <p:sp>
          <p:nvSpPr>
            <p:cNvPr id="20" name="Freeform 20"/>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21" name="Group 21"/>
          <p:cNvGrpSpPr/>
          <p:nvPr/>
        </p:nvGrpSpPr>
        <p:grpSpPr>
          <a:xfrm>
            <a:off x="2483952" y="2817589"/>
            <a:ext cx="3736546" cy="831368"/>
            <a:chOff x="0" y="0"/>
            <a:chExt cx="4982061" cy="1108490"/>
          </a:xfrm>
        </p:grpSpPr>
        <p:sp>
          <p:nvSpPr>
            <p:cNvPr id="22" name="Freeform 22"/>
            <p:cNvSpPr/>
            <p:nvPr/>
          </p:nvSpPr>
          <p:spPr>
            <a:xfrm>
              <a:off x="0" y="0"/>
              <a:ext cx="4982061" cy="1108490"/>
            </a:xfrm>
            <a:custGeom>
              <a:avLst/>
              <a:gdLst/>
              <a:ahLst/>
              <a:cxnLst/>
              <a:rect l="l" t="t" r="r" b="b"/>
              <a:pathLst>
                <a:path w="4982061" h="1108490">
                  <a:moveTo>
                    <a:pt x="0" y="0"/>
                  </a:moveTo>
                  <a:lnTo>
                    <a:pt x="4982061" y="0"/>
                  </a:lnTo>
                  <a:lnTo>
                    <a:pt x="4982061" y="1108490"/>
                  </a:lnTo>
                  <a:lnTo>
                    <a:pt x="0" y="1108490"/>
                  </a:lnTo>
                  <a:close/>
                </a:path>
              </a:pathLst>
            </a:custGeom>
            <a:solidFill>
              <a:srgbClr val="000000">
                <a:alpha val="0"/>
              </a:srgbClr>
            </a:solidFill>
          </p:spPr>
        </p:sp>
        <p:sp>
          <p:nvSpPr>
            <p:cNvPr id="23" name="TextBox 23"/>
            <p:cNvSpPr txBox="1"/>
            <p:nvPr/>
          </p:nvSpPr>
          <p:spPr>
            <a:xfrm>
              <a:off x="0" y="-28575"/>
              <a:ext cx="4982061" cy="1137065"/>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S’AUTHENTIFIER</a:t>
              </a:r>
            </a:p>
          </p:txBody>
        </p:sp>
      </p:grpSp>
      <p:grpSp>
        <p:nvGrpSpPr>
          <p:cNvPr id="24" name="Group 24"/>
          <p:cNvGrpSpPr/>
          <p:nvPr/>
        </p:nvGrpSpPr>
        <p:grpSpPr>
          <a:xfrm>
            <a:off x="2483952" y="4032214"/>
            <a:ext cx="3736546" cy="847598"/>
            <a:chOff x="0" y="0"/>
            <a:chExt cx="4982061" cy="1130131"/>
          </a:xfrm>
        </p:grpSpPr>
        <p:sp>
          <p:nvSpPr>
            <p:cNvPr id="25" name="Freeform 25"/>
            <p:cNvSpPr/>
            <p:nvPr/>
          </p:nvSpPr>
          <p:spPr>
            <a:xfrm>
              <a:off x="0" y="0"/>
              <a:ext cx="4982083" cy="1130173"/>
            </a:xfrm>
            <a:custGeom>
              <a:avLst/>
              <a:gdLst/>
              <a:ahLst/>
              <a:cxnLst/>
              <a:rect l="l" t="t" r="r" b="b"/>
              <a:pathLst>
                <a:path w="4982083" h="1130173">
                  <a:moveTo>
                    <a:pt x="534924" y="0"/>
                  </a:moveTo>
                  <a:lnTo>
                    <a:pt x="4447159" y="0"/>
                  </a:lnTo>
                  <a:cubicBezTo>
                    <a:pt x="4589018" y="0"/>
                    <a:pt x="4725162" y="56388"/>
                    <a:pt x="4825365" y="156718"/>
                  </a:cubicBezTo>
                  <a:cubicBezTo>
                    <a:pt x="4925568" y="257048"/>
                    <a:pt x="4982083" y="393065"/>
                    <a:pt x="4982083" y="534924"/>
                  </a:cubicBezTo>
                  <a:lnTo>
                    <a:pt x="4982083" y="595122"/>
                  </a:lnTo>
                  <a:cubicBezTo>
                    <a:pt x="4982083" y="736981"/>
                    <a:pt x="4925695" y="873125"/>
                    <a:pt x="4825365" y="973328"/>
                  </a:cubicBezTo>
                  <a:cubicBezTo>
                    <a:pt x="4725035" y="1073531"/>
                    <a:pt x="4589018" y="1130046"/>
                    <a:pt x="4447159" y="1130046"/>
                  </a:cubicBezTo>
                  <a:lnTo>
                    <a:pt x="534924" y="1130046"/>
                  </a:lnTo>
                  <a:cubicBezTo>
                    <a:pt x="239522" y="1130173"/>
                    <a:pt x="0" y="890651"/>
                    <a:pt x="0" y="595122"/>
                  </a:cubicBezTo>
                  <a:lnTo>
                    <a:pt x="0" y="534924"/>
                  </a:lnTo>
                  <a:cubicBezTo>
                    <a:pt x="0" y="393065"/>
                    <a:pt x="56388" y="257048"/>
                    <a:pt x="156718" y="156718"/>
                  </a:cubicBezTo>
                  <a:cubicBezTo>
                    <a:pt x="257048" y="56388"/>
                    <a:pt x="393065" y="0"/>
                    <a:pt x="534924" y="0"/>
                  </a:cubicBezTo>
                  <a:close/>
                </a:path>
              </a:pathLst>
            </a:custGeom>
            <a:solidFill>
              <a:srgbClr val="CC9EA7"/>
            </a:solidFill>
          </p:spPr>
        </p:sp>
      </p:grpSp>
      <p:grpSp>
        <p:nvGrpSpPr>
          <p:cNvPr id="26" name="Group 26"/>
          <p:cNvGrpSpPr/>
          <p:nvPr/>
        </p:nvGrpSpPr>
        <p:grpSpPr>
          <a:xfrm>
            <a:off x="2483952" y="3923718"/>
            <a:ext cx="3736546" cy="956094"/>
            <a:chOff x="0" y="0"/>
            <a:chExt cx="4982061" cy="1274791"/>
          </a:xfrm>
        </p:grpSpPr>
        <p:sp>
          <p:nvSpPr>
            <p:cNvPr id="27" name="Freeform 27"/>
            <p:cNvSpPr/>
            <p:nvPr/>
          </p:nvSpPr>
          <p:spPr>
            <a:xfrm>
              <a:off x="0" y="0"/>
              <a:ext cx="4982061" cy="1274791"/>
            </a:xfrm>
            <a:custGeom>
              <a:avLst/>
              <a:gdLst/>
              <a:ahLst/>
              <a:cxnLst/>
              <a:rect l="l" t="t" r="r" b="b"/>
              <a:pathLst>
                <a:path w="4982061" h="1274791">
                  <a:moveTo>
                    <a:pt x="0" y="0"/>
                  </a:moveTo>
                  <a:lnTo>
                    <a:pt x="4982061" y="0"/>
                  </a:lnTo>
                  <a:lnTo>
                    <a:pt x="4982061" y="1274791"/>
                  </a:lnTo>
                  <a:lnTo>
                    <a:pt x="0" y="1274791"/>
                  </a:lnTo>
                  <a:close/>
                </a:path>
              </a:pathLst>
            </a:custGeom>
            <a:solidFill>
              <a:srgbClr val="000000">
                <a:alpha val="0"/>
              </a:srgbClr>
            </a:solidFill>
          </p:spPr>
        </p:sp>
        <p:sp>
          <p:nvSpPr>
            <p:cNvPr id="28" name="TextBox 28"/>
            <p:cNvSpPr txBox="1"/>
            <p:nvPr/>
          </p:nvSpPr>
          <p:spPr>
            <a:xfrm>
              <a:off x="0" y="-28575"/>
              <a:ext cx="4982061" cy="1303366"/>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VISUALISER LES STATISTIQUES</a:t>
              </a:r>
            </a:p>
          </p:txBody>
        </p:sp>
      </p:grpSp>
      <p:grpSp>
        <p:nvGrpSpPr>
          <p:cNvPr id="29" name="Group 29"/>
          <p:cNvGrpSpPr/>
          <p:nvPr/>
        </p:nvGrpSpPr>
        <p:grpSpPr>
          <a:xfrm>
            <a:off x="2678156" y="5372018"/>
            <a:ext cx="3736546" cy="722872"/>
            <a:chOff x="0" y="0"/>
            <a:chExt cx="4982061" cy="963829"/>
          </a:xfrm>
        </p:grpSpPr>
        <p:sp>
          <p:nvSpPr>
            <p:cNvPr id="30" name="Freeform 30"/>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31" name="Group 31"/>
          <p:cNvGrpSpPr/>
          <p:nvPr/>
        </p:nvGrpSpPr>
        <p:grpSpPr>
          <a:xfrm>
            <a:off x="2678156" y="5263522"/>
            <a:ext cx="3736546" cy="831368"/>
            <a:chOff x="0" y="0"/>
            <a:chExt cx="4982061" cy="1108490"/>
          </a:xfrm>
        </p:grpSpPr>
        <p:sp>
          <p:nvSpPr>
            <p:cNvPr id="32" name="Freeform 32"/>
            <p:cNvSpPr/>
            <p:nvPr/>
          </p:nvSpPr>
          <p:spPr>
            <a:xfrm>
              <a:off x="0" y="0"/>
              <a:ext cx="4982061" cy="1108490"/>
            </a:xfrm>
            <a:custGeom>
              <a:avLst/>
              <a:gdLst/>
              <a:ahLst/>
              <a:cxnLst/>
              <a:rect l="l" t="t" r="r" b="b"/>
              <a:pathLst>
                <a:path w="4982061" h="1108490">
                  <a:moveTo>
                    <a:pt x="0" y="0"/>
                  </a:moveTo>
                  <a:lnTo>
                    <a:pt x="4982061" y="0"/>
                  </a:lnTo>
                  <a:lnTo>
                    <a:pt x="4982061" y="1108490"/>
                  </a:lnTo>
                  <a:lnTo>
                    <a:pt x="0" y="1108490"/>
                  </a:lnTo>
                  <a:close/>
                </a:path>
              </a:pathLst>
            </a:custGeom>
            <a:solidFill>
              <a:srgbClr val="F8F5F3">
                <a:alpha val="0"/>
              </a:srgbClr>
            </a:solidFill>
          </p:spPr>
        </p:sp>
        <p:sp>
          <p:nvSpPr>
            <p:cNvPr id="33" name="TextBox 33"/>
            <p:cNvSpPr txBox="1"/>
            <p:nvPr/>
          </p:nvSpPr>
          <p:spPr>
            <a:xfrm>
              <a:off x="0" y="-28575"/>
              <a:ext cx="4982061" cy="1137065"/>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GÉRER LES CAMPAGNES</a:t>
              </a:r>
            </a:p>
          </p:txBody>
        </p:sp>
      </p:grpSp>
      <p:grpSp>
        <p:nvGrpSpPr>
          <p:cNvPr id="34" name="Group 34"/>
          <p:cNvGrpSpPr/>
          <p:nvPr/>
        </p:nvGrpSpPr>
        <p:grpSpPr>
          <a:xfrm>
            <a:off x="13432445" y="1923724"/>
            <a:ext cx="3736546" cy="722872"/>
            <a:chOff x="0" y="0"/>
            <a:chExt cx="4982061" cy="963829"/>
          </a:xfrm>
        </p:grpSpPr>
        <p:sp>
          <p:nvSpPr>
            <p:cNvPr id="35" name="Freeform 35"/>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36" name="Group 36"/>
          <p:cNvGrpSpPr/>
          <p:nvPr/>
        </p:nvGrpSpPr>
        <p:grpSpPr>
          <a:xfrm>
            <a:off x="13432445" y="1815228"/>
            <a:ext cx="3736546" cy="831368"/>
            <a:chOff x="0" y="0"/>
            <a:chExt cx="4982061" cy="1108490"/>
          </a:xfrm>
        </p:grpSpPr>
        <p:sp>
          <p:nvSpPr>
            <p:cNvPr id="37" name="Freeform 37"/>
            <p:cNvSpPr/>
            <p:nvPr/>
          </p:nvSpPr>
          <p:spPr>
            <a:xfrm>
              <a:off x="0" y="0"/>
              <a:ext cx="4982061" cy="1108490"/>
            </a:xfrm>
            <a:custGeom>
              <a:avLst/>
              <a:gdLst/>
              <a:ahLst/>
              <a:cxnLst/>
              <a:rect l="l" t="t" r="r" b="b"/>
              <a:pathLst>
                <a:path w="4982061" h="1108490">
                  <a:moveTo>
                    <a:pt x="0" y="0"/>
                  </a:moveTo>
                  <a:lnTo>
                    <a:pt x="4982061" y="0"/>
                  </a:lnTo>
                  <a:lnTo>
                    <a:pt x="4982061" y="1108490"/>
                  </a:lnTo>
                  <a:lnTo>
                    <a:pt x="0" y="1108490"/>
                  </a:lnTo>
                  <a:close/>
                </a:path>
              </a:pathLst>
            </a:custGeom>
            <a:solidFill>
              <a:srgbClr val="000000">
                <a:alpha val="0"/>
              </a:srgbClr>
            </a:solidFill>
          </p:spPr>
        </p:sp>
        <p:sp>
          <p:nvSpPr>
            <p:cNvPr id="38" name="TextBox 38"/>
            <p:cNvSpPr txBox="1"/>
            <p:nvPr/>
          </p:nvSpPr>
          <p:spPr>
            <a:xfrm>
              <a:off x="0" y="-28575"/>
              <a:ext cx="4982061" cy="1137065"/>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CONTACTER ADMIN</a:t>
              </a:r>
            </a:p>
          </p:txBody>
        </p:sp>
      </p:grpSp>
      <p:grpSp>
        <p:nvGrpSpPr>
          <p:cNvPr id="39" name="Group 39"/>
          <p:cNvGrpSpPr/>
          <p:nvPr/>
        </p:nvGrpSpPr>
        <p:grpSpPr>
          <a:xfrm>
            <a:off x="13432445" y="2926085"/>
            <a:ext cx="3736546" cy="847598"/>
            <a:chOff x="0" y="0"/>
            <a:chExt cx="4982061" cy="1130131"/>
          </a:xfrm>
        </p:grpSpPr>
        <p:sp>
          <p:nvSpPr>
            <p:cNvPr id="40" name="Freeform 40"/>
            <p:cNvSpPr/>
            <p:nvPr/>
          </p:nvSpPr>
          <p:spPr>
            <a:xfrm>
              <a:off x="0" y="0"/>
              <a:ext cx="4982083" cy="1130173"/>
            </a:xfrm>
            <a:custGeom>
              <a:avLst/>
              <a:gdLst/>
              <a:ahLst/>
              <a:cxnLst/>
              <a:rect l="l" t="t" r="r" b="b"/>
              <a:pathLst>
                <a:path w="4982083" h="1130173">
                  <a:moveTo>
                    <a:pt x="534924" y="0"/>
                  </a:moveTo>
                  <a:lnTo>
                    <a:pt x="4447159" y="0"/>
                  </a:lnTo>
                  <a:cubicBezTo>
                    <a:pt x="4589018" y="0"/>
                    <a:pt x="4725162" y="56388"/>
                    <a:pt x="4825365" y="156718"/>
                  </a:cubicBezTo>
                  <a:cubicBezTo>
                    <a:pt x="4925568" y="257048"/>
                    <a:pt x="4982083" y="393065"/>
                    <a:pt x="4982083" y="534924"/>
                  </a:cubicBezTo>
                  <a:lnTo>
                    <a:pt x="4982083" y="595122"/>
                  </a:lnTo>
                  <a:cubicBezTo>
                    <a:pt x="4982083" y="736981"/>
                    <a:pt x="4925695" y="873125"/>
                    <a:pt x="4825365" y="973328"/>
                  </a:cubicBezTo>
                  <a:cubicBezTo>
                    <a:pt x="4725035" y="1073531"/>
                    <a:pt x="4589018" y="1130046"/>
                    <a:pt x="4447159" y="1130046"/>
                  </a:cubicBezTo>
                  <a:lnTo>
                    <a:pt x="534924" y="1130046"/>
                  </a:lnTo>
                  <a:cubicBezTo>
                    <a:pt x="239522" y="1130173"/>
                    <a:pt x="0" y="890651"/>
                    <a:pt x="0" y="595122"/>
                  </a:cubicBezTo>
                  <a:lnTo>
                    <a:pt x="0" y="534924"/>
                  </a:lnTo>
                  <a:cubicBezTo>
                    <a:pt x="0" y="393065"/>
                    <a:pt x="56388" y="257048"/>
                    <a:pt x="156718" y="156718"/>
                  </a:cubicBezTo>
                  <a:cubicBezTo>
                    <a:pt x="257048" y="56388"/>
                    <a:pt x="393065" y="0"/>
                    <a:pt x="534924" y="0"/>
                  </a:cubicBezTo>
                  <a:close/>
                </a:path>
              </a:pathLst>
            </a:custGeom>
            <a:solidFill>
              <a:srgbClr val="CC9EA7"/>
            </a:solidFill>
          </p:spPr>
        </p:sp>
      </p:grpSp>
      <p:grpSp>
        <p:nvGrpSpPr>
          <p:cNvPr id="41" name="Group 41"/>
          <p:cNvGrpSpPr/>
          <p:nvPr/>
        </p:nvGrpSpPr>
        <p:grpSpPr>
          <a:xfrm>
            <a:off x="13432445" y="2817589"/>
            <a:ext cx="3736546" cy="956094"/>
            <a:chOff x="0" y="0"/>
            <a:chExt cx="4982061" cy="1274791"/>
          </a:xfrm>
        </p:grpSpPr>
        <p:sp>
          <p:nvSpPr>
            <p:cNvPr id="42" name="Freeform 42"/>
            <p:cNvSpPr/>
            <p:nvPr/>
          </p:nvSpPr>
          <p:spPr>
            <a:xfrm>
              <a:off x="0" y="0"/>
              <a:ext cx="4982061" cy="1274791"/>
            </a:xfrm>
            <a:custGeom>
              <a:avLst/>
              <a:gdLst/>
              <a:ahLst/>
              <a:cxnLst/>
              <a:rect l="l" t="t" r="r" b="b"/>
              <a:pathLst>
                <a:path w="4982061" h="1274791">
                  <a:moveTo>
                    <a:pt x="0" y="0"/>
                  </a:moveTo>
                  <a:lnTo>
                    <a:pt x="4982061" y="0"/>
                  </a:lnTo>
                  <a:lnTo>
                    <a:pt x="4982061" y="1274791"/>
                  </a:lnTo>
                  <a:lnTo>
                    <a:pt x="0" y="1274791"/>
                  </a:lnTo>
                  <a:close/>
                </a:path>
              </a:pathLst>
            </a:custGeom>
            <a:solidFill>
              <a:srgbClr val="000000">
                <a:alpha val="0"/>
              </a:srgbClr>
            </a:solidFill>
          </p:spPr>
        </p:sp>
        <p:sp>
          <p:nvSpPr>
            <p:cNvPr id="43" name="TextBox 43"/>
            <p:cNvSpPr txBox="1"/>
            <p:nvPr/>
          </p:nvSpPr>
          <p:spPr>
            <a:xfrm>
              <a:off x="0" y="-28575"/>
              <a:ext cx="4982061" cy="1303366"/>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CONSULTER LES PROFILS DES INFLUENCEURS</a:t>
              </a:r>
            </a:p>
          </p:txBody>
        </p:sp>
      </p:grpSp>
      <p:grpSp>
        <p:nvGrpSpPr>
          <p:cNvPr id="44" name="Group 44"/>
          <p:cNvGrpSpPr/>
          <p:nvPr/>
        </p:nvGrpSpPr>
        <p:grpSpPr>
          <a:xfrm>
            <a:off x="13432445" y="4032214"/>
            <a:ext cx="3736546" cy="722872"/>
            <a:chOff x="0" y="0"/>
            <a:chExt cx="4982061" cy="963829"/>
          </a:xfrm>
        </p:grpSpPr>
        <p:sp>
          <p:nvSpPr>
            <p:cNvPr id="45" name="Freeform 45"/>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46" name="Group 46"/>
          <p:cNvGrpSpPr/>
          <p:nvPr/>
        </p:nvGrpSpPr>
        <p:grpSpPr>
          <a:xfrm>
            <a:off x="13432445" y="3923718"/>
            <a:ext cx="3736546" cy="831368"/>
            <a:chOff x="0" y="0"/>
            <a:chExt cx="4982061" cy="1108490"/>
          </a:xfrm>
        </p:grpSpPr>
        <p:sp>
          <p:nvSpPr>
            <p:cNvPr id="47" name="Freeform 47"/>
            <p:cNvSpPr/>
            <p:nvPr/>
          </p:nvSpPr>
          <p:spPr>
            <a:xfrm>
              <a:off x="0" y="0"/>
              <a:ext cx="4982061" cy="1108490"/>
            </a:xfrm>
            <a:custGeom>
              <a:avLst/>
              <a:gdLst/>
              <a:ahLst/>
              <a:cxnLst/>
              <a:rect l="l" t="t" r="r" b="b"/>
              <a:pathLst>
                <a:path w="4982061" h="1108490">
                  <a:moveTo>
                    <a:pt x="0" y="0"/>
                  </a:moveTo>
                  <a:lnTo>
                    <a:pt x="4982061" y="0"/>
                  </a:lnTo>
                  <a:lnTo>
                    <a:pt x="4982061" y="1108490"/>
                  </a:lnTo>
                  <a:lnTo>
                    <a:pt x="0" y="1108490"/>
                  </a:lnTo>
                  <a:close/>
                </a:path>
              </a:pathLst>
            </a:custGeom>
            <a:solidFill>
              <a:srgbClr val="000000">
                <a:alpha val="0"/>
              </a:srgbClr>
            </a:solidFill>
          </p:spPr>
        </p:sp>
        <p:sp>
          <p:nvSpPr>
            <p:cNvPr id="48" name="TextBox 48"/>
            <p:cNvSpPr txBox="1"/>
            <p:nvPr/>
          </p:nvSpPr>
          <p:spPr>
            <a:xfrm>
              <a:off x="0" y="-28575"/>
              <a:ext cx="4982061" cy="1137065"/>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GÉRER POSTULATIONS</a:t>
              </a:r>
            </a:p>
          </p:txBody>
        </p:sp>
      </p:grpSp>
      <p:grpSp>
        <p:nvGrpSpPr>
          <p:cNvPr id="49" name="Group 49"/>
          <p:cNvGrpSpPr/>
          <p:nvPr/>
        </p:nvGrpSpPr>
        <p:grpSpPr>
          <a:xfrm>
            <a:off x="13561112" y="5160181"/>
            <a:ext cx="3736546" cy="722872"/>
            <a:chOff x="0" y="0"/>
            <a:chExt cx="4982061" cy="963829"/>
          </a:xfrm>
        </p:grpSpPr>
        <p:sp>
          <p:nvSpPr>
            <p:cNvPr id="50" name="Freeform 50"/>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51" name="Group 51"/>
          <p:cNvGrpSpPr/>
          <p:nvPr/>
        </p:nvGrpSpPr>
        <p:grpSpPr>
          <a:xfrm>
            <a:off x="13432445" y="5105934"/>
            <a:ext cx="3736546" cy="831368"/>
            <a:chOff x="0" y="0"/>
            <a:chExt cx="4982061" cy="1108490"/>
          </a:xfrm>
        </p:grpSpPr>
        <p:sp>
          <p:nvSpPr>
            <p:cNvPr id="52" name="Freeform 52"/>
            <p:cNvSpPr/>
            <p:nvPr/>
          </p:nvSpPr>
          <p:spPr>
            <a:xfrm>
              <a:off x="0" y="0"/>
              <a:ext cx="4982061" cy="1108490"/>
            </a:xfrm>
            <a:custGeom>
              <a:avLst/>
              <a:gdLst/>
              <a:ahLst/>
              <a:cxnLst/>
              <a:rect l="l" t="t" r="r" b="b"/>
              <a:pathLst>
                <a:path w="4982061" h="1108490">
                  <a:moveTo>
                    <a:pt x="0" y="0"/>
                  </a:moveTo>
                  <a:lnTo>
                    <a:pt x="4982061" y="0"/>
                  </a:lnTo>
                  <a:lnTo>
                    <a:pt x="4982061" y="1108490"/>
                  </a:lnTo>
                  <a:lnTo>
                    <a:pt x="0" y="1108490"/>
                  </a:lnTo>
                  <a:close/>
                </a:path>
              </a:pathLst>
            </a:custGeom>
            <a:solidFill>
              <a:srgbClr val="000000">
                <a:alpha val="0"/>
              </a:srgbClr>
            </a:solidFill>
          </p:spPr>
        </p:sp>
        <p:sp>
          <p:nvSpPr>
            <p:cNvPr id="53" name="TextBox 53"/>
            <p:cNvSpPr txBox="1"/>
            <p:nvPr/>
          </p:nvSpPr>
          <p:spPr>
            <a:xfrm>
              <a:off x="0" y="-28575"/>
              <a:ext cx="4982061" cy="1137065"/>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GÉRER LES PAIEMENTS</a:t>
              </a:r>
            </a:p>
          </p:txBody>
        </p:sp>
      </p:grpSp>
      <p:sp>
        <p:nvSpPr>
          <p:cNvPr id="54" name="Freeform 54"/>
          <p:cNvSpPr/>
          <p:nvPr/>
        </p:nvSpPr>
        <p:spPr>
          <a:xfrm rot="-9571791">
            <a:off x="6652073" y="3315494"/>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sp>
        <p:nvSpPr>
          <p:cNvPr id="55" name="Freeform 55"/>
          <p:cNvSpPr/>
          <p:nvPr/>
        </p:nvSpPr>
        <p:spPr>
          <a:xfrm rot="-10123486">
            <a:off x="6645515" y="4251962"/>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sp>
        <p:nvSpPr>
          <p:cNvPr id="56" name="Freeform 56"/>
          <p:cNvSpPr/>
          <p:nvPr/>
        </p:nvSpPr>
        <p:spPr>
          <a:xfrm rot="9937030">
            <a:off x="6761376" y="5199190"/>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sp>
        <p:nvSpPr>
          <p:cNvPr id="57" name="Freeform 57"/>
          <p:cNvSpPr/>
          <p:nvPr/>
        </p:nvSpPr>
        <p:spPr>
          <a:xfrm rot="-1595612">
            <a:off x="11838475" y="2355670"/>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sp>
        <p:nvSpPr>
          <p:cNvPr id="58" name="Freeform 58"/>
          <p:cNvSpPr/>
          <p:nvPr/>
        </p:nvSpPr>
        <p:spPr>
          <a:xfrm rot="-1087634">
            <a:off x="12010619" y="3200151"/>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sp>
        <p:nvSpPr>
          <p:cNvPr id="59" name="Freeform 59"/>
          <p:cNvSpPr/>
          <p:nvPr/>
        </p:nvSpPr>
        <p:spPr>
          <a:xfrm rot="-679227">
            <a:off x="12043428" y="4304510"/>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sp>
        <p:nvSpPr>
          <p:cNvPr id="60" name="Freeform 60"/>
          <p:cNvSpPr/>
          <p:nvPr/>
        </p:nvSpPr>
        <p:spPr>
          <a:xfrm rot="-403782">
            <a:off x="12076237" y="5408869"/>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grpSp>
        <p:nvGrpSpPr>
          <p:cNvPr id="61" name="Group 61"/>
          <p:cNvGrpSpPr/>
          <p:nvPr/>
        </p:nvGrpSpPr>
        <p:grpSpPr>
          <a:xfrm>
            <a:off x="8122758" y="2926085"/>
            <a:ext cx="3627341" cy="3741912"/>
            <a:chOff x="0" y="0"/>
            <a:chExt cx="4836455" cy="4989216"/>
          </a:xfrm>
        </p:grpSpPr>
        <p:sp>
          <p:nvSpPr>
            <p:cNvPr id="62" name="Freeform 62"/>
            <p:cNvSpPr/>
            <p:nvPr/>
          </p:nvSpPr>
          <p:spPr>
            <a:xfrm>
              <a:off x="0" y="0"/>
              <a:ext cx="4836414" cy="4989195"/>
            </a:xfrm>
            <a:custGeom>
              <a:avLst/>
              <a:gdLst/>
              <a:ahLst/>
              <a:cxnLst/>
              <a:rect l="l" t="t" r="r" b="b"/>
              <a:pathLst>
                <a:path w="4836414" h="4989195">
                  <a:moveTo>
                    <a:pt x="0" y="0"/>
                  </a:moveTo>
                  <a:lnTo>
                    <a:pt x="4836414" y="0"/>
                  </a:lnTo>
                  <a:lnTo>
                    <a:pt x="4836414" y="4989195"/>
                  </a:lnTo>
                  <a:lnTo>
                    <a:pt x="0" y="4989195"/>
                  </a:lnTo>
                  <a:lnTo>
                    <a:pt x="0" y="0"/>
                  </a:lnTo>
                  <a:close/>
                </a:path>
              </a:pathLst>
            </a:custGeom>
            <a:blipFill>
              <a:blip r:embed="rId9"/>
              <a:stretch>
                <a:fillRect l="-1579" r="-1580"/>
              </a:stretch>
            </a:blipFill>
          </p:spPr>
        </p:sp>
      </p:grpSp>
      <p:sp>
        <p:nvSpPr>
          <p:cNvPr id="70" name="TextBox 70"/>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4"/>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5"/>
              <a:stretch>
                <a:fillRect t="-2188" r="-68" b="-2188"/>
              </a:stretch>
            </a:blipFill>
          </p:spPr>
        </p:sp>
      </p:grpSp>
      <p:grpSp>
        <p:nvGrpSpPr>
          <p:cNvPr id="8" name="Group 8"/>
          <p:cNvGrpSpPr/>
          <p:nvPr/>
        </p:nvGrpSpPr>
        <p:grpSpPr>
          <a:xfrm>
            <a:off x="429462" y="8292862"/>
            <a:ext cx="1285248" cy="1285248"/>
            <a:chOff x="0" y="0"/>
            <a:chExt cx="1713664" cy="1713664"/>
          </a:xfrm>
        </p:grpSpPr>
        <p:sp>
          <p:nvSpPr>
            <p:cNvPr id="9" name="Freeform 9"/>
            <p:cNvSpPr/>
            <p:nvPr/>
          </p:nvSpPr>
          <p:spPr>
            <a:xfrm>
              <a:off x="0" y="0"/>
              <a:ext cx="1713611" cy="1713611"/>
            </a:xfrm>
            <a:custGeom>
              <a:avLst/>
              <a:gdLst/>
              <a:ahLst/>
              <a:cxnLst/>
              <a:rect l="l" t="t" r="r" b="b"/>
              <a:pathLst>
                <a:path w="1713611" h="1713611">
                  <a:moveTo>
                    <a:pt x="0" y="0"/>
                  </a:moveTo>
                  <a:lnTo>
                    <a:pt x="1713611" y="0"/>
                  </a:lnTo>
                  <a:lnTo>
                    <a:pt x="1713611" y="1713611"/>
                  </a:lnTo>
                  <a:lnTo>
                    <a:pt x="0" y="1713611"/>
                  </a:lnTo>
                  <a:lnTo>
                    <a:pt x="0" y="0"/>
                  </a:lnTo>
                  <a:close/>
                </a:path>
              </a:pathLst>
            </a:custGeom>
            <a:blipFill>
              <a:blip r:embed="rId6"/>
              <a:stretch>
                <a:fillRect r="-3" b="-3"/>
              </a:stretch>
            </a:blipFill>
          </p:spPr>
        </p:sp>
      </p:grpSp>
      <p:sp>
        <p:nvSpPr>
          <p:cNvPr id="10" name="TextBox 10"/>
          <p:cNvSpPr txBox="1"/>
          <p:nvPr/>
        </p:nvSpPr>
        <p:spPr>
          <a:xfrm rot="-5400000">
            <a:off x="-3033354" y="360766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Spécification des besoins</a:t>
            </a:r>
          </a:p>
        </p:txBody>
      </p:sp>
      <p:sp>
        <p:nvSpPr>
          <p:cNvPr id="11" name="TextBox 11"/>
          <p:cNvSpPr txBox="1"/>
          <p:nvPr/>
        </p:nvSpPr>
        <p:spPr>
          <a:xfrm>
            <a:off x="5668431" y="906194"/>
            <a:ext cx="7731204" cy="1891030"/>
          </a:xfrm>
          <a:prstGeom prst="rect">
            <a:avLst/>
          </a:prstGeom>
        </p:spPr>
        <p:txBody>
          <a:bodyPr lIns="0" tIns="0" rIns="0" bIns="0" rtlCol="0" anchor="t">
            <a:spAutoFit/>
          </a:bodyPr>
          <a:lstStyle/>
          <a:p>
            <a:pPr algn="ctr">
              <a:lnSpc>
                <a:spcPts val="7280"/>
              </a:lnSpc>
            </a:pPr>
            <a:r>
              <a:rPr lang="en-US" sz="5600">
                <a:solidFill>
                  <a:srgbClr val="004AAD"/>
                </a:solidFill>
                <a:latin typeface="The Seasons"/>
                <a:ea typeface="The Seasons"/>
                <a:cs typeface="The Seasons"/>
                <a:sym typeface="The Seasons"/>
              </a:rPr>
              <a:t>Les besoins fonctionnels</a:t>
            </a:r>
          </a:p>
        </p:txBody>
      </p:sp>
      <p:sp>
        <p:nvSpPr>
          <p:cNvPr id="12" name="TextBox 12"/>
          <p:cNvSpPr txBox="1"/>
          <p:nvPr/>
        </p:nvSpPr>
        <p:spPr>
          <a:xfrm>
            <a:off x="8145266" y="7136297"/>
            <a:ext cx="3639860" cy="958850"/>
          </a:xfrm>
          <a:prstGeom prst="rect">
            <a:avLst/>
          </a:prstGeom>
        </p:spPr>
        <p:txBody>
          <a:bodyPr lIns="0" tIns="0" rIns="0" bIns="0" rtlCol="0" anchor="t">
            <a:spAutoFit/>
          </a:bodyPr>
          <a:lstStyle/>
          <a:p>
            <a:pPr algn="ctr">
              <a:lnSpc>
                <a:spcPts val="7150"/>
              </a:lnSpc>
            </a:pPr>
            <a:r>
              <a:rPr lang="en-US" sz="5500">
                <a:solidFill>
                  <a:srgbClr val="000000"/>
                </a:solidFill>
                <a:latin typeface="The Seasons"/>
                <a:ea typeface="The Seasons"/>
                <a:cs typeface="The Seasons"/>
                <a:sym typeface="The Seasons"/>
              </a:rPr>
              <a:t>Influenceur</a:t>
            </a:r>
          </a:p>
        </p:txBody>
      </p:sp>
      <p:grpSp>
        <p:nvGrpSpPr>
          <p:cNvPr id="13" name="Group 13"/>
          <p:cNvGrpSpPr/>
          <p:nvPr/>
        </p:nvGrpSpPr>
        <p:grpSpPr>
          <a:xfrm>
            <a:off x="2483952" y="2524336"/>
            <a:ext cx="3736546" cy="722872"/>
            <a:chOff x="0" y="0"/>
            <a:chExt cx="4982061" cy="963829"/>
          </a:xfrm>
        </p:grpSpPr>
        <p:sp>
          <p:nvSpPr>
            <p:cNvPr id="14" name="Freeform 14"/>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15" name="Group 15"/>
          <p:cNvGrpSpPr/>
          <p:nvPr/>
        </p:nvGrpSpPr>
        <p:grpSpPr>
          <a:xfrm>
            <a:off x="2483952" y="2379675"/>
            <a:ext cx="3736546" cy="867533"/>
            <a:chOff x="0" y="0"/>
            <a:chExt cx="4982061" cy="1156711"/>
          </a:xfrm>
        </p:grpSpPr>
        <p:sp>
          <p:nvSpPr>
            <p:cNvPr id="16" name="Freeform 16"/>
            <p:cNvSpPr/>
            <p:nvPr/>
          </p:nvSpPr>
          <p:spPr>
            <a:xfrm>
              <a:off x="0" y="0"/>
              <a:ext cx="4982061" cy="1156711"/>
            </a:xfrm>
            <a:custGeom>
              <a:avLst/>
              <a:gdLst/>
              <a:ahLst/>
              <a:cxnLst/>
              <a:rect l="l" t="t" r="r" b="b"/>
              <a:pathLst>
                <a:path w="4982061" h="1156711">
                  <a:moveTo>
                    <a:pt x="0" y="0"/>
                  </a:moveTo>
                  <a:lnTo>
                    <a:pt x="4982061" y="0"/>
                  </a:lnTo>
                  <a:lnTo>
                    <a:pt x="4982061" y="1156711"/>
                  </a:lnTo>
                  <a:lnTo>
                    <a:pt x="0" y="1156711"/>
                  </a:lnTo>
                  <a:close/>
                </a:path>
              </a:pathLst>
            </a:custGeom>
            <a:solidFill>
              <a:srgbClr val="000000">
                <a:alpha val="0"/>
              </a:srgbClr>
            </a:solidFill>
          </p:spPr>
        </p:sp>
        <p:sp>
          <p:nvSpPr>
            <p:cNvPr id="17" name="TextBox 17"/>
            <p:cNvSpPr txBox="1"/>
            <p:nvPr/>
          </p:nvSpPr>
          <p:spPr>
            <a:xfrm>
              <a:off x="0" y="-38100"/>
              <a:ext cx="4982061" cy="1194811"/>
            </a:xfrm>
            <a:prstGeom prst="rect">
              <a:avLst/>
            </a:prstGeom>
          </p:spPr>
          <p:txBody>
            <a:bodyPr lIns="0" tIns="0" rIns="0" bIns="0" rtlCol="0" anchor="ctr"/>
            <a:lstStyle/>
            <a:p>
              <a:pPr algn="ctr">
                <a:lnSpc>
                  <a:spcPts val="3250"/>
                </a:lnSpc>
              </a:pPr>
              <a:r>
                <a:rPr lang="en-US" sz="2500">
                  <a:solidFill>
                    <a:srgbClr val="000000"/>
                  </a:solidFill>
                  <a:latin typeface="Alice" panose="00000500000000000000"/>
                  <a:ea typeface="Alice" panose="00000500000000000000"/>
                  <a:cs typeface="Alice" panose="00000500000000000000"/>
                  <a:sym typeface="Alice" panose="00000500000000000000"/>
                </a:rPr>
                <a:t>S’INSCRIRE</a:t>
              </a:r>
            </a:p>
          </p:txBody>
        </p:sp>
      </p:grpSp>
      <p:sp>
        <p:nvSpPr>
          <p:cNvPr id="18" name="Freeform 18"/>
          <p:cNvSpPr/>
          <p:nvPr/>
        </p:nvSpPr>
        <p:spPr>
          <a:xfrm rot="-8884639">
            <a:off x="6652073" y="3121556"/>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grpSp>
        <p:nvGrpSpPr>
          <p:cNvPr id="19" name="Group 19"/>
          <p:cNvGrpSpPr/>
          <p:nvPr/>
        </p:nvGrpSpPr>
        <p:grpSpPr>
          <a:xfrm>
            <a:off x="2483952" y="3526697"/>
            <a:ext cx="3736546" cy="722872"/>
            <a:chOff x="0" y="0"/>
            <a:chExt cx="4982061" cy="963829"/>
          </a:xfrm>
        </p:grpSpPr>
        <p:sp>
          <p:nvSpPr>
            <p:cNvPr id="20" name="Freeform 20"/>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21" name="Group 21"/>
          <p:cNvGrpSpPr/>
          <p:nvPr/>
        </p:nvGrpSpPr>
        <p:grpSpPr>
          <a:xfrm>
            <a:off x="2483952" y="3418201"/>
            <a:ext cx="3736546" cy="831368"/>
            <a:chOff x="0" y="0"/>
            <a:chExt cx="4982061" cy="1108490"/>
          </a:xfrm>
        </p:grpSpPr>
        <p:sp>
          <p:nvSpPr>
            <p:cNvPr id="22" name="Freeform 22"/>
            <p:cNvSpPr/>
            <p:nvPr/>
          </p:nvSpPr>
          <p:spPr>
            <a:xfrm>
              <a:off x="0" y="0"/>
              <a:ext cx="4982061" cy="1108490"/>
            </a:xfrm>
            <a:custGeom>
              <a:avLst/>
              <a:gdLst/>
              <a:ahLst/>
              <a:cxnLst/>
              <a:rect l="l" t="t" r="r" b="b"/>
              <a:pathLst>
                <a:path w="4982061" h="1108490">
                  <a:moveTo>
                    <a:pt x="0" y="0"/>
                  </a:moveTo>
                  <a:lnTo>
                    <a:pt x="4982061" y="0"/>
                  </a:lnTo>
                  <a:lnTo>
                    <a:pt x="4982061" y="1108490"/>
                  </a:lnTo>
                  <a:lnTo>
                    <a:pt x="0" y="1108490"/>
                  </a:lnTo>
                  <a:close/>
                </a:path>
              </a:pathLst>
            </a:custGeom>
            <a:solidFill>
              <a:srgbClr val="000000">
                <a:alpha val="0"/>
              </a:srgbClr>
            </a:solidFill>
          </p:spPr>
        </p:sp>
        <p:sp>
          <p:nvSpPr>
            <p:cNvPr id="23" name="TextBox 23"/>
            <p:cNvSpPr txBox="1"/>
            <p:nvPr/>
          </p:nvSpPr>
          <p:spPr>
            <a:xfrm>
              <a:off x="0" y="-28575"/>
              <a:ext cx="4982061" cy="1137065"/>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S’AUTHENTIFIER</a:t>
              </a:r>
            </a:p>
          </p:txBody>
        </p:sp>
      </p:grpSp>
      <p:grpSp>
        <p:nvGrpSpPr>
          <p:cNvPr id="24" name="Group 24"/>
          <p:cNvGrpSpPr/>
          <p:nvPr/>
        </p:nvGrpSpPr>
        <p:grpSpPr>
          <a:xfrm>
            <a:off x="2483952" y="4632826"/>
            <a:ext cx="3736546" cy="722872"/>
            <a:chOff x="0" y="0"/>
            <a:chExt cx="4982061" cy="963829"/>
          </a:xfrm>
        </p:grpSpPr>
        <p:sp>
          <p:nvSpPr>
            <p:cNvPr id="25" name="Freeform 25"/>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26" name="Group 26"/>
          <p:cNvGrpSpPr/>
          <p:nvPr/>
        </p:nvGrpSpPr>
        <p:grpSpPr>
          <a:xfrm>
            <a:off x="2483952" y="4524330"/>
            <a:ext cx="3736546" cy="831368"/>
            <a:chOff x="0" y="0"/>
            <a:chExt cx="4982061" cy="1108490"/>
          </a:xfrm>
        </p:grpSpPr>
        <p:sp>
          <p:nvSpPr>
            <p:cNvPr id="27" name="Freeform 27"/>
            <p:cNvSpPr/>
            <p:nvPr/>
          </p:nvSpPr>
          <p:spPr>
            <a:xfrm>
              <a:off x="0" y="0"/>
              <a:ext cx="4982061" cy="1108490"/>
            </a:xfrm>
            <a:custGeom>
              <a:avLst/>
              <a:gdLst/>
              <a:ahLst/>
              <a:cxnLst/>
              <a:rect l="l" t="t" r="r" b="b"/>
              <a:pathLst>
                <a:path w="4982061" h="1108490">
                  <a:moveTo>
                    <a:pt x="0" y="0"/>
                  </a:moveTo>
                  <a:lnTo>
                    <a:pt x="4982061" y="0"/>
                  </a:lnTo>
                  <a:lnTo>
                    <a:pt x="4982061" y="1108490"/>
                  </a:lnTo>
                  <a:lnTo>
                    <a:pt x="0" y="1108490"/>
                  </a:lnTo>
                  <a:close/>
                </a:path>
              </a:pathLst>
            </a:custGeom>
            <a:solidFill>
              <a:srgbClr val="000000">
                <a:alpha val="0"/>
              </a:srgbClr>
            </a:solidFill>
          </p:spPr>
        </p:sp>
        <p:sp>
          <p:nvSpPr>
            <p:cNvPr id="28" name="TextBox 28"/>
            <p:cNvSpPr txBox="1"/>
            <p:nvPr/>
          </p:nvSpPr>
          <p:spPr>
            <a:xfrm>
              <a:off x="0" y="-28575"/>
              <a:ext cx="4982061" cy="1137065"/>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GÉRER LES PUBLICATIONS</a:t>
              </a:r>
            </a:p>
          </p:txBody>
        </p:sp>
      </p:grpSp>
      <p:grpSp>
        <p:nvGrpSpPr>
          <p:cNvPr id="34" name="Group 34"/>
          <p:cNvGrpSpPr/>
          <p:nvPr/>
        </p:nvGrpSpPr>
        <p:grpSpPr>
          <a:xfrm>
            <a:off x="12975356" y="2579789"/>
            <a:ext cx="3855081" cy="952373"/>
            <a:chOff x="0" y="0"/>
            <a:chExt cx="5140108" cy="1269831"/>
          </a:xfrm>
        </p:grpSpPr>
        <p:sp>
          <p:nvSpPr>
            <p:cNvPr id="35" name="Freeform 35"/>
            <p:cNvSpPr/>
            <p:nvPr/>
          </p:nvSpPr>
          <p:spPr>
            <a:xfrm>
              <a:off x="0" y="0"/>
              <a:ext cx="5140071" cy="1269873"/>
            </a:xfrm>
            <a:custGeom>
              <a:avLst/>
              <a:gdLst/>
              <a:ahLst/>
              <a:cxnLst/>
              <a:rect l="l" t="t" r="r" b="b"/>
              <a:pathLst>
                <a:path w="5140071" h="1269873">
                  <a:moveTo>
                    <a:pt x="518541" y="0"/>
                  </a:moveTo>
                  <a:lnTo>
                    <a:pt x="4621657" y="0"/>
                  </a:lnTo>
                  <a:cubicBezTo>
                    <a:pt x="4759198" y="0"/>
                    <a:pt x="4891024" y="54610"/>
                    <a:pt x="4988306" y="151892"/>
                  </a:cubicBezTo>
                  <a:cubicBezTo>
                    <a:pt x="5085588" y="249174"/>
                    <a:pt x="5140071" y="381000"/>
                    <a:pt x="5140071" y="518541"/>
                  </a:cubicBezTo>
                  <a:lnTo>
                    <a:pt x="5140071" y="751332"/>
                  </a:lnTo>
                  <a:cubicBezTo>
                    <a:pt x="5140071" y="888873"/>
                    <a:pt x="5085461" y="1020699"/>
                    <a:pt x="4988179" y="1117981"/>
                  </a:cubicBezTo>
                  <a:cubicBezTo>
                    <a:pt x="4890897" y="1215263"/>
                    <a:pt x="4759071" y="1269873"/>
                    <a:pt x="4621530" y="1269873"/>
                  </a:cubicBezTo>
                  <a:lnTo>
                    <a:pt x="518541" y="1269873"/>
                  </a:lnTo>
                  <a:cubicBezTo>
                    <a:pt x="232156" y="1269873"/>
                    <a:pt x="0" y="1037717"/>
                    <a:pt x="0" y="751332"/>
                  </a:cubicBezTo>
                  <a:lnTo>
                    <a:pt x="0" y="518541"/>
                  </a:lnTo>
                  <a:cubicBezTo>
                    <a:pt x="0" y="381000"/>
                    <a:pt x="54610" y="249047"/>
                    <a:pt x="151892" y="151892"/>
                  </a:cubicBezTo>
                  <a:cubicBezTo>
                    <a:pt x="249174" y="54737"/>
                    <a:pt x="381000" y="0"/>
                    <a:pt x="518541" y="0"/>
                  </a:cubicBezTo>
                  <a:close/>
                </a:path>
              </a:pathLst>
            </a:custGeom>
            <a:solidFill>
              <a:srgbClr val="CC9EA7"/>
            </a:solidFill>
          </p:spPr>
        </p:sp>
      </p:grpSp>
      <p:grpSp>
        <p:nvGrpSpPr>
          <p:cNvPr id="36" name="Group 36"/>
          <p:cNvGrpSpPr/>
          <p:nvPr/>
        </p:nvGrpSpPr>
        <p:grpSpPr>
          <a:xfrm>
            <a:off x="13039629" y="2465828"/>
            <a:ext cx="3855081" cy="1060869"/>
            <a:chOff x="0" y="0"/>
            <a:chExt cx="5140108" cy="1414491"/>
          </a:xfrm>
        </p:grpSpPr>
        <p:sp>
          <p:nvSpPr>
            <p:cNvPr id="37" name="Freeform 37"/>
            <p:cNvSpPr/>
            <p:nvPr/>
          </p:nvSpPr>
          <p:spPr>
            <a:xfrm>
              <a:off x="0" y="0"/>
              <a:ext cx="5140108" cy="1414491"/>
            </a:xfrm>
            <a:custGeom>
              <a:avLst/>
              <a:gdLst/>
              <a:ahLst/>
              <a:cxnLst/>
              <a:rect l="l" t="t" r="r" b="b"/>
              <a:pathLst>
                <a:path w="5140108" h="1414491">
                  <a:moveTo>
                    <a:pt x="0" y="0"/>
                  </a:moveTo>
                  <a:lnTo>
                    <a:pt x="5140108" y="0"/>
                  </a:lnTo>
                  <a:lnTo>
                    <a:pt x="5140108" y="1414491"/>
                  </a:lnTo>
                  <a:lnTo>
                    <a:pt x="0" y="1414491"/>
                  </a:lnTo>
                  <a:close/>
                </a:path>
              </a:pathLst>
            </a:custGeom>
            <a:solidFill>
              <a:srgbClr val="000000">
                <a:alpha val="0"/>
              </a:srgbClr>
            </a:solidFill>
          </p:spPr>
        </p:sp>
        <p:sp>
          <p:nvSpPr>
            <p:cNvPr id="38" name="TextBox 38"/>
            <p:cNvSpPr txBox="1"/>
            <p:nvPr/>
          </p:nvSpPr>
          <p:spPr>
            <a:xfrm>
              <a:off x="0" y="-28575"/>
              <a:ext cx="5140108" cy="1443066"/>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CONSULTER LES LISTES DE PARTICIPATION </a:t>
              </a:r>
            </a:p>
          </p:txBody>
        </p:sp>
      </p:grpSp>
      <p:grpSp>
        <p:nvGrpSpPr>
          <p:cNvPr id="39" name="Group 39"/>
          <p:cNvGrpSpPr/>
          <p:nvPr/>
        </p:nvGrpSpPr>
        <p:grpSpPr>
          <a:xfrm>
            <a:off x="13039629" y="4207032"/>
            <a:ext cx="3736546" cy="746269"/>
            <a:chOff x="0" y="0"/>
            <a:chExt cx="4982061" cy="995026"/>
          </a:xfrm>
        </p:grpSpPr>
        <p:sp>
          <p:nvSpPr>
            <p:cNvPr id="40" name="Freeform 40"/>
            <p:cNvSpPr/>
            <p:nvPr/>
          </p:nvSpPr>
          <p:spPr>
            <a:xfrm>
              <a:off x="0" y="0"/>
              <a:ext cx="4982083" cy="994998"/>
            </a:xfrm>
            <a:custGeom>
              <a:avLst/>
              <a:gdLst/>
              <a:ahLst/>
              <a:cxnLst/>
              <a:rect l="l" t="t" r="r" b="b"/>
              <a:pathLst>
                <a:path w="4982083" h="994998">
                  <a:moveTo>
                    <a:pt x="481965" y="0"/>
                  </a:moveTo>
                  <a:lnTo>
                    <a:pt x="4500245" y="0"/>
                  </a:lnTo>
                  <a:cubicBezTo>
                    <a:pt x="4628007" y="0"/>
                    <a:pt x="4750689" y="52444"/>
                    <a:pt x="4840986" y="145664"/>
                  </a:cubicBezTo>
                  <a:cubicBezTo>
                    <a:pt x="4931283" y="238884"/>
                    <a:pt x="4982083" y="365536"/>
                    <a:pt x="4982083" y="497434"/>
                  </a:cubicBezTo>
                  <a:cubicBezTo>
                    <a:pt x="4982083" y="772242"/>
                    <a:pt x="4766310" y="994998"/>
                    <a:pt x="4500118" y="994998"/>
                  </a:cubicBezTo>
                  <a:lnTo>
                    <a:pt x="481965" y="994998"/>
                  </a:lnTo>
                  <a:cubicBezTo>
                    <a:pt x="354203" y="994998"/>
                    <a:pt x="231521" y="942554"/>
                    <a:pt x="141224" y="849335"/>
                  </a:cubicBezTo>
                  <a:cubicBezTo>
                    <a:pt x="50927" y="756115"/>
                    <a:pt x="0" y="629462"/>
                    <a:pt x="0" y="497565"/>
                  </a:cubicBezTo>
                  <a:cubicBezTo>
                    <a:pt x="0" y="365668"/>
                    <a:pt x="50800" y="239015"/>
                    <a:pt x="141097" y="145664"/>
                  </a:cubicBezTo>
                  <a:cubicBezTo>
                    <a:pt x="231394" y="52313"/>
                    <a:pt x="354076" y="0"/>
                    <a:pt x="481965" y="0"/>
                  </a:cubicBezTo>
                  <a:close/>
                </a:path>
              </a:pathLst>
            </a:custGeom>
            <a:solidFill>
              <a:srgbClr val="CC9EA7"/>
            </a:solidFill>
          </p:spPr>
        </p:sp>
      </p:grpSp>
      <p:grpSp>
        <p:nvGrpSpPr>
          <p:cNvPr id="41" name="Group 41"/>
          <p:cNvGrpSpPr/>
          <p:nvPr/>
        </p:nvGrpSpPr>
        <p:grpSpPr>
          <a:xfrm>
            <a:off x="13039629" y="4207032"/>
            <a:ext cx="3736546" cy="831368"/>
            <a:chOff x="0" y="0"/>
            <a:chExt cx="4982061" cy="1108490"/>
          </a:xfrm>
        </p:grpSpPr>
        <p:sp>
          <p:nvSpPr>
            <p:cNvPr id="42" name="Freeform 42"/>
            <p:cNvSpPr/>
            <p:nvPr/>
          </p:nvSpPr>
          <p:spPr>
            <a:xfrm>
              <a:off x="0" y="0"/>
              <a:ext cx="4982061" cy="1108490"/>
            </a:xfrm>
            <a:custGeom>
              <a:avLst/>
              <a:gdLst/>
              <a:ahLst/>
              <a:cxnLst/>
              <a:rect l="l" t="t" r="r" b="b"/>
              <a:pathLst>
                <a:path w="4982061" h="1108490">
                  <a:moveTo>
                    <a:pt x="0" y="0"/>
                  </a:moveTo>
                  <a:lnTo>
                    <a:pt x="4982061" y="0"/>
                  </a:lnTo>
                  <a:lnTo>
                    <a:pt x="4982061" y="1108490"/>
                  </a:lnTo>
                  <a:lnTo>
                    <a:pt x="0" y="1108490"/>
                  </a:lnTo>
                  <a:close/>
                </a:path>
              </a:pathLst>
            </a:custGeom>
            <a:solidFill>
              <a:srgbClr val="000000">
                <a:alpha val="0"/>
              </a:srgbClr>
            </a:solidFill>
          </p:spPr>
        </p:sp>
        <p:sp>
          <p:nvSpPr>
            <p:cNvPr id="43" name="TextBox 43"/>
            <p:cNvSpPr txBox="1"/>
            <p:nvPr/>
          </p:nvSpPr>
          <p:spPr>
            <a:xfrm>
              <a:off x="0" y="-28575"/>
              <a:ext cx="4982061" cy="1137065"/>
            </a:xfrm>
            <a:prstGeom prst="rect">
              <a:avLst/>
            </a:prstGeom>
          </p:spPr>
          <p:txBody>
            <a:bodyPr lIns="0" tIns="0" rIns="0" bIns="0" rtlCol="0" anchor="ctr"/>
            <a:lstStyle/>
            <a:p>
              <a:pPr algn="ctr">
                <a:lnSpc>
                  <a:spcPts val="2730"/>
                </a:lnSpc>
              </a:pPr>
              <a:r>
                <a:rPr lang="en-US" sz="2100">
                  <a:solidFill>
                    <a:srgbClr val="000000"/>
                  </a:solidFill>
                  <a:latin typeface="Alice" panose="00000500000000000000"/>
                  <a:ea typeface="Alice" panose="00000500000000000000"/>
                  <a:cs typeface="Alice" panose="00000500000000000000"/>
                  <a:sym typeface="Alice" panose="00000500000000000000"/>
                </a:rPr>
                <a:t>GÉRER NOTIFICATION </a:t>
              </a:r>
            </a:p>
          </p:txBody>
        </p:sp>
      </p:grpSp>
      <p:grpSp>
        <p:nvGrpSpPr>
          <p:cNvPr id="44" name="Group 44"/>
          <p:cNvGrpSpPr/>
          <p:nvPr/>
        </p:nvGrpSpPr>
        <p:grpSpPr>
          <a:xfrm>
            <a:off x="13610684" y="5846379"/>
            <a:ext cx="3736546" cy="722872"/>
            <a:chOff x="0" y="0"/>
            <a:chExt cx="4982061" cy="963829"/>
          </a:xfrm>
        </p:grpSpPr>
        <p:sp>
          <p:nvSpPr>
            <p:cNvPr id="45" name="Freeform 45"/>
            <p:cNvSpPr/>
            <p:nvPr/>
          </p:nvSpPr>
          <p:spPr>
            <a:xfrm>
              <a:off x="0" y="0"/>
              <a:ext cx="4982083" cy="963803"/>
            </a:xfrm>
            <a:custGeom>
              <a:avLst/>
              <a:gdLst/>
              <a:ahLst/>
              <a:cxnLst/>
              <a:rect l="l" t="t" r="r" b="b"/>
              <a:pathLst>
                <a:path w="4982083" h="963803">
                  <a:moveTo>
                    <a:pt x="481965" y="0"/>
                  </a:moveTo>
                  <a:lnTo>
                    <a:pt x="4500245" y="0"/>
                  </a:lnTo>
                  <a:cubicBezTo>
                    <a:pt x="4628007" y="0"/>
                    <a:pt x="4750689" y="50800"/>
                    <a:pt x="4840986" y="141097"/>
                  </a:cubicBezTo>
                  <a:cubicBezTo>
                    <a:pt x="4931283" y="231394"/>
                    <a:pt x="4982083" y="354076"/>
                    <a:pt x="4982083" y="481838"/>
                  </a:cubicBezTo>
                  <a:cubicBezTo>
                    <a:pt x="4982083" y="748030"/>
                    <a:pt x="4766310" y="963803"/>
                    <a:pt x="4500118" y="963803"/>
                  </a:cubicBezTo>
                  <a:lnTo>
                    <a:pt x="481965" y="963803"/>
                  </a:lnTo>
                  <a:cubicBezTo>
                    <a:pt x="354203" y="963803"/>
                    <a:pt x="231521" y="913003"/>
                    <a:pt x="141224" y="822706"/>
                  </a:cubicBezTo>
                  <a:cubicBezTo>
                    <a:pt x="50927" y="732409"/>
                    <a:pt x="0" y="609727"/>
                    <a:pt x="0" y="481965"/>
                  </a:cubicBezTo>
                  <a:cubicBezTo>
                    <a:pt x="0" y="354203"/>
                    <a:pt x="50800" y="231521"/>
                    <a:pt x="141097" y="141097"/>
                  </a:cubicBezTo>
                  <a:cubicBezTo>
                    <a:pt x="231394" y="50673"/>
                    <a:pt x="354076" y="0"/>
                    <a:pt x="481965" y="0"/>
                  </a:cubicBezTo>
                  <a:close/>
                </a:path>
              </a:pathLst>
            </a:custGeom>
            <a:solidFill>
              <a:srgbClr val="CC9EA7"/>
            </a:solidFill>
          </p:spPr>
        </p:sp>
      </p:grpSp>
      <p:grpSp>
        <p:nvGrpSpPr>
          <p:cNvPr id="46" name="Group 46"/>
          <p:cNvGrpSpPr/>
          <p:nvPr/>
        </p:nvGrpSpPr>
        <p:grpSpPr>
          <a:xfrm>
            <a:off x="13368807" y="5714675"/>
            <a:ext cx="3736546" cy="831368"/>
            <a:chOff x="0" y="0"/>
            <a:chExt cx="4982061" cy="1108490"/>
          </a:xfrm>
        </p:grpSpPr>
        <p:sp>
          <p:nvSpPr>
            <p:cNvPr id="47" name="Freeform 47"/>
            <p:cNvSpPr/>
            <p:nvPr/>
          </p:nvSpPr>
          <p:spPr>
            <a:xfrm>
              <a:off x="0" y="0"/>
              <a:ext cx="4982061" cy="1108490"/>
            </a:xfrm>
            <a:custGeom>
              <a:avLst/>
              <a:gdLst/>
              <a:ahLst/>
              <a:cxnLst/>
              <a:rect l="l" t="t" r="r" b="b"/>
              <a:pathLst>
                <a:path w="4982061" h="1108490">
                  <a:moveTo>
                    <a:pt x="0" y="0"/>
                  </a:moveTo>
                  <a:lnTo>
                    <a:pt x="4982061" y="0"/>
                  </a:lnTo>
                  <a:lnTo>
                    <a:pt x="4982061" y="1108490"/>
                  </a:lnTo>
                  <a:lnTo>
                    <a:pt x="0" y="1108490"/>
                  </a:lnTo>
                  <a:close/>
                </a:path>
              </a:pathLst>
            </a:custGeom>
            <a:solidFill>
              <a:srgbClr val="000000">
                <a:alpha val="0"/>
              </a:srgbClr>
            </a:solidFill>
          </p:spPr>
        </p:sp>
        <p:sp>
          <p:nvSpPr>
            <p:cNvPr id="48" name="TextBox 48"/>
            <p:cNvSpPr txBox="1"/>
            <p:nvPr/>
          </p:nvSpPr>
          <p:spPr>
            <a:xfrm>
              <a:off x="0" y="-28575"/>
              <a:ext cx="4982061" cy="1137065"/>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CONTACTER MARQUE </a:t>
              </a:r>
            </a:p>
          </p:txBody>
        </p:sp>
      </p:grpSp>
      <p:grpSp>
        <p:nvGrpSpPr>
          <p:cNvPr id="49" name="Group 49"/>
          <p:cNvGrpSpPr/>
          <p:nvPr/>
        </p:nvGrpSpPr>
        <p:grpSpPr>
          <a:xfrm>
            <a:off x="13660909" y="6886422"/>
            <a:ext cx="3736546" cy="847598"/>
            <a:chOff x="0" y="0"/>
            <a:chExt cx="4982061" cy="1130131"/>
          </a:xfrm>
        </p:grpSpPr>
        <p:sp>
          <p:nvSpPr>
            <p:cNvPr id="50" name="Freeform 50"/>
            <p:cNvSpPr/>
            <p:nvPr/>
          </p:nvSpPr>
          <p:spPr>
            <a:xfrm>
              <a:off x="0" y="0"/>
              <a:ext cx="4982083" cy="1130173"/>
            </a:xfrm>
            <a:custGeom>
              <a:avLst/>
              <a:gdLst/>
              <a:ahLst/>
              <a:cxnLst/>
              <a:rect l="l" t="t" r="r" b="b"/>
              <a:pathLst>
                <a:path w="4982083" h="1130173">
                  <a:moveTo>
                    <a:pt x="534924" y="0"/>
                  </a:moveTo>
                  <a:lnTo>
                    <a:pt x="4447159" y="0"/>
                  </a:lnTo>
                  <a:cubicBezTo>
                    <a:pt x="4589018" y="0"/>
                    <a:pt x="4725162" y="56388"/>
                    <a:pt x="4825365" y="156718"/>
                  </a:cubicBezTo>
                  <a:cubicBezTo>
                    <a:pt x="4925568" y="257048"/>
                    <a:pt x="4982083" y="393065"/>
                    <a:pt x="4982083" y="534924"/>
                  </a:cubicBezTo>
                  <a:lnTo>
                    <a:pt x="4982083" y="595122"/>
                  </a:lnTo>
                  <a:cubicBezTo>
                    <a:pt x="4982083" y="736981"/>
                    <a:pt x="4925695" y="873125"/>
                    <a:pt x="4825365" y="973328"/>
                  </a:cubicBezTo>
                  <a:cubicBezTo>
                    <a:pt x="4725035" y="1073531"/>
                    <a:pt x="4589018" y="1130046"/>
                    <a:pt x="4447159" y="1130046"/>
                  </a:cubicBezTo>
                  <a:lnTo>
                    <a:pt x="534924" y="1130046"/>
                  </a:lnTo>
                  <a:cubicBezTo>
                    <a:pt x="239522" y="1130173"/>
                    <a:pt x="0" y="890651"/>
                    <a:pt x="0" y="595122"/>
                  </a:cubicBezTo>
                  <a:lnTo>
                    <a:pt x="0" y="534924"/>
                  </a:lnTo>
                  <a:cubicBezTo>
                    <a:pt x="0" y="393065"/>
                    <a:pt x="56388" y="257048"/>
                    <a:pt x="156718" y="156718"/>
                  </a:cubicBezTo>
                  <a:cubicBezTo>
                    <a:pt x="257048" y="56388"/>
                    <a:pt x="393065" y="0"/>
                    <a:pt x="534924" y="0"/>
                  </a:cubicBezTo>
                  <a:close/>
                </a:path>
              </a:pathLst>
            </a:custGeom>
            <a:solidFill>
              <a:srgbClr val="CC9EA7"/>
            </a:solidFill>
          </p:spPr>
        </p:sp>
      </p:grpSp>
      <p:grpSp>
        <p:nvGrpSpPr>
          <p:cNvPr id="51" name="Group 51"/>
          <p:cNvGrpSpPr/>
          <p:nvPr/>
        </p:nvGrpSpPr>
        <p:grpSpPr>
          <a:xfrm>
            <a:off x="13660909" y="6777926"/>
            <a:ext cx="3736546" cy="956094"/>
            <a:chOff x="0" y="0"/>
            <a:chExt cx="4982061" cy="1274791"/>
          </a:xfrm>
        </p:grpSpPr>
        <p:sp>
          <p:nvSpPr>
            <p:cNvPr id="52" name="Freeform 52"/>
            <p:cNvSpPr/>
            <p:nvPr/>
          </p:nvSpPr>
          <p:spPr>
            <a:xfrm>
              <a:off x="0" y="0"/>
              <a:ext cx="4982061" cy="1274791"/>
            </a:xfrm>
            <a:custGeom>
              <a:avLst/>
              <a:gdLst/>
              <a:ahLst/>
              <a:cxnLst/>
              <a:rect l="l" t="t" r="r" b="b"/>
              <a:pathLst>
                <a:path w="4982061" h="1274791">
                  <a:moveTo>
                    <a:pt x="0" y="0"/>
                  </a:moveTo>
                  <a:lnTo>
                    <a:pt x="4982061" y="0"/>
                  </a:lnTo>
                  <a:lnTo>
                    <a:pt x="4982061" y="1274791"/>
                  </a:lnTo>
                  <a:lnTo>
                    <a:pt x="0" y="1274791"/>
                  </a:lnTo>
                  <a:close/>
                </a:path>
              </a:pathLst>
            </a:custGeom>
            <a:solidFill>
              <a:srgbClr val="000000">
                <a:alpha val="0"/>
              </a:srgbClr>
            </a:solidFill>
          </p:spPr>
        </p:sp>
        <p:sp>
          <p:nvSpPr>
            <p:cNvPr id="53" name="TextBox 53"/>
            <p:cNvSpPr txBox="1"/>
            <p:nvPr/>
          </p:nvSpPr>
          <p:spPr>
            <a:xfrm>
              <a:off x="0" y="-28575"/>
              <a:ext cx="4982061" cy="1303366"/>
            </a:xfrm>
            <a:prstGeom prst="rect">
              <a:avLst/>
            </a:prstGeom>
          </p:spPr>
          <p:txBody>
            <a:bodyPr lIns="0" tIns="0" rIns="0" bIns="0" rtlCol="0" anchor="ctr"/>
            <a:lstStyle/>
            <a:p>
              <a:pPr algn="ctr">
                <a:lnSpc>
                  <a:spcPts val="2860"/>
                </a:lnSpc>
              </a:pPr>
              <a:r>
                <a:rPr lang="en-US" sz="2200">
                  <a:solidFill>
                    <a:srgbClr val="000000"/>
                  </a:solidFill>
                  <a:latin typeface="Alice" panose="00000500000000000000"/>
                  <a:ea typeface="Alice" panose="00000500000000000000"/>
                  <a:cs typeface="Alice" panose="00000500000000000000"/>
                  <a:sym typeface="Alice" panose="00000500000000000000"/>
                </a:rPr>
                <a:t>VISUALISER LES STATISTIQUES</a:t>
              </a:r>
            </a:p>
          </p:txBody>
        </p:sp>
      </p:grpSp>
      <p:sp>
        <p:nvSpPr>
          <p:cNvPr id="54" name="Freeform 54"/>
          <p:cNvSpPr/>
          <p:nvPr/>
        </p:nvSpPr>
        <p:spPr>
          <a:xfrm rot="-9571791">
            <a:off x="6652073" y="3916106"/>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sp>
        <p:nvSpPr>
          <p:cNvPr id="55" name="Freeform 55"/>
          <p:cNvSpPr/>
          <p:nvPr/>
        </p:nvSpPr>
        <p:spPr>
          <a:xfrm rot="-10123486">
            <a:off x="6645515" y="4852574"/>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sp>
        <p:nvSpPr>
          <p:cNvPr id="57" name="Freeform 57"/>
          <p:cNvSpPr/>
          <p:nvPr/>
        </p:nvSpPr>
        <p:spPr>
          <a:xfrm rot="-1087634">
            <a:off x="11284074" y="3317135"/>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sp>
        <p:nvSpPr>
          <p:cNvPr id="58" name="Freeform 58"/>
          <p:cNvSpPr/>
          <p:nvPr/>
        </p:nvSpPr>
        <p:spPr>
          <a:xfrm rot="133159">
            <a:off x="11622060" y="5740238"/>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sp>
        <p:nvSpPr>
          <p:cNvPr id="59" name="Freeform 59"/>
          <p:cNvSpPr/>
          <p:nvPr/>
        </p:nvSpPr>
        <p:spPr>
          <a:xfrm rot="658106">
            <a:off x="12010619" y="6947119"/>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grpSp>
        <p:nvGrpSpPr>
          <p:cNvPr id="60" name="Group 60"/>
          <p:cNvGrpSpPr/>
          <p:nvPr/>
        </p:nvGrpSpPr>
        <p:grpSpPr>
          <a:xfrm>
            <a:off x="8192067" y="1266097"/>
            <a:ext cx="3437862" cy="5966945"/>
            <a:chOff x="0" y="0"/>
            <a:chExt cx="4583816" cy="7955927"/>
          </a:xfrm>
        </p:grpSpPr>
        <p:sp>
          <p:nvSpPr>
            <p:cNvPr id="61" name="Freeform 61"/>
            <p:cNvSpPr/>
            <p:nvPr/>
          </p:nvSpPr>
          <p:spPr>
            <a:xfrm>
              <a:off x="0" y="0"/>
              <a:ext cx="4583811" cy="7955915"/>
            </a:xfrm>
            <a:custGeom>
              <a:avLst/>
              <a:gdLst/>
              <a:ahLst/>
              <a:cxnLst/>
              <a:rect l="l" t="t" r="r" b="b"/>
              <a:pathLst>
                <a:path w="4583811" h="7955915">
                  <a:moveTo>
                    <a:pt x="0" y="0"/>
                  </a:moveTo>
                  <a:lnTo>
                    <a:pt x="4583811" y="0"/>
                  </a:lnTo>
                  <a:lnTo>
                    <a:pt x="4583811" y="7955915"/>
                  </a:lnTo>
                  <a:lnTo>
                    <a:pt x="0" y="7955915"/>
                  </a:lnTo>
                  <a:lnTo>
                    <a:pt x="0" y="0"/>
                  </a:lnTo>
                  <a:close/>
                </a:path>
              </a:pathLst>
            </a:custGeom>
            <a:blipFill>
              <a:blip r:embed="rId9"/>
              <a:stretch>
                <a:fillRect t="-1162" b="-1162"/>
              </a:stretch>
            </a:blipFill>
          </p:spPr>
        </p:sp>
      </p:grpSp>
      <p:sp>
        <p:nvSpPr>
          <p:cNvPr id="62" name="Freeform 62"/>
          <p:cNvSpPr/>
          <p:nvPr/>
        </p:nvSpPr>
        <p:spPr>
          <a:xfrm rot="-206431">
            <a:off x="11627552" y="4522218"/>
            <a:ext cx="1331545" cy="581852"/>
          </a:xfrm>
          <a:custGeom>
            <a:avLst/>
            <a:gdLst/>
            <a:ahLst/>
            <a:cxnLst/>
            <a:rect l="l" t="t" r="r" b="b"/>
            <a:pathLst>
              <a:path w="1331545" h="581852">
                <a:moveTo>
                  <a:pt x="0" y="0"/>
                </a:moveTo>
                <a:lnTo>
                  <a:pt x="1331545" y="0"/>
                </a:lnTo>
                <a:lnTo>
                  <a:pt x="1331545" y="581852"/>
                </a:lnTo>
                <a:lnTo>
                  <a:pt x="0" y="581852"/>
                </a:lnTo>
                <a:lnTo>
                  <a:pt x="0" y="0"/>
                </a:lnTo>
                <a:close/>
              </a:path>
            </a:pathLst>
          </a:custGeom>
          <a:blipFill>
            <a:blip r:embed="rId7">
              <a:extLst>
                <a:ext uri="{96DAC541-7B7A-43D3-8B79-37D633B846F1}">
                  <asvg:svgBlip xmlns:asvg="http://schemas.microsoft.com/office/drawing/2016/SVG/main" xmlns="" r:embed="rId8"/>
                </a:ext>
              </a:extLst>
            </a:blip>
            <a:stretch>
              <a:fillRect t="-673" b="-673"/>
            </a:stretch>
          </a:blipFill>
        </p:spPr>
      </p:sp>
      <p:sp>
        <p:nvSpPr>
          <p:cNvPr id="64" name="TextBox 64"/>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288" y="9229725"/>
            <a:ext cx="18297525" cy="9525"/>
            <a:chOff x="0" y="0"/>
            <a:chExt cx="24396700" cy="12700"/>
          </a:xfrm>
        </p:grpSpPr>
        <p:sp>
          <p:nvSpPr>
            <p:cNvPr id="3" name="Freeform 3"/>
            <p:cNvSpPr/>
            <p:nvPr/>
          </p:nvSpPr>
          <p:spPr>
            <a:xfrm>
              <a:off x="0" y="0"/>
              <a:ext cx="24396700" cy="12700"/>
            </a:xfrm>
            <a:custGeom>
              <a:avLst/>
              <a:gdLst/>
              <a:ahLst/>
              <a:cxnLst/>
              <a:rect l="l" t="t" r="r" b="b"/>
              <a:pathLst>
                <a:path w="24396700" h="12700">
                  <a:moveTo>
                    <a:pt x="6350" y="0"/>
                  </a:moveTo>
                  <a:lnTo>
                    <a:pt x="24390350" y="0"/>
                  </a:lnTo>
                  <a:cubicBezTo>
                    <a:pt x="24393906" y="0"/>
                    <a:pt x="24396700" y="2794"/>
                    <a:pt x="24396700" y="6350"/>
                  </a:cubicBezTo>
                  <a:cubicBezTo>
                    <a:pt x="24396700" y="9906"/>
                    <a:pt x="24393906" y="12700"/>
                    <a:pt x="24390350" y="12700"/>
                  </a:cubicBezTo>
                  <a:lnTo>
                    <a:pt x="6350" y="12700"/>
                  </a:lnTo>
                  <a:cubicBezTo>
                    <a:pt x="2794" y="12700"/>
                    <a:pt x="0" y="9906"/>
                    <a:pt x="0" y="6350"/>
                  </a:cubicBezTo>
                  <a:cubicBezTo>
                    <a:pt x="0" y="2794"/>
                    <a:pt x="2794" y="0"/>
                    <a:pt x="6350" y="0"/>
                  </a:cubicBezTo>
                  <a:close/>
                </a:path>
              </a:pathLst>
            </a:custGeom>
            <a:solidFill>
              <a:srgbClr val="404040"/>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6" name="Group 6"/>
          <p:cNvGrpSpPr/>
          <p:nvPr/>
        </p:nvGrpSpPr>
        <p:grpSpPr>
          <a:xfrm>
            <a:off x="38649" y="7583972"/>
            <a:ext cx="2066873" cy="2703028"/>
            <a:chOff x="0" y="0"/>
            <a:chExt cx="2755831" cy="3604037"/>
          </a:xfrm>
        </p:grpSpPr>
        <p:sp>
          <p:nvSpPr>
            <p:cNvPr id="7" name="Freeform 7"/>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8" name="Group 8"/>
          <p:cNvGrpSpPr/>
          <p:nvPr/>
        </p:nvGrpSpPr>
        <p:grpSpPr>
          <a:xfrm>
            <a:off x="1041871" y="-420548"/>
            <a:ext cx="30215" cy="8057218"/>
            <a:chOff x="0" y="0"/>
            <a:chExt cx="40287" cy="10742957"/>
          </a:xfrm>
        </p:grpSpPr>
        <p:sp>
          <p:nvSpPr>
            <p:cNvPr id="9" name="Freeform 9"/>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10" name="Group 10"/>
          <p:cNvGrpSpPr/>
          <p:nvPr/>
        </p:nvGrpSpPr>
        <p:grpSpPr>
          <a:xfrm>
            <a:off x="429462" y="8292862"/>
            <a:ext cx="1285248" cy="1285248"/>
            <a:chOff x="0" y="0"/>
            <a:chExt cx="1713664" cy="1713664"/>
          </a:xfrm>
        </p:grpSpPr>
        <p:sp>
          <p:nvSpPr>
            <p:cNvPr id="11" name="Freeform 11"/>
            <p:cNvSpPr/>
            <p:nvPr/>
          </p:nvSpPr>
          <p:spPr>
            <a:xfrm>
              <a:off x="0" y="0"/>
              <a:ext cx="1713611" cy="1713611"/>
            </a:xfrm>
            <a:custGeom>
              <a:avLst/>
              <a:gdLst/>
              <a:ahLst/>
              <a:cxnLst/>
              <a:rect l="l" t="t" r="r" b="b"/>
              <a:pathLst>
                <a:path w="1713611" h="1713611">
                  <a:moveTo>
                    <a:pt x="0" y="0"/>
                  </a:moveTo>
                  <a:lnTo>
                    <a:pt x="1713611" y="0"/>
                  </a:lnTo>
                  <a:lnTo>
                    <a:pt x="1713611" y="1713611"/>
                  </a:lnTo>
                  <a:lnTo>
                    <a:pt x="0" y="1713611"/>
                  </a:lnTo>
                  <a:lnTo>
                    <a:pt x="0" y="0"/>
                  </a:lnTo>
                  <a:close/>
                </a:path>
              </a:pathLst>
            </a:custGeom>
            <a:blipFill>
              <a:blip r:embed="rId5"/>
              <a:stretch>
                <a:fillRect r="-3" b="-3"/>
              </a:stretch>
            </a:blipFill>
          </p:spPr>
        </p:sp>
      </p:grpSp>
      <p:grpSp>
        <p:nvGrpSpPr>
          <p:cNvPr id="12" name="Group 12"/>
          <p:cNvGrpSpPr/>
          <p:nvPr/>
        </p:nvGrpSpPr>
        <p:grpSpPr>
          <a:xfrm>
            <a:off x="3068507" y="4390573"/>
            <a:ext cx="2238303" cy="2221905"/>
            <a:chOff x="0" y="0"/>
            <a:chExt cx="2984404" cy="2962540"/>
          </a:xfrm>
        </p:grpSpPr>
        <p:sp>
          <p:nvSpPr>
            <p:cNvPr id="13" name="Freeform 13"/>
            <p:cNvSpPr/>
            <p:nvPr/>
          </p:nvSpPr>
          <p:spPr>
            <a:xfrm>
              <a:off x="0" y="0"/>
              <a:ext cx="2984373" cy="2962529"/>
            </a:xfrm>
            <a:custGeom>
              <a:avLst/>
              <a:gdLst/>
              <a:ahLst/>
              <a:cxnLst/>
              <a:rect l="l" t="t" r="r" b="b"/>
              <a:pathLst>
                <a:path w="2984373" h="2962529">
                  <a:moveTo>
                    <a:pt x="0" y="0"/>
                  </a:moveTo>
                  <a:lnTo>
                    <a:pt x="2984373" y="0"/>
                  </a:lnTo>
                  <a:lnTo>
                    <a:pt x="2984373" y="2962529"/>
                  </a:lnTo>
                  <a:lnTo>
                    <a:pt x="0" y="2962529"/>
                  </a:lnTo>
                  <a:lnTo>
                    <a:pt x="0" y="0"/>
                  </a:lnTo>
                  <a:close/>
                </a:path>
              </a:pathLst>
            </a:custGeom>
            <a:blipFill>
              <a:blip r:embed="rId6"/>
              <a:stretch>
                <a:fillRect r="-1"/>
              </a:stretch>
            </a:blipFill>
          </p:spPr>
        </p:sp>
      </p:grpSp>
      <p:grpSp>
        <p:nvGrpSpPr>
          <p:cNvPr id="14" name="Group 14"/>
          <p:cNvGrpSpPr/>
          <p:nvPr/>
        </p:nvGrpSpPr>
        <p:grpSpPr>
          <a:xfrm>
            <a:off x="5430635" y="4129688"/>
            <a:ext cx="2505361" cy="2482790"/>
            <a:chOff x="0" y="0"/>
            <a:chExt cx="3340481" cy="3310387"/>
          </a:xfrm>
        </p:grpSpPr>
        <p:sp>
          <p:nvSpPr>
            <p:cNvPr id="15" name="Freeform 15"/>
            <p:cNvSpPr/>
            <p:nvPr/>
          </p:nvSpPr>
          <p:spPr>
            <a:xfrm>
              <a:off x="0" y="0"/>
              <a:ext cx="3340481" cy="3310382"/>
            </a:xfrm>
            <a:custGeom>
              <a:avLst/>
              <a:gdLst/>
              <a:ahLst/>
              <a:cxnLst/>
              <a:rect l="l" t="t" r="r" b="b"/>
              <a:pathLst>
                <a:path w="3340481" h="3310382">
                  <a:moveTo>
                    <a:pt x="0" y="0"/>
                  </a:moveTo>
                  <a:lnTo>
                    <a:pt x="3340481" y="0"/>
                  </a:lnTo>
                  <a:lnTo>
                    <a:pt x="3340481" y="3310382"/>
                  </a:lnTo>
                  <a:lnTo>
                    <a:pt x="0" y="3310382"/>
                  </a:lnTo>
                  <a:lnTo>
                    <a:pt x="0" y="0"/>
                  </a:lnTo>
                  <a:close/>
                </a:path>
              </a:pathLst>
            </a:custGeom>
            <a:blipFill>
              <a:blip r:embed="rId7"/>
              <a:stretch>
                <a:fillRect l="-50" r="-50"/>
              </a:stretch>
            </a:blipFill>
          </p:spPr>
        </p:sp>
      </p:grpSp>
      <p:grpSp>
        <p:nvGrpSpPr>
          <p:cNvPr id="16" name="Group 16"/>
          <p:cNvGrpSpPr/>
          <p:nvPr/>
        </p:nvGrpSpPr>
        <p:grpSpPr>
          <a:xfrm>
            <a:off x="8222643" y="4060878"/>
            <a:ext cx="3352528" cy="3361169"/>
            <a:chOff x="0" y="0"/>
            <a:chExt cx="4470037" cy="4481559"/>
          </a:xfrm>
        </p:grpSpPr>
        <p:sp>
          <p:nvSpPr>
            <p:cNvPr id="17" name="Freeform 17"/>
            <p:cNvSpPr/>
            <p:nvPr/>
          </p:nvSpPr>
          <p:spPr>
            <a:xfrm>
              <a:off x="0" y="0"/>
              <a:ext cx="4470019" cy="4481576"/>
            </a:xfrm>
            <a:custGeom>
              <a:avLst/>
              <a:gdLst/>
              <a:ahLst/>
              <a:cxnLst/>
              <a:rect l="l" t="t" r="r" b="b"/>
              <a:pathLst>
                <a:path w="4470019" h="4481576">
                  <a:moveTo>
                    <a:pt x="0" y="0"/>
                  </a:moveTo>
                  <a:lnTo>
                    <a:pt x="4470019" y="0"/>
                  </a:lnTo>
                  <a:lnTo>
                    <a:pt x="4470019" y="4481576"/>
                  </a:lnTo>
                  <a:lnTo>
                    <a:pt x="0" y="4481576"/>
                  </a:lnTo>
                  <a:lnTo>
                    <a:pt x="0" y="0"/>
                  </a:lnTo>
                  <a:close/>
                </a:path>
              </a:pathLst>
            </a:custGeom>
            <a:blipFill>
              <a:blip r:embed="rId8"/>
              <a:stretch>
                <a:fillRect/>
              </a:stretch>
            </a:blipFill>
          </p:spPr>
        </p:sp>
      </p:grpSp>
      <p:grpSp>
        <p:nvGrpSpPr>
          <p:cNvPr id="18" name="Group 18"/>
          <p:cNvGrpSpPr/>
          <p:nvPr/>
        </p:nvGrpSpPr>
        <p:grpSpPr>
          <a:xfrm>
            <a:off x="11729885" y="4129688"/>
            <a:ext cx="2389544" cy="2375149"/>
            <a:chOff x="0" y="0"/>
            <a:chExt cx="3186059" cy="3166865"/>
          </a:xfrm>
        </p:grpSpPr>
        <p:sp>
          <p:nvSpPr>
            <p:cNvPr id="19" name="Freeform 19"/>
            <p:cNvSpPr/>
            <p:nvPr/>
          </p:nvSpPr>
          <p:spPr>
            <a:xfrm>
              <a:off x="0" y="0"/>
              <a:ext cx="3186049" cy="3166872"/>
            </a:xfrm>
            <a:custGeom>
              <a:avLst/>
              <a:gdLst/>
              <a:ahLst/>
              <a:cxnLst/>
              <a:rect l="l" t="t" r="r" b="b"/>
              <a:pathLst>
                <a:path w="3186049" h="3166872">
                  <a:moveTo>
                    <a:pt x="0" y="0"/>
                  </a:moveTo>
                  <a:lnTo>
                    <a:pt x="3186049" y="0"/>
                  </a:lnTo>
                  <a:lnTo>
                    <a:pt x="3186049" y="3166872"/>
                  </a:lnTo>
                  <a:lnTo>
                    <a:pt x="0" y="3166872"/>
                  </a:lnTo>
                  <a:lnTo>
                    <a:pt x="0" y="0"/>
                  </a:lnTo>
                  <a:close/>
                </a:path>
              </a:pathLst>
            </a:custGeom>
            <a:blipFill>
              <a:blip r:embed="rId9"/>
              <a:stretch>
                <a:fillRect l="-33" r="-33"/>
              </a:stretch>
            </a:blipFill>
          </p:spPr>
        </p:sp>
      </p:grpSp>
      <p:grpSp>
        <p:nvGrpSpPr>
          <p:cNvPr id="20" name="Group 20"/>
          <p:cNvGrpSpPr/>
          <p:nvPr/>
        </p:nvGrpSpPr>
        <p:grpSpPr>
          <a:xfrm>
            <a:off x="14383886" y="4190980"/>
            <a:ext cx="2171636" cy="2252566"/>
            <a:chOff x="0" y="0"/>
            <a:chExt cx="2895515" cy="3003421"/>
          </a:xfrm>
        </p:grpSpPr>
        <p:sp>
          <p:nvSpPr>
            <p:cNvPr id="21" name="Freeform 21"/>
            <p:cNvSpPr/>
            <p:nvPr/>
          </p:nvSpPr>
          <p:spPr>
            <a:xfrm>
              <a:off x="0" y="0"/>
              <a:ext cx="2895473" cy="3003423"/>
            </a:xfrm>
            <a:custGeom>
              <a:avLst/>
              <a:gdLst/>
              <a:ahLst/>
              <a:cxnLst/>
              <a:rect l="l" t="t" r="r" b="b"/>
              <a:pathLst>
                <a:path w="2895473" h="3003423">
                  <a:moveTo>
                    <a:pt x="0" y="0"/>
                  </a:moveTo>
                  <a:lnTo>
                    <a:pt x="2895473" y="0"/>
                  </a:lnTo>
                  <a:lnTo>
                    <a:pt x="2895473" y="3003423"/>
                  </a:lnTo>
                  <a:lnTo>
                    <a:pt x="0" y="3003423"/>
                  </a:lnTo>
                  <a:lnTo>
                    <a:pt x="0" y="0"/>
                  </a:lnTo>
                  <a:close/>
                </a:path>
              </a:pathLst>
            </a:custGeom>
            <a:blipFill>
              <a:blip r:embed="rId10"/>
              <a:stretch>
                <a:fillRect l="-2628" r="-2630"/>
              </a:stretch>
            </a:blipFill>
          </p:spPr>
        </p:sp>
      </p:grpSp>
      <p:sp>
        <p:nvSpPr>
          <p:cNvPr id="22" name="TextBox 22"/>
          <p:cNvSpPr txBox="1"/>
          <p:nvPr/>
        </p:nvSpPr>
        <p:spPr>
          <a:xfrm rot="-5400000">
            <a:off x="-2966666" y="3540980"/>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Spécification des besoins</a:t>
            </a:r>
          </a:p>
        </p:txBody>
      </p:sp>
      <p:sp>
        <p:nvSpPr>
          <p:cNvPr id="23" name="TextBox 23"/>
          <p:cNvSpPr txBox="1"/>
          <p:nvPr/>
        </p:nvSpPr>
        <p:spPr>
          <a:xfrm>
            <a:off x="4574540" y="314960"/>
            <a:ext cx="8269605" cy="259715"/>
          </a:xfrm>
          <a:prstGeom prst="rect">
            <a:avLst/>
          </a:prstGeom>
        </p:spPr>
        <p:txBody>
          <a:bodyPr lIns="0" tIns="0" rIns="0" bIns="0" rtlCol="0" anchor="t">
            <a:noAutofit/>
          </a:bodyPr>
          <a:lstStyle/>
          <a:p>
            <a:pPr algn="ctr">
              <a:lnSpc>
                <a:spcPts val="7150"/>
              </a:lnSpc>
            </a:pPr>
            <a:r>
              <a:rPr lang="en-US" sz="4400">
                <a:solidFill>
                  <a:srgbClr val="004AAD"/>
                </a:solidFill>
                <a:latin typeface="The Seasons"/>
                <a:ea typeface="The Seasons"/>
                <a:cs typeface="The Seasons"/>
                <a:sym typeface="The Seasons"/>
              </a:rPr>
              <a:t>Les besoins non fonctionnels</a:t>
            </a:r>
          </a:p>
        </p:txBody>
      </p:sp>
      <p:sp>
        <p:nvSpPr>
          <p:cNvPr id="24" name="TextBox 24"/>
          <p:cNvSpPr txBox="1"/>
          <p:nvPr/>
        </p:nvSpPr>
        <p:spPr>
          <a:xfrm>
            <a:off x="2351006" y="2221961"/>
            <a:ext cx="2856341" cy="432892"/>
          </a:xfrm>
          <a:prstGeom prst="rect">
            <a:avLst/>
          </a:prstGeom>
        </p:spPr>
        <p:txBody>
          <a:bodyPr lIns="0" tIns="0" rIns="0" bIns="0" rtlCol="0" anchor="t">
            <a:spAutoFit/>
          </a:bodyPr>
          <a:lstStyle/>
          <a:p>
            <a:pPr algn="ctr">
              <a:lnSpc>
                <a:spcPts val="3470"/>
              </a:lnSpc>
            </a:pPr>
            <a:r>
              <a:rPr lang="en-US" sz="2670">
                <a:solidFill>
                  <a:srgbClr val="004AAD"/>
                </a:solidFill>
                <a:latin typeface="Alice Bold" panose="00000500000000000000"/>
                <a:ea typeface="Alice Bold" panose="00000500000000000000"/>
                <a:cs typeface="Alice Bold" panose="00000500000000000000"/>
                <a:sym typeface="Alice Bold" panose="00000500000000000000"/>
              </a:rPr>
              <a:t>Performance</a:t>
            </a:r>
          </a:p>
        </p:txBody>
      </p:sp>
      <p:sp>
        <p:nvSpPr>
          <p:cNvPr id="25" name="TextBox 25"/>
          <p:cNvSpPr txBox="1"/>
          <p:nvPr/>
        </p:nvSpPr>
        <p:spPr>
          <a:xfrm>
            <a:off x="2675416" y="3071242"/>
            <a:ext cx="2707594" cy="1261031"/>
          </a:xfrm>
          <a:prstGeom prst="rect">
            <a:avLst/>
          </a:prstGeom>
        </p:spPr>
        <p:txBody>
          <a:bodyPr lIns="0" tIns="0" rIns="0" bIns="0" rtlCol="0" anchor="t">
            <a:spAutoFit/>
          </a:bodyPr>
          <a:lstStyle/>
          <a:p>
            <a:pPr algn="ctr">
              <a:lnSpc>
                <a:spcPts val="2540"/>
              </a:lnSpc>
            </a:pPr>
            <a:r>
              <a:rPr lang="en-US" sz="1950">
                <a:solidFill>
                  <a:srgbClr val="000000"/>
                </a:solidFill>
                <a:latin typeface="Alice" panose="00000500000000000000"/>
                <a:ea typeface="Alice" panose="00000500000000000000"/>
                <a:cs typeface="Alice" panose="00000500000000000000"/>
                <a:sym typeface="Alice" panose="00000500000000000000"/>
              </a:rPr>
              <a:t>TEMPS DE RÉPONSE RAPIDE POUR LES REQUÊTES DANS LE TABLEAU DE BORD.</a:t>
            </a:r>
          </a:p>
        </p:txBody>
      </p:sp>
      <p:sp>
        <p:nvSpPr>
          <p:cNvPr id="26" name="TextBox 26"/>
          <p:cNvSpPr txBox="1"/>
          <p:nvPr/>
        </p:nvSpPr>
        <p:spPr>
          <a:xfrm>
            <a:off x="5480117" y="6628949"/>
            <a:ext cx="2571076" cy="415696"/>
          </a:xfrm>
          <a:prstGeom prst="rect">
            <a:avLst/>
          </a:prstGeom>
        </p:spPr>
        <p:txBody>
          <a:bodyPr lIns="0" tIns="0" rIns="0" bIns="0" rtlCol="0" anchor="t">
            <a:spAutoFit/>
          </a:bodyPr>
          <a:lstStyle/>
          <a:p>
            <a:pPr algn="ctr">
              <a:lnSpc>
                <a:spcPts val="3275"/>
              </a:lnSpc>
            </a:pPr>
            <a:r>
              <a:rPr lang="en-US" sz="2520">
                <a:solidFill>
                  <a:srgbClr val="004AAD"/>
                </a:solidFill>
                <a:latin typeface="Alice Bold" panose="00000500000000000000"/>
                <a:ea typeface="Alice Bold" panose="00000500000000000000"/>
                <a:cs typeface="Alice Bold" panose="00000500000000000000"/>
                <a:sym typeface="Alice Bold" panose="00000500000000000000"/>
              </a:rPr>
              <a:t>FIABILITÉ</a:t>
            </a:r>
          </a:p>
        </p:txBody>
      </p:sp>
      <p:sp>
        <p:nvSpPr>
          <p:cNvPr id="27" name="TextBox 27"/>
          <p:cNvSpPr txBox="1"/>
          <p:nvPr/>
        </p:nvSpPr>
        <p:spPr>
          <a:xfrm>
            <a:off x="5637707" y="7149659"/>
            <a:ext cx="2224242" cy="2003074"/>
          </a:xfrm>
          <a:prstGeom prst="rect">
            <a:avLst/>
          </a:prstGeom>
        </p:spPr>
        <p:txBody>
          <a:bodyPr lIns="0" tIns="0" rIns="0" bIns="0" rtlCol="0" anchor="t">
            <a:spAutoFit/>
          </a:bodyPr>
          <a:lstStyle/>
          <a:p>
            <a:pPr algn="ctr">
              <a:lnSpc>
                <a:spcPts val="2640"/>
              </a:lnSpc>
            </a:pPr>
            <a:r>
              <a:rPr lang="en-US" sz="2030">
                <a:solidFill>
                  <a:srgbClr val="000000"/>
                </a:solidFill>
                <a:latin typeface="Alice" panose="00000500000000000000"/>
                <a:ea typeface="Alice" panose="00000500000000000000"/>
                <a:cs typeface="Alice" panose="00000500000000000000"/>
                <a:sym typeface="Alice" panose="00000500000000000000"/>
              </a:rPr>
              <a:t>S'ASSURER QUE LES DONNÉES COLLECTÉES, ANALYSÉES ET AFFICHÉES SONT EXACTES.</a:t>
            </a:r>
          </a:p>
        </p:txBody>
      </p:sp>
      <p:sp>
        <p:nvSpPr>
          <p:cNvPr id="28" name="TextBox 28"/>
          <p:cNvSpPr txBox="1"/>
          <p:nvPr/>
        </p:nvSpPr>
        <p:spPr>
          <a:xfrm>
            <a:off x="8851538" y="1464079"/>
            <a:ext cx="1304330" cy="344805"/>
          </a:xfrm>
          <a:prstGeom prst="rect">
            <a:avLst/>
          </a:prstGeom>
        </p:spPr>
        <p:txBody>
          <a:bodyPr lIns="0" tIns="0" rIns="0" bIns="0" rtlCol="0" anchor="t">
            <a:spAutoFit/>
          </a:bodyPr>
          <a:lstStyle/>
          <a:p>
            <a:pPr algn="ctr">
              <a:lnSpc>
                <a:spcPts val="2730"/>
              </a:lnSpc>
            </a:pPr>
            <a:r>
              <a:rPr lang="en-US" sz="2100">
                <a:solidFill>
                  <a:srgbClr val="004AAD"/>
                </a:solidFill>
                <a:latin typeface="Alice Bold" panose="00000500000000000000"/>
                <a:ea typeface="Alice Bold" panose="00000500000000000000"/>
                <a:cs typeface="Alice Bold" panose="00000500000000000000"/>
                <a:sym typeface="Alice Bold" panose="00000500000000000000"/>
              </a:rPr>
              <a:t>SÉCURITÉ</a:t>
            </a:r>
          </a:p>
        </p:txBody>
      </p:sp>
      <p:sp>
        <p:nvSpPr>
          <p:cNvPr id="29" name="TextBox 29"/>
          <p:cNvSpPr txBox="1"/>
          <p:nvPr/>
        </p:nvSpPr>
        <p:spPr>
          <a:xfrm>
            <a:off x="8531853" y="2221961"/>
            <a:ext cx="2605386" cy="1400092"/>
          </a:xfrm>
          <a:prstGeom prst="rect">
            <a:avLst/>
          </a:prstGeom>
        </p:spPr>
        <p:txBody>
          <a:bodyPr lIns="0" tIns="0" rIns="0" bIns="0" rtlCol="0" anchor="t">
            <a:spAutoFit/>
          </a:bodyPr>
          <a:lstStyle/>
          <a:p>
            <a:pPr algn="ctr">
              <a:lnSpc>
                <a:spcPts val="2155"/>
              </a:lnSpc>
            </a:pPr>
            <a:r>
              <a:rPr lang="en-US" sz="1660">
                <a:solidFill>
                  <a:srgbClr val="000000"/>
                </a:solidFill>
                <a:latin typeface="Alice" panose="00000500000000000000"/>
                <a:ea typeface="Alice" panose="00000500000000000000"/>
                <a:cs typeface="Alice" panose="00000500000000000000"/>
                <a:sym typeface="Alice" panose="00000500000000000000"/>
              </a:rPr>
              <a:t>MISE EN PLACE D’UN PROCESSUS D’AUTHENTIFICATION INCLUANT UNE VÉRIFICATION PAR EMAIL.</a:t>
            </a:r>
          </a:p>
        </p:txBody>
      </p:sp>
      <p:sp>
        <p:nvSpPr>
          <p:cNvPr id="30" name="TextBox 30"/>
          <p:cNvSpPr txBox="1"/>
          <p:nvPr/>
        </p:nvSpPr>
        <p:spPr>
          <a:xfrm>
            <a:off x="12077924" y="6672387"/>
            <a:ext cx="1693466" cy="344805"/>
          </a:xfrm>
          <a:prstGeom prst="rect">
            <a:avLst/>
          </a:prstGeom>
        </p:spPr>
        <p:txBody>
          <a:bodyPr lIns="0" tIns="0" rIns="0" bIns="0" rtlCol="0" anchor="t">
            <a:spAutoFit/>
          </a:bodyPr>
          <a:lstStyle/>
          <a:p>
            <a:pPr algn="ctr">
              <a:lnSpc>
                <a:spcPts val="2730"/>
              </a:lnSpc>
            </a:pPr>
            <a:r>
              <a:rPr lang="en-US" sz="2100">
                <a:solidFill>
                  <a:srgbClr val="004AAD"/>
                </a:solidFill>
                <a:latin typeface="Alice Bold" panose="00000500000000000000"/>
                <a:ea typeface="Alice Bold" panose="00000500000000000000"/>
                <a:cs typeface="Alice Bold" panose="00000500000000000000"/>
                <a:sym typeface="Alice Bold" panose="00000500000000000000"/>
              </a:rPr>
              <a:t>SCALABILITÉ</a:t>
            </a:r>
          </a:p>
        </p:txBody>
      </p:sp>
      <p:sp>
        <p:nvSpPr>
          <p:cNvPr id="31" name="TextBox 31"/>
          <p:cNvSpPr txBox="1"/>
          <p:nvPr/>
        </p:nvSpPr>
        <p:spPr>
          <a:xfrm>
            <a:off x="11341864" y="7419143"/>
            <a:ext cx="3042022" cy="1871537"/>
          </a:xfrm>
          <a:prstGeom prst="rect">
            <a:avLst/>
          </a:prstGeom>
        </p:spPr>
        <p:txBody>
          <a:bodyPr lIns="0" tIns="0" rIns="0" bIns="0" rtlCol="0" anchor="t">
            <a:spAutoFit/>
          </a:bodyPr>
          <a:lstStyle/>
          <a:p>
            <a:pPr algn="ctr">
              <a:lnSpc>
                <a:spcPts val="2505"/>
              </a:lnSpc>
            </a:pPr>
            <a:r>
              <a:rPr lang="en-US" sz="1925">
                <a:solidFill>
                  <a:srgbClr val="000000"/>
                </a:solidFill>
                <a:latin typeface="Alice" panose="00000500000000000000"/>
                <a:ea typeface="Alice" panose="00000500000000000000"/>
                <a:cs typeface="Alice" panose="00000500000000000000"/>
                <a:sym typeface="Alice" panose="00000500000000000000"/>
              </a:rPr>
              <a:t>CAPACITÉ À INTÉGRER DE NOUVELLES PLATEFORMES OU FONCTIONNALITÉS À L’AVENIR</a:t>
            </a:r>
          </a:p>
          <a:p>
            <a:pPr algn="ctr">
              <a:lnSpc>
                <a:spcPts val="2375"/>
              </a:lnSpc>
            </a:pPr>
            <a:r>
              <a:rPr lang="en-US" sz="1825">
                <a:solidFill>
                  <a:srgbClr val="000000"/>
                </a:solidFill>
                <a:latin typeface="Alice" panose="00000500000000000000"/>
                <a:ea typeface="Alice" panose="00000500000000000000"/>
                <a:cs typeface="Alice" panose="00000500000000000000"/>
                <a:sym typeface="Alice" panose="00000500000000000000"/>
              </a:rPr>
              <a:t>.</a:t>
            </a:r>
          </a:p>
        </p:txBody>
      </p:sp>
      <p:sp>
        <p:nvSpPr>
          <p:cNvPr id="32" name="TextBox 32"/>
          <p:cNvSpPr txBox="1"/>
          <p:nvPr/>
        </p:nvSpPr>
        <p:spPr>
          <a:xfrm>
            <a:off x="13713679" y="2635803"/>
            <a:ext cx="3874539" cy="1177087"/>
          </a:xfrm>
          <a:prstGeom prst="rect">
            <a:avLst/>
          </a:prstGeom>
        </p:spPr>
        <p:txBody>
          <a:bodyPr lIns="0" tIns="0" rIns="0" bIns="0" rtlCol="0" anchor="t">
            <a:spAutoFit/>
          </a:bodyPr>
          <a:lstStyle/>
          <a:p>
            <a:pPr algn="ctr">
              <a:lnSpc>
                <a:spcPts val="2350"/>
              </a:lnSpc>
            </a:pPr>
            <a:r>
              <a:rPr lang="en-US" sz="1805">
                <a:solidFill>
                  <a:srgbClr val="000000"/>
                </a:solidFill>
                <a:latin typeface="Alice" panose="00000500000000000000"/>
                <a:ea typeface="Alice" panose="00000500000000000000"/>
                <a:cs typeface="Alice" panose="00000500000000000000"/>
                <a:sym typeface="Alice" panose="00000500000000000000"/>
              </a:rPr>
              <a:t>INTERFACE UTILISATEUR INTUITIVE POUR PERMETTRE UNE UTILISATION FACILE PAR L‘ADMINISTRATEUR.</a:t>
            </a:r>
          </a:p>
        </p:txBody>
      </p:sp>
      <p:sp>
        <p:nvSpPr>
          <p:cNvPr id="34" name="TextBox 34"/>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18</a:t>
            </a:r>
          </a:p>
        </p:txBody>
      </p:sp>
      <p:sp>
        <p:nvSpPr>
          <p:cNvPr id="35" name="TextBox 35"/>
          <p:cNvSpPr txBox="1"/>
          <p:nvPr/>
        </p:nvSpPr>
        <p:spPr>
          <a:xfrm>
            <a:off x="14891092" y="1780309"/>
            <a:ext cx="1519714" cy="362585"/>
          </a:xfrm>
          <a:prstGeom prst="rect">
            <a:avLst/>
          </a:prstGeom>
        </p:spPr>
        <p:txBody>
          <a:bodyPr lIns="0" tIns="0" rIns="0" bIns="0" rtlCol="0" anchor="t">
            <a:spAutoFit/>
          </a:bodyPr>
          <a:lstStyle/>
          <a:p>
            <a:pPr algn="ctr">
              <a:lnSpc>
                <a:spcPts val="2860"/>
              </a:lnSpc>
              <a:spcBef>
                <a:spcPct val="0"/>
              </a:spcBef>
            </a:pPr>
            <a:r>
              <a:rPr lang="en-US" sz="2200">
                <a:solidFill>
                  <a:srgbClr val="004AAD"/>
                </a:solidFill>
                <a:latin typeface="Alice Bold" panose="00000500000000000000"/>
                <a:ea typeface="Alice Bold" panose="00000500000000000000"/>
                <a:cs typeface="Alice Bold" panose="00000500000000000000"/>
                <a:sym typeface="Alice Bold" panose="00000500000000000000"/>
              </a:rPr>
              <a:t>accessibilité</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9525" y="3408173"/>
            <a:ext cx="13244181" cy="3470655"/>
            <a:chOff x="0" y="0"/>
            <a:chExt cx="17658908" cy="4627540"/>
          </a:xfrm>
        </p:grpSpPr>
        <p:sp>
          <p:nvSpPr>
            <p:cNvPr id="5" name="Freeform 5"/>
            <p:cNvSpPr/>
            <p:nvPr/>
          </p:nvSpPr>
          <p:spPr>
            <a:xfrm>
              <a:off x="0" y="0"/>
              <a:ext cx="17658969" cy="4627499"/>
            </a:xfrm>
            <a:custGeom>
              <a:avLst/>
              <a:gdLst/>
              <a:ahLst/>
              <a:cxnLst/>
              <a:rect l="l" t="t" r="r" b="b"/>
              <a:pathLst>
                <a:path w="17658969" h="4627499">
                  <a:moveTo>
                    <a:pt x="0" y="0"/>
                  </a:moveTo>
                  <a:lnTo>
                    <a:pt x="17658969" y="0"/>
                  </a:lnTo>
                  <a:lnTo>
                    <a:pt x="17658969" y="4627499"/>
                  </a:lnTo>
                  <a:lnTo>
                    <a:pt x="0" y="4627499"/>
                  </a:lnTo>
                  <a:lnTo>
                    <a:pt x="0" y="0"/>
                  </a:lnTo>
                  <a:close/>
                </a:path>
              </a:pathLst>
            </a:custGeom>
            <a:blipFill>
              <a:blip r:embed="rId3"/>
              <a:stretch>
                <a:fillRect/>
              </a:stretch>
            </a:blipFill>
          </p:spPr>
        </p:sp>
      </p:grpSp>
      <p:grpSp>
        <p:nvGrpSpPr>
          <p:cNvPr id="6" name="Group 6"/>
          <p:cNvGrpSpPr/>
          <p:nvPr/>
        </p:nvGrpSpPr>
        <p:grpSpPr>
          <a:xfrm>
            <a:off x="9997505" y="1903449"/>
            <a:ext cx="6187577" cy="6187577"/>
            <a:chOff x="0" y="0"/>
            <a:chExt cx="8250103" cy="8250103"/>
          </a:xfrm>
        </p:grpSpPr>
        <p:sp>
          <p:nvSpPr>
            <p:cNvPr id="7" name="Freeform 7"/>
            <p:cNvSpPr/>
            <p:nvPr/>
          </p:nvSpPr>
          <p:spPr>
            <a:xfrm>
              <a:off x="0" y="0"/>
              <a:ext cx="8250047" cy="8250047"/>
            </a:xfrm>
            <a:custGeom>
              <a:avLst/>
              <a:gdLst/>
              <a:ahLst/>
              <a:cxnLst/>
              <a:rect l="l" t="t" r="r" b="b"/>
              <a:pathLst>
                <a:path w="8250047" h="8250047">
                  <a:moveTo>
                    <a:pt x="0" y="0"/>
                  </a:moveTo>
                  <a:lnTo>
                    <a:pt x="8250047" y="0"/>
                  </a:lnTo>
                  <a:lnTo>
                    <a:pt x="8250047" y="8250047"/>
                  </a:lnTo>
                  <a:lnTo>
                    <a:pt x="0" y="8250047"/>
                  </a:lnTo>
                  <a:lnTo>
                    <a:pt x="0" y="0"/>
                  </a:lnTo>
                  <a:close/>
                </a:path>
              </a:pathLst>
            </a:custGeom>
            <a:blipFill>
              <a:blip r:embed="rId4"/>
              <a:stretch>
                <a:fillRect/>
              </a:stretch>
            </a:blipFill>
          </p:spPr>
        </p:sp>
      </p:grpSp>
      <p:grpSp>
        <p:nvGrpSpPr>
          <p:cNvPr id="8" name="Group 8"/>
          <p:cNvGrpSpPr/>
          <p:nvPr/>
        </p:nvGrpSpPr>
        <p:grpSpPr>
          <a:xfrm>
            <a:off x="10079855" y="2509527"/>
            <a:ext cx="6022878" cy="4975421"/>
            <a:chOff x="0" y="0"/>
            <a:chExt cx="8030504" cy="6633895"/>
          </a:xfrm>
        </p:grpSpPr>
        <p:sp>
          <p:nvSpPr>
            <p:cNvPr id="9" name="Freeform 9"/>
            <p:cNvSpPr/>
            <p:nvPr/>
          </p:nvSpPr>
          <p:spPr>
            <a:xfrm>
              <a:off x="0" y="0"/>
              <a:ext cx="8030464" cy="6633845"/>
            </a:xfrm>
            <a:custGeom>
              <a:avLst/>
              <a:gdLst/>
              <a:ahLst/>
              <a:cxnLst/>
              <a:rect l="l" t="t" r="r" b="b"/>
              <a:pathLst>
                <a:path w="8030464" h="6633845">
                  <a:moveTo>
                    <a:pt x="0" y="0"/>
                  </a:moveTo>
                  <a:lnTo>
                    <a:pt x="8030464" y="0"/>
                  </a:lnTo>
                  <a:lnTo>
                    <a:pt x="8030464" y="6633845"/>
                  </a:lnTo>
                  <a:lnTo>
                    <a:pt x="0" y="6633845"/>
                  </a:lnTo>
                  <a:lnTo>
                    <a:pt x="0" y="0"/>
                  </a:lnTo>
                  <a:close/>
                </a:path>
              </a:pathLst>
            </a:custGeom>
            <a:blipFill>
              <a:blip r:embed="rId5"/>
              <a:stretch>
                <a:fillRect/>
              </a:stretch>
            </a:blipFill>
          </p:spPr>
        </p:sp>
      </p:grpSp>
      <p:sp>
        <p:nvSpPr>
          <p:cNvPr id="10" name="TextBox 10"/>
          <p:cNvSpPr txBox="1"/>
          <p:nvPr/>
        </p:nvSpPr>
        <p:spPr>
          <a:xfrm>
            <a:off x="581305" y="4360302"/>
            <a:ext cx="8805500" cy="1252070"/>
          </a:xfrm>
          <a:prstGeom prst="rect">
            <a:avLst/>
          </a:prstGeom>
        </p:spPr>
        <p:txBody>
          <a:bodyPr lIns="0" tIns="0" rIns="0" bIns="0" rtlCol="0" anchor="t">
            <a:spAutoFit/>
          </a:bodyPr>
          <a:lstStyle/>
          <a:p>
            <a:pPr algn="ctr">
              <a:lnSpc>
                <a:spcPts val="8005"/>
              </a:lnSpc>
            </a:pPr>
            <a:r>
              <a:rPr lang="en-US" sz="6155">
                <a:solidFill>
                  <a:srgbClr val="004AAD"/>
                </a:solidFill>
                <a:latin typeface="The Seasons"/>
                <a:ea typeface="The Seasons"/>
                <a:cs typeface="The Seasons"/>
                <a:sym typeface="The Seasons"/>
              </a:rPr>
              <a:t>Conception et réalisation</a:t>
            </a:r>
          </a:p>
        </p:txBody>
      </p:sp>
      <p:sp>
        <p:nvSpPr>
          <p:cNvPr id="11" name="TextBox 11"/>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952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46916" y="8334999"/>
            <a:ext cx="1189910" cy="1181924"/>
            <a:chOff x="0" y="0"/>
            <a:chExt cx="1586547" cy="1575899"/>
          </a:xfrm>
        </p:grpSpPr>
        <p:sp>
          <p:nvSpPr>
            <p:cNvPr id="9" name="Freeform 9"/>
            <p:cNvSpPr/>
            <p:nvPr/>
          </p:nvSpPr>
          <p:spPr>
            <a:xfrm>
              <a:off x="0" y="0"/>
              <a:ext cx="1586484" cy="1575943"/>
            </a:xfrm>
            <a:custGeom>
              <a:avLst/>
              <a:gdLst/>
              <a:ahLst/>
              <a:cxnLst/>
              <a:rect l="l" t="t" r="r" b="b"/>
              <a:pathLst>
                <a:path w="1586484" h="1575943">
                  <a:moveTo>
                    <a:pt x="0" y="0"/>
                  </a:moveTo>
                  <a:lnTo>
                    <a:pt x="1586484" y="0"/>
                  </a:lnTo>
                  <a:lnTo>
                    <a:pt x="1586484" y="1575943"/>
                  </a:lnTo>
                  <a:lnTo>
                    <a:pt x="0" y="1575943"/>
                  </a:lnTo>
                  <a:lnTo>
                    <a:pt x="0" y="0"/>
                  </a:lnTo>
                  <a:close/>
                </a:path>
              </a:pathLst>
            </a:custGeom>
            <a:blipFill>
              <a:blip r:embed="rId5"/>
              <a:stretch>
                <a:fillRect r="-3" b="2"/>
              </a:stretch>
            </a:blipFill>
          </p:spPr>
        </p:sp>
      </p:grpSp>
      <p:sp>
        <p:nvSpPr>
          <p:cNvPr id="12" name="TextBox 12"/>
          <p:cNvSpPr txBox="1"/>
          <p:nvPr/>
        </p:nvSpPr>
        <p:spPr>
          <a:xfrm>
            <a:off x="3250466" y="168845"/>
            <a:ext cx="11787069" cy="966470"/>
          </a:xfrm>
          <a:prstGeom prst="rect">
            <a:avLst/>
          </a:prstGeom>
        </p:spPr>
        <p:txBody>
          <a:bodyPr lIns="0" tIns="0" rIns="0" bIns="0" rtlCol="0" anchor="t">
            <a:spAutoFit/>
          </a:bodyPr>
          <a:lstStyle/>
          <a:p>
            <a:pPr algn="ctr">
              <a:lnSpc>
                <a:spcPts val="7150"/>
              </a:lnSpc>
            </a:pPr>
            <a:r>
              <a:rPr lang="en-US" sz="5500" b="1">
                <a:solidFill>
                  <a:srgbClr val="004AAD"/>
                </a:solidFill>
                <a:latin typeface="The Seasons Bold"/>
                <a:ea typeface="The Seasons Bold"/>
                <a:cs typeface="The Seasons Bold"/>
                <a:sym typeface="The Seasons Bold"/>
              </a:rPr>
              <a:t>Diagramme de cas d’utilisation global</a:t>
            </a:r>
          </a:p>
        </p:txBody>
      </p:sp>
      <p:sp>
        <p:nvSpPr>
          <p:cNvPr id="13" name="TextBox 13"/>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5" name="TextBox 15"/>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20</a:t>
            </a:r>
          </a:p>
        </p:txBody>
      </p:sp>
      <p:pic>
        <p:nvPicPr>
          <p:cNvPr id="16" name="Picture 65" descr="C:/Users/dahma/Downloads/WhatsApp Image 2026-06-07 at 16.46.27 (1).jpegWhatsApp Image 2026-06-07 at 16.46.27 (1)"/>
          <p:cNvPicPr>
            <a:picLocks noChangeAspect="1"/>
          </p:cNvPicPr>
          <p:nvPr/>
        </p:nvPicPr>
        <p:blipFill>
          <a:blip r:embed="rId6"/>
          <a:srcRect l="3651" t="-3039" r="57" b="-981"/>
          <a:stretch>
            <a:fillRect/>
          </a:stretch>
        </p:blipFill>
        <p:spPr>
          <a:xfrm>
            <a:off x="2219325" y="951865"/>
            <a:ext cx="13917295" cy="9006205"/>
          </a:xfrm>
          <a:prstGeom prst="rect">
            <a:avLst/>
          </a:prstGeom>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46916" y="8334999"/>
            <a:ext cx="1189910" cy="1181924"/>
            <a:chOff x="0" y="0"/>
            <a:chExt cx="1586547" cy="1575899"/>
          </a:xfrm>
        </p:grpSpPr>
        <p:sp>
          <p:nvSpPr>
            <p:cNvPr id="9" name="Freeform 9"/>
            <p:cNvSpPr/>
            <p:nvPr/>
          </p:nvSpPr>
          <p:spPr>
            <a:xfrm>
              <a:off x="0" y="0"/>
              <a:ext cx="1586484" cy="1575943"/>
            </a:xfrm>
            <a:custGeom>
              <a:avLst/>
              <a:gdLst/>
              <a:ahLst/>
              <a:cxnLst/>
              <a:rect l="l" t="t" r="r" b="b"/>
              <a:pathLst>
                <a:path w="1586484" h="1575943">
                  <a:moveTo>
                    <a:pt x="0" y="0"/>
                  </a:moveTo>
                  <a:lnTo>
                    <a:pt x="1586484" y="0"/>
                  </a:lnTo>
                  <a:lnTo>
                    <a:pt x="1586484" y="1575943"/>
                  </a:lnTo>
                  <a:lnTo>
                    <a:pt x="0" y="1575943"/>
                  </a:lnTo>
                  <a:lnTo>
                    <a:pt x="0" y="0"/>
                  </a:lnTo>
                  <a:close/>
                </a:path>
              </a:pathLst>
            </a:custGeom>
            <a:blipFill>
              <a:blip r:embed="rId5"/>
              <a:stretch>
                <a:fillRect r="-3" b="2"/>
              </a:stretch>
            </a:blipFill>
          </p:spPr>
        </p:sp>
      </p:grpSp>
      <p:grpSp>
        <p:nvGrpSpPr>
          <p:cNvPr id="10" name="Group 10"/>
          <p:cNvGrpSpPr/>
          <p:nvPr/>
        </p:nvGrpSpPr>
        <p:grpSpPr>
          <a:xfrm>
            <a:off x="3998219" y="1372416"/>
            <a:ext cx="10842223" cy="8533425"/>
            <a:chOff x="0" y="0"/>
            <a:chExt cx="14456298" cy="11377900"/>
          </a:xfrm>
        </p:grpSpPr>
        <p:sp>
          <p:nvSpPr>
            <p:cNvPr id="11" name="Freeform 11"/>
            <p:cNvSpPr/>
            <p:nvPr/>
          </p:nvSpPr>
          <p:spPr>
            <a:xfrm>
              <a:off x="0" y="0"/>
              <a:ext cx="14456279" cy="11377930"/>
            </a:xfrm>
            <a:custGeom>
              <a:avLst/>
              <a:gdLst/>
              <a:ahLst/>
              <a:cxnLst/>
              <a:rect l="l" t="t" r="r" b="b"/>
              <a:pathLst>
                <a:path w="14456279" h="11377930">
                  <a:moveTo>
                    <a:pt x="0" y="0"/>
                  </a:moveTo>
                  <a:lnTo>
                    <a:pt x="14456279" y="0"/>
                  </a:lnTo>
                  <a:lnTo>
                    <a:pt x="14456279" y="11377930"/>
                  </a:lnTo>
                  <a:lnTo>
                    <a:pt x="0" y="11377930"/>
                  </a:lnTo>
                  <a:lnTo>
                    <a:pt x="0" y="0"/>
                  </a:lnTo>
                  <a:close/>
                </a:path>
              </a:pathLst>
            </a:custGeom>
            <a:solidFill>
              <a:srgbClr val="000000">
                <a:alpha val="0"/>
              </a:srgbClr>
            </a:solidFill>
            <a:ln w="12700">
              <a:solidFill>
                <a:srgbClr val="000000"/>
              </a:solidFill>
            </a:ln>
          </p:spPr>
        </p:sp>
      </p:grpSp>
      <p:sp>
        <p:nvSpPr>
          <p:cNvPr id="13" name="TextBox 13"/>
          <p:cNvSpPr txBox="1"/>
          <p:nvPr/>
        </p:nvSpPr>
        <p:spPr>
          <a:xfrm>
            <a:off x="4733270" y="-109855"/>
            <a:ext cx="8821460" cy="966470"/>
          </a:xfrm>
          <a:prstGeom prst="rect">
            <a:avLst/>
          </a:prstGeom>
        </p:spPr>
        <p:txBody>
          <a:bodyPr lIns="0" tIns="0" rIns="0" bIns="0" rtlCol="0" anchor="t">
            <a:spAutoFit/>
          </a:bodyPr>
          <a:lstStyle/>
          <a:p>
            <a:pPr algn="ctr">
              <a:lnSpc>
                <a:spcPts val="7150"/>
              </a:lnSpc>
            </a:pPr>
            <a:r>
              <a:rPr lang="en-US" sz="5500" b="1">
                <a:solidFill>
                  <a:srgbClr val="004AAD"/>
                </a:solidFill>
                <a:latin typeface="The Seasons Bold"/>
                <a:ea typeface="The Seasons Bold"/>
                <a:cs typeface="The Seasons Bold"/>
                <a:sym typeface="The Seasons Bold"/>
              </a:rPr>
              <a:t>Diagramme de classe global</a:t>
            </a:r>
          </a:p>
        </p:txBody>
      </p:sp>
      <p:sp>
        <p:nvSpPr>
          <p:cNvPr id="14" name="TextBox 14"/>
          <p:cNvSpPr txBox="1"/>
          <p:nvPr/>
        </p:nvSpPr>
        <p:spPr>
          <a:xfrm rot="-5400000">
            <a:off x="-2962870" y="3457597"/>
            <a:ext cx="6821190" cy="775970"/>
          </a:xfrm>
          <a:prstGeom prst="rect">
            <a:avLst/>
          </a:prstGeom>
        </p:spPr>
        <p:txBody>
          <a:bodyPr lIns="0" tIns="0" rIns="0" bIns="0" rtlCol="0" anchor="t">
            <a:spAutoFit/>
          </a:bodyPr>
          <a:lstStyle/>
          <a:p>
            <a:pPr algn="ctr">
              <a:lnSpc>
                <a:spcPts val="6055"/>
              </a:lnSpc>
            </a:pPr>
            <a:r>
              <a:rPr lang="en-US" sz="4000" b="1">
                <a:solidFill>
                  <a:srgbClr val="004AAD"/>
                </a:solidFill>
                <a:latin typeface="The Seasons Bold"/>
                <a:ea typeface="The Seasons Bold"/>
                <a:cs typeface="The Seasons Bold"/>
                <a:sym typeface="The Seasons Bold"/>
              </a:rPr>
              <a:t>Conception et réalisation</a:t>
            </a:r>
          </a:p>
        </p:txBody>
      </p:sp>
      <p:sp>
        <p:nvSpPr>
          <p:cNvPr id="15" name="TextBox 15"/>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21</a:t>
            </a:r>
          </a:p>
        </p:txBody>
      </p:sp>
      <p:pic>
        <p:nvPicPr>
          <p:cNvPr id="1441060532" name="Imag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a:off x="2745105" y="855980"/>
            <a:ext cx="13872845" cy="916559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grpSp>
        <p:nvGrpSpPr>
          <p:cNvPr id="10" name="Group 10"/>
          <p:cNvGrpSpPr/>
          <p:nvPr/>
        </p:nvGrpSpPr>
        <p:grpSpPr>
          <a:xfrm>
            <a:off x="2284558" y="454595"/>
            <a:ext cx="8676037" cy="4911756"/>
            <a:chOff x="0" y="0"/>
            <a:chExt cx="11568049" cy="6549009"/>
          </a:xfrm>
        </p:grpSpPr>
        <p:sp>
          <p:nvSpPr>
            <p:cNvPr id="11" name="Freeform 11"/>
            <p:cNvSpPr/>
            <p:nvPr/>
          </p:nvSpPr>
          <p:spPr>
            <a:xfrm>
              <a:off x="0" y="0"/>
              <a:ext cx="11568049" cy="6549009"/>
            </a:xfrm>
            <a:custGeom>
              <a:avLst/>
              <a:gdLst/>
              <a:ahLst/>
              <a:cxnLst/>
              <a:rect l="l" t="t" r="r" b="b"/>
              <a:pathLst>
                <a:path w="11568049" h="6549009">
                  <a:moveTo>
                    <a:pt x="0" y="0"/>
                  </a:moveTo>
                  <a:lnTo>
                    <a:pt x="11568049" y="0"/>
                  </a:lnTo>
                  <a:lnTo>
                    <a:pt x="11568049" y="6549009"/>
                  </a:lnTo>
                  <a:lnTo>
                    <a:pt x="0" y="6549009"/>
                  </a:lnTo>
                  <a:lnTo>
                    <a:pt x="0" y="0"/>
                  </a:lnTo>
                  <a:close/>
                </a:path>
              </a:pathLst>
            </a:custGeom>
            <a:blipFill rotWithShape="1">
              <a:blip r:embed="rId6"/>
              <a:stretch>
                <a:fillRect l="-1923" r="-1923"/>
              </a:stretch>
            </a:blipFill>
          </p:spPr>
        </p:sp>
      </p:grpSp>
      <p:sp>
        <p:nvSpPr>
          <p:cNvPr id="14" name="TextBox 14"/>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6" name="TextBox 16"/>
          <p:cNvSpPr txBox="1"/>
          <p:nvPr/>
        </p:nvSpPr>
        <p:spPr>
          <a:xfrm>
            <a:off x="11582232" y="3162312"/>
            <a:ext cx="6151007" cy="1129030"/>
          </a:xfrm>
          <a:prstGeom prst="rect">
            <a:avLst/>
          </a:prstGeom>
        </p:spPr>
        <p:txBody>
          <a:bodyPr lIns="0" tIns="0" rIns="0" bIns="0" rtlCol="0" anchor="t">
            <a:spAutoFit/>
          </a:bodyPr>
          <a:lstStyle/>
          <a:p>
            <a:pPr algn="ctr">
              <a:lnSpc>
                <a:spcPts val="7280"/>
              </a:lnSpc>
            </a:pPr>
            <a:r>
              <a:rPr lang="en-US" sz="5600">
                <a:solidFill>
                  <a:srgbClr val="004AAD"/>
                </a:solidFill>
                <a:latin typeface="The Seasons"/>
                <a:ea typeface="The Seasons"/>
                <a:cs typeface="The Seasons"/>
                <a:sym typeface="The Seasons"/>
              </a:rPr>
              <a:t>Foire aux questions</a:t>
            </a:r>
          </a:p>
        </p:txBody>
      </p:sp>
      <p:sp>
        <p:nvSpPr>
          <p:cNvPr id="17" name="TextBox 17"/>
          <p:cNvSpPr txBox="1"/>
          <p:nvPr/>
        </p:nvSpPr>
        <p:spPr>
          <a:xfrm>
            <a:off x="3241549" y="5236222"/>
            <a:ext cx="3229451" cy="1129030"/>
          </a:xfrm>
          <a:prstGeom prst="rect">
            <a:avLst/>
          </a:prstGeom>
        </p:spPr>
        <p:txBody>
          <a:bodyPr lIns="0" tIns="0" rIns="0" bIns="0" rtlCol="0" anchor="t">
            <a:spAutoFit/>
          </a:bodyPr>
          <a:lstStyle/>
          <a:p>
            <a:pPr algn="ctr">
              <a:lnSpc>
                <a:spcPts val="7280"/>
              </a:lnSpc>
            </a:pPr>
            <a:r>
              <a:rPr lang="en-US" sz="5600">
                <a:solidFill>
                  <a:srgbClr val="004AAD"/>
                </a:solidFill>
                <a:latin typeface="The Seasons"/>
                <a:ea typeface="The Seasons"/>
                <a:cs typeface="The Seasons"/>
                <a:sym typeface="The Seasons"/>
              </a:rPr>
              <a:t>Nos offres</a:t>
            </a:r>
          </a:p>
        </p:txBody>
      </p:sp>
      <p:sp>
        <p:nvSpPr>
          <p:cNvPr id="18" name="TextBox 18"/>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23</a:t>
            </a:r>
          </a:p>
        </p:txBody>
      </p:sp>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67600" y="5600700"/>
            <a:ext cx="9288463" cy="436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grpSp>
        <p:nvGrpSpPr>
          <p:cNvPr id="10" name="Group 10"/>
          <p:cNvGrpSpPr/>
          <p:nvPr/>
        </p:nvGrpSpPr>
        <p:grpSpPr>
          <a:xfrm>
            <a:off x="1776270" y="454595"/>
            <a:ext cx="8712076" cy="4443159"/>
            <a:chOff x="0" y="0"/>
            <a:chExt cx="11616101" cy="5924212"/>
          </a:xfrm>
        </p:grpSpPr>
        <p:sp>
          <p:nvSpPr>
            <p:cNvPr id="11" name="Freeform 11"/>
            <p:cNvSpPr/>
            <p:nvPr/>
          </p:nvSpPr>
          <p:spPr>
            <a:xfrm>
              <a:off x="0" y="0"/>
              <a:ext cx="11616055" cy="5924169"/>
            </a:xfrm>
            <a:custGeom>
              <a:avLst/>
              <a:gdLst/>
              <a:ahLst/>
              <a:cxnLst/>
              <a:rect l="l" t="t" r="r" b="b"/>
              <a:pathLst>
                <a:path w="11616055" h="5924169">
                  <a:moveTo>
                    <a:pt x="0" y="0"/>
                  </a:moveTo>
                  <a:lnTo>
                    <a:pt x="11616055" y="0"/>
                  </a:lnTo>
                  <a:lnTo>
                    <a:pt x="11616055" y="5924169"/>
                  </a:lnTo>
                  <a:lnTo>
                    <a:pt x="0" y="5924169"/>
                  </a:lnTo>
                  <a:lnTo>
                    <a:pt x="0" y="0"/>
                  </a:lnTo>
                  <a:close/>
                </a:path>
              </a:pathLst>
            </a:custGeom>
            <a:blipFill rotWithShape="1">
              <a:blip r:embed="rId6"/>
              <a:stretch>
                <a:fillRect t="-76" b="-77"/>
              </a:stretch>
            </a:blipFill>
          </p:spPr>
        </p:sp>
      </p:grpSp>
      <p:grpSp>
        <p:nvGrpSpPr>
          <p:cNvPr id="12" name="Group 12"/>
          <p:cNvGrpSpPr/>
          <p:nvPr/>
        </p:nvGrpSpPr>
        <p:grpSpPr>
          <a:xfrm>
            <a:off x="8284395" y="5219764"/>
            <a:ext cx="9521476" cy="4260818"/>
            <a:chOff x="0" y="120227"/>
            <a:chExt cx="12695301" cy="5681091"/>
          </a:xfrm>
        </p:grpSpPr>
        <p:sp>
          <p:nvSpPr>
            <p:cNvPr id="13" name="Freeform 13"/>
            <p:cNvSpPr/>
            <p:nvPr/>
          </p:nvSpPr>
          <p:spPr>
            <a:xfrm>
              <a:off x="0" y="120227"/>
              <a:ext cx="12695301" cy="5681091"/>
            </a:xfrm>
            <a:custGeom>
              <a:avLst/>
              <a:gdLst/>
              <a:ahLst/>
              <a:cxnLst/>
              <a:rect l="l" t="t" r="r" b="b"/>
              <a:pathLst>
                <a:path w="12695301" h="5681091">
                  <a:moveTo>
                    <a:pt x="0" y="0"/>
                  </a:moveTo>
                  <a:lnTo>
                    <a:pt x="12695301" y="0"/>
                  </a:lnTo>
                  <a:lnTo>
                    <a:pt x="12695301" y="5681091"/>
                  </a:lnTo>
                  <a:lnTo>
                    <a:pt x="0" y="5681091"/>
                  </a:lnTo>
                  <a:lnTo>
                    <a:pt x="0" y="0"/>
                  </a:lnTo>
                  <a:close/>
                </a:path>
              </a:pathLst>
            </a:custGeom>
            <a:blipFill rotWithShape="1">
              <a:blip r:embed="rId7"/>
              <a:stretch>
                <a:fillRect t="-66" b="-67"/>
              </a:stretch>
            </a:blipFill>
          </p:spPr>
        </p:sp>
      </p:grpSp>
      <p:sp>
        <p:nvSpPr>
          <p:cNvPr id="14" name="TextBox 14"/>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6" name="TextBox 16"/>
          <p:cNvSpPr txBox="1"/>
          <p:nvPr/>
        </p:nvSpPr>
        <p:spPr>
          <a:xfrm>
            <a:off x="486711" y="4872419"/>
            <a:ext cx="9297921" cy="1936336"/>
          </a:xfrm>
          <a:prstGeom prst="rect">
            <a:avLst/>
          </a:prstGeom>
        </p:spPr>
        <p:txBody>
          <a:bodyPr lIns="0" tIns="0" rIns="0" bIns="0" rtlCol="0" anchor="t">
            <a:spAutoFit/>
          </a:bodyPr>
          <a:lstStyle/>
          <a:p>
            <a:pPr algn="ctr">
              <a:lnSpc>
                <a:spcPts val="6880"/>
              </a:lnSpc>
            </a:pPr>
            <a:r>
              <a:rPr lang="en-US" sz="5290">
                <a:solidFill>
                  <a:srgbClr val="004AAD"/>
                </a:solidFill>
                <a:latin typeface="The Seasons"/>
                <a:ea typeface="The Seasons"/>
                <a:cs typeface="The Seasons"/>
                <a:sym typeface="The Seasons"/>
              </a:rPr>
              <a:t>Interface Login de Administrateur</a:t>
            </a:r>
          </a:p>
        </p:txBody>
      </p:sp>
      <p:sp>
        <p:nvSpPr>
          <p:cNvPr id="17" name="TextBox 17"/>
          <p:cNvSpPr txBox="1"/>
          <p:nvPr/>
        </p:nvSpPr>
        <p:spPr>
          <a:xfrm>
            <a:off x="10814630" y="3350886"/>
            <a:ext cx="6697500" cy="1797343"/>
          </a:xfrm>
          <a:prstGeom prst="rect">
            <a:avLst/>
          </a:prstGeom>
        </p:spPr>
        <p:txBody>
          <a:bodyPr lIns="0" tIns="0" rIns="0" bIns="0" rtlCol="0" anchor="t">
            <a:spAutoFit/>
          </a:bodyPr>
          <a:lstStyle/>
          <a:p>
            <a:pPr algn="ctr">
              <a:lnSpc>
                <a:spcPts val="6310"/>
              </a:lnSpc>
            </a:pPr>
            <a:r>
              <a:rPr lang="en-US" sz="4855">
                <a:solidFill>
                  <a:srgbClr val="004AAD"/>
                </a:solidFill>
                <a:latin typeface="The Seasons"/>
                <a:ea typeface="The Seasons"/>
                <a:cs typeface="The Seasons"/>
                <a:sym typeface="The Seasons"/>
              </a:rPr>
              <a:t>Interface Tableau de bord</a:t>
            </a:r>
          </a:p>
        </p:txBody>
      </p:sp>
      <p:sp>
        <p:nvSpPr>
          <p:cNvPr id="18" name="TextBox 18"/>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grpSp>
        <p:nvGrpSpPr>
          <p:cNvPr id="10" name="Group 10"/>
          <p:cNvGrpSpPr/>
          <p:nvPr/>
        </p:nvGrpSpPr>
        <p:grpSpPr>
          <a:xfrm>
            <a:off x="1470333" y="235201"/>
            <a:ext cx="9910848" cy="4382107"/>
            <a:chOff x="0" y="0"/>
            <a:chExt cx="13214464" cy="5842809"/>
          </a:xfrm>
        </p:grpSpPr>
        <p:sp>
          <p:nvSpPr>
            <p:cNvPr id="11" name="Freeform 11"/>
            <p:cNvSpPr/>
            <p:nvPr/>
          </p:nvSpPr>
          <p:spPr>
            <a:xfrm>
              <a:off x="0" y="0"/>
              <a:ext cx="13214477" cy="5842762"/>
            </a:xfrm>
            <a:custGeom>
              <a:avLst/>
              <a:gdLst/>
              <a:ahLst/>
              <a:cxnLst/>
              <a:rect l="l" t="t" r="r" b="b"/>
              <a:pathLst>
                <a:path w="13214477" h="5842762">
                  <a:moveTo>
                    <a:pt x="0" y="0"/>
                  </a:moveTo>
                  <a:lnTo>
                    <a:pt x="13214477" y="0"/>
                  </a:lnTo>
                  <a:lnTo>
                    <a:pt x="13214477" y="5842762"/>
                  </a:lnTo>
                  <a:lnTo>
                    <a:pt x="0" y="5842762"/>
                  </a:lnTo>
                  <a:lnTo>
                    <a:pt x="0" y="0"/>
                  </a:lnTo>
                  <a:close/>
                </a:path>
              </a:pathLst>
            </a:custGeom>
            <a:blipFill rotWithShape="1">
              <a:blip r:embed="rId6"/>
              <a:stretch>
                <a:fillRect t="-823" b="-824"/>
              </a:stretch>
            </a:blipFill>
          </p:spPr>
        </p:sp>
      </p:grpSp>
      <p:sp>
        <p:nvSpPr>
          <p:cNvPr id="12" name="TextBox 12"/>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4" name="TextBox 14"/>
          <p:cNvSpPr txBox="1"/>
          <p:nvPr/>
        </p:nvSpPr>
        <p:spPr>
          <a:xfrm>
            <a:off x="2021796" y="4531382"/>
            <a:ext cx="5294523" cy="1708755"/>
          </a:xfrm>
          <a:prstGeom prst="rect">
            <a:avLst/>
          </a:prstGeom>
        </p:spPr>
        <p:txBody>
          <a:bodyPr lIns="0" tIns="0" rIns="0" bIns="0" rtlCol="0" anchor="t">
            <a:spAutoFit/>
          </a:bodyPr>
          <a:lstStyle/>
          <a:p>
            <a:pPr algn="ctr">
              <a:lnSpc>
                <a:spcPts val="6025"/>
              </a:lnSpc>
            </a:pPr>
            <a:r>
              <a:rPr lang="en-US" sz="4635">
                <a:solidFill>
                  <a:srgbClr val="004AAD"/>
                </a:solidFill>
                <a:latin typeface="The Seasons"/>
                <a:ea typeface="The Seasons"/>
                <a:cs typeface="The Seasons"/>
                <a:sym typeface="The Seasons"/>
              </a:rPr>
              <a:t>Interface Liste </a:t>
            </a:r>
          </a:p>
          <a:p>
            <a:pPr algn="ctr">
              <a:lnSpc>
                <a:spcPts val="6025"/>
              </a:lnSpc>
            </a:pPr>
            <a:r>
              <a:rPr lang="en-US" sz="4635">
                <a:solidFill>
                  <a:srgbClr val="004AAD"/>
                </a:solidFill>
                <a:latin typeface="The Seasons"/>
                <a:ea typeface="The Seasons"/>
                <a:cs typeface="The Seasons"/>
                <a:sym typeface="The Seasons"/>
              </a:rPr>
              <a:t>des Administrateurs</a:t>
            </a:r>
          </a:p>
        </p:txBody>
      </p:sp>
      <p:sp>
        <p:nvSpPr>
          <p:cNvPr id="17" name="TextBox 17"/>
          <p:cNvSpPr txBox="1"/>
          <p:nvPr/>
        </p:nvSpPr>
        <p:spPr>
          <a:xfrm>
            <a:off x="12560379" y="2564352"/>
            <a:ext cx="4667607" cy="1866900"/>
          </a:xfrm>
          <a:prstGeom prst="rect">
            <a:avLst/>
          </a:prstGeom>
        </p:spPr>
        <p:txBody>
          <a:bodyPr lIns="0" tIns="0" rIns="0" bIns="0" rtlCol="0" anchor="t">
            <a:spAutoFit/>
          </a:bodyPr>
          <a:lstStyle/>
          <a:p>
            <a:pPr algn="ctr">
              <a:lnSpc>
                <a:spcPts val="7280"/>
              </a:lnSpc>
            </a:pPr>
            <a:r>
              <a:rPr lang="en-US" sz="4800">
                <a:solidFill>
                  <a:srgbClr val="004AAD"/>
                </a:solidFill>
                <a:latin typeface="The Seasons"/>
                <a:ea typeface="The Seasons"/>
                <a:cs typeface="The Seasons"/>
                <a:sym typeface="The Seasons"/>
              </a:rPr>
              <a:t>Interface Liste </a:t>
            </a:r>
          </a:p>
          <a:p>
            <a:pPr algn="ctr">
              <a:lnSpc>
                <a:spcPts val="7280"/>
              </a:lnSpc>
            </a:pPr>
            <a:r>
              <a:rPr lang="en-US" sz="4800">
                <a:solidFill>
                  <a:srgbClr val="004AAD"/>
                </a:solidFill>
                <a:latin typeface="The Seasons"/>
                <a:ea typeface="The Seasons"/>
                <a:cs typeface="The Seasons"/>
                <a:sym typeface="The Seasons"/>
              </a:rPr>
              <a:t>des Marques</a:t>
            </a:r>
          </a:p>
        </p:txBody>
      </p:sp>
      <p:sp>
        <p:nvSpPr>
          <p:cNvPr id="18" name="TextBox 18"/>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25</a:t>
            </a:r>
          </a:p>
        </p:txBody>
      </p:sp>
      <p:pic>
        <p:nvPicPr>
          <p:cNvPr id="205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10132" y="4761704"/>
            <a:ext cx="9894888" cy="4420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sp>
        <p:nvSpPr>
          <p:cNvPr id="10" name="TextBox 10"/>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4" name="TextBox 14"/>
          <p:cNvSpPr txBox="1"/>
          <p:nvPr/>
        </p:nvSpPr>
        <p:spPr>
          <a:xfrm>
            <a:off x="1171071" y="4600900"/>
            <a:ext cx="7017893" cy="2052955"/>
          </a:xfrm>
          <a:prstGeom prst="rect">
            <a:avLst/>
          </a:prstGeom>
        </p:spPr>
        <p:txBody>
          <a:bodyPr lIns="0" tIns="0" rIns="0" bIns="0" rtlCol="0" anchor="t">
            <a:spAutoFit/>
          </a:bodyPr>
          <a:lstStyle/>
          <a:p>
            <a:pPr algn="ctr">
              <a:lnSpc>
                <a:spcPts val="7280"/>
              </a:lnSpc>
            </a:pPr>
            <a:r>
              <a:rPr lang="en-US" sz="5600">
                <a:solidFill>
                  <a:srgbClr val="004AAD"/>
                </a:solidFill>
                <a:latin typeface="The Seasons"/>
                <a:ea typeface="The Seasons"/>
                <a:cs typeface="The Seasons"/>
                <a:sym typeface="The Seasons"/>
              </a:rPr>
              <a:t>Interface Liste des Influenceurs</a:t>
            </a:r>
          </a:p>
        </p:txBody>
      </p:sp>
      <p:sp>
        <p:nvSpPr>
          <p:cNvPr id="17" name="TextBox 17"/>
          <p:cNvSpPr txBox="1"/>
          <p:nvPr/>
        </p:nvSpPr>
        <p:spPr>
          <a:xfrm>
            <a:off x="9827660" y="2756269"/>
            <a:ext cx="9035820" cy="2052955"/>
          </a:xfrm>
          <a:prstGeom prst="rect">
            <a:avLst/>
          </a:prstGeom>
        </p:spPr>
        <p:txBody>
          <a:bodyPr lIns="0" tIns="0" rIns="0" bIns="0" rtlCol="0" anchor="t">
            <a:spAutoFit/>
          </a:bodyPr>
          <a:lstStyle/>
          <a:p>
            <a:pPr algn="ctr">
              <a:lnSpc>
                <a:spcPts val="7280"/>
              </a:lnSpc>
            </a:pPr>
            <a:r>
              <a:rPr lang="en-US" sz="5600">
                <a:solidFill>
                  <a:srgbClr val="004AAD"/>
                </a:solidFill>
                <a:latin typeface="The Seasons"/>
                <a:ea typeface="The Seasons"/>
                <a:cs typeface="The Seasons"/>
                <a:sym typeface="The Seasons"/>
              </a:rPr>
              <a:t>Interface Liste des Campagnes</a:t>
            </a:r>
          </a:p>
        </p:txBody>
      </p:sp>
      <p:sp>
        <p:nvSpPr>
          <p:cNvPr id="18" name="TextBox 18"/>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26</a:t>
            </a:r>
          </a:p>
        </p:txBody>
      </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1071" y="190500"/>
            <a:ext cx="9545184" cy="4237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0" y="4610115"/>
            <a:ext cx="9029700" cy="4325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sp>
        <p:nvSpPr>
          <p:cNvPr id="10" name="TextBox 10"/>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4" name="TextBox 14"/>
          <p:cNvSpPr txBox="1"/>
          <p:nvPr/>
        </p:nvSpPr>
        <p:spPr>
          <a:xfrm>
            <a:off x="0" y="4429246"/>
            <a:ext cx="9130416" cy="2052955"/>
          </a:xfrm>
          <a:prstGeom prst="rect">
            <a:avLst/>
          </a:prstGeom>
        </p:spPr>
        <p:txBody>
          <a:bodyPr lIns="0" tIns="0" rIns="0" bIns="0" rtlCol="0" anchor="t">
            <a:spAutoFit/>
          </a:bodyPr>
          <a:lstStyle/>
          <a:p>
            <a:pPr algn="ctr">
              <a:lnSpc>
                <a:spcPts val="7280"/>
              </a:lnSpc>
            </a:pPr>
            <a:r>
              <a:rPr lang="en-US" sz="5600">
                <a:solidFill>
                  <a:srgbClr val="004AAD"/>
                </a:solidFill>
                <a:latin typeface="The Seasons"/>
                <a:ea typeface="The Seasons"/>
                <a:cs typeface="The Seasons"/>
                <a:sym typeface="The Seasons"/>
              </a:rPr>
              <a:t>Interface Liste des Paiements</a:t>
            </a:r>
          </a:p>
        </p:txBody>
      </p:sp>
      <p:sp>
        <p:nvSpPr>
          <p:cNvPr id="17" name="TextBox 17"/>
          <p:cNvSpPr txBox="1"/>
          <p:nvPr/>
        </p:nvSpPr>
        <p:spPr>
          <a:xfrm>
            <a:off x="7849749" y="8970407"/>
            <a:ext cx="8687762" cy="774658"/>
          </a:xfrm>
          <a:prstGeom prst="rect">
            <a:avLst/>
          </a:prstGeom>
        </p:spPr>
        <p:txBody>
          <a:bodyPr lIns="0" tIns="0" rIns="0" bIns="0" rtlCol="0" anchor="t">
            <a:spAutoFit/>
          </a:bodyPr>
          <a:lstStyle/>
          <a:p>
            <a:pPr algn="ctr">
              <a:lnSpc>
                <a:spcPts val="4905"/>
              </a:lnSpc>
            </a:pPr>
            <a:r>
              <a:rPr lang="en-US" sz="3775" dirty="0">
                <a:solidFill>
                  <a:srgbClr val="004AAD"/>
                </a:solidFill>
                <a:latin typeface="The Seasons"/>
                <a:ea typeface="The Seasons"/>
                <a:cs typeface="The Seasons"/>
                <a:sym typeface="The Seasons"/>
              </a:rPr>
              <a:t>Interface </a:t>
            </a:r>
            <a:r>
              <a:rPr lang="en-US" sz="3775" dirty="0" err="1">
                <a:solidFill>
                  <a:srgbClr val="004AAD"/>
                </a:solidFill>
                <a:latin typeface="The Seasons"/>
                <a:ea typeface="The Seasons"/>
                <a:cs typeface="The Seasons"/>
                <a:sym typeface="The Seasons"/>
              </a:rPr>
              <a:t>l’historique</a:t>
            </a:r>
            <a:r>
              <a:rPr lang="en-US" sz="3775" dirty="0">
                <a:solidFill>
                  <a:srgbClr val="004AAD"/>
                </a:solidFill>
                <a:latin typeface="The Seasons"/>
                <a:ea typeface="The Seasons"/>
                <a:cs typeface="The Seasons"/>
                <a:sym typeface="The Seasons"/>
              </a:rPr>
              <a:t> des </a:t>
            </a:r>
            <a:r>
              <a:rPr lang="en-US" sz="3775" dirty="0" err="1">
                <a:solidFill>
                  <a:srgbClr val="004AAD"/>
                </a:solidFill>
                <a:latin typeface="The Seasons"/>
                <a:ea typeface="The Seasons"/>
                <a:cs typeface="The Seasons"/>
                <a:sym typeface="The Seasons"/>
              </a:rPr>
              <a:t>collaborationss</a:t>
            </a:r>
            <a:endParaRPr lang="en-US" sz="3775" dirty="0">
              <a:solidFill>
                <a:srgbClr val="004AAD"/>
              </a:solidFill>
              <a:latin typeface="The Seasons"/>
              <a:ea typeface="The Seasons"/>
              <a:cs typeface="The Seasons"/>
              <a:sym typeface="The Seasons"/>
            </a:endParaRPr>
          </a:p>
        </p:txBody>
      </p:sp>
      <p:sp>
        <p:nvSpPr>
          <p:cNvPr id="18" name="TextBox 18"/>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27</a:t>
            </a:r>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372108"/>
            <a:ext cx="10229850" cy="4057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77200" y="4991099"/>
            <a:ext cx="8820150" cy="392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sp>
        <p:nvSpPr>
          <p:cNvPr id="10" name="TextBox 10"/>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2" name="TextBox 12"/>
          <p:cNvSpPr txBox="1"/>
          <p:nvPr/>
        </p:nvSpPr>
        <p:spPr>
          <a:xfrm>
            <a:off x="981075" y="4456853"/>
            <a:ext cx="5609510" cy="1568144"/>
          </a:xfrm>
          <a:prstGeom prst="rect">
            <a:avLst/>
          </a:prstGeom>
        </p:spPr>
        <p:txBody>
          <a:bodyPr lIns="0" tIns="0" rIns="0" bIns="0" rtlCol="0" anchor="t">
            <a:spAutoFit/>
          </a:bodyPr>
          <a:lstStyle/>
          <a:p>
            <a:pPr algn="ctr">
              <a:lnSpc>
                <a:spcPts val="5565"/>
              </a:lnSpc>
            </a:pPr>
            <a:r>
              <a:rPr lang="en-US" sz="4280">
                <a:solidFill>
                  <a:srgbClr val="004AAD"/>
                </a:solidFill>
                <a:latin typeface="The Seasons"/>
                <a:ea typeface="The Seasons"/>
                <a:cs typeface="The Seasons"/>
                <a:sym typeface="The Seasons"/>
              </a:rPr>
              <a:t>Interface Liste de contact</a:t>
            </a:r>
          </a:p>
        </p:txBody>
      </p:sp>
      <p:grpSp>
        <p:nvGrpSpPr>
          <p:cNvPr id="15" name="Group 15"/>
          <p:cNvGrpSpPr/>
          <p:nvPr/>
        </p:nvGrpSpPr>
        <p:grpSpPr>
          <a:xfrm>
            <a:off x="12901119" y="454595"/>
            <a:ext cx="2679166" cy="2941259"/>
            <a:chOff x="0" y="0"/>
            <a:chExt cx="3572221" cy="3921679"/>
          </a:xfrm>
        </p:grpSpPr>
        <p:sp>
          <p:nvSpPr>
            <p:cNvPr id="16" name="Freeform 16"/>
            <p:cNvSpPr/>
            <p:nvPr/>
          </p:nvSpPr>
          <p:spPr>
            <a:xfrm>
              <a:off x="0" y="0"/>
              <a:ext cx="3572256" cy="3921633"/>
            </a:xfrm>
            <a:custGeom>
              <a:avLst/>
              <a:gdLst/>
              <a:ahLst/>
              <a:cxnLst/>
              <a:rect l="l" t="t" r="r" b="b"/>
              <a:pathLst>
                <a:path w="3572256" h="3921633">
                  <a:moveTo>
                    <a:pt x="0" y="0"/>
                  </a:moveTo>
                  <a:lnTo>
                    <a:pt x="3572256" y="0"/>
                  </a:lnTo>
                  <a:lnTo>
                    <a:pt x="3572256" y="3921633"/>
                  </a:lnTo>
                  <a:lnTo>
                    <a:pt x="0" y="3921633"/>
                  </a:lnTo>
                  <a:lnTo>
                    <a:pt x="0" y="0"/>
                  </a:lnTo>
                  <a:close/>
                </a:path>
              </a:pathLst>
            </a:custGeom>
            <a:blipFill>
              <a:blip r:embed="rId6"/>
              <a:stretch>
                <a:fillRect b="-1"/>
              </a:stretch>
            </a:blipFill>
          </p:spPr>
        </p:sp>
      </p:grpSp>
      <p:sp>
        <p:nvSpPr>
          <p:cNvPr id="17" name="TextBox 17"/>
          <p:cNvSpPr txBox="1"/>
          <p:nvPr/>
        </p:nvSpPr>
        <p:spPr>
          <a:xfrm>
            <a:off x="11405235" y="3331836"/>
            <a:ext cx="6449020" cy="1129030"/>
          </a:xfrm>
          <a:prstGeom prst="rect">
            <a:avLst/>
          </a:prstGeom>
        </p:spPr>
        <p:txBody>
          <a:bodyPr lIns="0" tIns="0" rIns="0" bIns="0" rtlCol="0" anchor="t">
            <a:spAutoFit/>
          </a:bodyPr>
          <a:lstStyle/>
          <a:p>
            <a:pPr algn="ctr">
              <a:lnSpc>
                <a:spcPts val="7280"/>
              </a:lnSpc>
            </a:pPr>
            <a:r>
              <a:rPr lang="en-US" sz="5600" dirty="0">
                <a:solidFill>
                  <a:srgbClr val="004AAD"/>
                </a:solidFill>
                <a:latin typeface="The Seasons"/>
                <a:ea typeface="The Seasons"/>
                <a:cs typeface="The Seasons"/>
                <a:sym typeface="The Seasons"/>
              </a:rPr>
              <a:t>Notification contact </a:t>
            </a:r>
          </a:p>
        </p:txBody>
      </p:sp>
      <p:sp>
        <p:nvSpPr>
          <p:cNvPr id="20" name="TextBox 20"/>
          <p:cNvSpPr txBox="1"/>
          <p:nvPr/>
        </p:nvSpPr>
        <p:spPr>
          <a:xfrm>
            <a:off x="5609510" y="8760779"/>
            <a:ext cx="11591449" cy="1129030"/>
          </a:xfrm>
          <a:prstGeom prst="rect">
            <a:avLst/>
          </a:prstGeom>
        </p:spPr>
        <p:txBody>
          <a:bodyPr lIns="0" tIns="0" rIns="0" bIns="0" rtlCol="0" anchor="t">
            <a:spAutoFit/>
          </a:bodyPr>
          <a:lstStyle/>
          <a:p>
            <a:pPr algn="ctr">
              <a:lnSpc>
                <a:spcPts val="7280"/>
              </a:lnSpc>
            </a:pPr>
            <a:r>
              <a:rPr lang="en-US" sz="5600">
                <a:solidFill>
                  <a:srgbClr val="004AAD"/>
                </a:solidFill>
                <a:latin typeface="The Seasons"/>
                <a:ea typeface="The Seasons"/>
                <a:cs typeface="The Seasons"/>
                <a:sym typeface="The Seasons"/>
              </a:rPr>
              <a:t>Interface détails message de contact</a:t>
            </a:r>
          </a:p>
        </p:txBody>
      </p:sp>
      <p:sp>
        <p:nvSpPr>
          <p:cNvPr id="21" name="TextBox 21"/>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28</a:t>
            </a:r>
          </a:p>
        </p:txBody>
      </p:sp>
      <p:pic>
        <p:nvPicPr>
          <p:cNvPr id="512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8509" y="354790"/>
            <a:ext cx="10280650" cy="4235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0" y="4879268"/>
            <a:ext cx="8762999" cy="4025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sp>
        <p:nvSpPr>
          <p:cNvPr id="12" name="TextBox 12"/>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4" name="TextBox 14"/>
          <p:cNvSpPr txBox="1"/>
          <p:nvPr/>
        </p:nvSpPr>
        <p:spPr>
          <a:xfrm>
            <a:off x="10671147" y="8053941"/>
            <a:ext cx="6999085" cy="2052955"/>
          </a:xfrm>
          <a:prstGeom prst="rect">
            <a:avLst/>
          </a:prstGeom>
        </p:spPr>
        <p:txBody>
          <a:bodyPr lIns="0" tIns="0" rIns="0" bIns="0" rtlCol="0" anchor="t">
            <a:spAutoFit/>
          </a:bodyPr>
          <a:lstStyle/>
          <a:p>
            <a:pPr algn="ctr">
              <a:lnSpc>
                <a:spcPts val="7280"/>
              </a:lnSpc>
            </a:pPr>
            <a:r>
              <a:rPr lang="en-US" sz="5600">
                <a:solidFill>
                  <a:srgbClr val="004AAD"/>
                </a:solidFill>
                <a:latin typeface="The Seasons"/>
                <a:ea typeface="The Seasons"/>
                <a:cs typeface="The Seasons"/>
                <a:sym typeface="The Seasons"/>
              </a:rPr>
              <a:t> Interface login espace marque</a:t>
            </a:r>
          </a:p>
        </p:txBody>
      </p:sp>
      <p:sp>
        <p:nvSpPr>
          <p:cNvPr id="17" name="TextBox 17"/>
          <p:cNvSpPr txBox="1"/>
          <p:nvPr/>
        </p:nvSpPr>
        <p:spPr>
          <a:xfrm>
            <a:off x="1416586" y="4274206"/>
            <a:ext cx="8779108" cy="1127287"/>
          </a:xfrm>
          <a:prstGeom prst="rect">
            <a:avLst/>
          </a:prstGeom>
        </p:spPr>
        <p:txBody>
          <a:bodyPr lIns="0" tIns="0" rIns="0" bIns="0" rtlCol="0" anchor="t">
            <a:spAutoFit/>
          </a:bodyPr>
          <a:lstStyle/>
          <a:p>
            <a:pPr algn="ctr">
              <a:lnSpc>
                <a:spcPts val="7100"/>
              </a:lnSpc>
            </a:pPr>
            <a:r>
              <a:rPr lang="en-US" sz="5465">
                <a:solidFill>
                  <a:srgbClr val="004AAD"/>
                </a:solidFill>
                <a:latin typeface="The Seasons"/>
                <a:ea typeface="The Seasons"/>
                <a:cs typeface="The Seasons"/>
                <a:sym typeface="The Seasons"/>
              </a:rPr>
              <a:t>Interface Inscription Marque</a:t>
            </a:r>
          </a:p>
        </p:txBody>
      </p:sp>
      <p:sp>
        <p:nvSpPr>
          <p:cNvPr id="18" name="TextBox 18"/>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29</a:t>
            </a:r>
          </a:p>
        </p:txBody>
      </p:sp>
      <p:pic>
        <p:nvPicPr>
          <p:cNvPr id="614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0403" y="256388"/>
            <a:ext cx="8763000"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51147" y="4634965"/>
            <a:ext cx="7755082" cy="3418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sp>
        <p:nvSpPr>
          <p:cNvPr id="10" name="TextBox 10"/>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4" name="TextBox 14"/>
          <p:cNvSpPr txBox="1"/>
          <p:nvPr/>
        </p:nvSpPr>
        <p:spPr>
          <a:xfrm>
            <a:off x="4783649" y="7155095"/>
            <a:ext cx="12124148" cy="1256391"/>
          </a:xfrm>
          <a:prstGeom prst="rect">
            <a:avLst/>
          </a:prstGeom>
        </p:spPr>
        <p:txBody>
          <a:bodyPr lIns="0" tIns="0" rIns="0" bIns="0" rtlCol="0" anchor="t">
            <a:spAutoFit/>
          </a:bodyPr>
          <a:lstStyle/>
          <a:p>
            <a:pPr algn="ctr">
              <a:lnSpc>
                <a:spcPts val="8040"/>
              </a:lnSpc>
            </a:pPr>
            <a:r>
              <a:rPr lang="en-US" sz="6185">
                <a:solidFill>
                  <a:srgbClr val="004AAD"/>
                </a:solidFill>
                <a:latin typeface="The Seasons"/>
                <a:ea typeface="The Seasons"/>
                <a:cs typeface="The Seasons"/>
                <a:sym typeface="The Seasons"/>
              </a:rPr>
              <a:t> Interface Tableau de bord Marque</a:t>
            </a:r>
          </a:p>
        </p:txBody>
      </p:sp>
      <p:sp>
        <p:nvSpPr>
          <p:cNvPr id="15" name="TextBox 15"/>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30</a:t>
            </a:r>
          </a:p>
        </p:txBody>
      </p:sp>
      <p:pic>
        <p:nvPicPr>
          <p:cNvPr id="717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8552" y="372108"/>
            <a:ext cx="14631987" cy="686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3810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sp>
        <p:nvSpPr>
          <p:cNvPr id="10" name="TextBox 10"/>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grpSp>
        <p:nvGrpSpPr>
          <p:cNvPr id="15" name="Group 15"/>
          <p:cNvGrpSpPr/>
          <p:nvPr/>
        </p:nvGrpSpPr>
        <p:grpSpPr>
          <a:xfrm>
            <a:off x="2514600" y="3782703"/>
            <a:ext cx="6930254" cy="4462082"/>
            <a:chOff x="-4989315" y="-932225"/>
            <a:chExt cx="7149972" cy="5949443"/>
          </a:xfrm>
        </p:grpSpPr>
        <p:sp>
          <p:nvSpPr>
            <p:cNvPr id="16" name="Freeform 16"/>
            <p:cNvSpPr/>
            <p:nvPr/>
          </p:nvSpPr>
          <p:spPr>
            <a:xfrm>
              <a:off x="-4989315" y="-932225"/>
              <a:ext cx="7149972" cy="5949443"/>
            </a:xfrm>
            <a:custGeom>
              <a:avLst/>
              <a:gdLst/>
              <a:ahLst/>
              <a:cxnLst/>
              <a:rect l="l" t="t" r="r" b="b"/>
              <a:pathLst>
                <a:path w="7149973" h="5949442">
                  <a:moveTo>
                    <a:pt x="0" y="0"/>
                  </a:moveTo>
                  <a:lnTo>
                    <a:pt x="7149973" y="0"/>
                  </a:lnTo>
                  <a:lnTo>
                    <a:pt x="7149973" y="5949442"/>
                  </a:lnTo>
                  <a:lnTo>
                    <a:pt x="0" y="5949442"/>
                  </a:lnTo>
                  <a:lnTo>
                    <a:pt x="0" y="0"/>
                  </a:lnTo>
                  <a:close/>
                </a:path>
              </a:pathLst>
            </a:custGeom>
            <a:blipFill>
              <a:blip r:embed="rId6"/>
              <a:stretch>
                <a:fillRect l="-3630" r="-3630"/>
              </a:stretch>
            </a:blipFill>
          </p:spPr>
        </p:sp>
      </p:grpSp>
      <p:grpSp>
        <p:nvGrpSpPr>
          <p:cNvPr id="17" name="Group 17"/>
          <p:cNvGrpSpPr/>
          <p:nvPr/>
        </p:nvGrpSpPr>
        <p:grpSpPr>
          <a:xfrm>
            <a:off x="9906000" y="3782703"/>
            <a:ext cx="7592274" cy="4526963"/>
            <a:chOff x="0" y="0"/>
            <a:chExt cx="8586003" cy="6035951"/>
          </a:xfrm>
        </p:grpSpPr>
        <p:sp>
          <p:nvSpPr>
            <p:cNvPr id="18" name="Freeform 18"/>
            <p:cNvSpPr/>
            <p:nvPr/>
          </p:nvSpPr>
          <p:spPr>
            <a:xfrm>
              <a:off x="0" y="0"/>
              <a:ext cx="8585962" cy="6035929"/>
            </a:xfrm>
            <a:custGeom>
              <a:avLst/>
              <a:gdLst/>
              <a:ahLst/>
              <a:cxnLst/>
              <a:rect l="l" t="t" r="r" b="b"/>
              <a:pathLst>
                <a:path w="8585962" h="6035929">
                  <a:moveTo>
                    <a:pt x="0" y="0"/>
                  </a:moveTo>
                  <a:lnTo>
                    <a:pt x="8585962" y="0"/>
                  </a:lnTo>
                  <a:lnTo>
                    <a:pt x="8585962" y="6035929"/>
                  </a:lnTo>
                  <a:lnTo>
                    <a:pt x="0" y="6035929"/>
                  </a:lnTo>
                  <a:lnTo>
                    <a:pt x="0" y="0"/>
                  </a:lnTo>
                  <a:close/>
                </a:path>
              </a:pathLst>
            </a:custGeom>
            <a:blipFill>
              <a:blip r:embed="rId7"/>
              <a:stretch>
                <a:fillRect l="-26405" r="-26406"/>
              </a:stretch>
            </a:blipFill>
          </p:spPr>
        </p:sp>
      </p:grpSp>
      <p:sp>
        <p:nvSpPr>
          <p:cNvPr id="19" name="TextBox 19"/>
          <p:cNvSpPr txBox="1"/>
          <p:nvPr/>
        </p:nvSpPr>
        <p:spPr>
          <a:xfrm>
            <a:off x="5181600" y="927477"/>
            <a:ext cx="6857999" cy="718145"/>
          </a:xfrm>
          <a:prstGeom prst="rect">
            <a:avLst/>
          </a:prstGeom>
        </p:spPr>
        <p:txBody>
          <a:bodyPr wrap="square" lIns="0" tIns="0" rIns="0" bIns="0" rtlCol="0" anchor="t">
            <a:spAutoFit/>
          </a:bodyPr>
          <a:lstStyle/>
          <a:p>
            <a:pPr algn="ctr">
              <a:lnSpc>
                <a:spcPts val="5600"/>
              </a:lnSpc>
            </a:pPr>
            <a:r>
              <a:rPr lang="en-US" sz="4310" dirty="0">
                <a:solidFill>
                  <a:srgbClr val="004AAD"/>
                </a:solidFill>
                <a:latin typeface="The Seasons"/>
                <a:ea typeface="The Seasons"/>
                <a:cs typeface="The Seasons"/>
                <a:sym typeface="The Seasons"/>
              </a:rPr>
              <a:t>Payer </a:t>
            </a:r>
            <a:r>
              <a:rPr lang="en-US" sz="4310" dirty="0" err="1">
                <a:solidFill>
                  <a:srgbClr val="004AAD"/>
                </a:solidFill>
                <a:latin typeface="The Seasons"/>
                <a:ea typeface="The Seasons"/>
                <a:cs typeface="The Seasons"/>
                <a:sym typeface="The Seasons"/>
              </a:rPr>
              <a:t>frais</a:t>
            </a:r>
            <a:r>
              <a:rPr lang="en-US" sz="4310" dirty="0">
                <a:solidFill>
                  <a:srgbClr val="004AAD"/>
                </a:solidFill>
                <a:latin typeface="The Seasons"/>
                <a:ea typeface="The Seasons"/>
                <a:cs typeface="The Seasons"/>
                <a:sym typeface="The Seasons"/>
              </a:rPr>
              <a:t> </a:t>
            </a:r>
            <a:r>
              <a:rPr lang="en-US" sz="4310" dirty="0" err="1">
                <a:solidFill>
                  <a:srgbClr val="004AAD"/>
                </a:solidFill>
                <a:latin typeface="The Seasons"/>
                <a:ea typeface="The Seasons"/>
                <a:cs typeface="The Seasons"/>
                <a:sym typeface="The Seasons"/>
              </a:rPr>
              <a:t>annonce</a:t>
            </a:r>
            <a:endParaRPr lang="en-US" sz="4310" dirty="0">
              <a:solidFill>
                <a:srgbClr val="004AAD"/>
              </a:solidFill>
              <a:latin typeface="The Seasons"/>
              <a:ea typeface="The Seasons"/>
              <a:cs typeface="The Seasons"/>
              <a:sym typeface="The Seasons"/>
            </a:endParaRPr>
          </a:p>
        </p:txBody>
      </p:sp>
      <p:sp>
        <p:nvSpPr>
          <p:cNvPr id="20" name="TextBox 20"/>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31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sp>
        <p:nvSpPr>
          <p:cNvPr id="14" name="TextBox 14"/>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7" name="TextBox 17"/>
          <p:cNvSpPr txBox="1"/>
          <p:nvPr/>
        </p:nvSpPr>
        <p:spPr>
          <a:xfrm>
            <a:off x="4114800" y="540731"/>
            <a:ext cx="10351952" cy="859210"/>
          </a:xfrm>
          <a:prstGeom prst="rect">
            <a:avLst/>
          </a:prstGeom>
        </p:spPr>
        <p:txBody>
          <a:bodyPr wrap="square" lIns="0" tIns="0" rIns="0" bIns="0" rtlCol="0" anchor="t">
            <a:spAutoFit/>
          </a:bodyPr>
          <a:lstStyle/>
          <a:p>
            <a:pPr algn="ctr">
              <a:lnSpc>
                <a:spcPts val="6695"/>
              </a:lnSpc>
            </a:pPr>
            <a:r>
              <a:rPr lang="en-US" sz="5150" dirty="0">
                <a:solidFill>
                  <a:srgbClr val="004AAD"/>
                </a:solidFill>
                <a:latin typeface="The Seasons"/>
                <a:ea typeface="The Seasons"/>
                <a:cs typeface="The Seasons"/>
                <a:sym typeface="The Seasons"/>
              </a:rPr>
              <a:t>Interface </a:t>
            </a:r>
            <a:r>
              <a:rPr lang="en-US" sz="5150" dirty="0" err="1">
                <a:solidFill>
                  <a:srgbClr val="004AAD"/>
                </a:solidFill>
                <a:latin typeface="The Seasons"/>
                <a:ea typeface="The Seasons"/>
                <a:cs typeface="The Seasons"/>
                <a:sym typeface="The Seasons"/>
              </a:rPr>
              <a:t>Liste</a:t>
            </a:r>
            <a:r>
              <a:rPr lang="en-US" sz="5150" dirty="0">
                <a:solidFill>
                  <a:srgbClr val="004AAD"/>
                </a:solidFill>
                <a:latin typeface="The Seasons"/>
                <a:ea typeface="The Seasons"/>
                <a:cs typeface="The Seasons"/>
                <a:sym typeface="The Seasons"/>
              </a:rPr>
              <a:t> des postulations</a:t>
            </a:r>
          </a:p>
        </p:txBody>
      </p:sp>
      <p:sp>
        <p:nvSpPr>
          <p:cNvPr id="18" name="TextBox 18"/>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32</a:t>
            </a:r>
          </a:p>
        </p:txBody>
      </p:sp>
      <p:pic>
        <p:nvPicPr>
          <p:cNvPr id="819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8360" y="1955858"/>
            <a:ext cx="13534640" cy="6979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sp>
        <p:nvSpPr>
          <p:cNvPr id="12" name="TextBox 12"/>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4" name="TextBox 14"/>
          <p:cNvSpPr txBox="1"/>
          <p:nvPr/>
        </p:nvSpPr>
        <p:spPr>
          <a:xfrm>
            <a:off x="4495846" y="368644"/>
            <a:ext cx="9296400" cy="897682"/>
          </a:xfrm>
          <a:prstGeom prst="rect">
            <a:avLst/>
          </a:prstGeom>
        </p:spPr>
        <p:txBody>
          <a:bodyPr wrap="square" lIns="0" tIns="0" rIns="0" bIns="0" rtlCol="0" anchor="t">
            <a:spAutoFit/>
          </a:bodyPr>
          <a:lstStyle/>
          <a:p>
            <a:pPr algn="ctr">
              <a:lnSpc>
                <a:spcPts val="7005"/>
              </a:lnSpc>
            </a:pPr>
            <a:r>
              <a:rPr lang="en-US" sz="5390" dirty="0" err="1">
                <a:solidFill>
                  <a:srgbClr val="004AAD"/>
                </a:solidFill>
                <a:latin typeface="The Seasons"/>
                <a:ea typeface="The Seasons"/>
                <a:cs typeface="The Seasons"/>
                <a:sym typeface="The Seasons"/>
              </a:rPr>
              <a:t>Historique</a:t>
            </a:r>
            <a:r>
              <a:rPr lang="en-US" sz="5390" dirty="0">
                <a:solidFill>
                  <a:srgbClr val="004AAD"/>
                </a:solidFill>
                <a:latin typeface="The Seasons"/>
                <a:ea typeface="The Seasons"/>
                <a:cs typeface="The Seasons"/>
                <a:sym typeface="The Seasons"/>
              </a:rPr>
              <a:t> transaction</a:t>
            </a:r>
          </a:p>
        </p:txBody>
      </p:sp>
      <p:sp>
        <p:nvSpPr>
          <p:cNvPr id="20" name="TextBox 20"/>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34</a:t>
            </a:r>
          </a:p>
        </p:txBody>
      </p:sp>
      <p:pic>
        <p:nvPicPr>
          <p:cNvPr id="921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1" y="1779611"/>
            <a:ext cx="14173200" cy="7528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sp>
        <p:nvSpPr>
          <p:cNvPr id="14" name="TextBox 14"/>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6" name="TextBox 16"/>
          <p:cNvSpPr txBox="1"/>
          <p:nvPr/>
        </p:nvSpPr>
        <p:spPr>
          <a:xfrm>
            <a:off x="11343715" y="3873951"/>
            <a:ext cx="6777769" cy="974834"/>
          </a:xfrm>
          <a:prstGeom prst="rect">
            <a:avLst/>
          </a:prstGeom>
        </p:spPr>
        <p:txBody>
          <a:bodyPr lIns="0" tIns="0" rIns="0" bIns="0" rtlCol="0" anchor="t">
            <a:spAutoFit/>
          </a:bodyPr>
          <a:lstStyle/>
          <a:p>
            <a:pPr algn="ctr">
              <a:lnSpc>
                <a:spcPts val="6290"/>
              </a:lnSpc>
            </a:pPr>
            <a:r>
              <a:rPr lang="en-US" sz="4835">
                <a:solidFill>
                  <a:srgbClr val="004AAD"/>
                </a:solidFill>
                <a:latin typeface="The Seasons"/>
                <a:ea typeface="The Seasons"/>
                <a:cs typeface="The Seasons"/>
                <a:sym typeface="The Seasons"/>
              </a:rPr>
              <a:t>login espace influenceur </a:t>
            </a:r>
          </a:p>
        </p:txBody>
      </p:sp>
      <p:sp>
        <p:nvSpPr>
          <p:cNvPr id="17" name="TextBox 17"/>
          <p:cNvSpPr txBox="1"/>
          <p:nvPr/>
        </p:nvSpPr>
        <p:spPr>
          <a:xfrm>
            <a:off x="306638" y="4867275"/>
            <a:ext cx="9714500" cy="2052955"/>
          </a:xfrm>
          <a:prstGeom prst="rect">
            <a:avLst/>
          </a:prstGeom>
        </p:spPr>
        <p:txBody>
          <a:bodyPr lIns="0" tIns="0" rIns="0" bIns="0" rtlCol="0" anchor="t">
            <a:spAutoFit/>
          </a:bodyPr>
          <a:lstStyle/>
          <a:p>
            <a:pPr algn="ctr">
              <a:lnSpc>
                <a:spcPts val="7280"/>
              </a:lnSpc>
            </a:pPr>
            <a:r>
              <a:rPr lang="en-US" sz="5600">
                <a:solidFill>
                  <a:srgbClr val="004AAD"/>
                </a:solidFill>
                <a:latin typeface="The Seasons"/>
                <a:ea typeface="The Seasons"/>
                <a:cs typeface="The Seasons"/>
                <a:sym typeface="The Seasons"/>
              </a:rPr>
              <a:t>Interface Inscription Influenceur</a:t>
            </a:r>
          </a:p>
        </p:txBody>
      </p:sp>
      <p:sp>
        <p:nvSpPr>
          <p:cNvPr id="18" name="TextBox 18"/>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36</a:t>
            </a:r>
          </a:p>
        </p:txBody>
      </p:sp>
      <p:pic>
        <p:nvPicPr>
          <p:cNvPr id="1024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3891" y="57235"/>
            <a:ext cx="9171709" cy="4871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744200" y="5001238"/>
            <a:ext cx="7010400" cy="3723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sp>
        <p:nvSpPr>
          <p:cNvPr id="12" name="TextBox 12"/>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4" name="TextBox 14"/>
          <p:cNvSpPr txBox="1"/>
          <p:nvPr/>
        </p:nvSpPr>
        <p:spPr>
          <a:xfrm>
            <a:off x="1072086" y="4586695"/>
            <a:ext cx="7759817" cy="1596162"/>
          </a:xfrm>
          <a:prstGeom prst="rect">
            <a:avLst/>
          </a:prstGeom>
        </p:spPr>
        <p:txBody>
          <a:bodyPr lIns="0" tIns="0" rIns="0" bIns="0" rtlCol="0" anchor="t">
            <a:spAutoFit/>
          </a:bodyPr>
          <a:lstStyle/>
          <a:p>
            <a:pPr algn="ctr">
              <a:lnSpc>
                <a:spcPts val="5600"/>
              </a:lnSpc>
            </a:pPr>
            <a:r>
              <a:rPr lang="en-US" sz="4310">
                <a:solidFill>
                  <a:srgbClr val="004AAD"/>
                </a:solidFill>
                <a:latin typeface="The Seasons"/>
                <a:ea typeface="The Seasons"/>
                <a:cs typeface="The Seasons"/>
                <a:sym typeface="The Seasons"/>
              </a:rPr>
              <a:t>Interface Tableau de bord influenceur</a:t>
            </a:r>
          </a:p>
        </p:txBody>
      </p:sp>
      <p:sp>
        <p:nvSpPr>
          <p:cNvPr id="15" name="TextBox 15"/>
          <p:cNvSpPr txBox="1"/>
          <p:nvPr/>
        </p:nvSpPr>
        <p:spPr>
          <a:xfrm>
            <a:off x="11889300" y="3331836"/>
            <a:ext cx="6416581" cy="1086331"/>
          </a:xfrm>
          <a:prstGeom prst="rect">
            <a:avLst/>
          </a:prstGeom>
        </p:spPr>
        <p:txBody>
          <a:bodyPr lIns="0" tIns="0" rIns="0" bIns="0" rtlCol="0" anchor="t">
            <a:spAutoFit/>
          </a:bodyPr>
          <a:lstStyle/>
          <a:p>
            <a:pPr algn="ctr">
              <a:lnSpc>
                <a:spcPts val="6915"/>
              </a:lnSpc>
            </a:pPr>
            <a:r>
              <a:rPr lang="en-US" sz="5320">
                <a:solidFill>
                  <a:srgbClr val="004AAD"/>
                </a:solidFill>
                <a:latin typeface="The Seasons"/>
                <a:ea typeface="The Seasons"/>
                <a:cs typeface="The Seasons"/>
                <a:sym typeface="The Seasons"/>
              </a:rPr>
              <a:t>Interface Ajouter avis</a:t>
            </a:r>
          </a:p>
        </p:txBody>
      </p:sp>
      <p:sp>
        <p:nvSpPr>
          <p:cNvPr id="16" name="TextBox 16"/>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37</a:t>
            </a:r>
          </a:p>
        </p:txBody>
      </p:sp>
      <p:pic>
        <p:nvPicPr>
          <p:cNvPr id="1126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2599" y="-17318"/>
            <a:ext cx="8389601" cy="4456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07720" y="4626675"/>
            <a:ext cx="7624762" cy="4367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sp>
        <p:nvSpPr>
          <p:cNvPr id="12" name="TextBox 12"/>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4" name="TextBox 14"/>
          <p:cNvSpPr txBox="1"/>
          <p:nvPr/>
        </p:nvSpPr>
        <p:spPr>
          <a:xfrm>
            <a:off x="10345420" y="2193290"/>
            <a:ext cx="5471160" cy="2743835"/>
          </a:xfrm>
          <a:prstGeom prst="rect">
            <a:avLst/>
          </a:prstGeom>
        </p:spPr>
        <p:txBody>
          <a:bodyPr lIns="0" tIns="0" rIns="0" bIns="0" rtlCol="0" anchor="t">
            <a:noAutofit/>
          </a:bodyPr>
          <a:lstStyle/>
          <a:p>
            <a:pPr algn="ctr">
              <a:lnSpc>
                <a:spcPts val="7280"/>
              </a:lnSpc>
            </a:pPr>
            <a:r>
              <a:rPr lang="en-US" sz="4400">
                <a:solidFill>
                  <a:srgbClr val="004AAD"/>
                </a:solidFill>
                <a:latin typeface="The Seasons"/>
                <a:ea typeface="The Seasons"/>
                <a:cs typeface="The Seasons"/>
                <a:sym typeface="The Seasons"/>
              </a:rPr>
              <a:t>Interface liste </a:t>
            </a:r>
          </a:p>
          <a:p>
            <a:pPr algn="ctr">
              <a:lnSpc>
                <a:spcPts val="7280"/>
              </a:lnSpc>
            </a:pPr>
            <a:r>
              <a:rPr lang="en-US" sz="4400">
                <a:solidFill>
                  <a:srgbClr val="004AAD"/>
                </a:solidFill>
                <a:latin typeface="The Seasons"/>
                <a:ea typeface="The Seasons"/>
                <a:cs typeface="The Seasons"/>
                <a:sym typeface="The Seasons"/>
              </a:rPr>
              <a:t>des Participations</a:t>
            </a:r>
          </a:p>
        </p:txBody>
      </p:sp>
      <p:sp>
        <p:nvSpPr>
          <p:cNvPr id="15" name="TextBox 15"/>
          <p:cNvSpPr txBox="1"/>
          <p:nvPr/>
        </p:nvSpPr>
        <p:spPr>
          <a:xfrm>
            <a:off x="1416975" y="101681"/>
            <a:ext cx="7931507" cy="1625439"/>
          </a:xfrm>
          <a:prstGeom prst="rect">
            <a:avLst/>
          </a:prstGeom>
        </p:spPr>
        <p:txBody>
          <a:bodyPr lIns="0" tIns="0" rIns="0" bIns="0" rtlCol="0" anchor="t">
            <a:spAutoFit/>
          </a:bodyPr>
          <a:lstStyle/>
          <a:p>
            <a:pPr algn="ctr">
              <a:lnSpc>
                <a:spcPts val="5725"/>
              </a:lnSpc>
            </a:pPr>
            <a:r>
              <a:rPr lang="en-US" sz="4400">
                <a:solidFill>
                  <a:srgbClr val="004AAD"/>
                </a:solidFill>
                <a:latin typeface="The Seasons"/>
                <a:ea typeface="The Seasons"/>
                <a:cs typeface="The Seasons"/>
                <a:sym typeface="The Seasons"/>
              </a:rPr>
              <a:t>Notification d’acceptation de la participation</a:t>
            </a:r>
          </a:p>
        </p:txBody>
      </p:sp>
      <p:sp>
        <p:nvSpPr>
          <p:cNvPr id="18" name="TextBox 18"/>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39</a:t>
            </a:r>
          </a:p>
        </p:txBody>
      </p:sp>
      <p:pic>
        <p:nvPicPr>
          <p:cNvPr id="12290"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829800" y="4381500"/>
            <a:ext cx="7850187" cy="4169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16975" y="2156633"/>
            <a:ext cx="7931507" cy="416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5F3"/>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486711" y="8411487"/>
            <a:ext cx="1140535" cy="1140535"/>
            <a:chOff x="0" y="0"/>
            <a:chExt cx="1520713" cy="1520713"/>
          </a:xfrm>
        </p:grpSpPr>
        <p:sp>
          <p:nvSpPr>
            <p:cNvPr id="9" name="Freeform 9"/>
            <p:cNvSpPr/>
            <p:nvPr/>
          </p:nvSpPr>
          <p:spPr>
            <a:xfrm>
              <a:off x="0" y="0"/>
              <a:ext cx="1520698" cy="1520698"/>
            </a:xfrm>
            <a:custGeom>
              <a:avLst/>
              <a:gdLst/>
              <a:ahLst/>
              <a:cxnLst/>
              <a:rect l="l" t="t" r="r" b="b"/>
              <a:pathLst>
                <a:path w="1520698" h="1520698">
                  <a:moveTo>
                    <a:pt x="0" y="0"/>
                  </a:moveTo>
                  <a:lnTo>
                    <a:pt x="1520698" y="0"/>
                  </a:lnTo>
                  <a:lnTo>
                    <a:pt x="1520698" y="1520698"/>
                  </a:lnTo>
                  <a:lnTo>
                    <a:pt x="0" y="1520698"/>
                  </a:lnTo>
                  <a:lnTo>
                    <a:pt x="0" y="0"/>
                  </a:lnTo>
                  <a:close/>
                </a:path>
              </a:pathLst>
            </a:custGeom>
            <a:blipFill>
              <a:blip r:embed="rId5"/>
              <a:stretch>
                <a:fillRect r="-1" b="-1"/>
              </a:stretch>
            </a:blipFill>
          </p:spPr>
        </p:sp>
      </p:grpSp>
      <p:sp>
        <p:nvSpPr>
          <p:cNvPr id="14" name="TextBox 14"/>
          <p:cNvSpPr txBox="1"/>
          <p:nvPr/>
        </p:nvSpPr>
        <p:spPr>
          <a:xfrm rot="-5400000">
            <a:off x="-2899992" y="3394718"/>
            <a:ext cx="6821190" cy="775970"/>
          </a:xfrm>
          <a:prstGeom prst="rect">
            <a:avLst/>
          </a:prstGeom>
        </p:spPr>
        <p:txBody>
          <a:bodyPr lIns="0" tIns="0" rIns="0" bIns="0" rtlCol="0" anchor="t">
            <a:spAutoFit/>
          </a:bodyPr>
          <a:lstStyle/>
          <a:p>
            <a:pPr algn="ctr">
              <a:lnSpc>
                <a:spcPts val="6055"/>
              </a:lnSpc>
            </a:pPr>
            <a:r>
              <a:rPr lang="en-US" sz="4000">
                <a:solidFill>
                  <a:srgbClr val="004AAD"/>
                </a:solidFill>
                <a:latin typeface="The Seasons"/>
                <a:ea typeface="The Seasons"/>
                <a:cs typeface="The Seasons"/>
                <a:sym typeface="The Seasons"/>
              </a:rPr>
              <a:t>Conception et réalisation</a:t>
            </a:r>
          </a:p>
        </p:txBody>
      </p:sp>
      <p:sp>
        <p:nvSpPr>
          <p:cNvPr id="16" name="TextBox 16"/>
          <p:cNvSpPr txBox="1"/>
          <p:nvPr/>
        </p:nvSpPr>
        <p:spPr>
          <a:xfrm>
            <a:off x="1295400" y="4642143"/>
            <a:ext cx="6781800" cy="1872307"/>
          </a:xfrm>
          <a:prstGeom prst="rect">
            <a:avLst/>
          </a:prstGeom>
        </p:spPr>
        <p:txBody>
          <a:bodyPr wrap="square" lIns="0" tIns="0" rIns="0" bIns="0" rtlCol="0" anchor="t">
            <a:spAutoFit/>
          </a:bodyPr>
          <a:lstStyle/>
          <a:p>
            <a:pPr algn="ctr">
              <a:lnSpc>
                <a:spcPts val="7280"/>
              </a:lnSpc>
            </a:pPr>
            <a:r>
              <a:rPr lang="en-US" sz="5600" dirty="0">
                <a:solidFill>
                  <a:srgbClr val="004AAD"/>
                </a:solidFill>
                <a:latin typeface="The Seasons"/>
                <a:ea typeface="The Seasons"/>
                <a:cs typeface="The Seasons"/>
                <a:sym typeface="The Seasons"/>
              </a:rPr>
              <a:t>Interface </a:t>
            </a:r>
            <a:r>
              <a:rPr lang="en-US" sz="5600" dirty="0" err="1">
                <a:solidFill>
                  <a:srgbClr val="004AAD"/>
                </a:solidFill>
                <a:latin typeface="The Seasons"/>
                <a:ea typeface="The Seasons"/>
                <a:cs typeface="The Seasons"/>
                <a:sym typeface="The Seasons"/>
              </a:rPr>
              <a:t>Ajouter</a:t>
            </a:r>
            <a:r>
              <a:rPr lang="en-US" sz="5600" dirty="0">
                <a:solidFill>
                  <a:srgbClr val="004AAD"/>
                </a:solidFill>
                <a:latin typeface="The Seasons"/>
                <a:ea typeface="The Seasons"/>
                <a:cs typeface="The Seasons"/>
                <a:sym typeface="The Seasons"/>
              </a:rPr>
              <a:t> publication</a:t>
            </a:r>
          </a:p>
        </p:txBody>
      </p:sp>
      <p:sp>
        <p:nvSpPr>
          <p:cNvPr id="17" name="TextBox 17"/>
          <p:cNvSpPr txBox="1"/>
          <p:nvPr/>
        </p:nvSpPr>
        <p:spPr>
          <a:xfrm>
            <a:off x="10225198" y="2850112"/>
            <a:ext cx="7764785" cy="1792031"/>
          </a:xfrm>
          <a:prstGeom prst="rect">
            <a:avLst/>
          </a:prstGeom>
        </p:spPr>
        <p:txBody>
          <a:bodyPr lIns="0" tIns="0" rIns="0" bIns="0" rtlCol="0" anchor="t">
            <a:spAutoFit/>
          </a:bodyPr>
          <a:lstStyle/>
          <a:p>
            <a:pPr algn="ctr">
              <a:lnSpc>
                <a:spcPts val="6365"/>
              </a:lnSpc>
            </a:pPr>
            <a:r>
              <a:rPr lang="en-US" sz="4895">
                <a:solidFill>
                  <a:srgbClr val="004AAD"/>
                </a:solidFill>
                <a:latin typeface="The Seasons"/>
                <a:ea typeface="The Seasons"/>
                <a:cs typeface="The Seasons"/>
                <a:sym typeface="The Seasons"/>
              </a:rPr>
              <a:t>Interface Liste des publications</a:t>
            </a:r>
          </a:p>
        </p:txBody>
      </p:sp>
      <p:sp>
        <p:nvSpPr>
          <p:cNvPr id="18" name="TextBox 18"/>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40</a:t>
            </a:r>
          </a:p>
        </p:txBody>
      </p:sp>
      <p:pic>
        <p:nvPicPr>
          <p:cNvPr id="1331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8473" y="75142"/>
            <a:ext cx="9379527" cy="4577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01696" y="4791551"/>
            <a:ext cx="7888287" cy="4190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9525" y="3408173"/>
            <a:ext cx="14560544" cy="3470655"/>
            <a:chOff x="0" y="0"/>
            <a:chExt cx="19414059" cy="4627540"/>
          </a:xfrm>
        </p:grpSpPr>
        <p:sp>
          <p:nvSpPr>
            <p:cNvPr id="5" name="Freeform 5"/>
            <p:cNvSpPr/>
            <p:nvPr/>
          </p:nvSpPr>
          <p:spPr>
            <a:xfrm>
              <a:off x="0" y="0"/>
              <a:ext cx="19414110" cy="4627499"/>
            </a:xfrm>
            <a:custGeom>
              <a:avLst/>
              <a:gdLst/>
              <a:ahLst/>
              <a:cxnLst/>
              <a:rect l="l" t="t" r="r" b="b"/>
              <a:pathLst>
                <a:path w="19414110" h="4627499">
                  <a:moveTo>
                    <a:pt x="0" y="0"/>
                  </a:moveTo>
                  <a:lnTo>
                    <a:pt x="19414110" y="0"/>
                  </a:lnTo>
                  <a:lnTo>
                    <a:pt x="19414110" y="4627499"/>
                  </a:lnTo>
                  <a:lnTo>
                    <a:pt x="0" y="4627499"/>
                  </a:lnTo>
                  <a:lnTo>
                    <a:pt x="0" y="0"/>
                  </a:lnTo>
                  <a:close/>
                </a:path>
              </a:pathLst>
            </a:custGeom>
            <a:blipFill>
              <a:blip r:embed="rId3"/>
              <a:stretch>
                <a:fillRect t="-4969" b="-4970"/>
              </a:stretch>
            </a:blipFill>
          </p:spPr>
        </p:sp>
      </p:grpSp>
      <p:grpSp>
        <p:nvGrpSpPr>
          <p:cNvPr id="6" name="Group 6"/>
          <p:cNvGrpSpPr/>
          <p:nvPr/>
        </p:nvGrpSpPr>
        <p:grpSpPr>
          <a:xfrm>
            <a:off x="11078538" y="2048754"/>
            <a:ext cx="6180762" cy="6189492"/>
            <a:chOff x="0" y="0"/>
            <a:chExt cx="8241016" cy="8252656"/>
          </a:xfrm>
        </p:grpSpPr>
        <p:sp>
          <p:nvSpPr>
            <p:cNvPr id="7" name="Freeform 7"/>
            <p:cNvSpPr/>
            <p:nvPr/>
          </p:nvSpPr>
          <p:spPr>
            <a:xfrm>
              <a:off x="0" y="0"/>
              <a:ext cx="8241030" cy="8252714"/>
            </a:xfrm>
            <a:custGeom>
              <a:avLst/>
              <a:gdLst/>
              <a:ahLst/>
              <a:cxnLst/>
              <a:rect l="l" t="t" r="r" b="b"/>
              <a:pathLst>
                <a:path w="8241030" h="8252714">
                  <a:moveTo>
                    <a:pt x="0" y="0"/>
                  </a:moveTo>
                  <a:lnTo>
                    <a:pt x="8241030" y="0"/>
                  </a:lnTo>
                  <a:lnTo>
                    <a:pt x="8241030" y="8252714"/>
                  </a:lnTo>
                  <a:lnTo>
                    <a:pt x="0" y="8252714"/>
                  </a:lnTo>
                  <a:lnTo>
                    <a:pt x="0" y="0"/>
                  </a:lnTo>
                  <a:close/>
                </a:path>
              </a:pathLst>
            </a:custGeom>
            <a:blipFill>
              <a:blip r:embed="rId4"/>
              <a:stretch>
                <a:fillRect/>
              </a:stretch>
            </a:blipFill>
          </p:spPr>
        </p:sp>
      </p:grpSp>
      <p:grpSp>
        <p:nvGrpSpPr>
          <p:cNvPr id="8" name="Group 8"/>
          <p:cNvGrpSpPr/>
          <p:nvPr/>
        </p:nvGrpSpPr>
        <p:grpSpPr>
          <a:xfrm>
            <a:off x="11576370" y="2806628"/>
            <a:ext cx="5185099" cy="4072199"/>
            <a:chOff x="0" y="0"/>
            <a:chExt cx="6913465" cy="5429599"/>
          </a:xfrm>
        </p:grpSpPr>
        <p:sp>
          <p:nvSpPr>
            <p:cNvPr id="9" name="Freeform 9"/>
            <p:cNvSpPr/>
            <p:nvPr/>
          </p:nvSpPr>
          <p:spPr>
            <a:xfrm>
              <a:off x="0" y="0"/>
              <a:ext cx="6913499" cy="5429631"/>
            </a:xfrm>
            <a:custGeom>
              <a:avLst/>
              <a:gdLst/>
              <a:ahLst/>
              <a:cxnLst/>
              <a:rect l="l" t="t" r="r" b="b"/>
              <a:pathLst>
                <a:path w="6913499" h="5429631">
                  <a:moveTo>
                    <a:pt x="0" y="0"/>
                  </a:moveTo>
                  <a:lnTo>
                    <a:pt x="6913499" y="0"/>
                  </a:lnTo>
                  <a:lnTo>
                    <a:pt x="6913499" y="5429631"/>
                  </a:lnTo>
                  <a:lnTo>
                    <a:pt x="0" y="5429631"/>
                  </a:lnTo>
                  <a:lnTo>
                    <a:pt x="0" y="0"/>
                  </a:lnTo>
                  <a:close/>
                </a:path>
              </a:pathLst>
            </a:custGeom>
            <a:blipFill>
              <a:blip r:embed="rId5"/>
              <a:stretch>
                <a:fillRect/>
              </a:stretch>
            </a:blipFill>
          </p:spPr>
        </p:sp>
      </p:grpSp>
      <p:sp>
        <p:nvSpPr>
          <p:cNvPr id="10" name="TextBox 10"/>
          <p:cNvSpPr txBox="1"/>
          <p:nvPr/>
        </p:nvSpPr>
        <p:spPr>
          <a:xfrm>
            <a:off x="1366556" y="4440873"/>
            <a:ext cx="8544163" cy="1129030"/>
          </a:xfrm>
          <a:prstGeom prst="rect">
            <a:avLst/>
          </a:prstGeom>
        </p:spPr>
        <p:txBody>
          <a:bodyPr lIns="0" tIns="0" rIns="0" bIns="0" rtlCol="0" anchor="t">
            <a:spAutoFit/>
          </a:bodyPr>
          <a:lstStyle/>
          <a:p>
            <a:pPr algn="ctr">
              <a:lnSpc>
                <a:spcPts val="7280"/>
              </a:lnSpc>
            </a:pPr>
            <a:r>
              <a:rPr lang="en-US" sz="5600">
                <a:solidFill>
                  <a:srgbClr val="004AAD"/>
                </a:solidFill>
                <a:latin typeface="The Seasons"/>
                <a:ea typeface="The Seasons"/>
                <a:cs typeface="The Seasons"/>
                <a:sym typeface="The Seasons"/>
              </a:rPr>
              <a:t>Conclusion et perspectives</a:t>
            </a:r>
          </a:p>
        </p:txBody>
      </p:sp>
      <p:sp>
        <p:nvSpPr>
          <p:cNvPr id="11" name="TextBox 11"/>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41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txBody>
            <a:bodyPr/>
            <a:lstStyle/>
            <a:p>
              <a:endParaRPr lang="fr-FR" altLang="en-US"/>
            </a:p>
          </p:txBody>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230632" y="8304663"/>
            <a:ext cx="1364288" cy="1354183"/>
            <a:chOff x="0" y="0"/>
            <a:chExt cx="1819051" cy="1805577"/>
          </a:xfrm>
        </p:grpSpPr>
        <p:sp>
          <p:nvSpPr>
            <p:cNvPr id="9" name="Freeform 9"/>
            <p:cNvSpPr/>
            <p:nvPr/>
          </p:nvSpPr>
          <p:spPr>
            <a:xfrm>
              <a:off x="0" y="0"/>
              <a:ext cx="1819021" cy="1805559"/>
            </a:xfrm>
            <a:custGeom>
              <a:avLst/>
              <a:gdLst/>
              <a:ahLst/>
              <a:cxnLst/>
              <a:rect l="l" t="t" r="r" b="b"/>
              <a:pathLst>
                <a:path w="1819021" h="1805559">
                  <a:moveTo>
                    <a:pt x="0" y="0"/>
                  </a:moveTo>
                  <a:lnTo>
                    <a:pt x="1819021" y="0"/>
                  </a:lnTo>
                  <a:lnTo>
                    <a:pt x="1819021" y="1805559"/>
                  </a:lnTo>
                  <a:lnTo>
                    <a:pt x="0" y="1805559"/>
                  </a:lnTo>
                  <a:lnTo>
                    <a:pt x="0" y="0"/>
                  </a:lnTo>
                  <a:close/>
                </a:path>
              </a:pathLst>
            </a:custGeom>
            <a:blipFill>
              <a:blip r:embed="rId5"/>
              <a:stretch>
                <a:fillRect r="-1" b="-1"/>
              </a:stretch>
            </a:blipFill>
          </p:spPr>
        </p:sp>
      </p:grpSp>
      <p:grpSp>
        <p:nvGrpSpPr>
          <p:cNvPr id="10" name="Group 10"/>
          <p:cNvGrpSpPr/>
          <p:nvPr/>
        </p:nvGrpSpPr>
        <p:grpSpPr>
          <a:xfrm>
            <a:off x="2105522" y="3093665"/>
            <a:ext cx="6279362" cy="3288816"/>
            <a:chOff x="0" y="0"/>
            <a:chExt cx="8372483" cy="4385088"/>
          </a:xfrm>
        </p:grpSpPr>
        <p:sp>
          <p:nvSpPr>
            <p:cNvPr id="11" name="Freeform 11"/>
            <p:cNvSpPr/>
            <p:nvPr/>
          </p:nvSpPr>
          <p:spPr>
            <a:xfrm>
              <a:off x="0" y="0"/>
              <a:ext cx="8372475" cy="4385056"/>
            </a:xfrm>
            <a:custGeom>
              <a:avLst/>
              <a:gdLst/>
              <a:ahLst/>
              <a:cxnLst/>
              <a:rect l="l" t="t" r="r" b="b"/>
              <a:pathLst>
                <a:path w="8372475" h="4385056">
                  <a:moveTo>
                    <a:pt x="0" y="0"/>
                  </a:moveTo>
                  <a:lnTo>
                    <a:pt x="8372475" y="0"/>
                  </a:lnTo>
                  <a:lnTo>
                    <a:pt x="8372475" y="4385056"/>
                  </a:lnTo>
                  <a:lnTo>
                    <a:pt x="0" y="4385056"/>
                  </a:lnTo>
                  <a:lnTo>
                    <a:pt x="0" y="0"/>
                  </a:lnTo>
                  <a:close/>
                </a:path>
              </a:pathLst>
            </a:custGeom>
            <a:blipFill>
              <a:blip r:embed="rId6"/>
              <a:stretch>
                <a:fillRect t="-98" b="-98"/>
              </a:stretch>
            </a:blipFill>
          </p:spPr>
        </p:sp>
      </p:grpSp>
      <p:sp>
        <p:nvSpPr>
          <p:cNvPr id="12" name="Freeform 12"/>
          <p:cNvSpPr/>
          <p:nvPr/>
        </p:nvSpPr>
        <p:spPr>
          <a:xfrm>
            <a:off x="8713533" y="3021335"/>
            <a:ext cx="8618098" cy="1687711"/>
          </a:xfrm>
          <a:custGeom>
            <a:avLst/>
            <a:gdLst/>
            <a:ahLst/>
            <a:cxnLst/>
            <a:rect l="l" t="t" r="r" b="b"/>
            <a:pathLst>
              <a:path w="8618098" h="1687711">
                <a:moveTo>
                  <a:pt x="0" y="0"/>
                </a:moveTo>
                <a:lnTo>
                  <a:pt x="8618097" y="0"/>
                </a:lnTo>
                <a:lnTo>
                  <a:pt x="8618097" y="1687710"/>
                </a:lnTo>
                <a:lnTo>
                  <a:pt x="0" y="168771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13" name="Group 13"/>
          <p:cNvGrpSpPr/>
          <p:nvPr/>
        </p:nvGrpSpPr>
        <p:grpSpPr>
          <a:xfrm>
            <a:off x="8785863" y="2912839"/>
            <a:ext cx="8473437" cy="1723876"/>
            <a:chOff x="0" y="0"/>
            <a:chExt cx="11297916" cy="2298502"/>
          </a:xfrm>
        </p:grpSpPr>
        <p:sp>
          <p:nvSpPr>
            <p:cNvPr id="14" name="Freeform 14"/>
            <p:cNvSpPr/>
            <p:nvPr/>
          </p:nvSpPr>
          <p:spPr>
            <a:xfrm>
              <a:off x="0" y="0"/>
              <a:ext cx="11297916" cy="2298502"/>
            </a:xfrm>
            <a:custGeom>
              <a:avLst/>
              <a:gdLst/>
              <a:ahLst/>
              <a:cxnLst/>
              <a:rect l="l" t="t" r="r" b="b"/>
              <a:pathLst>
                <a:path w="11297916" h="2298502">
                  <a:moveTo>
                    <a:pt x="0" y="0"/>
                  </a:moveTo>
                  <a:lnTo>
                    <a:pt x="11297916" y="0"/>
                  </a:lnTo>
                  <a:lnTo>
                    <a:pt x="11297916" y="2298502"/>
                  </a:lnTo>
                  <a:lnTo>
                    <a:pt x="0" y="2298502"/>
                  </a:lnTo>
                  <a:close/>
                </a:path>
              </a:pathLst>
            </a:custGeom>
            <a:solidFill>
              <a:srgbClr val="000000">
                <a:alpha val="0"/>
              </a:srgbClr>
            </a:solidFill>
          </p:spPr>
        </p:sp>
        <p:sp>
          <p:nvSpPr>
            <p:cNvPr id="15" name="TextBox 15"/>
            <p:cNvSpPr txBox="1"/>
            <p:nvPr/>
          </p:nvSpPr>
          <p:spPr>
            <a:xfrm>
              <a:off x="0" y="-47625"/>
              <a:ext cx="11297916" cy="2346127"/>
            </a:xfrm>
            <a:prstGeom prst="rect">
              <a:avLst/>
            </a:prstGeom>
          </p:spPr>
          <p:txBody>
            <a:bodyPr lIns="0" tIns="0" rIns="0" bIns="0" rtlCol="0" anchor="ctr"/>
            <a:lstStyle/>
            <a:p>
              <a:pPr algn="ctr">
                <a:lnSpc>
                  <a:spcPts val="2940"/>
                </a:lnSpc>
              </a:pPr>
              <a:r>
                <a:rPr lang="en-US" sz="2100">
                  <a:solidFill>
                    <a:srgbClr val="004AAD"/>
                  </a:solidFill>
                  <a:latin typeface="Alice Bold" panose="00000500000000000000"/>
                  <a:ea typeface="Alice Bold" panose="00000500000000000000"/>
                  <a:cs typeface="Alice Bold" panose="00000500000000000000"/>
                  <a:sym typeface="Alice Bold" panose="00000500000000000000"/>
                </a:rPr>
                <a:t>Notre plateforme "Micro Brand" répond aux besoins actuels du marketing digital en Tunisie, en facilitant la collaboration entre marques et influenceurs.</a:t>
              </a:r>
            </a:p>
          </p:txBody>
        </p:sp>
      </p:grpSp>
      <p:sp>
        <p:nvSpPr>
          <p:cNvPr id="16" name="TextBox 16"/>
          <p:cNvSpPr txBox="1"/>
          <p:nvPr/>
        </p:nvSpPr>
        <p:spPr>
          <a:xfrm rot="-5400000">
            <a:off x="-2899992" y="3394718"/>
            <a:ext cx="6821190" cy="940943"/>
          </a:xfrm>
          <a:prstGeom prst="rect">
            <a:avLst/>
          </a:prstGeom>
        </p:spPr>
        <p:txBody>
          <a:bodyPr lIns="0" tIns="0" rIns="0" bIns="0" rtlCol="0" anchor="t">
            <a:spAutoFit/>
          </a:bodyPr>
          <a:lstStyle/>
          <a:p>
            <a:pPr algn="ctr">
              <a:lnSpc>
                <a:spcPts val="6055"/>
              </a:lnSpc>
            </a:pPr>
            <a:r>
              <a:rPr lang="en-US" sz="4660">
                <a:solidFill>
                  <a:srgbClr val="004AAD"/>
                </a:solidFill>
                <a:latin typeface="The Seasons"/>
                <a:ea typeface="The Seasons"/>
                <a:cs typeface="The Seasons"/>
                <a:sym typeface="The Seasons"/>
              </a:rPr>
              <a:t>Conclusion </a:t>
            </a:r>
          </a:p>
        </p:txBody>
      </p:sp>
      <p:sp>
        <p:nvSpPr>
          <p:cNvPr id="17" name="TextBox 17"/>
          <p:cNvSpPr txBox="1"/>
          <p:nvPr/>
        </p:nvSpPr>
        <p:spPr>
          <a:xfrm>
            <a:off x="16517489" y="8279127"/>
            <a:ext cx="625897" cy="933450"/>
          </a:xfrm>
          <a:prstGeom prst="rect">
            <a:avLst/>
          </a:prstGeom>
        </p:spPr>
        <p:txBody>
          <a:bodyPr lIns="0" tIns="0" rIns="0" bIns="0" rtlCol="0" anchor="t">
            <a:spAutoFit/>
          </a:bodyPr>
          <a:lstStyle/>
          <a:p>
            <a:pPr algn="ctr">
              <a:lnSpc>
                <a:spcPts val="7280"/>
              </a:lnSpc>
            </a:pPr>
            <a:endParaRPr lang="en-US" sz="5600">
              <a:solidFill>
                <a:srgbClr val="000000"/>
              </a:solidFill>
              <a:latin typeface="The Seasons"/>
              <a:ea typeface="The Seasons"/>
              <a:cs typeface="The Seasons"/>
              <a:sym typeface="The Seasons"/>
            </a:endParaRPr>
          </a:p>
        </p:txBody>
      </p:sp>
      <p:sp>
        <p:nvSpPr>
          <p:cNvPr id="18" name="Freeform 18"/>
          <p:cNvSpPr/>
          <p:nvPr/>
        </p:nvSpPr>
        <p:spPr>
          <a:xfrm>
            <a:off x="8713533" y="5660405"/>
            <a:ext cx="8618098" cy="1687711"/>
          </a:xfrm>
          <a:custGeom>
            <a:avLst/>
            <a:gdLst/>
            <a:ahLst/>
            <a:cxnLst/>
            <a:rect l="l" t="t" r="r" b="b"/>
            <a:pathLst>
              <a:path w="8618098" h="1687711">
                <a:moveTo>
                  <a:pt x="0" y="0"/>
                </a:moveTo>
                <a:lnTo>
                  <a:pt x="8618097" y="0"/>
                </a:lnTo>
                <a:lnTo>
                  <a:pt x="8618097" y="1687710"/>
                </a:lnTo>
                <a:lnTo>
                  <a:pt x="0" y="168771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19" name="Group 19"/>
          <p:cNvGrpSpPr/>
          <p:nvPr/>
        </p:nvGrpSpPr>
        <p:grpSpPr>
          <a:xfrm>
            <a:off x="8785863" y="5551909"/>
            <a:ext cx="8473437" cy="1723876"/>
            <a:chOff x="0" y="0"/>
            <a:chExt cx="11297916" cy="2298502"/>
          </a:xfrm>
        </p:grpSpPr>
        <p:sp>
          <p:nvSpPr>
            <p:cNvPr id="20" name="Freeform 20"/>
            <p:cNvSpPr/>
            <p:nvPr/>
          </p:nvSpPr>
          <p:spPr>
            <a:xfrm>
              <a:off x="0" y="0"/>
              <a:ext cx="11297916" cy="2298502"/>
            </a:xfrm>
            <a:custGeom>
              <a:avLst/>
              <a:gdLst/>
              <a:ahLst/>
              <a:cxnLst/>
              <a:rect l="l" t="t" r="r" b="b"/>
              <a:pathLst>
                <a:path w="11297916" h="2298502">
                  <a:moveTo>
                    <a:pt x="0" y="0"/>
                  </a:moveTo>
                  <a:lnTo>
                    <a:pt x="11297916" y="0"/>
                  </a:lnTo>
                  <a:lnTo>
                    <a:pt x="11297916" y="2298502"/>
                  </a:lnTo>
                  <a:lnTo>
                    <a:pt x="0" y="2298502"/>
                  </a:lnTo>
                  <a:close/>
                </a:path>
              </a:pathLst>
            </a:custGeom>
            <a:solidFill>
              <a:srgbClr val="000000">
                <a:alpha val="0"/>
              </a:srgbClr>
            </a:solidFill>
          </p:spPr>
        </p:sp>
        <p:sp>
          <p:nvSpPr>
            <p:cNvPr id="21" name="TextBox 21"/>
            <p:cNvSpPr txBox="1"/>
            <p:nvPr/>
          </p:nvSpPr>
          <p:spPr>
            <a:xfrm>
              <a:off x="0" y="-47625"/>
              <a:ext cx="11297916" cy="2346127"/>
            </a:xfrm>
            <a:prstGeom prst="rect">
              <a:avLst/>
            </a:prstGeom>
          </p:spPr>
          <p:txBody>
            <a:bodyPr lIns="0" tIns="0" rIns="0" bIns="0" rtlCol="0" anchor="ctr"/>
            <a:lstStyle/>
            <a:p>
              <a:pPr algn="ctr">
                <a:lnSpc>
                  <a:spcPts val="2940"/>
                </a:lnSpc>
              </a:pPr>
              <a:r>
                <a:rPr lang="en-US" sz="2100">
                  <a:solidFill>
                    <a:srgbClr val="004AAD"/>
                  </a:solidFill>
                  <a:latin typeface="Alice Bold" panose="00000500000000000000"/>
                  <a:ea typeface="Alice Bold" panose="00000500000000000000"/>
                  <a:cs typeface="Alice Bold" panose="00000500000000000000"/>
                  <a:sym typeface="Alice Bold" panose="00000500000000000000"/>
                </a:rPr>
                <a:t>Développée dans le cadre de  PFE à l’ISET de </a:t>
              </a:r>
              <a:r>
                <a:rPr lang="fr-FR" altLang="en-US" sz="2100">
                  <a:solidFill>
                    <a:srgbClr val="004AAD"/>
                  </a:solidFill>
                  <a:latin typeface="Alice Bold" panose="00000500000000000000"/>
                  <a:ea typeface="Alice Bold" panose="00000500000000000000"/>
                  <a:cs typeface="Alice Bold" panose="00000500000000000000"/>
                  <a:sym typeface="Alice Bold" panose="00000500000000000000"/>
                </a:rPr>
                <a:t>Gafsa</a:t>
              </a:r>
              <a:r>
                <a:rPr lang="en-US" sz="2100">
                  <a:solidFill>
                    <a:srgbClr val="004AAD"/>
                  </a:solidFill>
                  <a:latin typeface="Alice Bold" panose="00000500000000000000"/>
                  <a:ea typeface="Alice Bold" panose="00000500000000000000"/>
                  <a:cs typeface="Alice Bold" panose="00000500000000000000"/>
                  <a:sym typeface="Alice Bold" panose="00000500000000000000"/>
                </a:rPr>
                <a:t>, elle offre une solution intuitive, moderne et évolutive avec gestion des campagnes, paiements, profils personnalisés et statistiques.</a:t>
              </a:r>
            </a:p>
          </p:txBody>
        </p:sp>
      </p:grpSp>
      <p:sp>
        <p:nvSpPr>
          <p:cNvPr id="22" name="TextBox 22"/>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42</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3849" r="-3849"/>
              </a:stretch>
            </a:blipFill>
          </p:spPr>
        </p:sp>
      </p:grpSp>
      <p:grpSp>
        <p:nvGrpSpPr>
          <p:cNvPr id="4" name="Group 4"/>
          <p:cNvGrpSpPr/>
          <p:nvPr/>
        </p:nvGrpSpPr>
        <p:grpSpPr>
          <a:xfrm>
            <a:off x="38649" y="7583972"/>
            <a:ext cx="2066873" cy="2703028"/>
            <a:chOff x="0" y="0"/>
            <a:chExt cx="2755831" cy="3604037"/>
          </a:xfrm>
        </p:grpSpPr>
        <p:sp>
          <p:nvSpPr>
            <p:cNvPr id="5" name="Freeform 5"/>
            <p:cNvSpPr/>
            <p:nvPr/>
          </p:nvSpPr>
          <p:spPr>
            <a:xfrm>
              <a:off x="0" y="0"/>
              <a:ext cx="2755773" cy="3604006"/>
            </a:xfrm>
            <a:custGeom>
              <a:avLst/>
              <a:gdLst/>
              <a:ahLst/>
              <a:cxnLst/>
              <a:rect l="l" t="t" r="r" b="b"/>
              <a:pathLst>
                <a:path w="2755773" h="3604006">
                  <a:moveTo>
                    <a:pt x="0" y="0"/>
                  </a:moveTo>
                  <a:lnTo>
                    <a:pt x="2755773" y="0"/>
                  </a:lnTo>
                  <a:lnTo>
                    <a:pt x="2755773" y="3604006"/>
                  </a:lnTo>
                  <a:lnTo>
                    <a:pt x="0" y="3604006"/>
                  </a:lnTo>
                  <a:lnTo>
                    <a:pt x="0" y="0"/>
                  </a:lnTo>
                  <a:close/>
                </a:path>
              </a:pathLst>
            </a:custGeom>
            <a:blipFill>
              <a:blip r:embed="rId3"/>
              <a:stretch>
                <a:fillRect l="-42" r="-44"/>
              </a:stretch>
            </a:blipFill>
          </p:spPr>
        </p:sp>
      </p:grpSp>
      <p:grpSp>
        <p:nvGrpSpPr>
          <p:cNvPr id="6" name="Group 6"/>
          <p:cNvGrpSpPr/>
          <p:nvPr/>
        </p:nvGrpSpPr>
        <p:grpSpPr>
          <a:xfrm>
            <a:off x="1041871" y="-420548"/>
            <a:ext cx="30215" cy="8057218"/>
            <a:chOff x="0" y="0"/>
            <a:chExt cx="40287" cy="10742957"/>
          </a:xfrm>
        </p:grpSpPr>
        <p:sp>
          <p:nvSpPr>
            <p:cNvPr id="7" name="Freeform 7"/>
            <p:cNvSpPr/>
            <p:nvPr/>
          </p:nvSpPr>
          <p:spPr>
            <a:xfrm>
              <a:off x="0" y="0"/>
              <a:ext cx="40259" cy="10742930"/>
            </a:xfrm>
            <a:custGeom>
              <a:avLst/>
              <a:gdLst/>
              <a:ahLst/>
              <a:cxnLst/>
              <a:rect l="l" t="t" r="r" b="b"/>
              <a:pathLst>
                <a:path w="40259" h="10742930">
                  <a:moveTo>
                    <a:pt x="0" y="0"/>
                  </a:moveTo>
                  <a:lnTo>
                    <a:pt x="40259" y="0"/>
                  </a:lnTo>
                  <a:lnTo>
                    <a:pt x="40259" y="10742930"/>
                  </a:lnTo>
                  <a:lnTo>
                    <a:pt x="0" y="10742930"/>
                  </a:lnTo>
                  <a:lnTo>
                    <a:pt x="0" y="0"/>
                  </a:lnTo>
                  <a:close/>
                </a:path>
              </a:pathLst>
            </a:custGeom>
            <a:blipFill>
              <a:blip r:embed="rId4"/>
              <a:stretch>
                <a:fillRect t="-2188" r="-68" b="-2188"/>
              </a:stretch>
            </a:blipFill>
          </p:spPr>
        </p:sp>
      </p:grpSp>
      <p:grpSp>
        <p:nvGrpSpPr>
          <p:cNvPr id="8" name="Group 8"/>
          <p:cNvGrpSpPr/>
          <p:nvPr/>
        </p:nvGrpSpPr>
        <p:grpSpPr>
          <a:xfrm>
            <a:off x="230632" y="8304663"/>
            <a:ext cx="1364288" cy="1354183"/>
            <a:chOff x="0" y="0"/>
            <a:chExt cx="1819051" cy="1805577"/>
          </a:xfrm>
        </p:grpSpPr>
        <p:sp>
          <p:nvSpPr>
            <p:cNvPr id="9" name="Freeform 9"/>
            <p:cNvSpPr/>
            <p:nvPr/>
          </p:nvSpPr>
          <p:spPr>
            <a:xfrm>
              <a:off x="0" y="0"/>
              <a:ext cx="1819021" cy="1805559"/>
            </a:xfrm>
            <a:custGeom>
              <a:avLst/>
              <a:gdLst/>
              <a:ahLst/>
              <a:cxnLst/>
              <a:rect l="l" t="t" r="r" b="b"/>
              <a:pathLst>
                <a:path w="1819021" h="1805559">
                  <a:moveTo>
                    <a:pt x="0" y="0"/>
                  </a:moveTo>
                  <a:lnTo>
                    <a:pt x="1819021" y="0"/>
                  </a:lnTo>
                  <a:lnTo>
                    <a:pt x="1819021" y="1805559"/>
                  </a:lnTo>
                  <a:lnTo>
                    <a:pt x="0" y="1805559"/>
                  </a:lnTo>
                  <a:lnTo>
                    <a:pt x="0" y="0"/>
                  </a:lnTo>
                  <a:close/>
                </a:path>
              </a:pathLst>
            </a:custGeom>
            <a:blipFill>
              <a:blip r:embed="rId5"/>
              <a:stretch>
                <a:fillRect r="-1" b="-1"/>
              </a:stretch>
            </a:blipFill>
          </p:spPr>
        </p:sp>
      </p:grpSp>
      <p:grpSp>
        <p:nvGrpSpPr>
          <p:cNvPr id="10" name="Group 10"/>
          <p:cNvGrpSpPr/>
          <p:nvPr/>
        </p:nvGrpSpPr>
        <p:grpSpPr>
          <a:xfrm>
            <a:off x="8824734" y="2456176"/>
            <a:ext cx="66675" cy="6558915"/>
            <a:chOff x="0" y="0"/>
            <a:chExt cx="88900" cy="8745220"/>
          </a:xfrm>
        </p:grpSpPr>
        <p:sp>
          <p:nvSpPr>
            <p:cNvPr id="11" name="Freeform 11"/>
            <p:cNvSpPr/>
            <p:nvPr/>
          </p:nvSpPr>
          <p:spPr>
            <a:xfrm>
              <a:off x="0" y="77470"/>
              <a:ext cx="88900" cy="8623300"/>
            </a:xfrm>
            <a:custGeom>
              <a:avLst/>
              <a:gdLst/>
              <a:ahLst/>
              <a:cxnLst/>
              <a:rect l="l" t="t" r="r" b="b"/>
              <a:pathLst>
                <a:path w="88900" h="8623300">
                  <a:moveTo>
                    <a:pt x="0" y="8445500"/>
                  </a:moveTo>
                  <a:lnTo>
                    <a:pt x="0" y="8356600"/>
                  </a:lnTo>
                  <a:lnTo>
                    <a:pt x="88900" y="8356600"/>
                  </a:lnTo>
                  <a:lnTo>
                    <a:pt x="88900" y="8445500"/>
                  </a:lnTo>
                  <a:close/>
                  <a:moveTo>
                    <a:pt x="88900" y="8267700"/>
                  </a:moveTo>
                  <a:lnTo>
                    <a:pt x="88900" y="8178800"/>
                  </a:lnTo>
                  <a:lnTo>
                    <a:pt x="88900" y="8267700"/>
                  </a:lnTo>
                  <a:close/>
                  <a:moveTo>
                    <a:pt x="88900" y="8089900"/>
                  </a:moveTo>
                  <a:lnTo>
                    <a:pt x="88900" y="8001000"/>
                  </a:lnTo>
                  <a:lnTo>
                    <a:pt x="88900" y="8089900"/>
                  </a:lnTo>
                  <a:close/>
                  <a:moveTo>
                    <a:pt x="88900" y="7912100"/>
                  </a:moveTo>
                  <a:lnTo>
                    <a:pt x="88900" y="7823200"/>
                  </a:lnTo>
                  <a:lnTo>
                    <a:pt x="88900" y="7912100"/>
                  </a:lnTo>
                  <a:close/>
                  <a:moveTo>
                    <a:pt x="88900" y="7734300"/>
                  </a:moveTo>
                  <a:lnTo>
                    <a:pt x="88900" y="7645400"/>
                  </a:lnTo>
                  <a:lnTo>
                    <a:pt x="88900" y="7734300"/>
                  </a:lnTo>
                  <a:close/>
                  <a:moveTo>
                    <a:pt x="88900" y="7556500"/>
                  </a:moveTo>
                  <a:lnTo>
                    <a:pt x="88900" y="7467600"/>
                  </a:lnTo>
                  <a:lnTo>
                    <a:pt x="88900" y="7556500"/>
                  </a:lnTo>
                  <a:close/>
                  <a:moveTo>
                    <a:pt x="88900" y="7378700"/>
                  </a:moveTo>
                  <a:lnTo>
                    <a:pt x="88900" y="7289800"/>
                  </a:lnTo>
                  <a:lnTo>
                    <a:pt x="88900" y="7378700"/>
                  </a:lnTo>
                  <a:close/>
                  <a:moveTo>
                    <a:pt x="88900" y="7200900"/>
                  </a:moveTo>
                  <a:lnTo>
                    <a:pt x="88900" y="7112000"/>
                  </a:lnTo>
                  <a:lnTo>
                    <a:pt x="88900" y="7200900"/>
                  </a:lnTo>
                  <a:close/>
                  <a:moveTo>
                    <a:pt x="88900" y="7023100"/>
                  </a:moveTo>
                  <a:lnTo>
                    <a:pt x="88900" y="6934200"/>
                  </a:lnTo>
                  <a:lnTo>
                    <a:pt x="88900" y="7023100"/>
                  </a:lnTo>
                  <a:close/>
                  <a:moveTo>
                    <a:pt x="88900" y="6845300"/>
                  </a:moveTo>
                  <a:lnTo>
                    <a:pt x="88900" y="6756400"/>
                  </a:lnTo>
                  <a:lnTo>
                    <a:pt x="88900" y="6845300"/>
                  </a:lnTo>
                  <a:close/>
                  <a:moveTo>
                    <a:pt x="88900" y="6667500"/>
                  </a:moveTo>
                  <a:lnTo>
                    <a:pt x="88900" y="6578600"/>
                  </a:lnTo>
                  <a:lnTo>
                    <a:pt x="88900" y="6667500"/>
                  </a:lnTo>
                  <a:close/>
                  <a:moveTo>
                    <a:pt x="88900" y="6489700"/>
                  </a:moveTo>
                  <a:lnTo>
                    <a:pt x="88900" y="6400800"/>
                  </a:lnTo>
                  <a:lnTo>
                    <a:pt x="88900" y="6489700"/>
                  </a:lnTo>
                  <a:close/>
                  <a:moveTo>
                    <a:pt x="88900" y="6311900"/>
                  </a:moveTo>
                  <a:lnTo>
                    <a:pt x="88900" y="6223000"/>
                  </a:lnTo>
                  <a:lnTo>
                    <a:pt x="88900" y="6311900"/>
                  </a:lnTo>
                  <a:close/>
                  <a:moveTo>
                    <a:pt x="88900" y="6134100"/>
                  </a:moveTo>
                  <a:lnTo>
                    <a:pt x="88900" y="6045200"/>
                  </a:lnTo>
                  <a:lnTo>
                    <a:pt x="88900" y="6134100"/>
                  </a:lnTo>
                  <a:close/>
                  <a:moveTo>
                    <a:pt x="88900" y="5956300"/>
                  </a:moveTo>
                  <a:lnTo>
                    <a:pt x="88900" y="5867400"/>
                  </a:lnTo>
                  <a:lnTo>
                    <a:pt x="88900" y="5956300"/>
                  </a:lnTo>
                  <a:close/>
                  <a:moveTo>
                    <a:pt x="88900" y="5778500"/>
                  </a:moveTo>
                  <a:lnTo>
                    <a:pt x="88900" y="5689600"/>
                  </a:lnTo>
                  <a:lnTo>
                    <a:pt x="88900" y="5778500"/>
                  </a:lnTo>
                  <a:close/>
                  <a:moveTo>
                    <a:pt x="88900" y="5600700"/>
                  </a:moveTo>
                  <a:lnTo>
                    <a:pt x="88900" y="5511800"/>
                  </a:lnTo>
                  <a:lnTo>
                    <a:pt x="88900" y="5600700"/>
                  </a:lnTo>
                  <a:close/>
                  <a:moveTo>
                    <a:pt x="88900" y="5422900"/>
                  </a:moveTo>
                  <a:lnTo>
                    <a:pt x="88900" y="5334000"/>
                  </a:lnTo>
                  <a:lnTo>
                    <a:pt x="88900" y="5422900"/>
                  </a:lnTo>
                  <a:close/>
                  <a:moveTo>
                    <a:pt x="88900" y="5245100"/>
                  </a:moveTo>
                  <a:lnTo>
                    <a:pt x="88900" y="5156200"/>
                  </a:lnTo>
                  <a:lnTo>
                    <a:pt x="88900" y="5245100"/>
                  </a:lnTo>
                  <a:close/>
                  <a:moveTo>
                    <a:pt x="88900" y="5067300"/>
                  </a:moveTo>
                  <a:lnTo>
                    <a:pt x="88900" y="4978400"/>
                  </a:lnTo>
                  <a:lnTo>
                    <a:pt x="88900" y="5067300"/>
                  </a:lnTo>
                  <a:close/>
                  <a:moveTo>
                    <a:pt x="88900" y="4889500"/>
                  </a:moveTo>
                  <a:lnTo>
                    <a:pt x="88900" y="4800600"/>
                  </a:lnTo>
                  <a:lnTo>
                    <a:pt x="88900" y="4889500"/>
                  </a:lnTo>
                  <a:close/>
                  <a:moveTo>
                    <a:pt x="88900" y="4711700"/>
                  </a:moveTo>
                  <a:lnTo>
                    <a:pt x="88900" y="4622800"/>
                  </a:lnTo>
                  <a:lnTo>
                    <a:pt x="88900" y="4711700"/>
                  </a:lnTo>
                  <a:close/>
                  <a:moveTo>
                    <a:pt x="88900" y="4533900"/>
                  </a:moveTo>
                  <a:lnTo>
                    <a:pt x="88900" y="4445000"/>
                  </a:lnTo>
                  <a:lnTo>
                    <a:pt x="88900" y="4533900"/>
                  </a:lnTo>
                  <a:close/>
                  <a:moveTo>
                    <a:pt x="88900" y="4356100"/>
                  </a:moveTo>
                  <a:lnTo>
                    <a:pt x="88900" y="4267200"/>
                  </a:lnTo>
                  <a:lnTo>
                    <a:pt x="88900" y="4356100"/>
                  </a:lnTo>
                  <a:close/>
                  <a:moveTo>
                    <a:pt x="88900" y="4178300"/>
                  </a:moveTo>
                  <a:lnTo>
                    <a:pt x="88900" y="4089400"/>
                  </a:lnTo>
                  <a:lnTo>
                    <a:pt x="88900" y="4178300"/>
                  </a:lnTo>
                  <a:close/>
                  <a:moveTo>
                    <a:pt x="88900" y="4000500"/>
                  </a:moveTo>
                  <a:lnTo>
                    <a:pt x="88900" y="3911600"/>
                  </a:lnTo>
                  <a:lnTo>
                    <a:pt x="88900" y="4000500"/>
                  </a:lnTo>
                  <a:close/>
                  <a:moveTo>
                    <a:pt x="88900" y="3822700"/>
                  </a:moveTo>
                  <a:lnTo>
                    <a:pt x="88900" y="3733800"/>
                  </a:lnTo>
                  <a:lnTo>
                    <a:pt x="88900" y="3822700"/>
                  </a:lnTo>
                  <a:close/>
                  <a:moveTo>
                    <a:pt x="88900" y="3644900"/>
                  </a:moveTo>
                  <a:lnTo>
                    <a:pt x="88900" y="3556000"/>
                  </a:lnTo>
                  <a:lnTo>
                    <a:pt x="88900" y="3644900"/>
                  </a:lnTo>
                  <a:close/>
                  <a:moveTo>
                    <a:pt x="88900" y="3467100"/>
                  </a:moveTo>
                  <a:lnTo>
                    <a:pt x="88900" y="3378200"/>
                  </a:lnTo>
                  <a:lnTo>
                    <a:pt x="88900" y="3467100"/>
                  </a:lnTo>
                  <a:close/>
                  <a:moveTo>
                    <a:pt x="88900" y="3289300"/>
                  </a:moveTo>
                  <a:lnTo>
                    <a:pt x="88900" y="3200400"/>
                  </a:lnTo>
                  <a:lnTo>
                    <a:pt x="88900" y="3289300"/>
                  </a:lnTo>
                  <a:close/>
                  <a:moveTo>
                    <a:pt x="88900" y="3111500"/>
                  </a:moveTo>
                  <a:lnTo>
                    <a:pt x="88900" y="3022600"/>
                  </a:lnTo>
                  <a:lnTo>
                    <a:pt x="88900" y="3111500"/>
                  </a:lnTo>
                  <a:close/>
                  <a:moveTo>
                    <a:pt x="88900" y="2933700"/>
                  </a:moveTo>
                  <a:lnTo>
                    <a:pt x="88900" y="2844800"/>
                  </a:lnTo>
                  <a:lnTo>
                    <a:pt x="88900" y="2933700"/>
                  </a:lnTo>
                  <a:close/>
                  <a:moveTo>
                    <a:pt x="88900" y="2755900"/>
                  </a:moveTo>
                  <a:lnTo>
                    <a:pt x="88900" y="2667000"/>
                  </a:lnTo>
                  <a:lnTo>
                    <a:pt x="88900" y="2755900"/>
                  </a:lnTo>
                  <a:close/>
                  <a:moveTo>
                    <a:pt x="88900" y="2578100"/>
                  </a:moveTo>
                  <a:lnTo>
                    <a:pt x="88900" y="2489200"/>
                  </a:lnTo>
                  <a:lnTo>
                    <a:pt x="88900" y="2578100"/>
                  </a:lnTo>
                  <a:close/>
                  <a:moveTo>
                    <a:pt x="88900" y="2400300"/>
                  </a:moveTo>
                  <a:lnTo>
                    <a:pt x="88900" y="2311400"/>
                  </a:lnTo>
                  <a:lnTo>
                    <a:pt x="88900" y="2400300"/>
                  </a:lnTo>
                  <a:close/>
                  <a:moveTo>
                    <a:pt x="88900" y="2222500"/>
                  </a:moveTo>
                  <a:lnTo>
                    <a:pt x="88900" y="2133600"/>
                  </a:lnTo>
                  <a:lnTo>
                    <a:pt x="88900" y="2222500"/>
                  </a:lnTo>
                  <a:close/>
                  <a:moveTo>
                    <a:pt x="88900" y="2044700"/>
                  </a:moveTo>
                  <a:lnTo>
                    <a:pt x="88900" y="1955800"/>
                  </a:lnTo>
                  <a:lnTo>
                    <a:pt x="88900" y="2044700"/>
                  </a:lnTo>
                  <a:close/>
                  <a:moveTo>
                    <a:pt x="88900" y="1866900"/>
                  </a:moveTo>
                  <a:lnTo>
                    <a:pt x="88900" y="1778000"/>
                  </a:lnTo>
                  <a:lnTo>
                    <a:pt x="88900" y="1866900"/>
                  </a:lnTo>
                  <a:close/>
                  <a:moveTo>
                    <a:pt x="88900" y="1689100"/>
                  </a:moveTo>
                  <a:lnTo>
                    <a:pt x="88900" y="1600200"/>
                  </a:lnTo>
                  <a:lnTo>
                    <a:pt x="88900" y="1689100"/>
                  </a:lnTo>
                  <a:close/>
                  <a:moveTo>
                    <a:pt x="88900" y="1511300"/>
                  </a:moveTo>
                  <a:lnTo>
                    <a:pt x="88900" y="1422400"/>
                  </a:lnTo>
                  <a:lnTo>
                    <a:pt x="88900" y="1511300"/>
                  </a:lnTo>
                  <a:close/>
                  <a:moveTo>
                    <a:pt x="88900" y="1333500"/>
                  </a:moveTo>
                  <a:lnTo>
                    <a:pt x="88900" y="1244600"/>
                  </a:lnTo>
                  <a:lnTo>
                    <a:pt x="88900" y="1333500"/>
                  </a:lnTo>
                  <a:close/>
                  <a:moveTo>
                    <a:pt x="88900" y="1155700"/>
                  </a:moveTo>
                  <a:lnTo>
                    <a:pt x="88900" y="1066800"/>
                  </a:lnTo>
                  <a:lnTo>
                    <a:pt x="88900" y="1155700"/>
                  </a:lnTo>
                  <a:close/>
                  <a:moveTo>
                    <a:pt x="88900" y="977900"/>
                  </a:moveTo>
                  <a:lnTo>
                    <a:pt x="88900" y="889000"/>
                  </a:lnTo>
                  <a:lnTo>
                    <a:pt x="88900" y="977900"/>
                  </a:lnTo>
                  <a:close/>
                  <a:moveTo>
                    <a:pt x="88900" y="800100"/>
                  </a:moveTo>
                  <a:lnTo>
                    <a:pt x="88900" y="711200"/>
                  </a:lnTo>
                  <a:lnTo>
                    <a:pt x="88900" y="800100"/>
                  </a:lnTo>
                  <a:close/>
                  <a:moveTo>
                    <a:pt x="88900" y="622300"/>
                  </a:moveTo>
                  <a:lnTo>
                    <a:pt x="88900" y="533400"/>
                  </a:lnTo>
                  <a:lnTo>
                    <a:pt x="88900" y="622300"/>
                  </a:lnTo>
                  <a:close/>
                  <a:moveTo>
                    <a:pt x="88900" y="444500"/>
                  </a:moveTo>
                  <a:lnTo>
                    <a:pt x="88900" y="355600"/>
                  </a:lnTo>
                  <a:lnTo>
                    <a:pt x="88900" y="444500"/>
                  </a:lnTo>
                  <a:close/>
                  <a:moveTo>
                    <a:pt x="88900" y="266700"/>
                  </a:moveTo>
                  <a:lnTo>
                    <a:pt x="88900" y="177800"/>
                  </a:lnTo>
                  <a:lnTo>
                    <a:pt x="88900" y="266700"/>
                  </a:lnTo>
                  <a:close/>
                  <a:moveTo>
                    <a:pt x="88900" y="88900"/>
                  </a:moveTo>
                  <a:lnTo>
                    <a:pt x="88900" y="0"/>
                  </a:lnTo>
                  <a:lnTo>
                    <a:pt x="88900" y="88900"/>
                  </a:lnTo>
                  <a:close/>
                  <a:moveTo>
                    <a:pt x="88900" y="8623300"/>
                  </a:moveTo>
                  <a:lnTo>
                    <a:pt x="88900" y="8534400"/>
                  </a:lnTo>
                  <a:lnTo>
                    <a:pt x="88900" y="8623300"/>
                  </a:lnTo>
                  <a:close/>
                </a:path>
              </a:pathLst>
            </a:custGeom>
            <a:solidFill>
              <a:srgbClr val="000000"/>
            </a:solidFill>
          </p:spPr>
        </p:sp>
      </p:grpSp>
      <p:sp>
        <p:nvSpPr>
          <p:cNvPr id="12" name="Freeform 12"/>
          <p:cNvSpPr/>
          <p:nvPr/>
        </p:nvSpPr>
        <p:spPr>
          <a:xfrm>
            <a:off x="8227270" y="1185227"/>
            <a:ext cx="1261602" cy="1304288"/>
          </a:xfrm>
          <a:custGeom>
            <a:avLst/>
            <a:gdLst/>
            <a:ahLst/>
            <a:cxnLst/>
            <a:rect l="l" t="t" r="r" b="b"/>
            <a:pathLst>
              <a:path w="1261602" h="1304288">
                <a:moveTo>
                  <a:pt x="0" y="0"/>
                </a:moveTo>
                <a:lnTo>
                  <a:pt x="1261602" y="0"/>
                </a:lnTo>
                <a:lnTo>
                  <a:pt x="1261602" y="1304288"/>
                </a:lnTo>
                <a:lnTo>
                  <a:pt x="0" y="1304288"/>
                </a:lnTo>
                <a:lnTo>
                  <a:pt x="0" y="0"/>
                </a:lnTo>
                <a:close/>
              </a:path>
            </a:pathLst>
          </a:custGeom>
          <a:blipFill>
            <a:blip r:embed="rId6">
              <a:extLst>
                <a:ext uri="{96DAC541-7B7A-43D3-8B79-37D633B846F1}">
                  <asvg:svgBlip xmlns:asvg="http://schemas.microsoft.com/office/drawing/2016/SVG/main" xmlns="" r:embed="rId7"/>
                </a:ext>
              </a:extLst>
            </a:blip>
            <a:stretch>
              <a:fillRect t="-181" b="-181"/>
            </a:stretch>
          </a:blipFill>
        </p:spPr>
      </p:sp>
      <p:sp>
        <p:nvSpPr>
          <p:cNvPr id="13" name="Freeform 13"/>
          <p:cNvSpPr/>
          <p:nvPr/>
        </p:nvSpPr>
        <p:spPr>
          <a:xfrm>
            <a:off x="8549584" y="3608061"/>
            <a:ext cx="616974" cy="616974"/>
          </a:xfrm>
          <a:custGeom>
            <a:avLst/>
            <a:gdLst/>
            <a:ahLst/>
            <a:cxnLst/>
            <a:rect l="l" t="t" r="r" b="b"/>
            <a:pathLst>
              <a:path w="616974" h="616974">
                <a:moveTo>
                  <a:pt x="0" y="0"/>
                </a:moveTo>
                <a:lnTo>
                  <a:pt x="616974" y="0"/>
                </a:lnTo>
                <a:lnTo>
                  <a:pt x="616974" y="616974"/>
                </a:lnTo>
                <a:lnTo>
                  <a:pt x="0" y="616974"/>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4" name="Freeform 14"/>
          <p:cNvSpPr/>
          <p:nvPr/>
        </p:nvSpPr>
        <p:spPr>
          <a:xfrm>
            <a:off x="8640168" y="3677639"/>
            <a:ext cx="466531" cy="466531"/>
          </a:xfrm>
          <a:custGeom>
            <a:avLst/>
            <a:gdLst/>
            <a:ahLst/>
            <a:cxnLst/>
            <a:rect l="l" t="t" r="r" b="b"/>
            <a:pathLst>
              <a:path w="466531" h="466531">
                <a:moveTo>
                  <a:pt x="0" y="0"/>
                </a:moveTo>
                <a:lnTo>
                  <a:pt x="466531" y="0"/>
                </a:lnTo>
                <a:lnTo>
                  <a:pt x="466531" y="466531"/>
                </a:lnTo>
                <a:lnTo>
                  <a:pt x="0" y="466531"/>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5" name="Freeform 15"/>
          <p:cNvSpPr/>
          <p:nvPr/>
        </p:nvSpPr>
        <p:spPr>
          <a:xfrm>
            <a:off x="8564947" y="5986421"/>
            <a:ext cx="616974" cy="616974"/>
          </a:xfrm>
          <a:custGeom>
            <a:avLst/>
            <a:gdLst/>
            <a:ahLst/>
            <a:cxnLst/>
            <a:rect l="l" t="t" r="r" b="b"/>
            <a:pathLst>
              <a:path w="616974" h="616974">
                <a:moveTo>
                  <a:pt x="0" y="0"/>
                </a:moveTo>
                <a:lnTo>
                  <a:pt x="616974" y="0"/>
                </a:lnTo>
                <a:lnTo>
                  <a:pt x="616974" y="616974"/>
                </a:lnTo>
                <a:lnTo>
                  <a:pt x="0" y="616974"/>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6" name="Freeform 16"/>
          <p:cNvSpPr/>
          <p:nvPr/>
        </p:nvSpPr>
        <p:spPr>
          <a:xfrm>
            <a:off x="8655531" y="6055999"/>
            <a:ext cx="466531" cy="466531"/>
          </a:xfrm>
          <a:custGeom>
            <a:avLst/>
            <a:gdLst/>
            <a:ahLst/>
            <a:cxnLst/>
            <a:rect l="l" t="t" r="r" b="b"/>
            <a:pathLst>
              <a:path w="466531" h="466531">
                <a:moveTo>
                  <a:pt x="0" y="0"/>
                </a:moveTo>
                <a:lnTo>
                  <a:pt x="466531" y="0"/>
                </a:lnTo>
                <a:lnTo>
                  <a:pt x="466531" y="466531"/>
                </a:lnTo>
                <a:lnTo>
                  <a:pt x="0" y="466531"/>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7" name="Freeform 17"/>
          <p:cNvSpPr/>
          <p:nvPr/>
        </p:nvSpPr>
        <p:spPr>
          <a:xfrm>
            <a:off x="8549584" y="8364780"/>
            <a:ext cx="616974" cy="616974"/>
          </a:xfrm>
          <a:custGeom>
            <a:avLst/>
            <a:gdLst/>
            <a:ahLst/>
            <a:cxnLst/>
            <a:rect l="l" t="t" r="r" b="b"/>
            <a:pathLst>
              <a:path w="616974" h="616974">
                <a:moveTo>
                  <a:pt x="0" y="0"/>
                </a:moveTo>
                <a:lnTo>
                  <a:pt x="616974" y="0"/>
                </a:lnTo>
                <a:lnTo>
                  <a:pt x="616974" y="616974"/>
                </a:lnTo>
                <a:lnTo>
                  <a:pt x="0" y="616974"/>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8" name="Freeform 18"/>
          <p:cNvSpPr/>
          <p:nvPr/>
        </p:nvSpPr>
        <p:spPr>
          <a:xfrm>
            <a:off x="8640168" y="8434358"/>
            <a:ext cx="466531" cy="466531"/>
          </a:xfrm>
          <a:custGeom>
            <a:avLst/>
            <a:gdLst/>
            <a:ahLst/>
            <a:cxnLst/>
            <a:rect l="l" t="t" r="r" b="b"/>
            <a:pathLst>
              <a:path w="466531" h="466531">
                <a:moveTo>
                  <a:pt x="0" y="0"/>
                </a:moveTo>
                <a:lnTo>
                  <a:pt x="466531" y="0"/>
                </a:lnTo>
                <a:lnTo>
                  <a:pt x="466531" y="466531"/>
                </a:lnTo>
                <a:lnTo>
                  <a:pt x="0" y="466531"/>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grpSp>
        <p:nvGrpSpPr>
          <p:cNvPr id="19" name="Group 19"/>
          <p:cNvGrpSpPr/>
          <p:nvPr/>
        </p:nvGrpSpPr>
        <p:grpSpPr>
          <a:xfrm>
            <a:off x="7126894" y="3916548"/>
            <a:ext cx="1471391" cy="66675"/>
            <a:chOff x="0" y="0"/>
            <a:chExt cx="1961855" cy="88900"/>
          </a:xfrm>
        </p:grpSpPr>
        <p:sp>
          <p:nvSpPr>
            <p:cNvPr id="20" name="Freeform 20"/>
            <p:cNvSpPr/>
            <p:nvPr/>
          </p:nvSpPr>
          <p:spPr>
            <a:xfrm>
              <a:off x="44450" y="0"/>
              <a:ext cx="1866900" cy="88900"/>
            </a:xfrm>
            <a:custGeom>
              <a:avLst/>
              <a:gdLst/>
              <a:ahLst/>
              <a:cxnLst/>
              <a:rect l="l" t="t" r="r" b="b"/>
              <a:pathLst>
                <a:path w="1866900" h="88900">
                  <a:moveTo>
                    <a:pt x="177800" y="0"/>
                  </a:moveTo>
                  <a:lnTo>
                    <a:pt x="266700" y="0"/>
                  </a:lnTo>
                  <a:lnTo>
                    <a:pt x="266700" y="88900"/>
                  </a:lnTo>
                  <a:lnTo>
                    <a:pt x="177800" y="88900"/>
                  </a:lnTo>
                  <a:close/>
                  <a:moveTo>
                    <a:pt x="355600" y="88900"/>
                  </a:moveTo>
                  <a:lnTo>
                    <a:pt x="444500" y="88900"/>
                  </a:lnTo>
                  <a:lnTo>
                    <a:pt x="355600" y="88900"/>
                  </a:lnTo>
                  <a:close/>
                  <a:moveTo>
                    <a:pt x="533400" y="88900"/>
                  </a:moveTo>
                  <a:lnTo>
                    <a:pt x="622300" y="88900"/>
                  </a:lnTo>
                  <a:lnTo>
                    <a:pt x="533400" y="88900"/>
                  </a:lnTo>
                  <a:close/>
                  <a:moveTo>
                    <a:pt x="711200" y="88900"/>
                  </a:moveTo>
                  <a:lnTo>
                    <a:pt x="800100" y="88900"/>
                  </a:lnTo>
                  <a:lnTo>
                    <a:pt x="711200" y="88900"/>
                  </a:lnTo>
                  <a:close/>
                  <a:moveTo>
                    <a:pt x="889000" y="88900"/>
                  </a:moveTo>
                  <a:lnTo>
                    <a:pt x="977900" y="88900"/>
                  </a:lnTo>
                  <a:lnTo>
                    <a:pt x="889000" y="88900"/>
                  </a:lnTo>
                  <a:close/>
                  <a:moveTo>
                    <a:pt x="1066800" y="88900"/>
                  </a:moveTo>
                  <a:lnTo>
                    <a:pt x="1155700" y="88900"/>
                  </a:lnTo>
                  <a:lnTo>
                    <a:pt x="1066800" y="88900"/>
                  </a:lnTo>
                  <a:close/>
                  <a:moveTo>
                    <a:pt x="1244600" y="88900"/>
                  </a:moveTo>
                  <a:lnTo>
                    <a:pt x="1333500" y="88900"/>
                  </a:lnTo>
                  <a:lnTo>
                    <a:pt x="1244600" y="88900"/>
                  </a:lnTo>
                  <a:close/>
                  <a:moveTo>
                    <a:pt x="1422400" y="88900"/>
                  </a:moveTo>
                  <a:lnTo>
                    <a:pt x="1511300" y="88900"/>
                  </a:lnTo>
                  <a:lnTo>
                    <a:pt x="1422400" y="88900"/>
                  </a:lnTo>
                  <a:close/>
                  <a:moveTo>
                    <a:pt x="1600200" y="88900"/>
                  </a:moveTo>
                  <a:lnTo>
                    <a:pt x="1689100" y="88900"/>
                  </a:lnTo>
                  <a:lnTo>
                    <a:pt x="1600200" y="88900"/>
                  </a:lnTo>
                  <a:close/>
                  <a:moveTo>
                    <a:pt x="1778000" y="88900"/>
                  </a:moveTo>
                  <a:lnTo>
                    <a:pt x="1866900" y="88900"/>
                  </a:lnTo>
                  <a:lnTo>
                    <a:pt x="1778000" y="88900"/>
                  </a:lnTo>
                  <a:close/>
                  <a:moveTo>
                    <a:pt x="0" y="0"/>
                  </a:moveTo>
                  <a:lnTo>
                    <a:pt x="88900" y="0"/>
                  </a:lnTo>
                  <a:lnTo>
                    <a:pt x="88900" y="88900"/>
                  </a:lnTo>
                  <a:lnTo>
                    <a:pt x="0" y="88900"/>
                  </a:lnTo>
                  <a:close/>
                </a:path>
              </a:pathLst>
            </a:custGeom>
            <a:solidFill>
              <a:srgbClr val="000000"/>
            </a:solidFill>
          </p:spPr>
        </p:sp>
      </p:grpSp>
      <p:grpSp>
        <p:nvGrpSpPr>
          <p:cNvPr id="21" name="Group 21"/>
          <p:cNvGrpSpPr/>
          <p:nvPr/>
        </p:nvGrpSpPr>
        <p:grpSpPr>
          <a:xfrm>
            <a:off x="7173540" y="8673268"/>
            <a:ext cx="1471391" cy="66675"/>
            <a:chOff x="0" y="0"/>
            <a:chExt cx="1961855" cy="88900"/>
          </a:xfrm>
        </p:grpSpPr>
        <p:sp>
          <p:nvSpPr>
            <p:cNvPr id="22" name="Freeform 22"/>
            <p:cNvSpPr/>
            <p:nvPr/>
          </p:nvSpPr>
          <p:spPr>
            <a:xfrm>
              <a:off x="44450" y="0"/>
              <a:ext cx="1866900" cy="88900"/>
            </a:xfrm>
            <a:custGeom>
              <a:avLst/>
              <a:gdLst/>
              <a:ahLst/>
              <a:cxnLst/>
              <a:rect l="l" t="t" r="r" b="b"/>
              <a:pathLst>
                <a:path w="1866900" h="88900">
                  <a:moveTo>
                    <a:pt x="177800" y="0"/>
                  </a:moveTo>
                  <a:lnTo>
                    <a:pt x="266700" y="0"/>
                  </a:lnTo>
                  <a:lnTo>
                    <a:pt x="266700" y="88900"/>
                  </a:lnTo>
                  <a:lnTo>
                    <a:pt x="177800" y="88900"/>
                  </a:lnTo>
                  <a:close/>
                  <a:moveTo>
                    <a:pt x="355600" y="88900"/>
                  </a:moveTo>
                  <a:lnTo>
                    <a:pt x="444500" y="88900"/>
                  </a:lnTo>
                  <a:lnTo>
                    <a:pt x="355600" y="88900"/>
                  </a:lnTo>
                  <a:close/>
                  <a:moveTo>
                    <a:pt x="533400" y="88900"/>
                  </a:moveTo>
                  <a:lnTo>
                    <a:pt x="622300" y="88900"/>
                  </a:lnTo>
                  <a:lnTo>
                    <a:pt x="533400" y="88900"/>
                  </a:lnTo>
                  <a:close/>
                  <a:moveTo>
                    <a:pt x="711200" y="88900"/>
                  </a:moveTo>
                  <a:lnTo>
                    <a:pt x="800100" y="88900"/>
                  </a:lnTo>
                  <a:lnTo>
                    <a:pt x="711200" y="88900"/>
                  </a:lnTo>
                  <a:close/>
                  <a:moveTo>
                    <a:pt x="889000" y="88900"/>
                  </a:moveTo>
                  <a:lnTo>
                    <a:pt x="977900" y="88900"/>
                  </a:lnTo>
                  <a:lnTo>
                    <a:pt x="889000" y="88900"/>
                  </a:lnTo>
                  <a:close/>
                  <a:moveTo>
                    <a:pt x="1066800" y="88900"/>
                  </a:moveTo>
                  <a:lnTo>
                    <a:pt x="1155700" y="88900"/>
                  </a:lnTo>
                  <a:lnTo>
                    <a:pt x="1066800" y="88900"/>
                  </a:lnTo>
                  <a:close/>
                  <a:moveTo>
                    <a:pt x="1244600" y="88900"/>
                  </a:moveTo>
                  <a:lnTo>
                    <a:pt x="1333500" y="88900"/>
                  </a:lnTo>
                  <a:lnTo>
                    <a:pt x="1244600" y="88900"/>
                  </a:lnTo>
                  <a:close/>
                  <a:moveTo>
                    <a:pt x="1422400" y="88900"/>
                  </a:moveTo>
                  <a:lnTo>
                    <a:pt x="1511300" y="88900"/>
                  </a:lnTo>
                  <a:lnTo>
                    <a:pt x="1422400" y="88900"/>
                  </a:lnTo>
                  <a:close/>
                  <a:moveTo>
                    <a:pt x="1600200" y="88900"/>
                  </a:moveTo>
                  <a:lnTo>
                    <a:pt x="1689100" y="88900"/>
                  </a:lnTo>
                  <a:lnTo>
                    <a:pt x="1600200" y="88900"/>
                  </a:lnTo>
                  <a:close/>
                  <a:moveTo>
                    <a:pt x="1778000" y="88900"/>
                  </a:moveTo>
                  <a:lnTo>
                    <a:pt x="1866900" y="88900"/>
                  </a:lnTo>
                  <a:lnTo>
                    <a:pt x="1778000" y="88900"/>
                  </a:lnTo>
                  <a:close/>
                  <a:moveTo>
                    <a:pt x="0" y="0"/>
                  </a:moveTo>
                  <a:lnTo>
                    <a:pt x="88900" y="0"/>
                  </a:lnTo>
                  <a:lnTo>
                    <a:pt x="88900" y="88900"/>
                  </a:lnTo>
                  <a:lnTo>
                    <a:pt x="0" y="88900"/>
                  </a:lnTo>
                  <a:close/>
                </a:path>
              </a:pathLst>
            </a:custGeom>
            <a:solidFill>
              <a:srgbClr val="000000"/>
            </a:solidFill>
          </p:spPr>
        </p:sp>
      </p:grpSp>
      <p:grpSp>
        <p:nvGrpSpPr>
          <p:cNvPr id="23" name="Group 23"/>
          <p:cNvGrpSpPr/>
          <p:nvPr/>
        </p:nvGrpSpPr>
        <p:grpSpPr>
          <a:xfrm>
            <a:off x="9148584" y="6255926"/>
            <a:ext cx="1471391" cy="66675"/>
            <a:chOff x="0" y="0"/>
            <a:chExt cx="1961855" cy="88900"/>
          </a:xfrm>
        </p:grpSpPr>
        <p:sp>
          <p:nvSpPr>
            <p:cNvPr id="24" name="Freeform 24"/>
            <p:cNvSpPr/>
            <p:nvPr/>
          </p:nvSpPr>
          <p:spPr>
            <a:xfrm>
              <a:off x="44450" y="0"/>
              <a:ext cx="1866900" cy="88900"/>
            </a:xfrm>
            <a:custGeom>
              <a:avLst/>
              <a:gdLst/>
              <a:ahLst/>
              <a:cxnLst/>
              <a:rect l="l" t="t" r="r" b="b"/>
              <a:pathLst>
                <a:path w="1866900" h="88900">
                  <a:moveTo>
                    <a:pt x="177800" y="0"/>
                  </a:moveTo>
                  <a:lnTo>
                    <a:pt x="266700" y="0"/>
                  </a:lnTo>
                  <a:lnTo>
                    <a:pt x="266700" y="88900"/>
                  </a:lnTo>
                  <a:lnTo>
                    <a:pt x="177800" y="88900"/>
                  </a:lnTo>
                  <a:close/>
                  <a:moveTo>
                    <a:pt x="355600" y="88900"/>
                  </a:moveTo>
                  <a:lnTo>
                    <a:pt x="444500" y="88900"/>
                  </a:lnTo>
                  <a:lnTo>
                    <a:pt x="355600" y="88900"/>
                  </a:lnTo>
                  <a:close/>
                  <a:moveTo>
                    <a:pt x="533400" y="88900"/>
                  </a:moveTo>
                  <a:lnTo>
                    <a:pt x="622300" y="88900"/>
                  </a:lnTo>
                  <a:lnTo>
                    <a:pt x="533400" y="88900"/>
                  </a:lnTo>
                  <a:close/>
                  <a:moveTo>
                    <a:pt x="711200" y="88900"/>
                  </a:moveTo>
                  <a:lnTo>
                    <a:pt x="800100" y="88900"/>
                  </a:lnTo>
                  <a:lnTo>
                    <a:pt x="711200" y="88900"/>
                  </a:lnTo>
                  <a:close/>
                  <a:moveTo>
                    <a:pt x="889000" y="88900"/>
                  </a:moveTo>
                  <a:lnTo>
                    <a:pt x="977900" y="88900"/>
                  </a:lnTo>
                  <a:lnTo>
                    <a:pt x="889000" y="88900"/>
                  </a:lnTo>
                  <a:close/>
                  <a:moveTo>
                    <a:pt x="1066800" y="88900"/>
                  </a:moveTo>
                  <a:lnTo>
                    <a:pt x="1155700" y="88900"/>
                  </a:lnTo>
                  <a:lnTo>
                    <a:pt x="1066800" y="88900"/>
                  </a:lnTo>
                  <a:close/>
                  <a:moveTo>
                    <a:pt x="1244600" y="88900"/>
                  </a:moveTo>
                  <a:lnTo>
                    <a:pt x="1333500" y="88900"/>
                  </a:lnTo>
                  <a:lnTo>
                    <a:pt x="1244600" y="88900"/>
                  </a:lnTo>
                  <a:close/>
                  <a:moveTo>
                    <a:pt x="1422400" y="88900"/>
                  </a:moveTo>
                  <a:lnTo>
                    <a:pt x="1511300" y="88900"/>
                  </a:lnTo>
                  <a:lnTo>
                    <a:pt x="1422400" y="88900"/>
                  </a:lnTo>
                  <a:close/>
                  <a:moveTo>
                    <a:pt x="1600200" y="88900"/>
                  </a:moveTo>
                  <a:lnTo>
                    <a:pt x="1689100" y="88900"/>
                  </a:lnTo>
                  <a:lnTo>
                    <a:pt x="1600200" y="88900"/>
                  </a:lnTo>
                  <a:close/>
                  <a:moveTo>
                    <a:pt x="1778000" y="88900"/>
                  </a:moveTo>
                  <a:lnTo>
                    <a:pt x="1866900" y="88900"/>
                  </a:lnTo>
                  <a:lnTo>
                    <a:pt x="1778000" y="88900"/>
                  </a:lnTo>
                  <a:close/>
                  <a:moveTo>
                    <a:pt x="0" y="0"/>
                  </a:moveTo>
                  <a:lnTo>
                    <a:pt x="88900" y="0"/>
                  </a:lnTo>
                  <a:lnTo>
                    <a:pt x="88900" y="88900"/>
                  </a:lnTo>
                  <a:lnTo>
                    <a:pt x="0" y="88900"/>
                  </a:lnTo>
                  <a:close/>
                </a:path>
              </a:pathLst>
            </a:custGeom>
            <a:solidFill>
              <a:srgbClr val="000000"/>
            </a:solidFill>
          </p:spPr>
        </p:sp>
      </p:grpSp>
      <p:sp>
        <p:nvSpPr>
          <p:cNvPr id="25" name="TextBox 25"/>
          <p:cNvSpPr txBox="1"/>
          <p:nvPr/>
        </p:nvSpPr>
        <p:spPr>
          <a:xfrm rot="-5400000">
            <a:off x="-2899992" y="3394718"/>
            <a:ext cx="6821190" cy="940943"/>
          </a:xfrm>
          <a:prstGeom prst="rect">
            <a:avLst/>
          </a:prstGeom>
        </p:spPr>
        <p:txBody>
          <a:bodyPr lIns="0" tIns="0" rIns="0" bIns="0" rtlCol="0" anchor="t">
            <a:spAutoFit/>
          </a:bodyPr>
          <a:lstStyle/>
          <a:p>
            <a:pPr algn="ctr">
              <a:lnSpc>
                <a:spcPts val="6055"/>
              </a:lnSpc>
            </a:pPr>
            <a:r>
              <a:rPr lang="en-US" sz="4660">
                <a:solidFill>
                  <a:srgbClr val="004AAD"/>
                </a:solidFill>
                <a:latin typeface="The Seasons"/>
                <a:ea typeface="The Seasons"/>
                <a:cs typeface="The Seasons"/>
                <a:sym typeface="The Seasons"/>
              </a:rPr>
              <a:t> perspectives</a:t>
            </a:r>
          </a:p>
        </p:txBody>
      </p:sp>
      <p:sp>
        <p:nvSpPr>
          <p:cNvPr id="26" name="TextBox 26"/>
          <p:cNvSpPr txBox="1"/>
          <p:nvPr/>
        </p:nvSpPr>
        <p:spPr>
          <a:xfrm>
            <a:off x="16477305" y="8279127"/>
            <a:ext cx="706264" cy="933450"/>
          </a:xfrm>
          <a:prstGeom prst="rect">
            <a:avLst/>
          </a:prstGeom>
        </p:spPr>
        <p:txBody>
          <a:bodyPr lIns="0" tIns="0" rIns="0" bIns="0" rtlCol="0" anchor="t">
            <a:spAutoFit/>
          </a:bodyPr>
          <a:lstStyle/>
          <a:p>
            <a:pPr algn="ctr">
              <a:lnSpc>
                <a:spcPts val="7280"/>
              </a:lnSpc>
            </a:pPr>
            <a:endParaRPr lang="en-US" sz="5600">
              <a:solidFill>
                <a:srgbClr val="000000"/>
              </a:solidFill>
              <a:latin typeface="The Seasons"/>
              <a:ea typeface="The Seasons"/>
              <a:cs typeface="The Seasons"/>
              <a:sym typeface="The Seasons"/>
            </a:endParaRPr>
          </a:p>
        </p:txBody>
      </p:sp>
      <p:sp>
        <p:nvSpPr>
          <p:cNvPr id="27" name="TextBox 27"/>
          <p:cNvSpPr txBox="1"/>
          <p:nvPr/>
        </p:nvSpPr>
        <p:spPr>
          <a:xfrm>
            <a:off x="2789237" y="3185715"/>
            <a:ext cx="5187287" cy="569595"/>
          </a:xfrm>
          <a:prstGeom prst="rect">
            <a:avLst/>
          </a:prstGeom>
        </p:spPr>
        <p:txBody>
          <a:bodyPr lIns="0" tIns="0" rIns="0" bIns="0" rtlCol="0" anchor="t">
            <a:spAutoFit/>
          </a:bodyPr>
          <a:lstStyle/>
          <a:p>
            <a:pPr algn="ctr">
              <a:lnSpc>
                <a:spcPts val="4445"/>
              </a:lnSpc>
            </a:pPr>
            <a:r>
              <a:rPr lang="en-US" sz="3420">
                <a:solidFill>
                  <a:srgbClr val="004AAD"/>
                </a:solidFill>
                <a:latin typeface="The Seasons"/>
                <a:ea typeface="The Seasons"/>
                <a:cs typeface="The Seasons"/>
                <a:sym typeface="The Seasons"/>
              </a:rPr>
              <a:t>application </a:t>
            </a:r>
            <a:r>
              <a:rPr lang="fr-FR" altLang="en-US" sz="3420">
                <a:solidFill>
                  <a:srgbClr val="004AAD"/>
                </a:solidFill>
                <a:latin typeface="The Seasons"/>
                <a:ea typeface="The Seasons"/>
                <a:cs typeface="The Seasons"/>
                <a:sym typeface="The Seasons"/>
              </a:rPr>
              <a:t>web</a:t>
            </a:r>
            <a:r>
              <a:rPr lang="en-US" sz="3420">
                <a:solidFill>
                  <a:srgbClr val="004AAD"/>
                </a:solidFill>
                <a:latin typeface="The Seasons"/>
                <a:ea typeface="The Seasons"/>
                <a:cs typeface="The Seasons"/>
                <a:sym typeface="The Seasons"/>
              </a:rPr>
              <a:t> </a:t>
            </a:r>
          </a:p>
        </p:txBody>
      </p:sp>
      <p:sp>
        <p:nvSpPr>
          <p:cNvPr id="28" name="TextBox 28"/>
          <p:cNvSpPr txBox="1"/>
          <p:nvPr/>
        </p:nvSpPr>
        <p:spPr>
          <a:xfrm>
            <a:off x="2584145" y="7965807"/>
            <a:ext cx="5634191" cy="584581"/>
          </a:xfrm>
          <a:prstGeom prst="rect">
            <a:avLst/>
          </a:prstGeom>
        </p:spPr>
        <p:txBody>
          <a:bodyPr lIns="0" tIns="0" rIns="0" bIns="0" rtlCol="0" anchor="t">
            <a:spAutoFit/>
          </a:bodyPr>
          <a:lstStyle/>
          <a:p>
            <a:pPr algn="ctr">
              <a:lnSpc>
                <a:spcPts val="4315"/>
              </a:lnSpc>
            </a:pPr>
            <a:r>
              <a:rPr lang="en-US" sz="3320" b="1">
                <a:solidFill>
                  <a:srgbClr val="004AAD"/>
                </a:solidFill>
                <a:latin typeface="The Seasons Bold"/>
                <a:ea typeface="The Seasons Bold"/>
                <a:cs typeface="The Seasons Bold"/>
                <a:sym typeface="The Seasons Bold"/>
              </a:rPr>
              <a:t> l’hébergement en ligne</a:t>
            </a:r>
          </a:p>
        </p:txBody>
      </p:sp>
      <p:sp>
        <p:nvSpPr>
          <p:cNvPr id="29" name="TextBox 29"/>
          <p:cNvSpPr txBox="1"/>
          <p:nvPr/>
        </p:nvSpPr>
        <p:spPr>
          <a:xfrm>
            <a:off x="9855406" y="5506582"/>
            <a:ext cx="7841160" cy="594741"/>
          </a:xfrm>
          <a:prstGeom prst="rect">
            <a:avLst/>
          </a:prstGeom>
        </p:spPr>
        <p:txBody>
          <a:bodyPr lIns="0" tIns="0" rIns="0" bIns="0" rtlCol="0" anchor="t">
            <a:spAutoFit/>
          </a:bodyPr>
          <a:lstStyle/>
          <a:p>
            <a:pPr algn="ctr">
              <a:lnSpc>
                <a:spcPts val="4445"/>
              </a:lnSpc>
            </a:pPr>
            <a:r>
              <a:rPr lang="en-US" sz="3420">
                <a:solidFill>
                  <a:srgbClr val="004AAD"/>
                </a:solidFill>
                <a:latin typeface="The Seasons"/>
                <a:ea typeface="The Seasons"/>
                <a:cs typeface="The Seasons"/>
                <a:sym typeface="The Seasons"/>
              </a:rPr>
              <a:t> l’intégration de l’intelligence artificielle</a:t>
            </a:r>
          </a:p>
        </p:txBody>
      </p:sp>
      <p:sp>
        <p:nvSpPr>
          <p:cNvPr id="30" name="TextBox 30"/>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43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288" y="9229725"/>
            <a:ext cx="18297525" cy="9525"/>
            <a:chOff x="0" y="0"/>
            <a:chExt cx="24396700" cy="12700"/>
          </a:xfrm>
        </p:grpSpPr>
        <p:sp>
          <p:nvSpPr>
            <p:cNvPr id="3" name="Freeform 3"/>
            <p:cNvSpPr/>
            <p:nvPr/>
          </p:nvSpPr>
          <p:spPr>
            <a:xfrm>
              <a:off x="0" y="0"/>
              <a:ext cx="24396700" cy="12700"/>
            </a:xfrm>
            <a:custGeom>
              <a:avLst/>
              <a:gdLst/>
              <a:ahLst/>
              <a:cxnLst/>
              <a:rect l="l" t="t" r="r" b="b"/>
              <a:pathLst>
                <a:path w="24396700" h="12700">
                  <a:moveTo>
                    <a:pt x="6350" y="0"/>
                  </a:moveTo>
                  <a:lnTo>
                    <a:pt x="24390350" y="0"/>
                  </a:lnTo>
                  <a:cubicBezTo>
                    <a:pt x="24393906" y="0"/>
                    <a:pt x="24396700" y="2794"/>
                    <a:pt x="24396700" y="6350"/>
                  </a:cubicBezTo>
                  <a:cubicBezTo>
                    <a:pt x="24396700" y="9906"/>
                    <a:pt x="24393906" y="12700"/>
                    <a:pt x="24390350" y="12700"/>
                  </a:cubicBezTo>
                  <a:lnTo>
                    <a:pt x="6350" y="12700"/>
                  </a:lnTo>
                  <a:cubicBezTo>
                    <a:pt x="2794" y="12700"/>
                    <a:pt x="0" y="9906"/>
                    <a:pt x="0" y="6350"/>
                  </a:cubicBezTo>
                  <a:cubicBezTo>
                    <a:pt x="0" y="2794"/>
                    <a:pt x="2794" y="0"/>
                    <a:pt x="6350" y="0"/>
                  </a:cubicBezTo>
                  <a:close/>
                </a:path>
              </a:pathLst>
            </a:custGeom>
            <a:solidFill>
              <a:srgbClr val="404040"/>
            </a:solidFill>
          </p:spPr>
        </p:sp>
      </p:grpSp>
      <p:grpSp>
        <p:nvGrpSpPr>
          <p:cNvPr id="4" name="Group 4"/>
          <p:cNvGrpSpPr/>
          <p:nvPr/>
        </p:nvGrpSpPr>
        <p:grpSpPr>
          <a:xfrm>
            <a:off x="-9525" y="-47625"/>
            <a:ext cx="18288000" cy="10518869"/>
            <a:chOff x="0" y="0"/>
            <a:chExt cx="24384000" cy="14025159"/>
          </a:xfrm>
        </p:grpSpPr>
        <p:sp>
          <p:nvSpPr>
            <p:cNvPr id="5" name="Freeform 5"/>
            <p:cNvSpPr/>
            <p:nvPr/>
          </p:nvSpPr>
          <p:spPr>
            <a:xfrm>
              <a:off x="0" y="0"/>
              <a:ext cx="24384000" cy="14025118"/>
            </a:xfrm>
            <a:custGeom>
              <a:avLst/>
              <a:gdLst/>
              <a:ahLst/>
              <a:cxnLst/>
              <a:rect l="l" t="t" r="r" b="b"/>
              <a:pathLst>
                <a:path w="24384000" h="14025118">
                  <a:moveTo>
                    <a:pt x="0" y="0"/>
                  </a:moveTo>
                  <a:lnTo>
                    <a:pt x="24384000" y="0"/>
                  </a:lnTo>
                  <a:lnTo>
                    <a:pt x="24384000" y="14025118"/>
                  </a:lnTo>
                  <a:lnTo>
                    <a:pt x="0" y="14025118"/>
                  </a:lnTo>
                  <a:lnTo>
                    <a:pt x="0" y="0"/>
                  </a:lnTo>
                  <a:close/>
                </a:path>
              </a:pathLst>
            </a:custGeom>
            <a:blipFill>
              <a:blip r:embed="rId2"/>
              <a:stretch>
                <a:fillRect l="-5062" r="-5062"/>
              </a:stretch>
            </a:blipFill>
          </p:spPr>
        </p:sp>
      </p:grpSp>
      <p:grpSp>
        <p:nvGrpSpPr>
          <p:cNvPr id="6" name="Group 6"/>
          <p:cNvGrpSpPr/>
          <p:nvPr/>
        </p:nvGrpSpPr>
        <p:grpSpPr>
          <a:xfrm>
            <a:off x="11403244" y="4452044"/>
            <a:ext cx="5159217" cy="5159217"/>
            <a:chOff x="0" y="0"/>
            <a:chExt cx="6878956" cy="6878956"/>
          </a:xfrm>
        </p:grpSpPr>
        <p:sp>
          <p:nvSpPr>
            <p:cNvPr id="7" name="Freeform 7"/>
            <p:cNvSpPr/>
            <p:nvPr/>
          </p:nvSpPr>
          <p:spPr>
            <a:xfrm>
              <a:off x="0" y="0"/>
              <a:ext cx="6878955" cy="6878955"/>
            </a:xfrm>
            <a:custGeom>
              <a:avLst/>
              <a:gdLst/>
              <a:ahLst/>
              <a:cxnLst/>
              <a:rect l="l" t="t" r="r" b="b"/>
              <a:pathLst>
                <a:path w="6878955" h="6878955">
                  <a:moveTo>
                    <a:pt x="0" y="0"/>
                  </a:moveTo>
                  <a:lnTo>
                    <a:pt x="6878955" y="0"/>
                  </a:lnTo>
                  <a:lnTo>
                    <a:pt x="6878955" y="6878955"/>
                  </a:lnTo>
                  <a:lnTo>
                    <a:pt x="0" y="6878955"/>
                  </a:lnTo>
                  <a:lnTo>
                    <a:pt x="0" y="0"/>
                  </a:lnTo>
                  <a:close/>
                </a:path>
              </a:pathLst>
            </a:custGeom>
            <a:blipFill>
              <a:blip r:embed="rId3"/>
              <a:stretch>
                <a:fillRect/>
              </a:stretch>
            </a:blipFill>
          </p:spPr>
        </p:sp>
      </p:grpSp>
      <p:sp>
        <p:nvSpPr>
          <p:cNvPr id="8" name="TextBox 8"/>
          <p:cNvSpPr txBox="1"/>
          <p:nvPr/>
        </p:nvSpPr>
        <p:spPr>
          <a:xfrm>
            <a:off x="3229011" y="2977180"/>
            <a:ext cx="11048086" cy="2450414"/>
          </a:xfrm>
          <a:prstGeom prst="rect">
            <a:avLst/>
          </a:prstGeom>
        </p:spPr>
        <p:txBody>
          <a:bodyPr lIns="0" tIns="0" rIns="0" bIns="0" rtlCol="0" anchor="t">
            <a:spAutoFit/>
          </a:bodyPr>
          <a:lstStyle/>
          <a:p>
            <a:pPr algn="ctr">
              <a:lnSpc>
                <a:spcPts val="9500"/>
              </a:lnSpc>
            </a:pPr>
            <a:r>
              <a:rPr lang="en-US" sz="7310">
                <a:solidFill>
                  <a:srgbClr val="004AAD"/>
                </a:solidFill>
                <a:latin typeface="The Seasons"/>
                <a:ea typeface="The Seasons"/>
                <a:cs typeface="The Seasons"/>
                <a:sym typeface="The Seasons"/>
              </a:rPr>
              <a:t>Merci pour votre attention.</a:t>
            </a:r>
          </a:p>
        </p:txBody>
      </p:sp>
      <p:sp>
        <p:nvSpPr>
          <p:cNvPr id="9" name="TextBox 9"/>
          <p:cNvSpPr txBox="1"/>
          <p:nvPr/>
        </p:nvSpPr>
        <p:spPr>
          <a:xfrm>
            <a:off x="17259300" y="9182100"/>
            <a:ext cx="152400" cy="228600"/>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he Seasons"/>
                <a:ea typeface="The Seasons"/>
                <a:cs typeface="The Seasons"/>
                <a:sym typeface="The Seasons"/>
              </a:rPr>
              <a:t>Page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2471</Words>
  <Application>Microsoft Office PowerPoint</Application>
  <PresentationFormat>Personnalisé</PresentationFormat>
  <Paragraphs>577</Paragraphs>
  <Slides>40</Slides>
  <Notes>15</Notes>
  <HiddenSlides>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40</vt:i4>
      </vt:variant>
    </vt:vector>
  </HeadingPairs>
  <TitlesOfParts>
    <vt:vector size="53" baseType="lpstr">
      <vt:lpstr>Arial</vt:lpstr>
      <vt:lpstr>TT Chocolates</vt:lpstr>
      <vt:lpstr>The Seasons</vt:lpstr>
      <vt:lpstr>Calibri</vt:lpstr>
      <vt:lpstr>Wingdings</vt:lpstr>
      <vt:lpstr>Fraunces</vt:lpstr>
      <vt:lpstr>Fraunces Bold</vt:lpstr>
      <vt:lpstr>The Seasons Bold</vt:lpstr>
      <vt:lpstr>Alice Bold</vt:lpstr>
      <vt:lpstr>TT Chocolates Bold</vt:lpstr>
      <vt:lpstr>Alice</vt:lpstr>
      <vt:lpstr>Open Sans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PFE Ben othmen laroussi.pptx</dc:title>
  <dc:creator>imen</dc:creator>
  <cp:lastModifiedBy>imen</cp:lastModifiedBy>
  <cp:revision>30</cp:revision>
  <dcterms:created xsi:type="dcterms:W3CDTF">2006-08-16T00:00:00Z</dcterms:created>
  <dcterms:modified xsi:type="dcterms:W3CDTF">2026-06-13T23:10:50Z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1036-12.1.0.26880</vt:lpwstr>
  </property>
  <property fmtid="{D5CDD505-2E9C-101B-9397-08002B2CF9AE}" pid="3" name="ICV">
    <vt:lpwstr>2440E84F02C0423F8E772541B9226B5D_12</vt:lpwstr>
  </property>
</Properties>
</file>