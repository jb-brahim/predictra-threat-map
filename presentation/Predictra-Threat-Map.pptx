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3.svg" ContentType="image/svg+xml"/>
  <Override PartName="/ppt/media/image14.svg" ContentType="image/svg+xml"/>
  <Override PartName="/ppt/media/image2.svg" ContentType="image/svg+xml"/>
  <Override PartName="/ppt/media/image22.svg" ContentType="image/svg+xml"/>
  <Override PartName="/ppt/media/image23.svg" ContentType="image/svg+xml"/>
  <Override PartName="/ppt/media/image24.svg" ContentType="image/svg+xml"/>
  <Override PartName="/ppt/media/image3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embeddedFontLst>
    <p:embeddedFont>
      <p:font typeface="Consolas" panose="020B0609020204030204" pitchFamily="49" charset="0"/>
      <p:regular r:id="rId29"/>
      <p:bold r:id="rId30"/>
      <p:italic r:id="rId31"/>
      <p:boldItalic r:id="rId32"/>
    </p:embeddedFont>
    <p:embeddedFont>
      <p:font typeface="Corben" panose="020B0604020202020204" charset="0"/>
      <p:regular r:id="rId33"/>
    </p:embeddedFont>
    <p:embeddedFont>
      <p:font typeface="Nobile" panose="020B0604020202020204" charset="0"/>
      <p:regular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50" d="100"/>
          <a:sy n="150" d="100"/>
        </p:scale>
        <p:origin x="47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405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Good morning, ladies and gentlemen of the jury. Welcome to our graduation defense for our Bachelor’s Degree in Information Technology. My name is Brahim Jaballi, and alongside my colleague Chiheb Amri, we are proud to present our final year project: the 'Predictra Threat Map'. This project, conducted under the supervision of Mr. Anis Dhahri at ISET Gafsa, and in collaboration with host company Predictra Cybersecurity, focuses on the design and development of a real-time spatialized threat intelligence visualization platform. We would also like to thank Ms. Hadhami Issaoui and Mr. Walid Hammemi for presiding and reporting on our defense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To guide you through our presentation, we have structured our defense into five key chapters. I will begin with the Introduction and the Pre-Study, outlining the cybersecurity landscape, our problematic, and the Agile Scrum methodology. Next, we will present our Conceptual Study, including system actors, requirements, use cases, and architecture. We will then dive into the Realization phase, detailing Sprints 1 to 4 and showcasing the system interfaces. Finally, we will conclude with a retrospective, technical challenges resolved, and future perspectives.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Let us start with the introduction. Today, corporate networks and cloud platforms are faced with an expanded attack surface. Highly coordinated threat groups launch disruptive operations globally. As Sun Tzu wrote in The Art of War: 'If you know the enemy and know yourself, you need not fear the result of a hundred battles.' In cybersecurity, this means shifting from a reactive posture to a proactive threat intelligence model, where we understand external adversary infrastructure before a breach occurs.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Our host organization, Predictra Cybersecurity, is an AI-driven Cyber Threat Intelligence firm. Their goal is to democratize threat intelligence, transforming raw feeds into actionable visual insights. A critical industry metric is the compromise dwell time, which globally averages over 200 days. Security teams often detect breaches months after they occur. Our Threat Map aims to shrink this window from months to seconds by providing immediate, real-time visibility.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The core problem we address is threefold. First, spreadsheet overload. SOC analysts suffer from visual fatigue reading thousands of static logs. Second, a lack of spatial context. Traditional dashboards fail to show attack origins, targets, and trajectories geographically. Third, data heterogeneity. Threat feeds are scattered across multiple vendors in incompatible formats. This makes manual correlation slow, leading to delayed responses.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To solve this, we propose the Predictra Threat Map, built on a four-layer architecture. First, the Ingestion Layer harvests data asynchronously from 9+ feeds. Second, the Enrichment Layer geolocates attacks and classifies victims into 9 critical sectors. Third, the Streaming Layer broadcasts events using Server-Sent Events with a 300ms batching queue. Fourth, the Visualization Layer displays curved attack arcs on an interactive 3D WebGL Earth, alongside a STIX parser and MITRE ATT&amp;CK grid.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We adopted the Agile Scrum methodology, organizing our work into 4 sprints over a 12-week period. Sprint 1 focused on backend ingestion and schemas. Sprint 2 implemented the SSE stream and the 3D globe. Sprint 3 integrated the STIX 2.1 parser and MITRE ATT&amp;CK grid. Sprint 4 added the history browser, Target My IP, and performance guardrails. We held twice-weekly rituals on Thursdays for code merges and profiling, and Sundays for architectural consolidation and documentation.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This is our Global Use Case diagram, showing the system boundaries and interactions. The primary system actor is the set of External Threat Feeds, which automatically trigger backend ingestion. The human actor is the Security Analyst, who monitors the 3D globe and dashboard, filters threat logs, searches historical data, uploads STIX bundles, and exports reports. This diagram establishes the foundational boundaries of the Predictra Threat Map.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To elaborate on the actors: the External Threat Feeds run continuously without human intervention, pushing Indicators of Compromise via HTTP REST, SSE, and WebSockets. On the other side, the Security Analyst interacts with the frontend dashboard. They can observe live threats, filter events by country or sector, analyze STIX files locally for privacy, and map IP details. This separation ensures that the core ingestion runs independently of analyst sessions.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We defined 9 functional requirements, denoted RF-1 to RF-9. These include multi-feed ingestion, geolocation enrichment, target sector classification, real-time SSE streaming, the 3D WebGL globe, client-side STIX parsing, MITRE ATT&amp;CK mapping, historical log searching, and the 'Target My IP' feature. Each requirement maps directly to a user story delivered in our Scrum backlog.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Our non-functional requirements ensure the quality and stability of the platform. RNF-1 guarantees a 60fps fluidity on the 3D globe. RNF-2 uses a 10,000-event circular RingBuffer to cap memory usage. RNF-3 sets a 30-day TTL index in MongoDB to prune old logs. RNF-4 monitors database quota, switching to in-memory streaming if DB size exceeds 500MB. RNF-5 implements a modern, dark glassmorphism user interface to reduce visual strain.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Thank you, Brahim. I will now present our technology stack. For the backend runtime, we selected Node.js and Express 5 over Java Spring Boot due to its non-blocking asynchronous event loop, which is perfect for streaming SSE connections. For state management, we chose Zustand 5 over Redux for high-speed reactive updates outside the React DOM. For graphics, we used Three.js and React Three Fiber to build custom shaders. We chose Vite 7 for native ESM builds, and MongoDB Atlas for its schemaless BSON structure.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Our system architecture is split into three main tiers. The Frontend is built in React and served via Vercel CDN, utilizing API routing proxies to eliminate cross-origin resource sharing blocks. The Backend runs on a Cloud VM using PM2 process clustering across CPU cores for automatic crash recovery. The Database tier uses MongoDB Atlas with a replicated cluster, automatic TTL pruning, and size-based quota guards.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This is our Global Class Diagram, showing the structural design of the platform. In the Backend tier, the Express Server schedules multiple Scraper Services, which feed into the Enrichment Service to resolve geolocations and sectors. The Zustand Store manages frontend state with a circular RingBuffer and performance telemetry. The React Views, such as the Dashboard, STIX Workspace, and Analytics page, subscribe directly to Zustand slices for reactivity.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In Sprint 1, we built the core ingestion pipeline. We integrated 9 feeds: Checkpoint, Bitdefender, Fortinet, URLhaus, Kaspersky Feodo, AlienVault, RansomWatch, MontySecurity, and MISP Galaxy. We designed a compact BSON schema in MongoDB, reducing the database footprint from 200 bytes to 80 bytes per document. This ensures long-term database efficiency and lower storage costs.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During Sprint 1, we modeled the enrichment logic. The Enrichment Service uses a 5-layer classification engine to identify the targeted industry sector: (1) victim keywords, (2) event details regex, (3) destination port mapping, (4) MISP Galaxy metadata, and (5) scraper-specific defaults. We also integrated an asynchronous RDAP cache for IP owner lookups with a 3-second timeout to prevent API blocking.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Sprint 2 focused on streaming and 3D math. We built the SSE broadcast engine using a 300ms flush scheduler that batches queued events into single payloads to prevent browser flooding. For the 3D globe, geographic coordinates are converted to Cartesian vectors. The attack arcs use Spherical Linear Interpolation, or SLERP, to curve around the Earth, with Bezier elevation lifting longer distance arcs higher.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To make the globe visually stunning, we wrote custom GLSL shaders. The Atmospheric Glow uses a Fresnel-effect vertex and fragment shader. Neon Country Borders are rendered using 5 overlapping TopoJSON vector layers with decreasing opacities. Finally, Bloom Post-Processing applies a luminosity threshold to make severity-colored attack arcs glow like neon light fibers.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In Sprint 3, we built the STIX 2.1 Threat Workspace. The client-side JSON parser processes threat bundles entirely in the browser, ensuring sensitive files never leave the analyst's machine. The parser extracts STIX Domain Objects like Threat Actors, Campaigns, and Malware. These are automatically mapped to the 12 phases of the MITRE ATT&amp;CK Kill Chain, updating the metrics instantly.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For threat visualization in Sprint 3, we implemented an interactive D3 Force Graph. It renders STIX objects as nodes and their relationships as edges. The simulation applies repulsion, spring, and gravity forces using Verlet integration until it cools into a stable layout. Analysts can hover over nodes to inspect raw SDO metadata and explore relationship chains.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Sprint 4 focused on UI dashboards, history, and guardrails. We implemented a paginated History Browser query with compound indexes executing under 50ms. 'Target My IP' allows analysts to geolocate themselves and auto-filter threat logs targeting their subnet. Excel Export generates client-side worksheets for up to 5,000 logs. Most importantly, we implemented performance guardrails to preserve frame rate.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Our performance engine uses an Adaptive Event Sampling loop. If the frame rate is high (above 55fps), all events are rendered. If load increases and FPS drops between 30 and 55, the drop rate is set to 50%. Under extreme stress (below 30fps), the engine drops 75% of visual events. Supported by the O(1) RingBuffer, this prevents memory leaks and garbage collection spikes.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Here is an overview of our application interfaces. The 3D Live Threat Map displays the rotating Earth with glowing arcs. The System Dashboard provides real-time metrics, country statistics, and a 2D flat map. The STIX Intelligence Workspace features the D3 graph and the MITRE ATT&amp;CK grid. Finally, the Analytics Dashboard aggregates threat metrics, sector distributions, and trends.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Brahim: Looking back, our team maintained a stable Scrum velocity of 25–30 story points per sprint, delivering all features. We resolved three critical challenges: visual lag via event batching and adaptive sampling; database limits via BSON compression and TTL indexes; and deployment blocks via Vercel reverse-proxy routing rules to eliminate CORS issues.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For future work, we have designed a three-step scalability roadmap. First, Kafka Distributed Ingestion to decouple scrapers from the server. Second, Predictive ML Extensions to forecast attack spikes and project heatmaps onto the globe. Third, Sharded Geo-Database Clustering to partition MongoDB by geographic region, minimizing latency and scaling horizontally.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Chiheb: In conclusion, the Predictra Threat Map successfully bridges the visibility gap in cyber defense. It integrates 9+ feeds, feeds a 3D WebGL globe at 60fps, and features a STIX 2.1 parser. It reduces dwell time from months to seconds. This project demonstrates a rigorous academic and engineering contribution. Thank you for your time, and we welcome any questions you may have.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txBody>
          <a:bodyPr/>
          <a:lstStyle/>
          <a:p>
            <a:endParaRPr lang="fr-T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svg"/><Relationship Id="rId4" Type="http://schemas.openxmlformats.org/officeDocument/2006/relationships/image" Target="../media/image23.svg"/><Relationship Id="rId5" Type="http://schemas.openxmlformats.org/officeDocument/2006/relationships/image" Target="../media/image24.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4.sv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496119" y="960760"/>
            <a:ext cx="3558332"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Predictra Threat Map</a:t>
            </a:r>
            <a:endParaRPr lang="en-US" sz="2400" dirty="0"/>
          </a:p>
        </p:txBody>
      </p:sp>
      <p:sp>
        <p:nvSpPr>
          <p:cNvPr id="3" name="Text 1"/>
          <p:cNvSpPr/>
          <p:nvPr/>
        </p:nvSpPr>
        <p:spPr>
          <a:xfrm>
            <a:off x="496119" y="1596330"/>
            <a:ext cx="8608963" cy="198462"/>
          </a:xfrm>
          <a:prstGeom prst="rect">
            <a:avLst/>
          </a:prstGeom>
          <a:noFill/>
          <a:ln>
            <a:noFill/>
          </a:ln>
        </p:spPr>
        <p:txBody>
          <a:bodyPr wrap="none" tIns="91440" bIns="91440" rtlCol="0" anchor="t"/>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Design and Development of a Real-Time Spatialized Threat Intelligence Visualization Platform</a:t>
            </a:r>
            <a:endParaRPr lang="en-US" sz="950" dirty="0"/>
          </a:p>
        </p:txBody>
      </p:sp>
      <p:sp>
        <p:nvSpPr>
          <p:cNvPr id="4" name="Shape 2"/>
          <p:cNvSpPr/>
          <p:nvPr/>
        </p:nvSpPr>
        <p:spPr>
          <a:xfrm>
            <a:off x="496119" y="1934319"/>
            <a:ext cx="4013895" cy="724198"/>
          </a:xfrm>
          <a:prstGeom prst="roundRect">
            <a:avLst>
              <a:gd name="adj" fmla="val 7194"/>
            </a:avLst>
          </a:prstGeom>
          <a:solidFill>
            <a:srgbClr val="131924"/>
          </a:solidFill>
          <a:ln w="12700">
            <a:solidFill>
              <a:srgbClr val="1E293B"/>
            </a:solidFill>
            <a:prstDash val="solid"/>
          </a:ln>
        </p:spPr>
        <p:txBody>
          <a:bodyPr tIns="91440" bIns="91440"/>
          <a:lstStyle/>
          <a:p>
            <a:endParaRPr lang="fr-TN"/>
          </a:p>
        </p:txBody>
      </p:sp>
      <p:sp>
        <p:nvSpPr>
          <p:cNvPr id="5" name="Text 3"/>
          <p:cNvSpPr/>
          <p:nvPr/>
        </p:nvSpPr>
        <p:spPr>
          <a:xfrm>
            <a:off x="624855" y="2063055"/>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Authors</a:t>
            </a:r>
            <a:endParaRPr lang="en-US" sz="1200" dirty="0"/>
          </a:p>
        </p:txBody>
      </p:sp>
      <p:sp>
        <p:nvSpPr>
          <p:cNvPr id="6" name="Text 4"/>
          <p:cNvSpPr/>
          <p:nvPr/>
        </p:nvSpPr>
        <p:spPr>
          <a:xfrm>
            <a:off x="624855" y="2331318"/>
            <a:ext cx="3756422"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Brahim JABALLI &amp; Chiheb AMRI</a:t>
            </a:r>
            <a:endParaRPr lang="en-US" sz="950" dirty="0"/>
          </a:p>
        </p:txBody>
      </p:sp>
      <p:sp>
        <p:nvSpPr>
          <p:cNvPr id="7" name="Shape 5"/>
          <p:cNvSpPr/>
          <p:nvPr/>
        </p:nvSpPr>
        <p:spPr>
          <a:xfrm>
            <a:off x="4633987" y="1934319"/>
            <a:ext cx="4013895" cy="724198"/>
          </a:xfrm>
          <a:prstGeom prst="roundRect">
            <a:avLst>
              <a:gd name="adj" fmla="val 7194"/>
            </a:avLst>
          </a:prstGeom>
          <a:solidFill>
            <a:srgbClr val="131924"/>
          </a:solidFill>
          <a:ln w="12700">
            <a:solidFill>
              <a:srgbClr val="1E293B"/>
            </a:solidFill>
            <a:prstDash val="solid"/>
          </a:ln>
        </p:spPr>
        <p:txBody>
          <a:bodyPr tIns="91440" bIns="91440"/>
          <a:lstStyle/>
          <a:p>
            <a:endParaRPr lang="fr-TN"/>
          </a:p>
        </p:txBody>
      </p:sp>
      <p:sp>
        <p:nvSpPr>
          <p:cNvPr id="8" name="Text 6"/>
          <p:cNvSpPr/>
          <p:nvPr/>
        </p:nvSpPr>
        <p:spPr>
          <a:xfrm>
            <a:off x="4762723" y="2063055"/>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Supervisor</a:t>
            </a:r>
            <a:endParaRPr lang="en-US" sz="1200" dirty="0"/>
          </a:p>
        </p:txBody>
      </p:sp>
      <p:sp>
        <p:nvSpPr>
          <p:cNvPr id="9" name="Text 7"/>
          <p:cNvSpPr/>
          <p:nvPr/>
        </p:nvSpPr>
        <p:spPr>
          <a:xfrm>
            <a:off x="4762723" y="2331318"/>
            <a:ext cx="3756422"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Mr. Anis DHAHRI — ISET Gafsa</a:t>
            </a:r>
            <a:endParaRPr lang="en-US" sz="950" dirty="0"/>
          </a:p>
        </p:txBody>
      </p:sp>
      <p:sp>
        <p:nvSpPr>
          <p:cNvPr id="10" name="Shape 8"/>
          <p:cNvSpPr/>
          <p:nvPr/>
        </p:nvSpPr>
        <p:spPr>
          <a:xfrm>
            <a:off x="496119" y="2782491"/>
            <a:ext cx="4013895" cy="724198"/>
          </a:xfrm>
          <a:prstGeom prst="roundRect">
            <a:avLst>
              <a:gd name="adj" fmla="val 7194"/>
            </a:avLst>
          </a:prstGeom>
          <a:solidFill>
            <a:srgbClr val="131924"/>
          </a:solidFill>
          <a:ln w="12700">
            <a:solidFill>
              <a:srgbClr val="1E293B"/>
            </a:solidFill>
            <a:prstDash val="solid"/>
          </a:ln>
        </p:spPr>
        <p:txBody>
          <a:bodyPr tIns="91440" bIns="91440"/>
          <a:lstStyle/>
          <a:p>
            <a:endParaRPr lang="fr-TN"/>
          </a:p>
        </p:txBody>
      </p:sp>
      <p:sp>
        <p:nvSpPr>
          <p:cNvPr id="11" name="Text 9"/>
          <p:cNvSpPr/>
          <p:nvPr/>
        </p:nvSpPr>
        <p:spPr>
          <a:xfrm>
            <a:off x="624855" y="2911227"/>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Host Company</a:t>
            </a:r>
            <a:endParaRPr lang="en-US" sz="1200" dirty="0"/>
          </a:p>
        </p:txBody>
      </p:sp>
      <p:sp>
        <p:nvSpPr>
          <p:cNvPr id="12" name="Text 10"/>
          <p:cNvSpPr/>
          <p:nvPr/>
        </p:nvSpPr>
        <p:spPr>
          <a:xfrm>
            <a:off x="624855" y="3179490"/>
            <a:ext cx="3756422"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Predictra Cybersecurity</a:t>
            </a:r>
            <a:endParaRPr lang="en-US" sz="950" dirty="0"/>
          </a:p>
        </p:txBody>
      </p:sp>
      <p:sp>
        <p:nvSpPr>
          <p:cNvPr id="13" name="Shape 11"/>
          <p:cNvSpPr/>
          <p:nvPr/>
        </p:nvSpPr>
        <p:spPr>
          <a:xfrm>
            <a:off x="4633987" y="2782491"/>
            <a:ext cx="4013895" cy="724198"/>
          </a:xfrm>
          <a:prstGeom prst="roundRect">
            <a:avLst>
              <a:gd name="adj" fmla="val 7194"/>
            </a:avLst>
          </a:prstGeom>
          <a:solidFill>
            <a:srgbClr val="131924"/>
          </a:solidFill>
          <a:ln w="12700">
            <a:solidFill>
              <a:srgbClr val="1E293B"/>
            </a:solidFill>
            <a:prstDash val="solid"/>
          </a:ln>
        </p:spPr>
        <p:txBody>
          <a:bodyPr tIns="91440" bIns="91440"/>
          <a:lstStyle/>
          <a:p>
            <a:endParaRPr lang="fr-TN"/>
          </a:p>
        </p:txBody>
      </p:sp>
      <p:sp>
        <p:nvSpPr>
          <p:cNvPr id="14" name="Text 12"/>
          <p:cNvSpPr/>
          <p:nvPr/>
        </p:nvSpPr>
        <p:spPr>
          <a:xfrm>
            <a:off x="4762723" y="2911227"/>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Academic Year</a:t>
            </a:r>
            <a:endParaRPr lang="en-US" sz="1200" dirty="0"/>
          </a:p>
        </p:txBody>
      </p:sp>
      <p:sp>
        <p:nvSpPr>
          <p:cNvPr id="15" name="Text 13"/>
          <p:cNvSpPr/>
          <p:nvPr/>
        </p:nvSpPr>
        <p:spPr>
          <a:xfrm>
            <a:off x="4762723" y="3179490"/>
            <a:ext cx="3756422"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2025 / 2026</a:t>
            </a:r>
            <a:endParaRPr lang="en-US" sz="950" dirty="0"/>
          </a:p>
        </p:txBody>
      </p:sp>
      <p:sp>
        <p:nvSpPr>
          <p:cNvPr id="16" name="Text 14"/>
          <p:cNvSpPr/>
          <p:nvPr/>
        </p:nvSpPr>
        <p:spPr>
          <a:xfrm>
            <a:off x="496119" y="3646215"/>
            <a:ext cx="8151763" cy="536451"/>
          </a:xfrm>
          <a:prstGeom prst="rect">
            <a:avLst/>
          </a:prstGeom>
          <a:solidFill>
            <a:srgbClr val="131924"/>
          </a:solidFill>
          <a:ln w="12700">
            <a:solidFill>
              <a:srgbClr val="1E293B"/>
            </a:solidFill>
          </a:ln>
        </p:spPr>
        <p:txBody>
          <a:bodyPr wrap="square" tIns="91440" bIns="91440" rtlCol="0" anchor="t"/>
          <a:lstStyle/>
          <a:p>
            <a:pPr marL="0" indent="0" algn="l">
              <a:lnSpc>
                <a:spcPct val="133000"/>
              </a:lnSpc>
              <a:spcAft>
                <a:spcPts val="1050"/>
              </a:spcAft>
              <a:buNone/>
            </a:pPr>
            <a:r>
              <a:rPr lang="en-US" sz="1100" i="1" dirty="0" b="0">
                <a:solidFill>
                  <a:srgbClr val="A8B2D1"/>
                </a:solidFill>
                <a:latin typeface="Segoe UI" pitchFamily="34" charset="0"/>
                <a:ea typeface="Nobile" pitchFamily="34" charset="-122"/>
                <a:cs typeface="Nobile" pitchFamily="34" charset="-120"/>
              </a:rPr>
              <a:t>PFE — Bachelor's Degree in Information Technology · Option: Computer System Development · ISET Gafsa</a:t>
            </a:r>
            <a:endParaRPr lang="en-US" sz="950" dirty="0"/>
          </a:p>
          <a:p>
            <a:pPr marL="0" indent="0" algn="l">
              <a:lnSpc>
                <a:spcPct val="133000"/>
              </a:lnSpc>
              <a:buNone/>
            </a:pPr>
            <a:r>
              <a:rPr lang="en-US" sz="1100" b="0" dirty="0">
                <a:solidFill>
                  <a:srgbClr val="A8B2D1"/>
                </a:solidFill>
                <a:latin typeface="Segoe UI" pitchFamily="34" charset="0"/>
                <a:ea typeface="Nobile" pitchFamily="34" charset="-122"/>
                <a:cs typeface="Nobile" pitchFamily="34" charset="-120"/>
              </a:rPr>
              <a:t>Jury:</a:t>
            </a:r>
            <a:r>
              <a:rPr lang="en-US" sz="1100" dirty="0" b="0">
                <a:solidFill>
                  <a:srgbClr val="A8B2D1"/>
                </a:solidFill>
                <a:latin typeface="Segoe UI" pitchFamily="34" charset="0"/>
                <a:ea typeface="Nobile" pitchFamily="34" charset="-122"/>
                <a:cs typeface="Nobile" pitchFamily="34" charset="-120"/>
              </a:rPr>
              <a:t> Ms. Hadhami ISSAOUI (President) · Mr. Walid HAMMEMI (Reporter)</a:t>
            </a:r>
            <a:endParaRPr lang="en-US" sz="950" dirty="0"/>
          </a:p>
        </p:txBody>
      </p:sp>
    </p:spTree>
  </p:cSld>
  <p:transition spd="slow">
    <p:fade/>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496119" y="354509"/>
            <a:ext cx="3170709" cy="339179"/>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Presentation Outline</a:t>
            </a:r>
            <a:endParaRPr lang="en-US" sz="2100" dirty="0"/>
          </a:p>
        </p:txBody>
      </p:sp>
      <p:sp>
        <p:nvSpPr>
          <p:cNvPr id="3" name="Text 1"/>
          <p:cNvSpPr/>
          <p:nvPr/>
        </p:nvSpPr>
        <p:spPr>
          <a:xfrm>
            <a:off x="496119" y="883593"/>
            <a:ext cx="8608963" cy="162818"/>
          </a:xfrm>
          <a:prstGeom prst="rect">
            <a:avLst/>
          </a:prstGeom>
          <a:noFill/>
          <a:ln>
            <a:noFill/>
          </a:ln>
        </p:spPr>
        <p:txBody>
          <a:bodyPr wrap="none" tIns="91440" bIns="91440" rtlCol="0" anchor="t"/>
          <a:lstStyle/>
          <a:p>
            <a:pPr marL="0" indent="0" algn="l">
              <a:lnSpc>
                <a:spcPct val="125000"/>
              </a:lnSpc>
              <a:buNone/>
            </a:pPr>
            <a:r>
              <a:rPr lang="en-US" sz="2800" dirty="0" b="1">
                <a:solidFill>
                  <a:srgbClr val="FFFFFF"/>
                </a:solidFill>
                <a:latin typeface="Segoe UI" pitchFamily="34" charset="0"/>
                <a:ea typeface="Nobile" pitchFamily="34" charset="-122"/>
                <a:cs typeface="Nobile" pitchFamily="34" charset="-120"/>
              </a:rPr>
              <a:t>A structured journey from problem definition to full platform realization.</a:t>
            </a:r>
            <a:endParaRPr lang="en-US" sz="8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153195"/>
            <a:ext cx="8151763" cy="651197"/>
          </a:xfrm>
          <a:prstGeom prst="rect">
            <a:avLst/>
          </a:prstGeom>
        </p:spPr>
      </p:pic>
      <p:sp>
        <p:nvSpPr>
          <p:cNvPr id="5" name="Text 2"/>
          <p:cNvSpPr/>
          <p:nvPr/>
        </p:nvSpPr>
        <p:spPr>
          <a:xfrm>
            <a:off x="643682" y="1377032"/>
            <a:ext cx="162744" cy="203448"/>
          </a:xfrm>
          <a:prstGeom prst="rect">
            <a:avLst/>
          </a:prstGeom>
          <a:noFill/>
          <a:ln>
            <a:noFill/>
          </a:ln>
        </p:spPr>
        <p:txBody>
          <a:bodyPr wrap="none" tIns="91440" bIns="91440" rtlCol="0" anchor="ctr"/>
          <a:lstStyle/>
          <a:p>
            <a:pPr marL="0" indent="0" algn="ctr">
              <a:lnSpc>
                <a:spcPct val="100000"/>
              </a:lnSpc>
              <a:buNone/>
            </a:pPr>
            <a:r>
              <a:rPr lang="en-US" sz="1300" dirty="0" b="1">
                <a:solidFill>
                  <a:srgbClr val="FFFFFF"/>
                </a:solidFill>
                <a:latin typeface="Segoe UI" pitchFamily="34" charset="0"/>
                <a:ea typeface="Corben" pitchFamily="34" charset="-122"/>
                <a:cs typeface="Corben" pitchFamily="34" charset="-120"/>
              </a:rPr>
              <a:t>1</a:t>
            </a:r>
            <a:endParaRPr lang="en-US" sz="1250" dirty="0"/>
          </a:p>
        </p:txBody>
      </p:sp>
      <p:sp>
        <p:nvSpPr>
          <p:cNvPr id="6" name="Text 3"/>
          <p:cNvSpPr/>
          <p:nvPr/>
        </p:nvSpPr>
        <p:spPr>
          <a:xfrm>
            <a:off x="1039490" y="1275978"/>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Introduction</a:t>
            </a:r>
            <a:endParaRPr lang="en-US" sz="1050" dirty="0"/>
          </a:p>
        </p:txBody>
      </p:sp>
      <p:sp>
        <p:nvSpPr>
          <p:cNvPr id="7" name="Text 4"/>
          <p:cNvSpPr/>
          <p:nvPr/>
        </p:nvSpPr>
        <p:spPr>
          <a:xfrm>
            <a:off x="1039490" y="1502420"/>
            <a:ext cx="7485608" cy="162818"/>
          </a:xfrm>
          <a:prstGeom prst="rect">
            <a:avLst/>
          </a:prstGeom>
          <a:noFill/>
          <a:ln>
            <a:noFill/>
          </a:ln>
        </p:spPr>
        <p:txBody>
          <a:bodyPr wrap="none" tIns="91440" bIns="91440" rtlCol="0" anchor="t"/>
          <a:lstStyle/>
          <a:p>
            <a:pPr marL="0" indent="0" algn="l">
              <a:lnSpc>
                <a:spcPct val="125000"/>
              </a:lnSpc>
              <a:buNone/>
            </a:pPr>
            <a:r>
              <a:rPr lang="en-US" sz="1100" dirty="0" b="0">
                <a:solidFill>
                  <a:srgbClr val="A8B2D1"/>
                </a:solidFill>
                <a:latin typeface="Segoe UI" pitchFamily="34" charset="0"/>
                <a:ea typeface="Nobile" pitchFamily="34" charset="-122"/>
                <a:cs typeface="Nobile" pitchFamily="34" charset="-120"/>
              </a:rPr>
              <a:t>Global cybersecurity landscape, threat evolution, and project motivation.</a:t>
            </a:r>
            <a:endParaRPr lang="en-US" sz="8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899345"/>
            <a:ext cx="8151763" cy="651197"/>
          </a:xfrm>
          <a:prstGeom prst="rect">
            <a:avLst/>
          </a:prstGeom>
        </p:spPr>
      </p:pic>
      <p:sp>
        <p:nvSpPr>
          <p:cNvPr id="9" name="Text 5"/>
          <p:cNvSpPr/>
          <p:nvPr/>
        </p:nvSpPr>
        <p:spPr>
          <a:xfrm>
            <a:off x="643682" y="2123182"/>
            <a:ext cx="162744" cy="203448"/>
          </a:xfrm>
          <a:prstGeom prst="rect">
            <a:avLst/>
          </a:prstGeom>
          <a:noFill/>
          <a:ln>
            <a:noFill/>
          </a:ln>
        </p:spPr>
        <p:txBody>
          <a:bodyPr wrap="none" tIns="91440" bIns="91440" rtlCol="0" anchor="ctr"/>
          <a:lstStyle/>
          <a:p>
            <a:pPr marL="0" indent="0" algn="ctr">
              <a:lnSpc>
                <a:spcPct val="100000"/>
              </a:lnSpc>
              <a:buNone/>
            </a:pPr>
            <a:r>
              <a:rPr lang="en-US" sz="1300" dirty="0" b="1">
                <a:solidFill>
                  <a:srgbClr val="FFFFFF"/>
                </a:solidFill>
                <a:latin typeface="Segoe UI" pitchFamily="34" charset="0"/>
                <a:ea typeface="Corben" pitchFamily="34" charset="-122"/>
                <a:cs typeface="Corben" pitchFamily="34" charset="-120"/>
              </a:rPr>
              <a:t>2</a:t>
            </a:r>
            <a:endParaRPr lang="en-US" sz="1250" dirty="0"/>
          </a:p>
        </p:txBody>
      </p:sp>
      <p:sp>
        <p:nvSpPr>
          <p:cNvPr id="10" name="Text 6"/>
          <p:cNvSpPr/>
          <p:nvPr/>
        </p:nvSpPr>
        <p:spPr>
          <a:xfrm>
            <a:off x="1039490" y="2022128"/>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Pre-Study</a:t>
            </a:r>
            <a:endParaRPr lang="en-US" sz="1050" dirty="0"/>
          </a:p>
        </p:txBody>
      </p:sp>
      <p:sp>
        <p:nvSpPr>
          <p:cNvPr id="11" name="Text 7"/>
          <p:cNvSpPr/>
          <p:nvPr/>
        </p:nvSpPr>
        <p:spPr>
          <a:xfrm>
            <a:off x="1039490" y="2248570"/>
            <a:ext cx="7485608" cy="162818"/>
          </a:xfrm>
          <a:prstGeom prst="rect">
            <a:avLst/>
          </a:prstGeom>
          <a:noFill/>
          <a:ln>
            <a:noFill/>
          </a:ln>
        </p:spPr>
        <p:txBody>
          <a:bodyPr wrap="none" tIns="91440" bIns="91440" rtlCol="0" anchor="t"/>
          <a:lstStyle/>
          <a:p>
            <a:pPr marL="0" indent="0" algn="l">
              <a:lnSpc>
                <a:spcPct val="125000"/>
              </a:lnSpc>
              <a:buNone/>
            </a:pPr>
            <a:r>
              <a:rPr lang="en-US" sz="1100" dirty="0" b="0">
                <a:solidFill>
                  <a:srgbClr val="A8B2D1"/>
                </a:solidFill>
                <a:latin typeface="Segoe UI" pitchFamily="34" charset="0"/>
                <a:ea typeface="Nobile" pitchFamily="34" charset="-122"/>
                <a:cs typeface="Nobile" pitchFamily="34" charset="-120"/>
              </a:rPr>
              <a:t>Host profile (Predictra), project context, problematic, proposed solution, and Agile Scrum methodology.</a:t>
            </a:r>
            <a:endParaRPr lang="en-US" sz="8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645494"/>
            <a:ext cx="8151763" cy="651197"/>
          </a:xfrm>
          <a:prstGeom prst="rect">
            <a:avLst/>
          </a:prstGeom>
        </p:spPr>
      </p:pic>
      <p:sp>
        <p:nvSpPr>
          <p:cNvPr id="13" name="Text 8"/>
          <p:cNvSpPr/>
          <p:nvPr/>
        </p:nvSpPr>
        <p:spPr>
          <a:xfrm>
            <a:off x="643682" y="2869332"/>
            <a:ext cx="162744" cy="203448"/>
          </a:xfrm>
          <a:prstGeom prst="rect">
            <a:avLst/>
          </a:prstGeom>
          <a:noFill/>
          <a:ln>
            <a:noFill/>
          </a:ln>
        </p:spPr>
        <p:txBody>
          <a:bodyPr wrap="none" tIns="91440" bIns="91440" rtlCol="0" anchor="ctr"/>
          <a:lstStyle/>
          <a:p>
            <a:pPr marL="0" indent="0" algn="ctr">
              <a:lnSpc>
                <a:spcPct val="100000"/>
              </a:lnSpc>
              <a:buNone/>
            </a:pPr>
            <a:r>
              <a:rPr lang="en-US" sz="1300" dirty="0" b="1">
                <a:solidFill>
                  <a:srgbClr val="FFFFFF"/>
                </a:solidFill>
                <a:latin typeface="Segoe UI" pitchFamily="34" charset="0"/>
                <a:ea typeface="Corben" pitchFamily="34" charset="-122"/>
                <a:cs typeface="Corben" pitchFamily="34" charset="-120"/>
              </a:rPr>
              <a:t>3</a:t>
            </a:r>
            <a:endParaRPr lang="en-US" sz="1250" dirty="0"/>
          </a:p>
        </p:txBody>
      </p:sp>
      <p:sp>
        <p:nvSpPr>
          <p:cNvPr id="14" name="Text 9"/>
          <p:cNvSpPr/>
          <p:nvPr/>
        </p:nvSpPr>
        <p:spPr>
          <a:xfrm>
            <a:off x="1039490" y="2768278"/>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Conceptual Study</a:t>
            </a:r>
            <a:endParaRPr lang="en-US" sz="1050" dirty="0"/>
          </a:p>
        </p:txBody>
      </p:sp>
      <p:sp>
        <p:nvSpPr>
          <p:cNvPr id="15" name="Text 10"/>
          <p:cNvSpPr/>
          <p:nvPr/>
        </p:nvSpPr>
        <p:spPr>
          <a:xfrm>
            <a:off x="1039490" y="2994720"/>
            <a:ext cx="7485608" cy="162818"/>
          </a:xfrm>
          <a:prstGeom prst="rect">
            <a:avLst/>
          </a:prstGeom>
          <a:noFill/>
          <a:ln>
            <a:noFill/>
          </a:ln>
        </p:spPr>
        <p:txBody>
          <a:bodyPr wrap="none" tIns="91440" bIns="91440" rtlCol="0" anchor="t"/>
          <a:lstStyle/>
          <a:p>
            <a:pPr marL="0" indent="0" algn="l">
              <a:lnSpc>
                <a:spcPct val="125000"/>
              </a:lnSpc>
              <a:buNone/>
            </a:pPr>
            <a:r>
              <a:rPr lang="en-US" sz="1100" dirty="0" b="0">
                <a:solidFill>
                  <a:srgbClr val="A8B2D1"/>
                </a:solidFill>
                <a:latin typeface="Segoe UI" pitchFamily="34" charset="0"/>
                <a:ea typeface="Nobile" pitchFamily="34" charset="-122"/>
                <a:cs typeface="Nobile" pitchFamily="34" charset="-120"/>
              </a:rPr>
              <a:t>Actors, functional &amp; non-functional requirements, UML use cases, tech stack, and system architecture.</a:t>
            </a:r>
            <a:endParaRPr lang="en-US" sz="85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391644"/>
            <a:ext cx="8151763" cy="651197"/>
          </a:xfrm>
          <a:prstGeom prst="rect">
            <a:avLst/>
          </a:prstGeom>
        </p:spPr>
      </p:pic>
      <p:sp>
        <p:nvSpPr>
          <p:cNvPr id="17" name="Text 11"/>
          <p:cNvSpPr/>
          <p:nvPr/>
        </p:nvSpPr>
        <p:spPr>
          <a:xfrm>
            <a:off x="643682" y="3615482"/>
            <a:ext cx="162744" cy="203448"/>
          </a:xfrm>
          <a:prstGeom prst="rect">
            <a:avLst/>
          </a:prstGeom>
          <a:noFill/>
          <a:ln>
            <a:noFill/>
          </a:ln>
        </p:spPr>
        <p:txBody>
          <a:bodyPr wrap="none" tIns="91440" bIns="91440" rtlCol="0" anchor="ctr"/>
          <a:lstStyle/>
          <a:p>
            <a:pPr marL="0" indent="0" algn="ctr">
              <a:lnSpc>
                <a:spcPct val="100000"/>
              </a:lnSpc>
              <a:buNone/>
            </a:pPr>
            <a:r>
              <a:rPr lang="en-US" sz="1300" dirty="0" b="1">
                <a:solidFill>
                  <a:srgbClr val="FFFFFF"/>
                </a:solidFill>
                <a:latin typeface="Segoe UI" pitchFamily="34" charset="0"/>
                <a:ea typeface="Corben" pitchFamily="34" charset="-122"/>
                <a:cs typeface="Corben" pitchFamily="34" charset="-120"/>
              </a:rPr>
              <a:t>4</a:t>
            </a:r>
            <a:endParaRPr lang="en-US" sz="1250" dirty="0"/>
          </a:p>
        </p:txBody>
      </p:sp>
      <p:sp>
        <p:nvSpPr>
          <p:cNvPr id="18" name="Text 12"/>
          <p:cNvSpPr/>
          <p:nvPr/>
        </p:nvSpPr>
        <p:spPr>
          <a:xfrm>
            <a:off x="1039490" y="3514427"/>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Realization</a:t>
            </a:r>
            <a:endParaRPr lang="en-US" sz="1050" dirty="0"/>
          </a:p>
        </p:txBody>
      </p:sp>
      <p:sp>
        <p:nvSpPr>
          <p:cNvPr id="19" name="Text 13"/>
          <p:cNvSpPr/>
          <p:nvPr/>
        </p:nvSpPr>
        <p:spPr>
          <a:xfrm>
            <a:off x="1039490" y="3740869"/>
            <a:ext cx="7485608" cy="162818"/>
          </a:xfrm>
          <a:prstGeom prst="rect">
            <a:avLst/>
          </a:prstGeom>
          <a:noFill/>
          <a:ln>
            <a:noFill/>
          </a:ln>
        </p:spPr>
        <p:txBody>
          <a:bodyPr wrap="none" tIns="91440" bIns="91440" rtlCol="0" anchor="t"/>
          <a:lstStyle/>
          <a:p>
            <a:pPr marL="0" indent="0" algn="l">
              <a:lnSpc>
                <a:spcPct val="125000"/>
              </a:lnSpc>
              <a:buNone/>
            </a:pPr>
            <a:r>
              <a:rPr lang="en-US" sz="1100" dirty="0" b="0">
                <a:solidFill>
                  <a:srgbClr val="A8B2D1"/>
                </a:solidFill>
                <a:latin typeface="Segoe UI" pitchFamily="34" charset="0"/>
                <a:ea typeface="Nobile" pitchFamily="34" charset="-122"/>
                <a:cs typeface="Nobile" pitchFamily="34" charset="-120"/>
              </a:rPr>
              <a:t>Detailed Sprints 1–4: backlogs, UML diagrams, scraper implementations, and UI dashboards.</a:t>
            </a:r>
            <a:endParaRPr lang="en-US" sz="85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4137794"/>
            <a:ext cx="8151763" cy="651197"/>
          </a:xfrm>
          <a:prstGeom prst="rect">
            <a:avLst/>
          </a:prstGeom>
        </p:spPr>
      </p:pic>
      <p:sp>
        <p:nvSpPr>
          <p:cNvPr id="21" name="Text 14"/>
          <p:cNvSpPr/>
          <p:nvPr/>
        </p:nvSpPr>
        <p:spPr>
          <a:xfrm>
            <a:off x="643682" y="4361631"/>
            <a:ext cx="162744" cy="203448"/>
          </a:xfrm>
          <a:prstGeom prst="rect">
            <a:avLst/>
          </a:prstGeom>
          <a:noFill/>
          <a:ln>
            <a:noFill/>
          </a:ln>
        </p:spPr>
        <p:txBody>
          <a:bodyPr wrap="none" tIns="91440" bIns="91440" rtlCol="0" anchor="ctr"/>
          <a:lstStyle/>
          <a:p>
            <a:pPr marL="0" indent="0" algn="ctr">
              <a:lnSpc>
                <a:spcPct val="100000"/>
              </a:lnSpc>
              <a:buNone/>
            </a:pPr>
            <a:r>
              <a:rPr lang="en-US" sz="1300" dirty="0" b="1">
                <a:solidFill>
                  <a:srgbClr val="FFFFFF"/>
                </a:solidFill>
                <a:latin typeface="Segoe UI" pitchFamily="34" charset="0"/>
                <a:ea typeface="Corben" pitchFamily="34" charset="-122"/>
                <a:cs typeface="Corben" pitchFamily="34" charset="-120"/>
              </a:rPr>
              <a:t>5</a:t>
            </a:r>
            <a:endParaRPr lang="en-US" sz="1250" dirty="0"/>
          </a:p>
        </p:txBody>
      </p:sp>
      <p:sp>
        <p:nvSpPr>
          <p:cNvPr id="22" name="Text 15"/>
          <p:cNvSpPr/>
          <p:nvPr/>
        </p:nvSpPr>
        <p:spPr>
          <a:xfrm>
            <a:off x="1039490" y="4260577"/>
            <a:ext cx="1683246"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Conclusion &amp; Perspectives</a:t>
            </a:r>
            <a:endParaRPr lang="en-US" sz="1050" dirty="0"/>
          </a:p>
        </p:txBody>
      </p:sp>
      <p:sp>
        <p:nvSpPr>
          <p:cNvPr id="23" name="Text 16"/>
          <p:cNvSpPr/>
          <p:nvPr/>
        </p:nvSpPr>
        <p:spPr>
          <a:xfrm>
            <a:off x="1039490" y="4487019"/>
            <a:ext cx="7485608" cy="162818"/>
          </a:xfrm>
          <a:prstGeom prst="rect">
            <a:avLst/>
          </a:prstGeom>
          <a:noFill/>
          <a:ln>
            <a:noFill/>
          </a:ln>
        </p:spPr>
        <p:txBody>
          <a:bodyPr wrap="none" tIns="91440" bIns="91440" rtlCol="0" anchor="t"/>
          <a:lstStyle/>
          <a:p>
            <a:pPr marL="0" indent="0" algn="l">
              <a:lnSpc>
                <a:spcPct val="125000"/>
              </a:lnSpc>
              <a:buNone/>
            </a:pPr>
            <a:r>
              <a:rPr lang="en-US" sz="1100" dirty="0" b="0">
                <a:solidFill>
                  <a:srgbClr val="A8B2D1"/>
                </a:solidFill>
                <a:latin typeface="Segoe UI" pitchFamily="34" charset="0"/>
                <a:ea typeface="Nobile" pitchFamily="34" charset="-122"/>
                <a:cs typeface="Nobile" pitchFamily="34" charset="-120"/>
              </a:rPr>
              <a:t>Achievements, retrospective, and future scalability roadmap.</a:t>
            </a:r>
            <a:endParaRPr lang="en-US" sz="850" dirty="0"/>
          </a:p>
        </p:txBody>
      </p:sp>
    </p:spTree>
  </p:cSld>
  <p:transition spd="slow">
    <p:fade/>
  </p:transition>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496119" y="993502"/>
            <a:ext cx="3558332"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General Introduction</a:t>
            </a:r>
            <a:endParaRPr lang="en-US" sz="2400" dirty="0"/>
          </a:p>
        </p:txBody>
      </p:sp>
      <p:sp>
        <p:nvSpPr>
          <p:cNvPr id="3" name="Text 1"/>
          <p:cNvSpPr/>
          <p:nvPr/>
        </p:nvSpPr>
        <p:spPr>
          <a:xfrm>
            <a:off x="496119" y="1691060"/>
            <a:ext cx="2301701"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Expanded Attack Surface</a:t>
            </a:r>
            <a:endParaRPr lang="en-US" sz="1200" dirty="0"/>
          </a:p>
        </p:txBody>
      </p:sp>
      <p:sp>
        <p:nvSpPr>
          <p:cNvPr id="4" name="Text 2"/>
          <p:cNvSpPr/>
          <p:nvPr/>
        </p:nvSpPr>
        <p:spPr>
          <a:xfrm>
            <a:off x="496119" y="2008882"/>
            <a:ext cx="3924598"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The hyper-connectivity of corporate networks, cloud platforms, and critical infrastructures has created an unprecedented and volatile attack surface. Modern organizations rely entirely on software and network availability, making them highly attractive targets.</a:t>
            </a:r>
            <a:endParaRPr lang="en-US" sz="950" dirty="0"/>
          </a:p>
        </p:txBody>
      </p:sp>
      <p:sp>
        <p:nvSpPr>
          <p:cNvPr id="5" name="Text 3"/>
          <p:cNvSpPr/>
          <p:nvPr/>
        </p:nvSpPr>
        <p:spPr>
          <a:xfrm>
            <a:off x="496119" y="3125167"/>
            <a:ext cx="20077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Evolved Adversaries</a:t>
            </a:r>
            <a:endParaRPr lang="en-US" sz="1200" dirty="0"/>
          </a:p>
        </p:txBody>
      </p:sp>
      <p:sp>
        <p:nvSpPr>
          <p:cNvPr id="6" name="Text 4"/>
          <p:cNvSpPr/>
          <p:nvPr/>
        </p:nvSpPr>
        <p:spPr>
          <a:xfrm>
            <a:off x="496119" y="3442990"/>
            <a:ext cx="392459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Threat actors have evolved from opportunistic scripts into highly coordinated campaigns — ransomware cartels, nation-state APTs, and hacktivists launching disruptive operations at scale.</a:t>
            </a:r>
            <a:endParaRPr lang="en-US" sz="950" dirty="0"/>
          </a:p>
        </p:txBody>
      </p:sp>
      <p:sp>
        <p:nvSpPr>
          <p:cNvPr id="7" name="Shape 5"/>
          <p:cNvSpPr/>
          <p:nvPr/>
        </p:nvSpPr>
        <p:spPr>
          <a:xfrm>
            <a:off x="4728046" y="1706612"/>
            <a:ext cx="3924598" cy="880542"/>
          </a:xfrm>
          <a:prstGeom prst="roundRect">
            <a:avLst>
              <a:gd name="adj" fmla="val 5917"/>
            </a:avLst>
          </a:prstGeom>
          <a:solidFill>
            <a:srgbClr val="131924"/>
          </a:solidFill>
          <a:ln w="12700">
            <a:solidFill>
              <a:srgbClr val="1E293B"/>
            </a:solidFill>
          </a:ln>
        </p:spPr>
        <p:txBody>
          <a:bodyPr tIns="91440" bIns="91440"/>
          <a:lstStyle/>
          <a:p>
            <a:endParaRPr lang="fr-TN"/>
          </a:p>
        </p:txBody>
      </p:sp>
      <p:pic>
        <p:nvPicPr>
          <p:cNvPr id="8" name="Image 0" descr="preencoded.png"/>
          <p:cNvPicPr>
            <a:picLocks noChangeAspect="1"/>
          </p:cNvPicPr>
          <p:nvPr/>
        </p:nvPicPr>
        <p:blipFill>
          <a:blip r:embed="rId3"/>
          <a:stretch>
            <a:fillRect/>
          </a:stretch>
        </p:blipFill>
        <p:spPr>
          <a:xfrm>
            <a:off x="4852020" y="1886396"/>
            <a:ext cx="155004" cy="123974"/>
          </a:xfrm>
          <a:prstGeom prst="rect">
            <a:avLst/>
          </a:prstGeom>
        </p:spPr>
      </p:pic>
      <p:sp>
        <p:nvSpPr>
          <p:cNvPr id="9" name="Text 6"/>
          <p:cNvSpPr/>
          <p:nvPr/>
        </p:nvSpPr>
        <p:spPr>
          <a:xfrm>
            <a:off x="5130998" y="1849189"/>
            <a:ext cx="3397672"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b="0" dirty="0">
                <a:solidFill>
                  <a:srgbClr val="A8B2D1"/>
                </a:solidFill>
                <a:latin typeface="Segoe UI" pitchFamily="34" charset="0"/>
                <a:ea typeface="Nobile" pitchFamily="34" charset="-122"/>
                <a:cs typeface="Nobile" pitchFamily="34" charset="-120"/>
              </a:rPr>
              <a:t>Sun Tzu, The Art of War:</a:t>
            </a:r>
            <a:r>
              <a:rPr lang="en-US" sz="1100" dirty="0" b="0">
                <a:solidFill>
                  <a:srgbClr val="A8B2D1"/>
                </a:solidFill>
                <a:latin typeface="Segoe UI" pitchFamily="34" charset="0"/>
                <a:ea typeface="Nobile" pitchFamily="34" charset="-122"/>
                <a:cs typeface="Nobile" pitchFamily="34" charset="-120"/>
              </a:rPr>
              <a:t> "If you know the enemy and know yourself, you need not fear the result of a hundred battles." </a:t>
            </a:r>
            <a:endParaRPr lang="en-US" sz="950" dirty="0"/>
          </a:p>
        </p:txBody>
      </p:sp>
      <p:sp>
        <p:nvSpPr>
          <p:cNvPr id="10" name="Text 7"/>
          <p:cNvSpPr/>
          <p:nvPr/>
        </p:nvSpPr>
        <p:spPr>
          <a:xfrm>
            <a:off x="4728046" y="2726680"/>
            <a:ext cx="20077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Shift to Proactivity</a:t>
            </a:r>
            <a:endParaRPr lang="en-US" sz="1200" dirty="0"/>
          </a:p>
        </p:txBody>
      </p:sp>
      <p:sp>
        <p:nvSpPr>
          <p:cNvPr id="11" name="Text 8"/>
          <p:cNvSpPr/>
          <p:nvPr/>
        </p:nvSpPr>
        <p:spPr>
          <a:xfrm>
            <a:off x="4728046" y="3044503"/>
            <a:ext cx="3924598"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Traditional perimeter defenses — firewalls and antivirus — are no longer sufficient. Organizations must transition from reactive incident response to </a:t>
            </a:r>
            <a:r>
              <a:rPr lang="en-US" sz="1100" b="0" dirty="0">
                <a:solidFill>
                  <a:srgbClr val="A8B2D1"/>
                </a:solidFill>
                <a:latin typeface="Segoe UI" pitchFamily="34" charset="0"/>
                <a:ea typeface="Nobile" pitchFamily="34" charset="-122"/>
                <a:cs typeface="Nobile" pitchFamily="34" charset="-120"/>
              </a:rPr>
              <a:t>proactive threat intelligence</a:t>
            </a:r>
            <a:r>
              <a:rPr lang="en-US" sz="1100" dirty="0" b="0">
                <a:solidFill>
                  <a:srgbClr val="A8B2D1"/>
                </a:solidFill>
                <a:latin typeface="Segoe UI" pitchFamily="34" charset="0"/>
                <a:ea typeface="Nobile" pitchFamily="34" charset="-122"/>
                <a:cs typeface="Nobile" pitchFamily="34" charset="-120"/>
              </a:rPr>
              <a:t>, gaining external visibility into adversary infrastructure before breaches occur.</a:t>
            </a:r>
            <a:endParaRPr lang="en-US" sz="950" dirty="0"/>
          </a:p>
        </p:txBody>
      </p:sp>
    </p:spTree>
  </p:cSld>
  <p:transition spd="slow">
    <p:fade/>
  </p:transition>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372814"/>
            <a:ext cx="1342430"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410021"/>
            <a:ext cx="1650802"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1 — PRE-STUDY</a:t>
            </a:r>
            <a:endParaRPr lang="en-US" sz="750" dirty="0"/>
          </a:p>
        </p:txBody>
      </p:sp>
      <p:sp>
        <p:nvSpPr>
          <p:cNvPr id="4" name="Text 2"/>
          <p:cNvSpPr/>
          <p:nvPr/>
        </p:nvSpPr>
        <p:spPr>
          <a:xfrm>
            <a:off x="496119" y="655588"/>
            <a:ext cx="5774978"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Project Context &amp; Host Organization</a:t>
            </a:r>
            <a:endParaRPr lang="en-US" sz="2400" dirty="0"/>
          </a:p>
        </p:txBody>
      </p:sp>
      <p:pic>
        <p:nvPicPr>
          <p:cNvPr id="5" name="Image 0" descr="preencoded.png"/>
          <p:cNvPicPr>
            <a:picLocks noChangeAspect="1"/>
          </p:cNvPicPr>
          <p:nvPr/>
        </p:nvPicPr>
        <p:blipFill>
          <a:blip r:embed="rId3"/>
          <a:stretch>
            <a:fillRect/>
          </a:stretch>
        </p:blipFill>
        <p:spPr>
          <a:xfrm>
            <a:off x="496119" y="1229171"/>
            <a:ext cx="5186660" cy="1883941"/>
          </a:xfrm>
          <a:prstGeom prst="rect">
            <a:avLst/>
          </a:prstGeom>
        </p:spPr>
      </p:pic>
      <p:sp>
        <p:nvSpPr>
          <p:cNvPr id="6" name="Shape 3"/>
          <p:cNvSpPr/>
          <p:nvPr/>
        </p:nvSpPr>
        <p:spPr>
          <a:xfrm>
            <a:off x="496119" y="3252639"/>
            <a:ext cx="2634555" cy="1518047"/>
          </a:xfrm>
          <a:prstGeom prst="roundRect">
            <a:avLst>
              <a:gd name="adj" fmla="val 3432"/>
            </a:avLst>
          </a:prstGeom>
          <a:solidFill>
            <a:srgbClr val="131924"/>
          </a:solidFill>
          <a:ln w="12700">
            <a:solidFill>
              <a:srgbClr val="1E293B"/>
            </a:solidFill>
            <a:prstDash val="solid"/>
          </a:ln>
        </p:spPr>
        <p:txBody>
          <a:bodyPr tIns="91440" bIns="91440"/>
          <a:lstStyle/>
          <a:p>
            <a:endParaRPr lang="fr-TN"/>
          </a:p>
        </p:txBody>
      </p:sp>
      <p:sp>
        <p:nvSpPr>
          <p:cNvPr id="7" name="Text 4"/>
          <p:cNvSpPr/>
          <p:nvPr/>
        </p:nvSpPr>
        <p:spPr>
          <a:xfrm>
            <a:off x="624855" y="3381375"/>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Predictra Profile</a:t>
            </a:r>
            <a:endParaRPr lang="en-US" sz="1200" dirty="0"/>
          </a:p>
        </p:txBody>
      </p:sp>
      <p:sp>
        <p:nvSpPr>
          <p:cNvPr id="8" name="Text 5"/>
          <p:cNvSpPr/>
          <p:nvPr/>
        </p:nvSpPr>
        <p:spPr>
          <a:xfrm>
            <a:off x="624855" y="3649638"/>
            <a:ext cx="2377083"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Next-generation AI-driven Cyber Threat Intelligence firm. Democratizes threat intelligence by converting raw data into real-time, visually actionable insights for SOCs and enterprise security teams.</a:t>
            </a:r>
            <a:endParaRPr lang="en-US" sz="950" dirty="0"/>
          </a:p>
        </p:txBody>
      </p:sp>
      <p:sp>
        <p:nvSpPr>
          <p:cNvPr id="9" name="Shape 6"/>
          <p:cNvSpPr/>
          <p:nvPr/>
        </p:nvSpPr>
        <p:spPr>
          <a:xfrm>
            <a:off x="3254648" y="3252639"/>
            <a:ext cx="2634630" cy="1518047"/>
          </a:xfrm>
          <a:prstGeom prst="roundRect">
            <a:avLst>
              <a:gd name="adj" fmla="val 3432"/>
            </a:avLst>
          </a:prstGeom>
          <a:solidFill>
            <a:srgbClr val="131924"/>
          </a:solidFill>
          <a:ln w="12700">
            <a:solidFill>
              <a:srgbClr val="1E293B"/>
            </a:solidFill>
            <a:prstDash val="solid"/>
          </a:ln>
        </p:spPr>
        <p:txBody>
          <a:bodyPr tIns="91440" bIns="91440"/>
          <a:lstStyle/>
          <a:p>
            <a:endParaRPr lang="fr-TN"/>
          </a:p>
        </p:txBody>
      </p:sp>
      <p:sp>
        <p:nvSpPr>
          <p:cNvPr id="10" name="Text 7"/>
          <p:cNvSpPr/>
          <p:nvPr/>
        </p:nvSpPr>
        <p:spPr>
          <a:xfrm>
            <a:off x="3383384" y="3381375"/>
            <a:ext cx="1827535"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Organizational Structure</a:t>
            </a:r>
            <a:endParaRPr lang="en-US" sz="1200" dirty="0"/>
          </a:p>
        </p:txBody>
      </p:sp>
      <p:sp>
        <p:nvSpPr>
          <p:cNvPr id="11" name="Text 8"/>
          <p:cNvSpPr/>
          <p:nvPr/>
        </p:nvSpPr>
        <p:spPr>
          <a:xfrm>
            <a:off x="3383384" y="3649638"/>
            <a:ext cx="2377157"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b="0" dirty="0">
                <a:solidFill>
                  <a:srgbClr val="A8B2D1"/>
                </a:solidFill>
                <a:latin typeface="Segoe UI" pitchFamily="34" charset="0"/>
                <a:ea typeface="Nobile" pitchFamily="34" charset="-122"/>
                <a:cs typeface="Nobile" pitchFamily="34" charset="-120"/>
              </a:rPr>
              <a:t>Threat Research:</a:t>
            </a:r>
            <a:r>
              <a:rPr lang="en-US" sz="1100" dirty="0" b="0">
                <a:solidFill>
                  <a:srgbClr val="A8B2D1"/>
                </a:solidFill>
                <a:latin typeface="Segoe UI" pitchFamily="34" charset="0"/>
                <a:ea typeface="Nobile" pitchFamily="34" charset="-122"/>
                <a:cs typeface="Nobile" pitchFamily="34" charset="-120"/>
              </a:rPr>
              <a:t> Analysts tracking campaigns &amp; malware. </a:t>
            </a:r>
            <a:r>
              <a:rPr lang="en-US" sz="1100" b="0" dirty="0">
                <a:solidFill>
                  <a:srgbClr val="A8B2D1"/>
                </a:solidFill>
                <a:latin typeface="Segoe UI" pitchFamily="34" charset="0"/>
                <a:ea typeface="Nobile" pitchFamily="34" charset="-122"/>
                <a:cs typeface="Nobile" pitchFamily="34" charset="-120"/>
              </a:rPr>
              <a:t>Security Engineering:</a:t>
            </a:r>
            <a:r>
              <a:rPr lang="en-US" sz="1100" dirty="0" b="0">
                <a:solidFill>
                  <a:srgbClr val="A8B2D1"/>
                </a:solidFill>
                <a:latin typeface="Segoe UI" pitchFamily="34" charset="0"/>
                <a:ea typeface="Nobile" pitchFamily="34" charset="-122"/>
                <a:cs typeface="Nobile" pitchFamily="34" charset="-120"/>
              </a:rPr>
              <a:t> Ingestion pipelines &amp; UI (our team). </a:t>
            </a:r>
            <a:r>
              <a:rPr lang="en-US" sz="1100" b="0" dirty="0">
                <a:solidFill>
                  <a:srgbClr val="A8B2D1"/>
                </a:solidFill>
                <a:latin typeface="Segoe UI" pitchFamily="34" charset="0"/>
                <a:ea typeface="Nobile" pitchFamily="34" charset="-122"/>
                <a:cs typeface="Nobile" pitchFamily="34" charset="-120"/>
              </a:rPr>
              <a:t>Sales &amp; Operations:</a:t>
            </a:r>
            <a:r>
              <a:rPr lang="en-US" sz="1100" dirty="0" b="0">
                <a:solidFill>
                  <a:srgbClr val="A8B2D1"/>
                </a:solidFill>
                <a:latin typeface="Segoe UI" pitchFamily="34" charset="0"/>
                <a:ea typeface="Nobile" pitchFamily="34" charset="-122"/>
                <a:cs typeface="Nobile" pitchFamily="34" charset="-120"/>
              </a:rPr>
              <a:t> Client relations &amp; enterprise deployments.</a:t>
            </a:r>
            <a:endParaRPr lang="en-US" sz="950" dirty="0"/>
          </a:p>
        </p:txBody>
      </p:sp>
      <p:sp>
        <p:nvSpPr>
          <p:cNvPr id="12" name="Shape 9"/>
          <p:cNvSpPr/>
          <p:nvPr/>
        </p:nvSpPr>
        <p:spPr>
          <a:xfrm>
            <a:off x="6013252" y="3252639"/>
            <a:ext cx="2634555" cy="1518047"/>
          </a:xfrm>
          <a:prstGeom prst="roundRect">
            <a:avLst>
              <a:gd name="adj" fmla="val 3432"/>
            </a:avLst>
          </a:prstGeom>
          <a:solidFill>
            <a:srgbClr val="131924"/>
          </a:solidFill>
          <a:ln w="12700">
            <a:solidFill>
              <a:srgbClr val="1E293B"/>
            </a:solidFill>
            <a:prstDash val="solid"/>
          </a:ln>
        </p:spPr>
        <p:txBody>
          <a:bodyPr tIns="91440" bIns="91440"/>
          <a:lstStyle/>
          <a:p>
            <a:endParaRPr lang="fr-TN"/>
          </a:p>
        </p:txBody>
      </p:sp>
      <p:sp>
        <p:nvSpPr>
          <p:cNvPr id="13" name="Text 10"/>
          <p:cNvSpPr/>
          <p:nvPr/>
        </p:nvSpPr>
        <p:spPr>
          <a:xfrm>
            <a:off x="6141988" y="3381375"/>
            <a:ext cx="1675581"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Key Metric: Dwell Time</a:t>
            </a:r>
            <a:endParaRPr lang="en-US" sz="1200" dirty="0"/>
          </a:p>
        </p:txBody>
      </p:sp>
      <p:sp>
        <p:nvSpPr>
          <p:cNvPr id="14" name="Text 11"/>
          <p:cNvSpPr/>
          <p:nvPr/>
        </p:nvSpPr>
        <p:spPr>
          <a:xfrm>
            <a:off x="6141988" y="3649638"/>
            <a:ext cx="2377083"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Global average compromise dwell time exceeds </a:t>
            </a:r>
            <a:r>
              <a:rPr lang="en-US" sz="1100" b="0" dirty="0">
                <a:solidFill>
                  <a:srgbClr val="A8B2D1"/>
                </a:solidFill>
                <a:latin typeface="Segoe UI" pitchFamily="34" charset="0"/>
                <a:ea typeface="Nobile" pitchFamily="34" charset="-122"/>
                <a:cs typeface="Nobile" pitchFamily="34" charset="-120"/>
              </a:rPr>
              <a:t>200 days</a:t>
            </a:r>
            <a:r>
              <a:rPr lang="en-US" sz="1100" dirty="0" b="0">
                <a:solidFill>
                  <a:srgbClr val="A8B2D1"/>
                </a:solidFill>
                <a:latin typeface="Segoe UI" pitchFamily="34" charset="0"/>
                <a:ea typeface="Nobile" pitchFamily="34" charset="-122"/>
                <a:cs typeface="Nobile" pitchFamily="34" charset="-120"/>
              </a:rPr>
              <a:t>. Defenders only detect breaches after internal alerts trigger. The Threat Map shrinks this window from months to </a:t>
            </a:r>
            <a:r>
              <a:rPr lang="en-US" sz="1100" b="0" dirty="0">
                <a:solidFill>
                  <a:srgbClr val="A8B2D1"/>
                </a:solidFill>
                <a:latin typeface="Segoe UI" pitchFamily="34" charset="0"/>
                <a:ea typeface="Nobile" pitchFamily="34" charset="-122"/>
                <a:cs typeface="Nobile" pitchFamily="34" charset="-120"/>
              </a:rPr>
              <a:t>seconds</a:t>
            </a:r>
            <a:r>
              <a:rPr lang="en-US" sz="1100" dirty="0" b="0">
                <a:solidFill>
                  <a:srgbClr val="A8B2D1"/>
                </a:solidFill>
                <a:latin typeface="Segoe UI" pitchFamily="34" charset="0"/>
                <a:ea typeface="Nobile" pitchFamily="34" charset="-122"/>
                <a:cs typeface="Nobile" pitchFamily="34" charset="-120"/>
              </a:rPr>
              <a:t>.</a:t>
            </a:r>
            <a:endParaRPr lang="en-US" sz="950" dirty="0"/>
          </a:p>
        </p:txBody>
      </p:sp>
    </p:spTree>
  </p:cSld>
  <p:transition spd="slow">
    <p:fade/>
  </p:transition>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827336" y="376089"/>
            <a:ext cx="1027212" cy="164157"/>
          </a:xfrm>
          <a:prstGeom prst="roundRect">
            <a:avLst>
              <a:gd name="adj" fmla="val 19439"/>
            </a:avLst>
          </a:prstGeom>
          <a:noFill/>
          <a:ln>
            <a:noFill/>
          </a:ln>
        </p:spPr>
        <p:txBody>
          <a:bodyPr tIns="91440" bIns="91440"/>
          <a:lstStyle/>
          <a:p>
            <a:endParaRPr lang="fr-TN"/>
          </a:p>
        </p:txBody>
      </p:sp>
      <p:sp>
        <p:nvSpPr>
          <p:cNvPr id="3" name="Text 1"/>
          <p:cNvSpPr/>
          <p:nvPr/>
        </p:nvSpPr>
        <p:spPr>
          <a:xfrm>
            <a:off x="884262" y="404515"/>
            <a:ext cx="1370558" cy="107305"/>
          </a:xfrm>
          <a:prstGeom prst="rect">
            <a:avLst/>
          </a:prstGeom>
          <a:noFill/>
          <a:ln>
            <a:noFill/>
          </a:ln>
        </p:spPr>
        <p:txBody>
          <a:bodyPr wrap="none" tIns="91440" bIns="91440" rtlCol="0" anchor="t"/>
          <a:lstStyle/>
          <a:p>
            <a:pPr marL="0" indent="0" algn="l">
              <a:lnSpc>
                <a:spcPct val="118000"/>
              </a:lnSpc>
              <a:buNone/>
            </a:pPr>
            <a:r>
              <a:rPr lang="en-US" sz="1000" dirty="0" b="1">
                <a:solidFill>
                  <a:srgbClr val="00F0FF"/>
                </a:solidFill>
                <a:latin typeface="Segoe UI" pitchFamily="34" charset="0"/>
                <a:ea typeface="Nobile" pitchFamily="34" charset="-122"/>
                <a:cs typeface="Nobile" pitchFamily="34" charset="-120"/>
              </a:rPr>
              <a:t>CHAPTER 1 — PRE-STUDY</a:t>
            </a:r>
            <a:endParaRPr lang="en-US" sz="550" dirty="0"/>
          </a:p>
        </p:txBody>
      </p:sp>
      <p:sp>
        <p:nvSpPr>
          <p:cNvPr id="4" name="Text 2"/>
          <p:cNvSpPr/>
          <p:nvPr/>
        </p:nvSpPr>
        <p:spPr>
          <a:xfrm>
            <a:off x="827336" y="569268"/>
            <a:ext cx="3148608" cy="296763"/>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The Critical Problematic</a:t>
            </a:r>
            <a:endParaRPr lang="en-US" sz="18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811" y="1056829"/>
            <a:ext cx="3638252" cy="832247"/>
          </a:xfrm>
          <a:prstGeom prst="rect">
            <a:avLst/>
          </a:prstGeom>
        </p:spPr>
      </p:pic>
      <p:sp>
        <p:nvSpPr>
          <p:cNvPr id="6" name="Text 3"/>
          <p:cNvSpPr/>
          <p:nvPr/>
        </p:nvSpPr>
        <p:spPr>
          <a:xfrm>
            <a:off x="960388" y="1161306"/>
            <a:ext cx="1218307"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Spreadsheet Overload</a:t>
            </a:r>
            <a:endParaRPr lang="en-US" sz="900" dirty="0"/>
          </a:p>
        </p:txBody>
      </p:sp>
      <p:sp>
        <p:nvSpPr>
          <p:cNvPr id="7" name="Text 4"/>
          <p:cNvSpPr/>
          <p:nvPr/>
        </p:nvSpPr>
        <p:spPr>
          <a:xfrm>
            <a:off x="960388" y="1382316"/>
            <a:ext cx="3391198" cy="402282"/>
          </a:xfrm>
          <a:prstGeom prst="rect">
            <a:avLst/>
          </a:prstGeom>
          <a:noFill/>
          <a:ln>
            <a:noFill/>
          </a:ln>
        </p:spPr>
        <p:txBody>
          <a:bodyPr wrap="square" tIns="91440" bIns="91440" rtlCol="0" anchor="t">
            <a:normAutofit/>
          </a:bodyPr>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SOC analysts suffer from visual fatigue reading thousands of static, textual log lines in spreadsheets and simple dashboards. There is no intuitive interface for immediate situational awareness.</a:t>
            </a:r>
            <a:endParaRPr lang="en-US" sz="7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811" y="1961778"/>
            <a:ext cx="3638252" cy="832247"/>
          </a:xfrm>
          <a:prstGeom prst="rect">
            <a:avLst/>
          </a:prstGeom>
        </p:spPr>
      </p:pic>
      <p:sp>
        <p:nvSpPr>
          <p:cNvPr id="9" name="Text 5"/>
          <p:cNvSpPr/>
          <p:nvPr/>
        </p:nvSpPr>
        <p:spPr>
          <a:xfrm>
            <a:off x="960388" y="2066255"/>
            <a:ext cx="1293837"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Lack of Spatial Context</a:t>
            </a:r>
            <a:endParaRPr lang="en-US" sz="900" dirty="0"/>
          </a:p>
        </p:txBody>
      </p:sp>
      <p:sp>
        <p:nvSpPr>
          <p:cNvPr id="10" name="Text 6"/>
          <p:cNvSpPr/>
          <p:nvPr/>
        </p:nvSpPr>
        <p:spPr>
          <a:xfrm>
            <a:off x="960388" y="2287265"/>
            <a:ext cx="3391198" cy="402282"/>
          </a:xfrm>
          <a:prstGeom prst="rect">
            <a:avLst/>
          </a:prstGeom>
          <a:noFill/>
          <a:ln>
            <a:noFill/>
          </a:ln>
        </p:spPr>
        <p:txBody>
          <a:bodyPr wrap="square" tIns="91440" bIns="91440" rtlCol="0" anchor="t">
            <a:normAutofit/>
          </a:bodyPr>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No geographic representation of threat origins, targets, and trajectories in real-time. Defenders cannot visualize </a:t>
            </a:r>
            <a:r>
              <a:rPr lang="en-US" sz="1100" i="1" dirty="0" b="0">
                <a:solidFill>
                  <a:srgbClr val="A8B2D1"/>
                </a:solidFill>
                <a:latin typeface="Segoe UI" pitchFamily="34" charset="0"/>
                <a:ea typeface="Nobile" pitchFamily="34" charset="-122"/>
                <a:cs typeface="Nobile" pitchFamily="34" charset="-120"/>
              </a:rPr>
              <a:t>where</a:t>
            </a:r>
            <a:r>
              <a:rPr lang="en-US" sz="1100" dirty="0" b="0">
                <a:solidFill>
                  <a:srgbClr val="A8B2D1"/>
                </a:solidFill>
                <a:latin typeface="Segoe UI" pitchFamily="34" charset="0"/>
                <a:ea typeface="Nobile" pitchFamily="34" charset="-122"/>
                <a:cs typeface="Nobile" pitchFamily="34" charset="-120"/>
              </a:rPr>
              <a:t> attacks originate or which sectors are being targeted globally.</a:t>
            </a:r>
            <a:endParaRPr lang="en-US" sz="7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811" y="2866727"/>
            <a:ext cx="3638252" cy="832247"/>
          </a:xfrm>
          <a:prstGeom prst="rect">
            <a:avLst/>
          </a:prstGeom>
        </p:spPr>
      </p:pic>
      <p:sp>
        <p:nvSpPr>
          <p:cNvPr id="12" name="Text 7"/>
          <p:cNvSpPr/>
          <p:nvPr/>
        </p:nvSpPr>
        <p:spPr>
          <a:xfrm>
            <a:off x="960388" y="2971205"/>
            <a:ext cx="1187128"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Data Heterogeneity</a:t>
            </a:r>
            <a:endParaRPr lang="en-US" sz="900" dirty="0"/>
          </a:p>
        </p:txBody>
      </p:sp>
      <p:sp>
        <p:nvSpPr>
          <p:cNvPr id="13" name="Text 8"/>
          <p:cNvSpPr/>
          <p:nvPr/>
        </p:nvSpPr>
        <p:spPr>
          <a:xfrm>
            <a:off x="960388" y="3192214"/>
            <a:ext cx="3391198" cy="402282"/>
          </a:xfrm>
          <a:prstGeom prst="rect">
            <a:avLst/>
          </a:prstGeom>
          <a:noFill/>
          <a:ln>
            <a:noFill/>
          </a:ln>
        </p:spPr>
        <p:txBody>
          <a:bodyPr wrap="square" tIns="91440" bIns="91440" rtlCol="0" anchor="t">
            <a:normAutofit/>
          </a:bodyPr>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Raw feeds are fragmented across diverse security vendors using incompatible data formats, protocols, and schemas — making unified analysis slow and manual.</a:t>
            </a:r>
            <a:endParaRPr lang="en-US" sz="700" dirty="0"/>
          </a:p>
        </p:txBody>
      </p:sp>
      <p:pic>
        <p:nvPicPr>
          <p:cNvPr id="14" name="Image 3" descr="preencoded.png"/>
          <p:cNvPicPr>
            <a:picLocks noChangeAspect="1"/>
          </p:cNvPicPr>
          <p:nvPr/>
        </p:nvPicPr>
        <p:blipFill>
          <a:blip r:embed="rId4"/>
          <a:stretch>
            <a:fillRect/>
          </a:stretch>
        </p:blipFill>
        <p:spPr>
          <a:xfrm>
            <a:off x="4692551" y="1056829"/>
            <a:ext cx="3628727" cy="3628727"/>
          </a:xfrm>
          <a:prstGeom prst="rect">
            <a:avLst/>
          </a:prstGeom>
        </p:spPr>
      </p:pic>
    </p:spTree>
  </p:cSld>
  <p:transition spd="slow">
    <p:fade/>
  </p:transition>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366861"/>
            <a:ext cx="1342430"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404068"/>
            <a:ext cx="1650802"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1 — PRE-STUDY</a:t>
            </a:r>
            <a:endParaRPr lang="en-US" sz="750" dirty="0"/>
          </a:p>
        </p:txBody>
      </p:sp>
      <p:sp>
        <p:nvSpPr>
          <p:cNvPr id="4" name="Text 2"/>
          <p:cNvSpPr/>
          <p:nvPr/>
        </p:nvSpPr>
        <p:spPr>
          <a:xfrm>
            <a:off x="496119" y="649635"/>
            <a:ext cx="6896174"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The Proposed Solution: Predictra Threat Map</a:t>
            </a:r>
            <a:endParaRPr lang="en-US" sz="2400" dirty="0"/>
          </a:p>
        </p:txBody>
      </p:sp>
      <p:sp>
        <p:nvSpPr>
          <p:cNvPr id="5" name="Text 3"/>
          <p:cNvSpPr/>
          <p:nvPr/>
        </p:nvSpPr>
        <p:spPr>
          <a:xfrm>
            <a:off x="496119" y="1223218"/>
            <a:ext cx="8608963" cy="198462"/>
          </a:xfrm>
          <a:prstGeom prst="rect">
            <a:avLst/>
          </a:prstGeom>
          <a:noFill/>
          <a:ln>
            <a:noFill/>
          </a:ln>
        </p:spPr>
        <p:txBody>
          <a:bodyPr wrap="none" tIns="91440" bIns="91440" rtlCol="0" anchor="t"/>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A four-layer architecture transforming raw cyber threat data into a live, interactive 3D visual intelligence platform.</a:t>
            </a:r>
            <a:endParaRPr lang="en-US" sz="950" dirty="0"/>
          </a:p>
        </p:txBody>
      </p:sp>
      <p:pic>
        <p:nvPicPr>
          <p:cNvPr id="6" name="Image 0" descr="preencoded.png"/>
          <p:cNvPicPr>
            <a:picLocks noChangeAspect="1"/>
          </p:cNvPicPr>
          <p:nvPr/>
        </p:nvPicPr>
        <p:blipFill>
          <a:blip r:embed="rId3"/>
          <a:stretch>
            <a:fillRect/>
          </a:stretch>
        </p:blipFill>
        <p:spPr>
          <a:xfrm>
            <a:off x="496119" y="1561207"/>
            <a:ext cx="4075881" cy="496119"/>
          </a:xfrm>
          <a:prstGeom prst="rect">
            <a:avLst/>
          </a:prstGeom>
        </p:spPr>
      </p:pic>
      <p:sp>
        <p:nvSpPr>
          <p:cNvPr id="7" name="Text 4"/>
          <p:cNvSpPr/>
          <p:nvPr/>
        </p:nvSpPr>
        <p:spPr>
          <a:xfrm>
            <a:off x="620092" y="2181299"/>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Ingestion Layer</a:t>
            </a:r>
            <a:endParaRPr lang="en-US" sz="1200" dirty="0"/>
          </a:p>
        </p:txBody>
      </p:sp>
      <p:sp>
        <p:nvSpPr>
          <p:cNvPr id="8" name="Text 5"/>
          <p:cNvSpPr/>
          <p:nvPr/>
        </p:nvSpPr>
        <p:spPr>
          <a:xfrm>
            <a:off x="620092" y="2449562"/>
            <a:ext cx="3827934"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Asynchronous harvesting from </a:t>
            </a:r>
            <a:r>
              <a:rPr lang="en-US" sz="1100" b="0" dirty="0">
                <a:solidFill>
                  <a:srgbClr val="A8B2D1"/>
                </a:solidFill>
                <a:latin typeface="Segoe UI" pitchFamily="34" charset="0"/>
                <a:ea typeface="Nobile" pitchFamily="34" charset="-122"/>
                <a:cs typeface="Nobile" pitchFamily="34" charset="-120"/>
              </a:rPr>
              <a:t>9+ parallel threat feeds</a:t>
            </a:r>
            <a:r>
              <a:rPr lang="en-US" sz="1100" dirty="0" b="0">
                <a:solidFill>
                  <a:srgbClr val="A8B2D1"/>
                </a:solidFill>
                <a:latin typeface="Segoe UI" pitchFamily="34" charset="0"/>
                <a:ea typeface="Nobile" pitchFamily="34" charset="-122"/>
                <a:cs typeface="Nobile" pitchFamily="34" charset="-120"/>
              </a:rPr>
              <a:t> (AlienVault, URLhaus, Checkpoint, Bitdefender, Fortinet, Kaspersky Feodo, RansomWatch, C2 Tracker, MISP Galaxy).</a:t>
            </a:r>
            <a:endParaRPr lang="en-US" sz="950" dirty="0"/>
          </a:p>
        </p:txBody>
      </p:sp>
      <p:pic>
        <p:nvPicPr>
          <p:cNvPr id="9" name="Image 1" descr="preencoded.png"/>
          <p:cNvPicPr>
            <a:picLocks noChangeAspect="1"/>
          </p:cNvPicPr>
          <p:nvPr/>
        </p:nvPicPr>
        <p:blipFill>
          <a:blip r:embed="rId4"/>
          <a:stretch>
            <a:fillRect/>
          </a:stretch>
        </p:blipFill>
        <p:spPr>
          <a:xfrm>
            <a:off x="4572000" y="1561207"/>
            <a:ext cx="4075881" cy="496119"/>
          </a:xfrm>
          <a:prstGeom prst="rect">
            <a:avLst/>
          </a:prstGeom>
        </p:spPr>
      </p:pic>
      <p:sp>
        <p:nvSpPr>
          <p:cNvPr id="10" name="Text 6"/>
          <p:cNvSpPr/>
          <p:nvPr/>
        </p:nvSpPr>
        <p:spPr>
          <a:xfrm>
            <a:off x="4695974" y="2181299"/>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Enrichment Layer</a:t>
            </a:r>
            <a:endParaRPr lang="en-US" sz="1200" dirty="0"/>
          </a:p>
        </p:txBody>
      </p:sp>
      <p:sp>
        <p:nvSpPr>
          <p:cNvPr id="11" name="Text 7"/>
          <p:cNvSpPr/>
          <p:nvPr/>
        </p:nvSpPr>
        <p:spPr>
          <a:xfrm>
            <a:off x="4695974" y="2449562"/>
            <a:ext cx="3827934"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Instant IP geolocation via local geocoding library and </a:t>
            </a:r>
            <a:r>
              <a:rPr lang="en-US" sz="1100" b="0" dirty="0">
                <a:solidFill>
                  <a:srgbClr val="A8B2D1"/>
                </a:solidFill>
                <a:latin typeface="Segoe UI" pitchFamily="34" charset="0"/>
                <a:ea typeface="Nobile" pitchFamily="34" charset="-122"/>
                <a:cs typeface="Nobile" pitchFamily="34" charset="-120"/>
              </a:rPr>
              <a:t>5-layer target sector classification</a:t>
            </a:r>
            <a:r>
              <a:rPr lang="en-US" sz="1100" dirty="0" b="0">
                <a:solidFill>
                  <a:srgbClr val="A8B2D1"/>
                </a:solidFill>
                <a:latin typeface="Segoe UI" pitchFamily="34" charset="0"/>
                <a:ea typeface="Nobile" pitchFamily="34" charset="-122"/>
                <a:cs typeface="Nobile" pitchFamily="34" charset="-120"/>
              </a:rPr>
              <a:t> engine covering 9 critical business sectors.</a:t>
            </a:r>
            <a:endParaRPr lang="en-US" sz="950" dirty="0"/>
          </a:p>
        </p:txBody>
      </p:sp>
      <p:pic>
        <p:nvPicPr>
          <p:cNvPr id="12" name="Image 2" descr="preencoded.png"/>
          <p:cNvPicPr>
            <a:picLocks noChangeAspect="1"/>
          </p:cNvPicPr>
          <p:nvPr/>
        </p:nvPicPr>
        <p:blipFill>
          <a:blip r:embed="rId5"/>
          <a:stretch>
            <a:fillRect/>
          </a:stretch>
        </p:blipFill>
        <p:spPr>
          <a:xfrm>
            <a:off x="496119" y="3168923"/>
            <a:ext cx="4075881" cy="496119"/>
          </a:xfrm>
          <a:prstGeom prst="rect">
            <a:avLst/>
          </a:prstGeom>
        </p:spPr>
      </p:pic>
      <p:sp>
        <p:nvSpPr>
          <p:cNvPr id="13" name="Text 8"/>
          <p:cNvSpPr/>
          <p:nvPr/>
        </p:nvSpPr>
        <p:spPr>
          <a:xfrm>
            <a:off x="620092" y="3789015"/>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Streaming Layer</a:t>
            </a:r>
            <a:endParaRPr lang="en-US" sz="1200" dirty="0"/>
          </a:p>
        </p:txBody>
      </p:sp>
      <p:sp>
        <p:nvSpPr>
          <p:cNvPr id="14" name="Text 9"/>
          <p:cNvSpPr/>
          <p:nvPr/>
        </p:nvSpPr>
        <p:spPr>
          <a:xfrm>
            <a:off x="620092" y="4057278"/>
            <a:ext cx="3827934"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Unidirectional event broadcasting via </a:t>
            </a:r>
            <a:r>
              <a:rPr lang="en-US" sz="1100" b="0" dirty="0">
                <a:solidFill>
                  <a:srgbClr val="A8B2D1"/>
                </a:solidFill>
                <a:latin typeface="Segoe UI" pitchFamily="34" charset="0"/>
                <a:ea typeface="Nobile" pitchFamily="34" charset="-122"/>
                <a:cs typeface="Nobile" pitchFamily="34" charset="-120"/>
              </a:rPr>
              <a:t>Server-Sent Events (SSE)</a:t>
            </a:r>
            <a:r>
              <a:rPr lang="en-US" sz="1100" dirty="0" b="0">
                <a:solidFill>
                  <a:srgbClr val="A8B2D1"/>
                </a:solidFill>
                <a:latin typeface="Segoe UI" pitchFamily="34" charset="0"/>
                <a:ea typeface="Nobile" pitchFamily="34" charset="-122"/>
                <a:cs typeface="Nobile" pitchFamily="34" charset="-120"/>
              </a:rPr>
              <a:t> with a 300ms batching queue — keeping browser rendering smooth.</a:t>
            </a:r>
            <a:endParaRPr lang="en-US" sz="950" dirty="0"/>
          </a:p>
        </p:txBody>
      </p:sp>
      <p:pic>
        <p:nvPicPr>
          <p:cNvPr id="15" name="Image 3" descr="preencoded.png"/>
          <p:cNvPicPr>
            <a:picLocks noChangeAspect="1"/>
          </p:cNvPicPr>
          <p:nvPr/>
        </p:nvPicPr>
        <p:blipFill>
          <a:blip r:embed="rId6"/>
          <a:stretch>
            <a:fillRect/>
          </a:stretch>
        </p:blipFill>
        <p:spPr>
          <a:xfrm>
            <a:off x="4572000" y="3168923"/>
            <a:ext cx="4075881" cy="496119"/>
          </a:xfrm>
          <a:prstGeom prst="rect">
            <a:avLst/>
          </a:prstGeom>
        </p:spPr>
      </p:pic>
      <p:sp>
        <p:nvSpPr>
          <p:cNvPr id="16" name="Text 10"/>
          <p:cNvSpPr/>
          <p:nvPr/>
        </p:nvSpPr>
        <p:spPr>
          <a:xfrm>
            <a:off x="4695974" y="3789015"/>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Visualization Layer</a:t>
            </a:r>
            <a:endParaRPr lang="en-US" sz="1200" dirty="0"/>
          </a:p>
        </p:txBody>
      </p:sp>
      <p:sp>
        <p:nvSpPr>
          <p:cNvPr id="17" name="Text 11"/>
          <p:cNvSpPr/>
          <p:nvPr/>
        </p:nvSpPr>
        <p:spPr>
          <a:xfrm>
            <a:off x="4695974" y="4057278"/>
            <a:ext cx="3827934"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Interactive </a:t>
            </a:r>
            <a:r>
              <a:rPr lang="en-US" sz="1100" b="0" dirty="0">
                <a:solidFill>
                  <a:srgbClr val="A8B2D1"/>
                </a:solidFill>
                <a:latin typeface="Segoe UI" pitchFamily="34" charset="0"/>
                <a:ea typeface="Nobile" pitchFamily="34" charset="-122"/>
                <a:cs typeface="Nobile" pitchFamily="34" charset="-120"/>
              </a:rPr>
              <a:t>3D WebGL Earth</a:t>
            </a:r>
            <a:r>
              <a:rPr lang="en-US" sz="1100" dirty="0" b="0">
                <a:solidFill>
                  <a:srgbClr val="A8B2D1"/>
                </a:solidFill>
                <a:latin typeface="Segoe UI" pitchFamily="34" charset="0"/>
                <a:ea typeface="Nobile" pitchFamily="34" charset="-122"/>
                <a:cs typeface="Nobile" pitchFamily="34" charset="-120"/>
              </a:rPr>
              <a:t> with curved attack arcs, plus STIX 2.1 parser and MITRE ATT&amp;CK workspace for deep analysis.</a:t>
            </a:r>
            <a:endParaRPr lang="en-US" sz="950" dirty="0"/>
          </a:p>
        </p:txBody>
      </p:sp>
    </p:spTree>
  </p:cSld>
  <p:transition spd="slow">
    <p:fade/>
  </p:transition>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827336" y="350267"/>
            <a:ext cx="1027212" cy="164157"/>
          </a:xfrm>
          <a:prstGeom prst="roundRect">
            <a:avLst>
              <a:gd name="adj" fmla="val 19439"/>
            </a:avLst>
          </a:prstGeom>
          <a:noFill/>
          <a:ln>
            <a:noFill/>
          </a:ln>
        </p:spPr>
        <p:txBody>
          <a:bodyPr tIns="91440" bIns="91440"/>
          <a:lstStyle/>
          <a:p>
            <a:endParaRPr lang="fr-TN"/>
          </a:p>
        </p:txBody>
      </p:sp>
      <p:sp>
        <p:nvSpPr>
          <p:cNvPr id="3" name="Text 1"/>
          <p:cNvSpPr/>
          <p:nvPr/>
        </p:nvSpPr>
        <p:spPr>
          <a:xfrm>
            <a:off x="884262" y="378693"/>
            <a:ext cx="1370558" cy="107305"/>
          </a:xfrm>
          <a:prstGeom prst="rect">
            <a:avLst/>
          </a:prstGeom>
          <a:noFill/>
          <a:ln>
            <a:noFill/>
          </a:ln>
        </p:spPr>
        <p:txBody>
          <a:bodyPr wrap="none" tIns="91440" bIns="91440" rtlCol="0" anchor="t"/>
          <a:lstStyle/>
          <a:p>
            <a:pPr marL="0" indent="0" algn="l">
              <a:lnSpc>
                <a:spcPct val="118000"/>
              </a:lnSpc>
              <a:buNone/>
            </a:pPr>
            <a:r>
              <a:rPr lang="en-US" sz="1000" dirty="0" b="1">
                <a:solidFill>
                  <a:srgbClr val="00F0FF"/>
                </a:solidFill>
                <a:latin typeface="Segoe UI" pitchFamily="34" charset="0"/>
                <a:ea typeface="Nobile" pitchFamily="34" charset="-122"/>
                <a:cs typeface="Nobile" pitchFamily="34" charset="-120"/>
              </a:rPr>
              <a:t>CHAPTER 1 — PRE-STUDY</a:t>
            </a:r>
            <a:endParaRPr lang="en-US" sz="550" dirty="0"/>
          </a:p>
        </p:txBody>
      </p:sp>
      <p:sp>
        <p:nvSpPr>
          <p:cNvPr id="4" name="Text 2"/>
          <p:cNvSpPr/>
          <p:nvPr/>
        </p:nvSpPr>
        <p:spPr>
          <a:xfrm>
            <a:off x="827336" y="543446"/>
            <a:ext cx="3305026" cy="296763"/>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Agile Scrum Methodology</a:t>
            </a:r>
            <a:endParaRPr lang="en-US" sz="1850" dirty="0"/>
          </a:p>
        </p:txBody>
      </p:sp>
      <p:sp>
        <p:nvSpPr>
          <p:cNvPr id="5" name="Text 3"/>
          <p:cNvSpPr/>
          <p:nvPr/>
        </p:nvSpPr>
        <p:spPr>
          <a:xfrm>
            <a:off x="827336" y="1014636"/>
            <a:ext cx="4085927" cy="134094"/>
          </a:xfrm>
          <a:prstGeom prst="rect">
            <a:avLst/>
          </a:prstGeom>
          <a:noFill/>
          <a:ln>
            <a:noFill/>
          </a:ln>
        </p:spPr>
        <p:txBody>
          <a:bodyPr wrap="none" tIns="91440" bIns="91440" rtlCol="0" anchor="t"/>
          <a:lstStyle/>
          <a:p>
            <a:pPr marL="0" indent="0" algn="l">
              <a:lnSpc>
                <a:spcPct val="118000"/>
              </a:lnSpc>
              <a:buNone/>
            </a:pPr>
            <a:endParaRPr lang="en-US" sz="700" dirty="0"/>
          </a:p>
        </p:txBody>
      </p:sp>
      <p:sp>
        <p:nvSpPr>
          <p:cNvPr id="6" name="Text 4"/>
          <p:cNvSpPr/>
          <p:nvPr/>
        </p:nvSpPr>
        <p:spPr>
          <a:xfrm>
            <a:off x="4692551" y="1021928"/>
            <a:ext cx="1744489"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4 Sprints over 12 Weeks</a:t>
            </a:r>
            <a:endParaRPr lang="en-US" sz="900" dirty="0"/>
          </a:p>
        </p:txBody>
      </p:sp>
      <p:sp>
        <p:nvSpPr>
          <p:cNvPr id="7" name="Text 5"/>
          <p:cNvSpPr/>
          <p:nvPr/>
        </p:nvSpPr>
        <p:spPr>
          <a:xfrm>
            <a:off x="4692551" y="1252017"/>
            <a:ext cx="189905" cy="118690"/>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01</a:t>
            </a:r>
            <a:endParaRPr lang="en-US" sz="700" dirty="0"/>
          </a:p>
        </p:txBody>
      </p:sp>
      <p:sp>
        <p:nvSpPr>
          <p:cNvPr id="8" name="Shape 6"/>
          <p:cNvSpPr/>
          <p:nvPr/>
        </p:nvSpPr>
        <p:spPr>
          <a:xfrm>
            <a:off x="4692551" y="1403896"/>
            <a:ext cx="3628727" cy="9525"/>
          </a:xfrm>
          <a:prstGeom prst="rect">
            <a:avLst/>
          </a:prstGeom>
          <a:noFill/>
          <a:ln>
            <a:noFill/>
          </a:ln>
        </p:spPr>
        <p:txBody>
          <a:bodyPr tIns="91440" bIns="91440"/>
          <a:lstStyle/>
          <a:p>
            <a:endParaRPr lang="fr-TN"/>
          </a:p>
        </p:txBody>
      </p:sp>
      <p:sp>
        <p:nvSpPr>
          <p:cNvPr id="9" name="Text 7"/>
          <p:cNvSpPr/>
          <p:nvPr/>
        </p:nvSpPr>
        <p:spPr>
          <a:xfrm>
            <a:off x="4692551" y="1470422"/>
            <a:ext cx="1187128"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Sprint 1</a:t>
            </a:r>
            <a:endParaRPr lang="en-US" sz="900" dirty="0"/>
          </a:p>
        </p:txBody>
      </p:sp>
      <p:sp>
        <p:nvSpPr>
          <p:cNvPr id="10" name="Text 8"/>
          <p:cNvSpPr/>
          <p:nvPr/>
        </p:nvSpPr>
        <p:spPr>
          <a:xfrm>
            <a:off x="4692551" y="1691432"/>
            <a:ext cx="3628727" cy="134094"/>
          </a:xfrm>
          <a:prstGeom prst="rect">
            <a:avLst/>
          </a:prstGeom>
          <a:noFill/>
          <a:ln>
            <a:noFill/>
          </a:ln>
        </p:spPr>
        <p:txBody>
          <a:bodyPr wrap="none" tIns="91440" bIns="91440" rtlCol="0" anchor="t"/>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Backend ingestion: 9 scrapers, MongoDB schemas, enrichment pipeline.</a:t>
            </a:r>
            <a:endParaRPr lang="en-US" sz="700" dirty="0"/>
          </a:p>
        </p:txBody>
      </p:sp>
      <p:sp>
        <p:nvSpPr>
          <p:cNvPr id="11" name="Text 9"/>
          <p:cNvSpPr/>
          <p:nvPr/>
        </p:nvSpPr>
        <p:spPr>
          <a:xfrm>
            <a:off x="4692551" y="1969443"/>
            <a:ext cx="189905" cy="118690"/>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02</a:t>
            </a:r>
            <a:endParaRPr lang="en-US" sz="700" dirty="0"/>
          </a:p>
        </p:txBody>
      </p:sp>
      <p:sp>
        <p:nvSpPr>
          <p:cNvPr id="12" name="Shape 10"/>
          <p:cNvSpPr/>
          <p:nvPr/>
        </p:nvSpPr>
        <p:spPr>
          <a:xfrm>
            <a:off x="4692551" y="2121322"/>
            <a:ext cx="3628727" cy="9525"/>
          </a:xfrm>
          <a:prstGeom prst="rect">
            <a:avLst/>
          </a:prstGeom>
          <a:noFill/>
          <a:ln>
            <a:noFill/>
          </a:ln>
        </p:spPr>
        <p:txBody>
          <a:bodyPr tIns="91440" bIns="91440"/>
          <a:lstStyle/>
          <a:p>
            <a:endParaRPr lang="fr-TN"/>
          </a:p>
        </p:txBody>
      </p:sp>
      <p:sp>
        <p:nvSpPr>
          <p:cNvPr id="13" name="Text 11"/>
          <p:cNvSpPr/>
          <p:nvPr/>
        </p:nvSpPr>
        <p:spPr>
          <a:xfrm>
            <a:off x="4692551" y="2187848"/>
            <a:ext cx="1187128"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Sprint 2</a:t>
            </a:r>
            <a:endParaRPr lang="en-US" sz="900" dirty="0"/>
          </a:p>
        </p:txBody>
      </p:sp>
      <p:sp>
        <p:nvSpPr>
          <p:cNvPr id="14" name="Text 12"/>
          <p:cNvSpPr/>
          <p:nvPr/>
        </p:nvSpPr>
        <p:spPr>
          <a:xfrm>
            <a:off x="4692551" y="2408858"/>
            <a:ext cx="3628727" cy="134094"/>
          </a:xfrm>
          <a:prstGeom prst="rect">
            <a:avLst/>
          </a:prstGeom>
          <a:noFill/>
          <a:ln>
            <a:noFill/>
          </a:ln>
        </p:spPr>
        <p:txBody>
          <a:bodyPr wrap="none" tIns="91440" bIns="91440" rtlCol="0" anchor="t"/>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SSE stream endpoint, Zustand store, 3D WebGL Earth at 60fps.</a:t>
            </a:r>
            <a:endParaRPr lang="en-US" sz="700" dirty="0"/>
          </a:p>
        </p:txBody>
      </p:sp>
      <p:sp>
        <p:nvSpPr>
          <p:cNvPr id="15" name="Text 13"/>
          <p:cNvSpPr/>
          <p:nvPr/>
        </p:nvSpPr>
        <p:spPr>
          <a:xfrm>
            <a:off x="4692551" y="2686869"/>
            <a:ext cx="189905" cy="118690"/>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03</a:t>
            </a:r>
            <a:endParaRPr lang="en-US" sz="700" dirty="0"/>
          </a:p>
        </p:txBody>
      </p:sp>
      <p:sp>
        <p:nvSpPr>
          <p:cNvPr id="16" name="Shape 14"/>
          <p:cNvSpPr/>
          <p:nvPr/>
        </p:nvSpPr>
        <p:spPr>
          <a:xfrm>
            <a:off x="4692551" y="2838748"/>
            <a:ext cx="3628727" cy="9525"/>
          </a:xfrm>
          <a:prstGeom prst="rect">
            <a:avLst/>
          </a:prstGeom>
          <a:noFill/>
          <a:ln>
            <a:noFill/>
          </a:ln>
        </p:spPr>
        <p:txBody>
          <a:bodyPr tIns="91440" bIns="91440"/>
          <a:lstStyle/>
          <a:p>
            <a:endParaRPr lang="fr-TN"/>
          </a:p>
        </p:txBody>
      </p:sp>
      <p:sp>
        <p:nvSpPr>
          <p:cNvPr id="17" name="Text 15"/>
          <p:cNvSpPr/>
          <p:nvPr/>
        </p:nvSpPr>
        <p:spPr>
          <a:xfrm>
            <a:off x="4692551" y="2905274"/>
            <a:ext cx="1187128"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Sprint 3</a:t>
            </a:r>
            <a:endParaRPr lang="en-US" sz="900" dirty="0"/>
          </a:p>
        </p:txBody>
      </p:sp>
      <p:sp>
        <p:nvSpPr>
          <p:cNvPr id="18" name="Text 16"/>
          <p:cNvSpPr/>
          <p:nvPr/>
        </p:nvSpPr>
        <p:spPr>
          <a:xfrm>
            <a:off x="4692551" y="3126284"/>
            <a:ext cx="3628727" cy="134094"/>
          </a:xfrm>
          <a:prstGeom prst="rect">
            <a:avLst/>
          </a:prstGeom>
          <a:noFill/>
          <a:ln>
            <a:noFill/>
          </a:ln>
        </p:spPr>
        <p:txBody>
          <a:bodyPr wrap="none" tIns="91440" bIns="91440" rtlCol="0" anchor="t"/>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STIX 2.1 JSON parser and MITRE ATT&amp;CK Kill Chain mapping grid.</a:t>
            </a:r>
            <a:endParaRPr lang="en-US" sz="700" dirty="0"/>
          </a:p>
        </p:txBody>
      </p:sp>
      <p:sp>
        <p:nvSpPr>
          <p:cNvPr id="19" name="Text 17"/>
          <p:cNvSpPr/>
          <p:nvPr/>
        </p:nvSpPr>
        <p:spPr>
          <a:xfrm>
            <a:off x="4692551" y="3404295"/>
            <a:ext cx="189905" cy="118690"/>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04</a:t>
            </a:r>
            <a:endParaRPr lang="en-US" sz="700" dirty="0"/>
          </a:p>
        </p:txBody>
      </p:sp>
      <p:sp>
        <p:nvSpPr>
          <p:cNvPr id="20" name="Shape 18"/>
          <p:cNvSpPr/>
          <p:nvPr/>
        </p:nvSpPr>
        <p:spPr>
          <a:xfrm>
            <a:off x="4692551" y="3556174"/>
            <a:ext cx="3628727" cy="9525"/>
          </a:xfrm>
          <a:prstGeom prst="rect">
            <a:avLst/>
          </a:prstGeom>
          <a:noFill/>
          <a:ln>
            <a:noFill/>
          </a:ln>
        </p:spPr>
        <p:txBody>
          <a:bodyPr tIns="91440" bIns="91440"/>
          <a:lstStyle/>
          <a:p>
            <a:endParaRPr lang="fr-TN"/>
          </a:p>
        </p:txBody>
      </p:sp>
      <p:sp>
        <p:nvSpPr>
          <p:cNvPr id="21" name="Text 19"/>
          <p:cNvSpPr/>
          <p:nvPr/>
        </p:nvSpPr>
        <p:spPr>
          <a:xfrm>
            <a:off x="4692551" y="3622700"/>
            <a:ext cx="1187128" cy="148307"/>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Sprint 4</a:t>
            </a:r>
            <a:endParaRPr lang="en-US" sz="900" dirty="0"/>
          </a:p>
        </p:txBody>
      </p:sp>
      <p:sp>
        <p:nvSpPr>
          <p:cNvPr id="22" name="Text 20"/>
          <p:cNvSpPr/>
          <p:nvPr/>
        </p:nvSpPr>
        <p:spPr>
          <a:xfrm>
            <a:off x="4692551" y="3843710"/>
            <a:ext cx="3628727" cy="134094"/>
          </a:xfrm>
          <a:prstGeom prst="rect">
            <a:avLst/>
          </a:prstGeom>
          <a:noFill/>
          <a:ln>
            <a:noFill/>
          </a:ln>
        </p:spPr>
        <p:txBody>
          <a:bodyPr wrap="none" tIns="91440" bIns="91440" rtlCol="0" anchor="t"/>
          <a:lstStyle/>
          <a:p>
            <a:pPr marL="0" indent="0" algn="l">
              <a:lnSpc>
                <a:spcPct val="118000"/>
              </a:lnSpc>
              <a:buNone/>
            </a:pPr>
            <a:r>
              <a:rPr lang="en-US" sz="1100" dirty="0" b="0">
                <a:solidFill>
                  <a:srgbClr val="A8B2D1"/>
                </a:solidFill>
                <a:latin typeface="Segoe UI" pitchFamily="34" charset="0"/>
                <a:ea typeface="Nobile" pitchFamily="34" charset="-122"/>
                <a:cs typeface="Nobile" pitchFamily="34" charset="-120"/>
              </a:rPr>
              <a:t>History browser, Target My IP, RingBuffer, adaptive FPS sampling.</a:t>
            </a:r>
            <a:endParaRPr lang="en-US" sz="700" dirty="0"/>
          </a:p>
        </p:txBody>
      </p:sp>
      <p:sp>
        <p:nvSpPr>
          <p:cNvPr id="23" name="Shape 21"/>
          <p:cNvSpPr/>
          <p:nvPr/>
        </p:nvSpPr>
        <p:spPr>
          <a:xfrm>
            <a:off x="4692551" y="4130799"/>
            <a:ext cx="3628727" cy="580579"/>
          </a:xfrm>
          <a:prstGeom prst="roundRect">
            <a:avLst>
              <a:gd name="adj" fmla="val 6871"/>
            </a:avLst>
          </a:prstGeom>
          <a:solidFill>
            <a:srgbClr val="131924"/>
          </a:solidFill>
          <a:ln w="12700">
            <a:solidFill>
              <a:srgbClr val="1E293B"/>
            </a:solidFill>
          </a:ln>
        </p:spPr>
        <p:txBody>
          <a:bodyPr tIns="91440" bIns="91440"/>
          <a:lstStyle/>
          <a:p>
            <a:endParaRPr lang="fr-TN"/>
          </a:p>
        </p:txBody>
      </p:sp>
      <p:pic>
        <p:nvPicPr>
          <p:cNvPr id="24" name="Image 0" descr="preencoded.png"/>
          <p:cNvPicPr>
            <a:picLocks noChangeAspect="1"/>
          </p:cNvPicPr>
          <p:nvPr/>
        </p:nvPicPr>
        <p:blipFill>
          <a:blip r:embed="rId3"/>
          <a:stretch>
            <a:fillRect/>
          </a:stretch>
        </p:blipFill>
        <p:spPr>
          <a:xfrm>
            <a:off x="4787503" y="4256856"/>
            <a:ext cx="118690" cy="94952"/>
          </a:xfrm>
          <a:prstGeom prst="rect">
            <a:avLst/>
          </a:prstGeom>
        </p:spPr>
      </p:pic>
      <p:sp>
        <p:nvSpPr>
          <p:cNvPr id="25" name="Text 22"/>
          <p:cNvSpPr/>
          <p:nvPr/>
        </p:nvSpPr>
        <p:spPr>
          <a:xfrm>
            <a:off x="5001146" y="4219947"/>
            <a:ext cx="3225180" cy="402282"/>
          </a:xfrm>
          <a:prstGeom prst="rect">
            <a:avLst/>
          </a:prstGeom>
          <a:noFill/>
          <a:ln>
            <a:noFill/>
          </a:ln>
        </p:spPr>
        <p:txBody>
          <a:bodyPr wrap="square" tIns="91440" bIns="91440" rtlCol="0" anchor="t">
            <a:normAutofit/>
          </a:bodyPr>
          <a:lstStyle/>
          <a:p>
            <a:pPr marL="0" indent="0" algn="l">
              <a:lnSpc>
                <a:spcPct val="118000"/>
              </a:lnSpc>
              <a:buNone/>
            </a:pPr>
            <a:r>
              <a:rPr lang="en-US" sz="1100" b="0" dirty="0">
                <a:solidFill>
                  <a:srgbClr val="A8B2D1"/>
                </a:solidFill>
                <a:latin typeface="Segoe UI" pitchFamily="34" charset="0"/>
                <a:ea typeface="Nobile" pitchFamily="34" charset="-122"/>
                <a:cs typeface="Nobile" pitchFamily="34" charset="-120"/>
              </a:rPr>
              <a:t>Twice-weekly rituals:</a:t>
            </a:r>
            <a:r>
              <a:rPr lang="en-US" sz="1100" dirty="0" b="0">
                <a:solidFill>
                  <a:srgbClr val="A8B2D1"/>
                </a:solidFill>
                <a:latin typeface="Segoe UI" pitchFamily="34" charset="0"/>
                <a:ea typeface="Nobile" pitchFamily="34" charset="-122"/>
                <a:cs typeface="Nobile" pitchFamily="34" charset="-120"/>
              </a:rPr>
              <a:t> Thursdays (code merge &amp; WebGL profiling) and Sundays (architectural consolidation &amp; LaTeX documentation) — 48+ sessions over 6 months.</a:t>
            </a:r>
            <a:endParaRPr lang="en-US" sz="700" dirty="0"/>
          </a:p>
        </p:txBody>
      </p:sp>
    </p:spTree>
  </p:cSld>
  <p:transition spd="slow">
    <p:fade/>
  </p:transition>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4"/>
        </a:solidFill>
        <a:effectLst/>
      </p:bgPr>
    </p:bg>
    <p:spTree>
      <p:nvGrpSpPr>
        <p:cNvPr id="1" name=""/>
        <p:cNvGrpSpPr/>
        <p:nvPr/>
      </p:nvGrpSpPr>
      <p:grpSpPr>
        <a:xfrm>
          <a:off x="0" y="0"/>
          <a:ext cx="0" cy="0"/>
          <a:chOff x="0" y="0"/>
          <a:chExt cx="0" cy="0"/>
        </a:xfrm>
      </p:grpSpPr>
      <p:sp>
        <p:nvSpPr>
          <p:cNvPr id="3" name="Text 0"/>
          <p:cNvSpPr/>
          <p:nvPr/>
        </p:nvSpPr>
        <p:spPr>
          <a:xfrm>
            <a:off x="3621956" y="447452"/>
            <a:ext cx="5487814" cy="180231"/>
          </a:xfrm>
          <a:prstGeom prst="rect">
            <a:avLst/>
          </a:prstGeom>
          <a:noFill/>
          <a:ln>
            <a:noFill/>
          </a:ln>
        </p:spPr>
        <p:txBody>
          <a:bodyPr wrap="none" tIns="91440" bIns="91440" rtlCol="0" anchor="t"/>
          <a:lstStyle/>
          <a:p>
            <a:pPr marL="0" indent="0" algn="l">
              <a:lnSpc>
                <a:spcPct val="129000"/>
              </a:lnSpc>
              <a:buNone/>
            </a:pPr>
            <a:endParaRPr lang="en-US" sz="900" dirty="0"/>
          </a:p>
        </p:txBody>
      </p:sp>
      <p:pic>
        <p:nvPicPr>
          <p:cNvPr id="4" name="Picture 3" descr="global_usecase.png"/>
          <p:cNvPicPr>
            <a:picLocks noChangeAspect="1"/>
          </p:cNvPicPr>
          <p:nvPr/>
        </p:nvPicPr>
        <p:blipFill>
          <a:blip r:embed="rId4"/>
          <a:stretch>
            <a:fillRect/>
          </a:stretch>
        </p:blipFill>
        <p:spPr>
          <a:xfrm>
            <a:off x="3401568" y="283464"/>
            <a:ext cx="2331720" cy="4572000"/>
          </a:xfrm>
          <a:prstGeom prst="rect">
            <a:avLst/>
          </a:prstGeom>
        </p:spPr>
      </p:pic>
    </p:spTree>
  </p:cSld>
  <p:transition spd="slow">
    <p:fade/>
  </p:transition>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1063749"/>
            <a:ext cx="1808783"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1100956"/>
            <a:ext cx="2117154"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2 — CONCEPTUAL STUDY</a:t>
            </a:r>
            <a:endParaRPr lang="en-US" sz="750" dirty="0"/>
          </a:p>
        </p:txBody>
      </p:sp>
      <p:sp>
        <p:nvSpPr>
          <p:cNvPr id="4" name="Text 2"/>
          <p:cNvSpPr/>
          <p:nvPr/>
        </p:nvSpPr>
        <p:spPr>
          <a:xfrm>
            <a:off x="496119" y="1346522"/>
            <a:ext cx="4925764" cy="387548"/>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Identification of System Actors</a:t>
            </a:r>
            <a:endParaRPr lang="en-US" sz="2400" dirty="0"/>
          </a:p>
        </p:txBody>
      </p:sp>
      <p:sp>
        <p:nvSpPr>
          <p:cNvPr id="5" name="Shape 3"/>
          <p:cNvSpPr/>
          <p:nvPr/>
        </p:nvSpPr>
        <p:spPr>
          <a:xfrm>
            <a:off x="406822" y="1920106"/>
            <a:ext cx="4103191" cy="2159571"/>
          </a:xfrm>
          <a:prstGeom prst="roundRect">
            <a:avLst>
              <a:gd name="adj" fmla="val 4136"/>
            </a:avLst>
          </a:prstGeom>
          <a:solidFill>
            <a:srgbClr val="131924">
              <a:alpha val="95000"/>
            </a:srgbClr>
          </a:solidFill>
          <a:ln w="12700">
            <a:solidFill>
              <a:srgbClr val="1E293B"/>
            </a:solidFill>
          </a:ln>
        </p:spPr>
        <p:txBody>
          <a:bodyPr tIns="91440" bIns="91440"/>
          <a:lstStyle/>
          <a:p>
            <a:endParaRPr lang="fr-TN"/>
          </a:p>
        </p:txBody>
      </p:sp>
      <p:sp>
        <p:nvSpPr>
          <p:cNvPr id="6" name="Text 4"/>
          <p:cNvSpPr/>
          <p:nvPr/>
        </p:nvSpPr>
        <p:spPr>
          <a:xfrm>
            <a:off x="530796" y="2044080"/>
            <a:ext cx="3074715"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System Actor: External Threat Feeds</a:t>
            </a:r>
            <a:endParaRPr lang="en-US" sz="1200" dirty="0"/>
          </a:p>
        </p:txBody>
      </p:sp>
      <p:sp>
        <p:nvSpPr>
          <p:cNvPr id="7" name="Text 5"/>
          <p:cNvSpPr/>
          <p:nvPr/>
        </p:nvSpPr>
        <p:spPr>
          <a:xfrm>
            <a:off x="530796" y="2361902"/>
            <a:ext cx="3855244"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Automatically pushes Indicators of Compromise (IOCs) — malicious IPs, domains, malware hashes — via HTTP REST APIs, SSE feeds, and WebSockets.</a:t>
            </a:r>
            <a:endParaRPr lang="en-US" sz="950" dirty="0"/>
          </a:p>
        </p:txBody>
      </p:sp>
      <p:sp>
        <p:nvSpPr>
          <p:cNvPr id="8" name="Text 6"/>
          <p:cNvSpPr/>
          <p:nvPr/>
        </p:nvSpPr>
        <p:spPr>
          <a:xfrm>
            <a:off x="530796" y="3068910"/>
            <a:ext cx="3855244" cy="682154"/>
          </a:xfrm>
          <a:prstGeom prst="rect">
            <a:avLst/>
          </a:prstGeom>
          <a:solidFill>
            <a:srgbClr val="131924"/>
          </a:solidFill>
          <a:ln w="12700">
            <a:solidFill>
              <a:srgbClr val="1E293B"/>
            </a:solidFill>
          </a:ln>
        </p:spPr>
        <p:txBody>
          <a:bodyPr wrap="square" tIns="91440" bIns="91440" rtlCol="0" anchor="t">
            <a:normAutofit/>
          </a:bodyPr>
          <a:lstStyle/>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Triggers backend ingestion asynchronously</a:t>
            </a:r>
            <a:endParaRPr lang="en-US" sz="950" dirty="0"/>
          </a:p>
          <a:p>
            <a:pPr marL="342900" indent="-342900" algn="l">
              <a:lnSpc>
                <a:spcPct val="133000"/>
              </a:lnSpc>
              <a:buSzPct val="100000"/>
              <a:buChar char="•"/>
            </a:pPr>
            <a:r>
              <a:rPr lang="en-US" sz="1300" dirty="0" b="1">
                <a:solidFill>
                  <a:srgbClr val="FFFFFF"/>
                </a:solidFill>
                <a:latin typeface="Segoe UI" pitchFamily="34" charset="0"/>
                <a:ea typeface="Nobile" pitchFamily="34" charset="-122"/>
                <a:cs typeface="Nobile" pitchFamily="34" charset="-120"/>
              </a:rPr>
              <a:t>9+ distinct feed sources integrated</a:t>
            </a:r>
            <a:endParaRPr lang="en-US" sz="950" dirty="0"/>
          </a:p>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Operates continuously without human intervention</a:t>
            </a:r>
            <a:endParaRPr lang="en-US" sz="950" dirty="0"/>
          </a:p>
        </p:txBody>
      </p:sp>
      <p:sp>
        <p:nvSpPr>
          <p:cNvPr id="9" name="Text 7"/>
          <p:cNvSpPr/>
          <p:nvPr/>
        </p:nvSpPr>
        <p:spPr>
          <a:xfrm>
            <a:off x="4728046" y="2044080"/>
            <a:ext cx="3174057"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Human Actor: Security Analyst (SOC)</a:t>
            </a:r>
            <a:endParaRPr lang="en-US" sz="1200" dirty="0"/>
          </a:p>
        </p:txBody>
      </p:sp>
      <p:sp>
        <p:nvSpPr>
          <p:cNvPr id="10" name="Text 8"/>
          <p:cNvSpPr/>
          <p:nvPr/>
        </p:nvSpPr>
        <p:spPr>
          <a:xfrm>
            <a:off x="4728046" y="2361902"/>
            <a:ext cx="3924598"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Interacts with the frontend dashboard to monitor, investigate, and export threat intelligence.</a:t>
            </a:r>
            <a:endParaRPr lang="en-US" sz="950" dirty="0"/>
          </a:p>
        </p:txBody>
      </p:sp>
      <p:sp>
        <p:nvSpPr>
          <p:cNvPr id="11" name="Text 9"/>
          <p:cNvSpPr/>
          <p:nvPr/>
        </p:nvSpPr>
        <p:spPr>
          <a:xfrm>
            <a:off x="4728046" y="2870448"/>
            <a:ext cx="3924598" cy="1165845"/>
          </a:xfrm>
          <a:prstGeom prst="rect">
            <a:avLst/>
          </a:prstGeom>
          <a:solidFill>
            <a:srgbClr val="131924"/>
          </a:solidFill>
          <a:ln w="12700">
            <a:solidFill>
              <a:srgbClr val="1E293B"/>
            </a:solidFill>
          </a:ln>
        </p:spPr>
        <p:txBody>
          <a:bodyPr wrap="square" tIns="91440" bIns="91440" rtlCol="0" anchor="t">
            <a:normAutofit/>
          </a:bodyPr>
          <a:lstStyle/>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Monitors the 3D globe and 2D dashboard in real-time</a:t>
            </a:r>
            <a:endParaRPr lang="en-US" sz="950" dirty="0"/>
          </a:p>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Filters alerts by country, sector, and malware type</a:t>
            </a:r>
            <a:endParaRPr lang="en-US" sz="950" dirty="0"/>
          </a:p>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Searches historical logs and exports to Excel</a:t>
            </a:r>
            <a:endParaRPr lang="en-US" sz="950" dirty="0"/>
          </a:p>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Uploads and parses local STIX 2.1 intelligence bundles</a:t>
            </a:r>
            <a:endParaRPr lang="en-US" sz="950" dirty="0"/>
          </a:p>
          <a:p>
            <a:pPr marL="342900" indent="-342900" algn="l">
              <a:lnSpc>
                <a:spcPct val="133000"/>
              </a:lnSpc>
              <a:buSzPct val="100000"/>
              <a:buChar char="•"/>
            </a:pPr>
            <a:r>
              <a:rPr lang="en-US" sz="1100" dirty="0" b="0">
                <a:solidFill>
                  <a:srgbClr val="A8B2D1"/>
                </a:solidFill>
                <a:latin typeface="Segoe UI" pitchFamily="34" charset="0"/>
                <a:ea typeface="Nobile" pitchFamily="34" charset="-122"/>
                <a:cs typeface="Nobile" pitchFamily="34" charset="-120"/>
              </a:rPr>
              <a:t>Geolocates their own public IP via "Target My IP"</a:t>
            </a:r>
            <a:endParaRPr lang="en-US" sz="950" dirty="0"/>
          </a:p>
        </p:txBody>
      </p:sp>
    </p:spTree>
  </p:cSld>
  <p:transition spd="slow">
    <p:fade/>
  </p:transition>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437108"/>
            <a:ext cx="1808783"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474315"/>
            <a:ext cx="2117154"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2 — CONCEPTUAL STUDY</a:t>
            </a:r>
            <a:endParaRPr lang="en-US" sz="750" dirty="0"/>
          </a:p>
        </p:txBody>
      </p:sp>
      <p:sp>
        <p:nvSpPr>
          <p:cNvPr id="4" name="Text 2"/>
          <p:cNvSpPr/>
          <p:nvPr/>
        </p:nvSpPr>
        <p:spPr>
          <a:xfrm>
            <a:off x="496119" y="719882"/>
            <a:ext cx="6180906"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Functional Requirements (RF-1 to RF-9)</a:t>
            </a:r>
            <a:endParaRPr lang="en-US" sz="2400" dirty="0"/>
          </a:p>
        </p:txBody>
      </p:sp>
      <p:sp>
        <p:nvSpPr>
          <p:cNvPr id="5" name="Shape 3"/>
          <p:cNvSpPr/>
          <p:nvPr/>
        </p:nvSpPr>
        <p:spPr>
          <a:xfrm>
            <a:off x="496119" y="1293465"/>
            <a:ext cx="1944960" cy="1121122"/>
          </a:xfrm>
          <a:prstGeom prst="roundRect">
            <a:avLst>
              <a:gd name="adj" fmla="val 4647"/>
            </a:avLst>
          </a:prstGeom>
          <a:solidFill>
            <a:srgbClr val="131924"/>
          </a:solidFill>
          <a:ln w="12700">
            <a:solidFill>
              <a:srgbClr val="1E293B"/>
            </a:solidFill>
            <a:prstDash val="solid"/>
          </a:ln>
        </p:spPr>
        <p:txBody>
          <a:bodyPr tIns="91440" bIns="91440"/>
          <a:lstStyle/>
          <a:p>
            <a:endParaRPr lang="fr-TN"/>
          </a:p>
        </p:txBody>
      </p:sp>
      <p:sp>
        <p:nvSpPr>
          <p:cNvPr id="6" name="Text 4"/>
          <p:cNvSpPr/>
          <p:nvPr/>
        </p:nvSpPr>
        <p:spPr>
          <a:xfrm>
            <a:off x="624855" y="1422202"/>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RF-1</a:t>
            </a:r>
            <a:endParaRPr lang="en-US" sz="1200" dirty="0"/>
          </a:p>
        </p:txBody>
      </p:sp>
      <p:sp>
        <p:nvSpPr>
          <p:cNvPr id="7" name="Text 5"/>
          <p:cNvSpPr/>
          <p:nvPr/>
        </p:nvSpPr>
        <p:spPr>
          <a:xfrm>
            <a:off x="624855" y="1690464"/>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Multi-feed ingestion from 9+ sources (AlienVault, URLhaus, Checkpoint, etc.)</a:t>
            </a:r>
            <a:endParaRPr lang="en-US" sz="950" dirty="0"/>
          </a:p>
        </p:txBody>
      </p:sp>
      <p:sp>
        <p:nvSpPr>
          <p:cNvPr id="8" name="Shape 6"/>
          <p:cNvSpPr/>
          <p:nvPr/>
        </p:nvSpPr>
        <p:spPr>
          <a:xfrm>
            <a:off x="2565053" y="1293465"/>
            <a:ext cx="1944960" cy="1121122"/>
          </a:xfrm>
          <a:prstGeom prst="roundRect">
            <a:avLst>
              <a:gd name="adj" fmla="val 4647"/>
            </a:avLst>
          </a:prstGeom>
          <a:solidFill>
            <a:srgbClr val="131924"/>
          </a:solidFill>
          <a:ln w="12700">
            <a:solidFill>
              <a:srgbClr val="1E293B"/>
            </a:solidFill>
            <a:prstDash val="solid"/>
          </a:ln>
        </p:spPr>
        <p:txBody>
          <a:bodyPr tIns="91440" bIns="91440"/>
          <a:lstStyle/>
          <a:p>
            <a:endParaRPr lang="fr-TN"/>
          </a:p>
        </p:txBody>
      </p:sp>
      <p:sp>
        <p:nvSpPr>
          <p:cNvPr id="9" name="Text 7"/>
          <p:cNvSpPr/>
          <p:nvPr/>
        </p:nvSpPr>
        <p:spPr>
          <a:xfrm>
            <a:off x="2693789" y="1422202"/>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RF-2</a:t>
            </a:r>
            <a:endParaRPr lang="en-US" sz="1200" dirty="0"/>
          </a:p>
        </p:txBody>
      </p:sp>
      <p:sp>
        <p:nvSpPr>
          <p:cNvPr id="10" name="Text 8"/>
          <p:cNvSpPr/>
          <p:nvPr/>
        </p:nvSpPr>
        <p:spPr>
          <a:xfrm>
            <a:off x="2693789" y="1690464"/>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IP geolocation enrichment using local geocoding library (lat/lon, ISO code, ASN)</a:t>
            </a:r>
            <a:endParaRPr lang="en-US" sz="950" dirty="0"/>
          </a:p>
        </p:txBody>
      </p:sp>
      <p:sp>
        <p:nvSpPr>
          <p:cNvPr id="11" name="Shape 9"/>
          <p:cNvSpPr/>
          <p:nvPr/>
        </p:nvSpPr>
        <p:spPr>
          <a:xfrm>
            <a:off x="4633987" y="1293465"/>
            <a:ext cx="1944960" cy="1121122"/>
          </a:xfrm>
          <a:prstGeom prst="roundRect">
            <a:avLst>
              <a:gd name="adj" fmla="val 4647"/>
            </a:avLst>
          </a:prstGeom>
          <a:solidFill>
            <a:srgbClr val="131924"/>
          </a:solidFill>
          <a:ln w="12700">
            <a:solidFill>
              <a:srgbClr val="1E293B"/>
            </a:solidFill>
            <a:prstDash val="solid"/>
          </a:ln>
        </p:spPr>
        <p:txBody>
          <a:bodyPr tIns="91440" bIns="91440"/>
          <a:lstStyle/>
          <a:p>
            <a:endParaRPr lang="fr-TN"/>
          </a:p>
        </p:txBody>
      </p:sp>
      <p:sp>
        <p:nvSpPr>
          <p:cNvPr id="12" name="Text 10"/>
          <p:cNvSpPr/>
          <p:nvPr/>
        </p:nvSpPr>
        <p:spPr>
          <a:xfrm>
            <a:off x="4762723" y="1422202"/>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RF-3</a:t>
            </a:r>
            <a:endParaRPr lang="en-US" sz="1200" dirty="0"/>
          </a:p>
        </p:txBody>
      </p:sp>
      <p:sp>
        <p:nvSpPr>
          <p:cNvPr id="13" name="Text 11"/>
          <p:cNvSpPr/>
          <p:nvPr/>
        </p:nvSpPr>
        <p:spPr>
          <a:xfrm>
            <a:off x="4762723" y="1690464"/>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5-layer sector classification into 9 critical industries (Healthcare, Finance, Gov…)</a:t>
            </a:r>
            <a:endParaRPr lang="en-US" sz="950" dirty="0"/>
          </a:p>
        </p:txBody>
      </p:sp>
      <p:sp>
        <p:nvSpPr>
          <p:cNvPr id="14" name="Shape 12"/>
          <p:cNvSpPr/>
          <p:nvPr/>
        </p:nvSpPr>
        <p:spPr>
          <a:xfrm>
            <a:off x="6702921" y="1293465"/>
            <a:ext cx="1944960" cy="1121122"/>
          </a:xfrm>
          <a:prstGeom prst="roundRect">
            <a:avLst>
              <a:gd name="adj" fmla="val 4647"/>
            </a:avLst>
          </a:prstGeom>
          <a:solidFill>
            <a:srgbClr val="131924"/>
          </a:solidFill>
          <a:ln w="12700">
            <a:solidFill>
              <a:srgbClr val="1E293B"/>
            </a:solidFill>
            <a:prstDash val="solid"/>
          </a:ln>
        </p:spPr>
        <p:txBody>
          <a:bodyPr tIns="91440" bIns="91440"/>
          <a:lstStyle/>
          <a:p>
            <a:endParaRPr lang="fr-TN"/>
          </a:p>
        </p:txBody>
      </p:sp>
      <p:sp>
        <p:nvSpPr>
          <p:cNvPr id="15" name="Text 13"/>
          <p:cNvSpPr/>
          <p:nvPr/>
        </p:nvSpPr>
        <p:spPr>
          <a:xfrm>
            <a:off x="6831657" y="1422202"/>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RF-4</a:t>
            </a:r>
            <a:endParaRPr lang="en-US" sz="1200" dirty="0"/>
          </a:p>
        </p:txBody>
      </p:sp>
      <p:sp>
        <p:nvSpPr>
          <p:cNvPr id="16" name="Text 14"/>
          <p:cNvSpPr/>
          <p:nvPr/>
        </p:nvSpPr>
        <p:spPr>
          <a:xfrm>
            <a:off x="6831657" y="1690464"/>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Real-time SSE streaming with 300ms batching queue and keep-alive heartbeat</a:t>
            </a:r>
            <a:endParaRPr lang="en-US" sz="950" dirty="0"/>
          </a:p>
        </p:txBody>
      </p:sp>
      <p:sp>
        <p:nvSpPr>
          <p:cNvPr id="17" name="Shape 15"/>
          <p:cNvSpPr/>
          <p:nvPr/>
        </p:nvSpPr>
        <p:spPr>
          <a:xfrm>
            <a:off x="496119" y="2538561"/>
            <a:ext cx="1944960" cy="1319585"/>
          </a:xfrm>
          <a:prstGeom prst="roundRect">
            <a:avLst>
              <a:gd name="adj" fmla="val 3948"/>
            </a:avLst>
          </a:prstGeom>
          <a:solidFill>
            <a:srgbClr val="131924"/>
          </a:solidFill>
          <a:ln w="12700">
            <a:solidFill>
              <a:srgbClr val="1E293B"/>
            </a:solidFill>
            <a:prstDash val="solid"/>
          </a:ln>
        </p:spPr>
        <p:txBody>
          <a:bodyPr tIns="91440" bIns="91440"/>
          <a:lstStyle/>
          <a:p>
            <a:endParaRPr lang="fr-TN"/>
          </a:p>
        </p:txBody>
      </p:sp>
      <p:sp>
        <p:nvSpPr>
          <p:cNvPr id="18" name="Text 16"/>
          <p:cNvSpPr/>
          <p:nvPr/>
        </p:nvSpPr>
        <p:spPr>
          <a:xfrm>
            <a:off x="624855" y="2667298"/>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RF-5</a:t>
            </a:r>
            <a:endParaRPr lang="en-US" sz="1200" dirty="0"/>
          </a:p>
        </p:txBody>
      </p:sp>
      <p:sp>
        <p:nvSpPr>
          <p:cNvPr id="19" name="Text 17"/>
          <p:cNvSpPr/>
          <p:nvPr/>
        </p:nvSpPr>
        <p:spPr>
          <a:xfrm>
            <a:off x="624855" y="2935560"/>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3D WebGL Threat Map with animated arcs, pulsating markers, 2D/3D toggle</a:t>
            </a:r>
            <a:endParaRPr lang="en-US" sz="950" dirty="0"/>
          </a:p>
        </p:txBody>
      </p:sp>
      <p:sp>
        <p:nvSpPr>
          <p:cNvPr id="20" name="Shape 18"/>
          <p:cNvSpPr/>
          <p:nvPr/>
        </p:nvSpPr>
        <p:spPr>
          <a:xfrm>
            <a:off x="2565053" y="2538561"/>
            <a:ext cx="1944960" cy="1319585"/>
          </a:xfrm>
          <a:prstGeom prst="roundRect">
            <a:avLst>
              <a:gd name="adj" fmla="val 3948"/>
            </a:avLst>
          </a:prstGeom>
          <a:solidFill>
            <a:srgbClr val="131924"/>
          </a:solidFill>
          <a:ln w="12700">
            <a:solidFill>
              <a:srgbClr val="1E293B"/>
            </a:solidFill>
            <a:prstDash val="solid"/>
          </a:ln>
        </p:spPr>
        <p:txBody>
          <a:bodyPr tIns="91440" bIns="91440"/>
          <a:lstStyle/>
          <a:p>
            <a:endParaRPr lang="fr-TN"/>
          </a:p>
        </p:txBody>
      </p:sp>
      <p:sp>
        <p:nvSpPr>
          <p:cNvPr id="21" name="Text 19"/>
          <p:cNvSpPr/>
          <p:nvPr/>
        </p:nvSpPr>
        <p:spPr>
          <a:xfrm>
            <a:off x="2693789" y="2667298"/>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RF-6</a:t>
            </a:r>
            <a:endParaRPr lang="en-US" sz="1200" dirty="0"/>
          </a:p>
        </p:txBody>
      </p:sp>
      <p:sp>
        <p:nvSpPr>
          <p:cNvPr id="22" name="Text 20"/>
          <p:cNvSpPr/>
          <p:nvPr/>
        </p:nvSpPr>
        <p:spPr>
          <a:xfrm>
            <a:off x="2693789" y="2935560"/>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Client-side STIX 2.1 JSON bundle parser (up to 300KB, no server upload)</a:t>
            </a:r>
            <a:endParaRPr lang="en-US" sz="950" dirty="0"/>
          </a:p>
        </p:txBody>
      </p:sp>
      <p:sp>
        <p:nvSpPr>
          <p:cNvPr id="23" name="Shape 21"/>
          <p:cNvSpPr/>
          <p:nvPr/>
        </p:nvSpPr>
        <p:spPr>
          <a:xfrm>
            <a:off x="4633987" y="2538561"/>
            <a:ext cx="1944960" cy="1319585"/>
          </a:xfrm>
          <a:prstGeom prst="roundRect">
            <a:avLst>
              <a:gd name="adj" fmla="val 3948"/>
            </a:avLst>
          </a:prstGeom>
          <a:solidFill>
            <a:srgbClr val="131924"/>
          </a:solidFill>
          <a:ln w="12700">
            <a:solidFill>
              <a:srgbClr val="1E293B"/>
            </a:solidFill>
            <a:prstDash val="solid"/>
          </a:ln>
        </p:spPr>
        <p:txBody>
          <a:bodyPr tIns="91440" bIns="91440"/>
          <a:lstStyle/>
          <a:p>
            <a:endParaRPr lang="fr-TN"/>
          </a:p>
        </p:txBody>
      </p:sp>
      <p:sp>
        <p:nvSpPr>
          <p:cNvPr id="24" name="Text 22"/>
          <p:cNvSpPr/>
          <p:nvPr/>
        </p:nvSpPr>
        <p:spPr>
          <a:xfrm>
            <a:off x="4762723" y="2667298"/>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RF-7</a:t>
            </a:r>
            <a:endParaRPr lang="en-US" sz="1200" dirty="0"/>
          </a:p>
        </p:txBody>
      </p:sp>
      <p:sp>
        <p:nvSpPr>
          <p:cNvPr id="25" name="Text 23"/>
          <p:cNvSpPr/>
          <p:nvPr/>
        </p:nvSpPr>
        <p:spPr>
          <a:xfrm>
            <a:off x="4762723" y="2935560"/>
            <a:ext cx="1687488"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MITRE ATT&amp;CK Kill Chain mapping across 12 adversary phases</a:t>
            </a:r>
            <a:endParaRPr lang="en-US" sz="950" dirty="0"/>
          </a:p>
        </p:txBody>
      </p:sp>
      <p:sp>
        <p:nvSpPr>
          <p:cNvPr id="26" name="Shape 24"/>
          <p:cNvSpPr/>
          <p:nvPr/>
        </p:nvSpPr>
        <p:spPr>
          <a:xfrm>
            <a:off x="6702921" y="2538561"/>
            <a:ext cx="1944960" cy="1319585"/>
          </a:xfrm>
          <a:prstGeom prst="roundRect">
            <a:avLst>
              <a:gd name="adj" fmla="val 3948"/>
            </a:avLst>
          </a:prstGeom>
          <a:solidFill>
            <a:srgbClr val="131924"/>
          </a:solidFill>
          <a:ln w="12700">
            <a:solidFill>
              <a:srgbClr val="1E293B"/>
            </a:solidFill>
            <a:prstDash val="solid"/>
          </a:ln>
        </p:spPr>
        <p:txBody>
          <a:bodyPr tIns="91440" bIns="91440"/>
          <a:lstStyle/>
          <a:p>
            <a:endParaRPr lang="fr-TN"/>
          </a:p>
        </p:txBody>
      </p:sp>
      <p:sp>
        <p:nvSpPr>
          <p:cNvPr id="27" name="Text 25"/>
          <p:cNvSpPr/>
          <p:nvPr/>
        </p:nvSpPr>
        <p:spPr>
          <a:xfrm>
            <a:off x="6831657" y="2667298"/>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RF-8</a:t>
            </a:r>
            <a:endParaRPr lang="en-US" sz="1200" dirty="0"/>
          </a:p>
        </p:txBody>
      </p:sp>
      <p:sp>
        <p:nvSpPr>
          <p:cNvPr id="28" name="Text 26"/>
          <p:cNvSpPr/>
          <p:nvPr/>
        </p:nvSpPr>
        <p:spPr>
          <a:xfrm>
            <a:off x="6831657" y="2935560"/>
            <a:ext cx="1687488" cy="793849"/>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Searchable historical log browser with regex, country, sector, and pagination filters</a:t>
            </a:r>
            <a:endParaRPr lang="en-US" sz="950" dirty="0"/>
          </a:p>
        </p:txBody>
      </p:sp>
      <p:sp>
        <p:nvSpPr>
          <p:cNvPr id="29" name="Shape 27"/>
          <p:cNvSpPr/>
          <p:nvPr/>
        </p:nvSpPr>
        <p:spPr>
          <a:xfrm>
            <a:off x="496119" y="3982120"/>
            <a:ext cx="8151763" cy="724198"/>
          </a:xfrm>
          <a:prstGeom prst="roundRect">
            <a:avLst>
              <a:gd name="adj" fmla="val 7194"/>
            </a:avLst>
          </a:prstGeom>
          <a:solidFill>
            <a:srgbClr val="131924"/>
          </a:solidFill>
          <a:ln w="12700">
            <a:solidFill>
              <a:srgbClr val="1E293B"/>
            </a:solidFill>
            <a:prstDash val="solid"/>
          </a:ln>
        </p:spPr>
        <p:txBody>
          <a:bodyPr tIns="91440" bIns="91440"/>
          <a:lstStyle/>
          <a:p>
            <a:endParaRPr lang="fr-TN"/>
          </a:p>
        </p:txBody>
      </p:sp>
      <p:sp>
        <p:nvSpPr>
          <p:cNvPr id="30" name="Text 28"/>
          <p:cNvSpPr/>
          <p:nvPr/>
        </p:nvSpPr>
        <p:spPr>
          <a:xfrm>
            <a:off x="624855" y="4110856"/>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RF-9</a:t>
            </a:r>
            <a:endParaRPr lang="en-US" sz="1200" dirty="0"/>
          </a:p>
        </p:txBody>
      </p:sp>
      <p:sp>
        <p:nvSpPr>
          <p:cNvPr id="31" name="Text 29"/>
          <p:cNvSpPr/>
          <p:nvPr/>
        </p:nvSpPr>
        <p:spPr>
          <a:xfrm>
            <a:off x="624855" y="4379119"/>
            <a:ext cx="7894290" cy="198462"/>
          </a:xfrm>
          <a:prstGeom prst="rect">
            <a:avLst/>
          </a:prstGeom>
          <a:noFill/>
          <a:ln>
            <a:noFill/>
          </a:ln>
        </p:spPr>
        <p:txBody>
          <a:bodyPr wrap="none" tIns="91440" bIns="91440" rtlCol="0" anchor="t"/>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"Target My IP" geolocator and Excel export for up to 5,000 threat logs</a:t>
            </a:r>
            <a:endParaRPr lang="en-US" sz="950" dirty="0"/>
          </a:p>
        </p:txBody>
      </p:sp>
    </p:spTree>
  </p:cSld>
  <p:transition spd="slow">
    <p:fade/>
  </p:transition>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484063"/>
            <a:ext cx="1526381" cy="186110"/>
          </a:xfrm>
          <a:prstGeom prst="roundRect">
            <a:avLst>
              <a:gd name="adj" fmla="val 18896"/>
            </a:avLst>
          </a:prstGeom>
          <a:noFill/>
          <a:ln>
            <a:noFill/>
          </a:ln>
        </p:spPr>
        <p:txBody>
          <a:bodyPr tIns="91440" bIns="91440"/>
          <a:lstStyle/>
          <a:p>
            <a:endParaRPr lang="fr-TN"/>
          </a:p>
        </p:txBody>
      </p:sp>
      <p:sp>
        <p:nvSpPr>
          <p:cNvPr id="3" name="Text 1"/>
          <p:cNvSpPr/>
          <p:nvPr/>
        </p:nvSpPr>
        <p:spPr>
          <a:xfrm>
            <a:off x="558850" y="515392"/>
            <a:ext cx="1858119" cy="123453"/>
          </a:xfrm>
          <a:prstGeom prst="rect">
            <a:avLst/>
          </a:prstGeom>
          <a:noFill/>
          <a:ln>
            <a:noFill/>
          </a:ln>
        </p:spPr>
        <p:txBody>
          <a:bodyPr wrap="none" tIns="91440" bIns="91440" rtlCol="0" anchor="t"/>
          <a:lstStyle/>
          <a:p>
            <a:pPr marL="0" indent="0" algn="l">
              <a:lnSpc>
                <a:spcPct val="123000"/>
              </a:lnSpc>
              <a:buNone/>
            </a:pPr>
            <a:r>
              <a:rPr lang="en-US" sz="1000" dirty="0" b="1">
                <a:solidFill>
                  <a:srgbClr val="00F0FF"/>
                </a:solidFill>
                <a:latin typeface="Segoe UI" pitchFamily="34" charset="0"/>
                <a:ea typeface="Nobile" pitchFamily="34" charset="-122"/>
                <a:cs typeface="Nobile" pitchFamily="34" charset="-120"/>
              </a:rPr>
              <a:t>CHAPTER 2 — CONCEPTUAL STUDY</a:t>
            </a:r>
            <a:endParaRPr lang="en-US" sz="650" dirty="0"/>
          </a:p>
        </p:txBody>
      </p:sp>
      <p:sp>
        <p:nvSpPr>
          <p:cNvPr id="4" name="Text 2"/>
          <p:cNvSpPr/>
          <p:nvPr/>
        </p:nvSpPr>
        <p:spPr>
          <a:xfrm>
            <a:off x="496119" y="705445"/>
            <a:ext cx="6487492" cy="327050"/>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Non-Functional Requirements &amp; Global Use Case</a:t>
            </a:r>
            <a:endParaRPr lang="en-US" sz="2050" dirty="0"/>
          </a:p>
        </p:txBody>
      </p:sp>
      <p:sp>
        <p:nvSpPr>
          <p:cNvPr id="5" name="Text 3"/>
          <p:cNvSpPr/>
          <p:nvPr/>
        </p:nvSpPr>
        <p:spPr>
          <a:xfrm>
            <a:off x="496119" y="1253207"/>
            <a:ext cx="2341513" cy="163488"/>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Non-Functional Requirements</a:t>
            </a:r>
            <a:endParaRPr lang="en-US" sz="10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31" y="1516038"/>
            <a:ext cx="1944291" cy="952798"/>
          </a:xfrm>
          <a:prstGeom prst="rect">
            <a:avLst/>
          </a:prstGeom>
        </p:spPr>
      </p:pic>
      <p:sp>
        <p:nvSpPr>
          <p:cNvPr id="7" name="Text 4"/>
          <p:cNvSpPr/>
          <p:nvPr/>
        </p:nvSpPr>
        <p:spPr>
          <a:xfrm>
            <a:off x="657895" y="1634951"/>
            <a:ext cx="1315417" cy="163488"/>
          </a:xfrm>
          <a:prstGeom prst="rect">
            <a:avLst/>
          </a:prstGeom>
          <a:noFill/>
          <a:ln>
            <a:noFill/>
          </a:ln>
        </p:spPr>
        <p:txBody>
          <a:bodyPr wrap="none" tIns="91440" bIns="91440" rtlCol="0" anchor="t"/>
          <a:lstStyle/>
          <a:p>
            <a:pPr marL="0" indent="0" algn="l">
              <a:lnSpc>
                <a:spcPct val="104000"/>
              </a:lnSpc>
              <a:buNone/>
            </a:pPr>
            <a:r>
              <a:rPr lang="en-US" sz="1300" b="1" dirty="0">
                <a:solidFill>
                  <a:srgbClr val="FFFFFF"/>
                </a:solidFill>
                <a:latin typeface="Segoe UI" pitchFamily="34" charset="0"/>
                <a:ea typeface="Corben" pitchFamily="34" charset="-122"/>
                <a:cs typeface="Corben" pitchFamily="34" charset="-120"/>
              </a:rPr>
              <a:t>RNF-1: 60fps Fluidity</a:t>
            </a:r>
            <a:endParaRPr lang="en-US" sz="1000" b="1" dirty="0"/>
          </a:p>
        </p:txBody>
      </p:sp>
      <p:sp>
        <p:nvSpPr>
          <p:cNvPr id="8" name="Text 5"/>
          <p:cNvSpPr/>
          <p:nvPr/>
        </p:nvSpPr>
        <p:spPr>
          <a:xfrm>
            <a:off x="657895" y="1886694"/>
            <a:ext cx="1649313" cy="463228"/>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3000"/>
              </a:lnSpc>
              <a:buNone/>
            </a:pPr>
            <a:r>
              <a:rPr lang="en-US" sz="1100" b="0" dirty="0">
                <a:solidFill>
                  <a:srgbClr val="A8B2D1"/>
                </a:solidFill>
                <a:latin typeface="Segoe UI" pitchFamily="34" charset="0"/>
                <a:ea typeface="Nobile" pitchFamily="34" charset="-122"/>
                <a:cs typeface="Nobile" pitchFamily="34" charset="-120"/>
              </a:rPr>
              <a:t>Adaptive quality reduction if frame rate drops below threshold.</a:t>
            </a:r>
            <a:endParaRPr lang="en-US" sz="800" b="1"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00089" y="1516038"/>
            <a:ext cx="1944291" cy="952798"/>
          </a:xfrm>
          <a:prstGeom prst="rect">
            <a:avLst/>
          </a:prstGeom>
        </p:spPr>
      </p:pic>
      <p:sp>
        <p:nvSpPr>
          <p:cNvPr id="10" name="Text 6"/>
          <p:cNvSpPr/>
          <p:nvPr/>
        </p:nvSpPr>
        <p:spPr>
          <a:xfrm>
            <a:off x="2676153" y="1634951"/>
            <a:ext cx="1398538" cy="163488"/>
          </a:xfrm>
          <a:prstGeom prst="rect">
            <a:avLst/>
          </a:prstGeom>
          <a:noFill/>
          <a:ln>
            <a:noFill/>
          </a:ln>
        </p:spPr>
        <p:txBody>
          <a:bodyPr wrap="none" tIns="91440" bIns="91440" rtlCol="0" anchor="t"/>
          <a:lstStyle/>
          <a:p>
            <a:pPr marL="0" indent="0" algn="l">
              <a:lnSpc>
                <a:spcPct val="104000"/>
              </a:lnSpc>
              <a:buNone/>
            </a:pPr>
            <a:r>
              <a:rPr lang="en-US" sz="1300" b="1" dirty="0">
                <a:solidFill>
                  <a:srgbClr val="FFFFFF"/>
                </a:solidFill>
                <a:latin typeface="Segoe UI" pitchFamily="34" charset="0"/>
                <a:ea typeface="Corben" pitchFamily="34" charset="-122"/>
                <a:cs typeface="Corben" pitchFamily="34" charset="-120"/>
              </a:rPr>
              <a:t>RNF-2: Circular Buffer</a:t>
            </a:r>
            <a:endParaRPr lang="en-US" sz="1000" b="1" dirty="0"/>
          </a:p>
        </p:txBody>
      </p:sp>
      <p:sp>
        <p:nvSpPr>
          <p:cNvPr id="11" name="Text 7"/>
          <p:cNvSpPr/>
          <p:nvPr/>
        </p:nvSpPr>
        <p:spPr>
          <a:xfrm>
            <a:off x="2676153" y="1886694"/>
            <a:ext cx="1649313" cy="463228"/>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3000"/>
              </a:lnSpc>
              <a:buNone/>
            </a:pPr>
            <a:r>
              <a:rPr lang="en-US" sz="1100" b="0" dirty="0">
                <a:solidFill>
                  <a:srgbClr val="A8B2D1"/>
                </a:solidFill>
                <a:latin typeface="Segoe UI" pitchFamily="34" charset="0"/>
                <a:ea typeface="Nobile" pitchFamily="34" charset="-122"/>
                <a:cs typeface="Nobile" pitchFamily="34" charset="-120"/>
              </a:rPr>
              <a:t>10,000-event RingBuffer caps memory usage at a constant footprint.</a:t>
            </a:r>
            <a:endParaRPr lang="en-US" sz="800" b="1"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8347" y="1506960"/>
            <a:ext cx="1944291" cy="961876"/>
          </a:xfrm>
          <a:prstGeom prst="rect">
            <a:avLst/>
          </a:prstGeom>
        </p:spPr>
      </p:pic>
      <p:sp>
        <p:nvSpPr>
          <p:cNvPr id="13" name="Text 8"/>
          <p:cNvSpPr/>
          <p:nvPr/>
        </p:nvSpPr>
        <p:spPr>
          <a:xfrm>
            <a:off x="4694411" y="1625874"/>
            <a:ext cx="1308274" cy="163488"/>
          </a:xfrm>
          <a:prstGeom prst="rect">
            <a:avLst/>
          </a:prstGeom>
          <a:noFill/>
          <a:ln>
            <a:noFill/>
          </a:ln>
        </p:spPr>
        <p:txBody>
          <a:bodyPr wrap="none" tIns="91440" bIns="91440" rtlCol="0" anchor="t"/>
          <a:lstStyle/>
          <a:p>
            <a:pPr marL="0" indent="0" algn="l">
              <a:lnSpc>
                <a:spcPct val="104000"/>
              </a:lnSpc>
              <a:buNone/>
            </a:pPr>
            <a:r>
              <a:rPr lang="en-US" sz="1300" b="1" dirty="0">
                <a:solidFill>
                  <a:srgbClr val="FFFFFF"/>
                </a:solidFill>
                <a:latin typeface="Segoe UI" pitchFamily="34" charset="0"/>
                <a:ea typeface="Corben" pitchFamily="34" charset="-122"/>
                <a:cs typeface="Corben" pitchFamily="34" charset="-120"/>
              </a:rPr>
              <a:t>RNF-3: 30-Day TTL</a:t>
            </a:r>
            <a:endParaRPr lang="en-US" sz="1000" b="1" dirty="0"/>
          </a:p>
        </p:txBody>
      </p:sp>
      <p:sp>
        <p:nvSpPr>
          <p:cNvPr id="14" name="Text 9"/>
          <p:cNvSpPr/>
          <p:nvPr/>
        </p:nvSpPr>
        <p:spPr>
          <a:xfrm>
            <a:off x="4694411" y="1877617"/>
            <a:ext cx="1649313" cy="308818"/>
          </a:xfrm>
          <a:prstGeom prst="rect">
            <a:avLst/>
          </a:prstGeom>
          <a:noFill/>
          <a:ln>
            <a:noFill/>
          </a:ln>
        </p:spPr>
        <p:txBody>
          <a:bodyPr wrap="square" tIns="91440" bIns="91440" rtlCol="0" anchor="t">
            <a:normAutofit/>
          </a:bodyPr>
          <a:lstStyle/>
          <a:p>
            <a:pPr marL="0" indent="0" algn="l">
              <a:lnSpc>
                <a:spcPct val="123000"/>
              </a:lnSpc>
              <a:buNone/>
            </a:pPr>
            <a:r>
              <a:rPr lang="en-US" sz="1100" b="0" dirty="0">
                <a:solidFill>
                  <a:srgbClr val="A8B2D1"/>
                </a:solidFill>
                <a:latin typeface="Segoe UI" pitchFamily="34" charset="0"/>
                <a:ea typeface="Nobile" pitchFamily="34" charset="-122"/>
                <a:cs typeface="Nobile" pitchFamily="34" charset="-120"/>
              </a:rPr>
              <a:t>Threat records auto-expire from MongoDB after 30 days.</a:t>
            </a:r>
            <a:endParaRPr lang="en-US" sz="800" b="1"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1814" y="1516038"/>
            <a:ext cx="1944291" cy="961876"/>
          </a:xfrm>
          <a:prstGeom prst="rect">
            <a:avLst/>
          </a:prstGeom>
        </p:spPr>
      </p:pic>
      <p:sp>
        <p:nvSpPr>
          <p:cNvPr id="16" name="Text 10"/>
          <p:cNvSpPr/>
          <p:nvPr/>
        </p:nvSpPr>
        <p:spPr>
          <a:xfrm>
            <a:off x="6717878" y="1634952"/>
            <a:ext cx="1649313" cy="326975"/>
          </a:xfrm>
          <a:prstGeom prst="rect">
            <a:avLst/>
          </a:prstGeom>
          <a:noFill/>
          <a:ln>
            <a:noFill/>
          </a:ln>
        </p:spPr>
        <p:txBody>
          <a:bodyPr wrap="square" tIns="91440" bIns="91440" rtlCol="0" anchor="t">
            <a:normAutofit/>
          </a:bodyPr>
          <a:lstStyle/>
          <a:p>
            <a:pPr marL="0" indent="0" algn="l">
              <a:lnSpc>
                <a:spcPct val="104000"/>
              </a:lnSpc>
              <a:buNone/>
            </a:pPr>
            <a:r>
              <a:rPr lang="en-US" sz="1300" b="1" dirty="0">
                <a:solidFill>
                  <a:srgbClr val="FFFFFF"/>
                </a:solidFill>
                <a:latin typeface="Segoe UI" pitchFamily="34" charset="0"/>
                <a:ea typeface="Corben" pitchFamily="34" charset="-122"/>
                <a:cs typeface="Corben" pitchFamily="34" charset="-120"/>
              </a:rPr>
              <a:t>RNF-4: 500MB Quota Guard</a:t>
            </a:r>
            <a:endParaRPr lang="en-US" sz="1000" b="1" dirty="0"/>
          </a:p>
        </p:txBody>
      </p:sp>
      <p:sp>
        <p:nvSpPr>
          <p:cNvPr id="17" name="Text 11"/>
          <p:cNvSpPr/>
          <p:nvPr/>
        </p:nvSpPr>
        <p:spPr>
          <a:xfrm>
            <a:off x="6717878" y="2050183"/>
            <a:ext cx="1649313" cy="308818"/>
          </a:xfrm>
          <a:prstGeom prst="rect">
            <a:avLst/>
          </a:prstGeom>
          <a:noFill/>
          <a:ln>
            <a:noFill/>
          </a:ln>
        </p:spPr>
        <p:txBody>
          <a:bodyPr wrap="square" tIns="91440" bIns="91440" rtlCol="0" anchor="t">
            <a:normAutofit/>
          </a:bodyPr>
          <a:lstStyle/>
          <a:p>
            <a:pPr marL="0" indent="0" algn="l">
              <a:lnSpc>
                <a:spcPct val="123000"/>
              </a:lnSpc>
              <a:buNone/>
            </a:pPr>
            <a:r>
              <a:rPr lang="en-US" sz="1100" b="0" dirty="0">
                <a:solidFill>
                  <a:srgbClr val="A8B2D1"/>
                </a:solidFill>
                <a:latin typeface="Segoe UI" pitchFamily="34" charset="0"/>
                <a:ea typeface="Nobile" pitchFamily="34" charset="-122"/>
                <a:cs typeface="Nobile" pitchFamily="34" charset="-120"/>
              </a:rPr>
              <a:t>Backend switches to in-memory streaming if DB exceeds 500MB.</a:t>
            </a:r>
            <a:endParaRPr lang="en-US" sz="800" b="1" dirty="0"/>
          </a:p>
        </p:txBody>
      </p:sp>
      <p:grpSp>
        <p:nvGrpSpPr>
          <p:cNvPr id="22" name="Groupe 21">
            <a:extLst>
              <a:ext uri="{FF2B5EF4-FFF2-40B4-BE49-F238E27FC236}">
                <a16:creationId xmlns:a16="http://schemas.microsoft.com/office/drawing/2014/main" id="{C1A6687B-5961-F1B6-0587-353359BCC66A}"/>
              </a:ext>
            </a:extLst>
          </p:cNvPr>
          <p:cNvGrpSpPr/>
          <p:nvPr/>
        </p:nvGrpSpPr>
        <p:grpSpPr>
          <a:xfrm>
            <a:off x="3599854" y="2791734"/>
            <a:ext cx="1944291" cy="952798"/>
            <a:chOff x="3472234" y="3575505"/>
            <a:chExt cx="1944291" cy="952798"/>
          </a:xfrm>
        </p:grpSpPr>
        <p:pic>
          <p:nvPicPr>
            <p:cNvPr id="18"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2234" y="3575505"/>
              <a:ext cx="1944291" cy="952798"/>
            </a:xfrm>
            <a:prstGeom prst="rect">
              <a:avLst/>
            </a:prstGeom>
          </p:spPr>
        </p:pic>
        <p:sp>
          <p:nvSpPr>
            <p:cNvPr id="19" name="Text 12"/>
            <p:cNvSpPr/>
            <p:nvPr/>
          </p:nvSpPr>
          <p:spPr>
            <a:xfrm>
              <a:off x="3648298" y="3694418"/>
              <a:ext cx="1646411" cy="163488"/>
            </a:xfrm>
            <a:prstGeom prst="rect">
              <a:avLst/>
            </a:prstGeom>
            <a:noFill/>
            <a:ln/>
          </p:spPr>
          <p:txBody>
            <a:bodyPr wrap="none" lIns="0" tIns="0" rIns="0" bIns="0" rtlCol="0" anchor="t"/>
            <a:lstStyle/>
            <a:p>
              <a:pPr marL="0" indent="0" algn="l">
                <a:lnSpc>
                  <a:spcPct val="104000"/>
                </a:lnSpc>
                <a:buNone/>
              </a:pPr>
              <a:r>
                <a:rPr lang="en-US" sz="1000" b="1" dirty="0">
                  <a:solidFill>
                    <a:srgbClr val="404155"/>
                  </a:solidFill>
                  <a:latin typeface="Corben" pitchFamily="34" charset="0"/>
                  <a:ea typeface="Corben" pitchFamily="34" charset="-122"/>
                  <a:cs typeface="Corben" pitchFamily="34" charset="-120"/>
                </a:rPr>
                <a:t>RNF-5: Glassmorphism UI</a:t>
              </a:r>
              <a:endParaRPr lang="en-US" sz="1000" b="1" dirty="0"/>
            </a:p>
          </p:txBody>
        </p:sp>
        <p:sp>
          <p:nvSpPr>
            <p:cNvPr id="20" name="Text 13"/>
            <p:cNvSpPr/>
            <p:nvPr/>
          </p:nvSpPr>
          <p:spPr>
            <a:xfrm>
              <a:off x="3648298" y="3946161"/>
              <a:ext cx="1649313" cy="46322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404155"/>
                  </a:solidFill>
                  <a:latin typeface="Nobile" pitchFamily="34" charset="0"/>
                  <a:ea typeface="Nobile" pitchFamily="34" charset="-122"/>
                  <a:cs typeface="Nobile" pitchFamily="34" charset="-120"/>
                </a:rPr>
                <a:t>Dark theme with semi-transparent panels and severity-based color coding.</a:t>
              </a:r>
              <a:endParaRPr lang="en-US" sz="800" b="1" dirty="0"/>
            </a:p>
          </p:txBody>
        </p:sp>
      </p:grpSp>
      <p:sp>
        <p:nvSpPr>
          <p:cNvPr id="21" name="Text 14"/>
          <p:cNvSpPr/>
          <p:nvPr/>
        </p:nvSpPr>
        <p:spPr>
          <a:xfrm>
            <a:off x="4704383" y="1244426"/>
            <a:ext cx="4405461" cy="154409"/>
          </a:xfrm>
          <a:prstGeom prst="rect">
            <a:avLst/>
          </a:prstGeom>
          <a:noFill/>
          <a:ln>
            <a:noFill/>
          </a:ln>
        </p:spPr>
        <p:txBody>
          <a:bodyPr wrap="none" tIns="91440" bIns="91440" rtlCol="0" anchor="t"/>
          <a:lstStyle/>
          <a:p>
            <a:pPr marL="0" indent="0" algn="l">
              <a:lnSpc>
                <a:spcPct val="123000"/>
              </a:lnSpc>
              <a:buNone/>
            </a:pPr>
            <a:endParaRPr lang="en-US" sz="800" dirty="0"/>
          </a:p>
        </p:txBody>
      </p:sp>
      <p:sp>
        <p:nvSpPr>
          <p:cNvPr id="23" name="TextBox 22"/>
          <p:cNvSpPr txBox="1"/>
          <p:nvPr/>
        </p:nvSpPr>
        <p:spPr>
          <a:xfrm>
            <a:off x="4700016" y="1243584"/>
            <a:ext cx="4114800" cy="3200400"/>
          </a:xfrm>
          <a:prstGeom prst="rect">
            <a:avLst/>
          </a:prstGeom>
          <a:noFill/>
        </p:spPr>
        <p:txBody>
          <a:bodyPr wrap="square" tIns="91440" bIns="91440">
            <a:spAutoFit/>
          </a:bodyPr>
          <a:lstStyle/>
          <a:p>
            <a:pPr>
              <a:defRPr sz="1400" b="1">
                <a:solidFill>
                  <a:srgbClr val="FFFFFF"/>
                </a:solidFill>
                <a:latin typeface="Segoe UI"/>
              </a:defRPr>
            </a:pPr>
            <a:r>
              <a:rPr sz="1300" b="1">
                <a:solidFill>
                  <a:srgbClr val="FFFFFF"/>
                </a:solidFill>
                <a:latin typeface="Segoe UI"/>
              </a:rPr>
              <a:t>Global Use Case Model Reference</a:t>
            </a:r>
          </a:p>
          <a:p>
            <a:br/>
            <a:pPr>
              <a:defRPr sz="1100">
                <a:solidFill>
                  <a:srgbClr val="A8B2D1"/>
                </a:solidFill>
                <a:latin typeface="Segoe UI"/>
              </a:defRPr>
            </a:pPr>
            <a:r>
              <a:rPr sz="1100" b="0">
                <a:solidFill>
                  <a:srgbClr val="A8B2D1"/>
                </a:solidFill>
                <a:latin typeface="Segoe UI"/>
              </a:rPr>
              <a:t>To view the complete system boundaries and user/system actor interactions, please refer to Slide 8.</a:t>
            </a:r>
            <a:br/>
            <a:br/>
            <a:r>
              <a:rPr sz="1100" b="0">
                <a:solidFill>
                  <a:srgbClr val="A8B2D1"/>
                </a:solidFill>
                <a:latin typeface="Segoe UI"/>
              </a:rPr>
              <a:t>The Use Case model illustrates:</a:t>
            </a:r>
            <a:br/>
            <a:r>
              <a:rPr sz="1100" b="0">
                <a:solidFill>
                  <a:srgbClr val="A8B2D1"/>
                </a:solidFill>
                <a:latin typeface="Segoe UI"/>
              </a:rPr>
              <a:t>• Ingestion triggers by external thread feeds.</a:t>
            </a:r>
            <a:br/>
            <a:r>
              <a:rPr sz="1100" b="0">
                <a:solidFill>
                  <a:srgbClr val="A8B2D1"/>
                </a:solidFill>
                <a:latin typeface="Segoe UI"/>
              </a:rPr>
              <a:t>• Investigation actions by SOC analysts (Filters, STIX Parsing, exports).</a:t>
            </a:r>
          </a:p>
        </p:txBody>
      </p:sp>
    </p:spTree>
  </p:cSld>
  <p:transition spd="slow">
    <p:fade/>
  </p:transition>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560263"/>
            <a:ext cx="1808783"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597471"/>
            <a:ext cx="2117154"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2 — CONCEPTUAL STUDY</a:t>
            </a:r>
            <a:endParaRPr lang="en-US" sz="750" dirty="0"/>
          </a:p>
        </p:txBody>
      </p:sp>
      <p:sp>
        <p:nvSpPr>
          <p:cNvPr id="4" name="Text 2"/>
          <p:cNvSpPr/>
          <p:nvPr/>
        </p:nvSpPr>
        <p:spPr>
          <a:xfrm>
            <a:off x="496119" y="843037"/>
            <a:ext cx="6564734"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Technology Stack &amp; Comparative Analysis</a:t>
            </a:r>
            <a:endParaRPr lang="en-US" sz="2400" dirty="0"/>
          </a:p>
        </p:txBody>
      </p:sp>
      <p:sp>
        <p:nvSpPr>
          <p:cNvPr id="5" name="Shape 3"/>
          <p:cNvSpPr/>
          <p:nvPr/>
        </p:nvSpPr>
        <p:spPr>
          <a:xfrm>
            <a:off x="496119" y="1416621"/>
            <a:ext cx="8151763" cy="3166542"/>
          </a:xfrm>
          <a:prstGeom prst="roundRect">
            <a:avLst>
              <a:gd name="adj" fmla="val 1645"/>
            </a:avLst>
          </a:prstGeom>
          <a:solidFill>
            <a:srgbClr val="131924"/>
          </a:solidFill>
          <a:ln w="12700">
            <a:solidFill>
              <a:srgbClr val="1E293B">
                <a:alpha val="8000"/>
              </a:srgbClr>
            </a:solidFill>
            <a:prstDash val="solid"/>
          </a:ln>
        </p:spPr>
        <p:txBody>
          <a:bodyPr tIns="91440" bIns="91440"/>
          <a:lstStyle/>
          <a:p>
            <a:endParaRPr lang="fr-TN"/>
          </a:p>
        </p:txBody>
      </p:sp>
      <p:sp>
        <p:nvSpPr>
          <p:cNvPr id="6" name="Shape 4"/>
          <p:cNvSpPr/>
          <p:nvPr/>
        </p:nvSpPr>
        <p:spPr>
          <a:xfrm>
            <a:off x="501104" y="1421383"/>
            <a:ext cx="1791221" cy="359197"/>
          </a:xfrm>
          <a:prstGeom prst="rect">
            <a:avLst/>
          </a:prstGeom>
          <a:noFill/>
          <a:ln>
            <a:noFill/>
          </a:ln>
        </p:spPr>
        <p:txBody>
          <a:bodyPr tIns="91440" bIns="91440"/>
          <a:lstStyle/>
          <a:p>
            <a:endParaRPr lang="fr-TN"/>
          </a:p>
        </p:txBody>
      </p:sp>
      <p:sp>
        <p:nvSpPr>
          <p:cNvPr id="7" name="Text 5"/>
          <p:cNvSpPr/>
          <p:nvPr/>
        </p:nvSpPr>
        <p:spPr>
          <a:xfrm>
            <a:off x="625078" y="1500560"/>
            <a:ext cx="2000473" cy="198462"/>
          </a:xfrm>
          <a:prstGeom prst="rect">
            <a:avLst/>
          </a:prstGeom>
          <a:noFill/>
          <a:ln>
            <a:noFill/>
          </a:ln>
        </p:spPr>
        <p:txBody>
          <a:bodyPr wrap="none" tIns="91440" bIns="91440" rtlCol="0" anchor="t"/>
          <a:lstStyle/>
          <a:p>
            <a:pPr marL="0" indent="0" algn="l">
              <a:lnSpc>
                <a:spcPct val="133000"/>
              </a:lnSpc>
              <a:buNone/>
            </a:pPr>
            <a:r>
              <a:rPr lang="en-US" sz="1300" b="1" dirty="0">
                <a:solidFill>
                  <a:srgbClr val="FFFFFF"/>
                </a:solidFill>
                <a:latin typeface="Segoe UI" pitchFamily="34" charset="0"/>
                <a:ea typeface="Nobile" pitchFamily="34" charset="-122"/>
                <a:cs typeface="Nobile" pitchFamily="34" charset="-120"/>
              </a:rPr>
              <a:t>Layer</a:t>
            </a:r>
            <a:endParaRPr lang="en-US" sz="950" dirty="0"/>
          </a:p>
        </p:txBody>
      </p:sp>
      <p:sp>
        <p:nvSpPr>
          <p:cNvPr id="8" name="Shape 6"/>
          <p:cNvSpPr/>
          <p:nvPr/>
        </p:nvSpPr>
        <p:spPr>
          <a:xfrm>
            <a:off x="2292325" y="1421383"/>
            <a:ext cx="1791221" cy="359197"/>
          </a:xfrm>
          <a:prstGeom prst="rect">
            <a:avLst/>
          </a:prstGeom>
          <a:noFill/>
          <a:ln>
            <a:noFill/>
          </a:ln>
        </p:spPr>
        <p:txBody>
          <a:bodyPr tIns="91440" bIns="91440"/>
          <a:lstStyle/>
          <a:p>
            <a:endParaRPr lang="fr-TN"/>
          </a:p>
        </p:txBody>
      </p:sp>
      <p:sp>
        <p:nvSpPr>
          <p:cNvPr id="9" name="Text 7"/>
          <p:cNvSpPr/>
          <p:nvPr/>
        </p:nvSpPr>
        <p:spPr>
          <a:xfrm>
            <a:off x="2416299" y="1500560"/>
            <a:ext cx="2000473" cy="198462"/>
          </a:xfrm>
          <a:prstGeom prst="rect">
            <a:avLst/>
          </a:prstGeom>
          <a:noFill/>
          <a:ln>
            <a:noFill/>
          </a:ln>
        </p:spPr>
        <p:txBody>
          <a:bodyPr wrap="none" tIns="91440" bIns="91440" rtlCol="0" anchor="t"/>
          <a:lstStyle/>
          <a:p>
            <a:pPr marL="0" indent="0" algn="l">
              <a:lnSpc>
                <a:spcPct val="133000"/>
              </a:lnSpc>
              <a:buNone/>
            </a:pPr>
            <a:r>
              <a:rPr lang="en-US" sz="1300" b="1" dirty="0">
                <a:solidFill>
                  <a:srgbClr val="FFFFFF"/>
                </a:solidFill>
                <a:latin typeface="Segoe UI" pitchFamily="34" charset="0"/>
                <a:ea typeface="Nobile" pitchFamily="34" charset="-122"/>
                <a:cs typeface="Nobile" pitchFamily="34" charset="-120"/>
              </a:rPr>
              <a:t>Selected</a:t>
            </a:r>
            <a:endParaRPr lang="en-US" sz="950" dirty="0"/>
          </a:p>
        </p:txBody>
      </p:sp>
      <p:sp>
        <p:nvSpPr>
          <p:cNvPr id="10" name="Shape 8"/>
          <p:cNvSpPr/>
          <p:nvPr/>
        </p:nvSpPr>
        <p:spPr>
          <a:xfrm>
            <a:off x="4083546" y="1421383"/>
            <a:ext cx="1791221" cy="359197"/>
          </a:xfrm>
          <a:prstGeom prst="rect">
            <a:avLst/>
          </a:prstGeom>
          <a:noFill/>
          <a:ln>
            <a:noFill/>
          </a:ln>
        </p:spPr>
        <p:txBody>
          <a:bodyPr tIns="91440" bIns="91440"/>
          <a:lstStyle/>
          <a:p>
            <a:endParaRPr lang="fr-TN"/>
          </a:p>
        </p:txBody>
      </p:sp>
      <p:sp>
        <p:nvSpPr>
          <p:cNvPr id="11" name="Text 9"/>
          <p:cNvSpPr/>
          <p:nvPr/>
        </p:nvSpPr>
        <p:spPr>
          <a:xfrm>
            <a:off x="4207520" y="1500560"/>
            <a:ext cx="2000473" cy="198462"/>
          </a:xfrm>
          <a:prstGeom prst="rect">
            <a:avLst/>
          </a:prstGeom>
          <a:noFill/>
          <a:ln>
            <a:noFill/>
          </a:ln>
        </p:spPr>
        <p:txBody>
          <a:bodyPr wrap="none" tIns="91440" bIns="91440" rtlCol="0" anchor="t"/>
          <a:lstStyle/>
          <a:p>
            <a:pPr marL="0" indent="0" algn="l">
              <a:lnSpc>
                <a:spcPct val="133000"/>
              </a:lnSpc>
              <a:buNone/>
            </a:pPr>
            <a:r>
              <a:rPr lang="en-US" sz="1300" b="1" dirty="0">
                <a:solidFill>
                  <a:srgbClr val="FFFFFF"/>
                </a:solidFill>
                <a:latin typeface="Segoe UI" pitchFamily="34" charset="0"/>
                <a:ea typeface="Nobile" pitchFamily="34" charset="-122"/>
                <a:cs typeface="Nobile" pitchFamily="34" charset="-120"/>
              </a:rPr>
              <a:t>Alternative</a:t>
            </a:r>
            <a:endParaRPr lang="en-US" sz="950" dirty="0"/>
          </a:p>
        </p:txBody>
      </p:sp>
      <p:sp>
        <p:nvSpPr>
          <p:cNvPr id="12" name="Shape 10"/>
          <p:cNvSpPr/>
          <p:nvPr/>
        </p:nvSpPr>
        <p:spPr>
          <a:xfrm>
            <a:off x="5874767" y="1421383"/>
            <a:ext cx="2768352" cy="359197"/>
          </a:xfrm>
          <a:prstGeom prst="rect">
            <a:avLst/>
          </a:prstGeom>
          <a:noFill/>
          <a:ln>
            <a:noFill/>
          </a:ln>
        </p:spPr>
        <p:txBody>
          <a:bodyPr tIns="91440" bIns="91440"/>
          <a:lstStyle/>
          <a:p>
            <a:endParaRPr lang="fr-TN"/>
          </a:p>
        </p:txBody>
      </p:sp>
      <p:sp>
        <p:nvSpPr>
          <p:cNvPr id="13" name="Text 11"/>
          <p:cNvSpPr/>
          <p:nvPr/>
        </p:nvSpPr>
        <p:spPr>
          <a:xfrm>
            <a:off x="5998741" y="1500560"/>
            <a:ext cx="2977604" cy="198462"/>
          </a:xfrm>
          <a:prstGeom prst="rect">
            <a:avLst/>
          </a:prstGeom>
          <a:noFill/>
          <a:ln>
            <a:noFill/>
          </a:ln>
        </p:spPr>
        <p:txBody>
          <a:bodyPr wrap="none" tIns="91440" bIns="91440" rtlCol="0" anchor="t"/>
          <a:lstStyle/>
          <a:p>
            <a:pPr marL="0" indent="0" algn="l">
              <a:lnSpc>
                <a:spcPct val="133000"/>
              </a:lnSpc>
              <a:buNone/>
            </a:pPr>
            <a:r>
              <a:rPr lang="en-US" sz="1300" b="1" dirty="0">
                <a:solidFill>
                  <a:srgbClr val="FFFFFF"/>
                </a:solidFill>
                <a:latin typeface="Segoe UI" pitchFamily="34" charset="0"/>
                <a:ea typeface="Nobile" pitchFamily="34" charset="-122"/>
                <a:cs typeface="Nobile" pitchFamily="34" charset="-120"/>
              </a:rPr>
              <a:t>Rationale</a:t>
            </a:r>
            <a:endParaRPr lang="en-US" sz="950" dirty="0"/>
          </a:p>
        </p:txBody>
      </p:sp>
      <p:sp>
        <p:nvSpPr>
          <p:cNvPr id="14" name="Text 12"/>
          <p:cNvSpPr/>
          <p:nvPr/>
        </p:nvSpPr>
        <p:spPr>
          <a:xfrm>
            <a:off x="625078" y="186213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Runtime</a:t>
            </a:r>
            <a:endParaRPr lang="en-US" sz="950" dirty="0"/>
          </a:p>
        </p:txBody>
      </p:sp>
      <p:sp>
        <p:nvSpPr>
          <p:cNvPr id="15" name="Text 13"/>
          <p:cNvSpPr/>
          <p:nvPr/>
        </p:nvSpPr>
        <p:spPr>
          <a:xfrm>
            <a:off x="2416299" y="186213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Node.js / Express 5</a:t>
            </a:r>
            <a:endParaRPr lang="en-US" sz="950" dirty="0"/>
          </a:p>
        </p:txBody>
      </p:sp>
      <p:sp>
        <p:nvSpPr>
          <p:cNvPr id="16" name="Text 14"/>
          <p:cNvSpPr/>
          <p:nvPr/>
        </p:nvSpPr>
        <p:spPr>
          <a:xfrm>
            <a:off x="4207520" y="186213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Java Spring Boot</a:t>
            </a:r>
            <a:endParaRPr lang="en-US" sz="950" dirty="0"/>
          </a:p>
        </p:txBody>
      </p:sp>
      <p:sp>
        <p:nvSpPr>
          <p:cNvPr id="17" name="Text 15"/>
          <p:cNvSpPr/>
          <p:nvPr/>
        </p:nvSpPr>
        <p:spPr>
          <a:xfrm>
            <a:off x="5998741" y="1862138"/>
            <a:ext cx="2520404"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Non-blocking async loop; ideal for open SSE streams under low memory</a:t>
            </a:r>
            <a:endParaRPr lang="en-US" sz="950" dirty="0"/>
          </a:p>
        </p:txBody>
      </p:sp>
      <p:sp>
        <p:nvSpPr>
          <p:cNvPr id="18" name="Text 16"/>
          <p:cNvSpPr/>
          <p:nvPr/>
        </p:nvSpPr>
        <p:spPr>
          <a:xfrm>
            <a:off x="625078" y="242217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State Management</a:t>
            </a:r>
            <a:endParaRPr lang="en-US" sz="950" dirty="0"/>
          </a:p>
        </p:txBody>
      </p:sp>
      <p:sp>
        <p:nvSpPr>
          <p:cNvPr id="19" name="Text 17"/>
          <p:cNvSpPr/>
          <p:nvPr/>
        </p:nvSpPr>
        <p:spPr>
          <a:xfrm>
            <a:off x="2416299" y="242217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Zustand 5</a:t>
            </a:r>
            <a:endParaRPr lang="en-US" sz="950" dirty="0"/>
          </a:p>
        </p:txBody>
      </p:sp>
      <p:sp>
        <p:nvSpPr>
          <p:cNvPr id="20" name="Text 18"/>
          <p:cNvSpPr/>
          <p:nvPr/>
        </p:nvSpPr>
        <p:spPr>
          <a:xfrm>
            <a:off x="4207520" y="242217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Redux Toolkit</a:t>
            </a:r>
            <a:endParaRPr lang="en-US" sz="950" dirty="0"/>
          </a:p>
        </p:txBody>
      </p:sp>
      <p:sp>
        <p:nvSpPr>
          <p:cNvPr id="21" name="Text 19"/>
          <p:cNvSpPr/>
          <p:nvPr/>
        </p:nvSpPr>
        <p:spPr>
          <a:xfrm>
            <a:off x="5998741" y="2422178"/>
            <a:ext cx="2520404"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Slice-based reactive updates outside React DOM — preserves 60fps WebGL</a:t>
            </a:r>
            <a:endParaRPr lang="en-US" sz="950" dirty="0"/>
          </a:p>
        </p:txBody>
      </p:sp>
      <p:sp>
        <p:nvSpPr>
          <p:cNvPr id="22" name="Text 20"/>
          <p:cNvSpPr/>
          <p:nvPr/>
        </p:nvSpPr>
        <p:spPr>
          <a:xfrm>
            <a:off x="625078" y="298221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3D Graphics</a:t>
            </a:r>
            <a:endParaRPr lang="en-US" sz="950" dirty="0"/>
          </a:p>
        </p:txBody>
      </p:sp>
      <p:sp>
        <p:nvSpPr>
          <p:cNvPr id="23" name="Text 21"/>
          <p:cNvSpPr/>
          <p:nvPr/>
        </p:nvSpPr>
        <p:spPr>
          <a:xfrm>
            <a:off x="2416299" y="298221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Three.js / R3F</a:t>
            </a:r>
            <a:endParaRPr lang="en-US" sz="950" dirty="0"/>
          </a:p>
        </p:txBody>
      </p:sp>
      <p:sp>
        <p:nvSpPr>
          <p:cNvPr id="24" name="Text 22"/>
          <p:cNvSpPr/>
          <p:nvPr/>
        </p:nvSpPr>
        <p:spPr>
          <a:xfrm>
            <a:off x="4207520" y="298221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Vanilla Canvas</a:t>
            </a:r>
            <a:endParaRPr lang="en-US" sz="950" dirty="0"/>
          </a:p>
        </p:txBody>
      </p:sp>
      <p:sp>
        <p:nvSpPr>
          <p:cNvPr id="25" name="Text 23"/>
          <p:cNvSpPr/>
          <p:nvPr/>
        </p:nvSpPr>
        <p:spPr>
          <a:xfrm>
            <a:off x="5998741" y="2982218"/>
            <a:ext cx="2520404"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GPU acceleration, SLERP math, custom GLSL vertex/fragment shaders</a:t>
            </a:r>
            <a:endParaRPr lang="en-US" sz="950" dirty="0"/>
          </a:p>
        </p:txBody>
      </p:sp>
      <p:sp>
        <p:nvSpPr>
          <p:cNvPr id="26" name="Text 24"/>
          <p:cNvSpPr/>
          <p:nvPr/>
        </p:nvSpPr>
        <p:spPr>
          <a:xfrm>
            <a:off x="625078" y="354225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Build Tool</a:t>
            </a:r>
            <a:endParaRPr lang="en-US" sz="950" dirty="0"/>
          </a:p>
        </p:txBody>
      </p:sp>
      <p:sp>
        <p:nvSpPr>
          <p:cNvPr id="27" name="Text 25"/>
          <p:cNvSpPr/>
          <p:nvPr/>
        </p:nvSpPr>
        <p:spPr>
          <a:xfrm>
            <a:off x="2416299" y="354225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React 19 / Vite 7</a:t>
            </a:r>
            <a:endParaRPr lang="en-US" sz="950" dirty="0"/>
          </a:p>
        </p:txBody>
      </p:sp>
      <p:sp>
        <p:nvSpPr>
          <p:cNvPr id="28" name="Text 26"/>
          <p:cNvSpPr/>
          <p:nvPr/>
        </p:nvSpPr>
        <p:spPr>
          <a:xfrm>
            <a:off x="4207520" y="354225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Angular / Webpack</a:t>
            </a:r>
            <a:endParaRPr lang="en-US" sz="950" dirty="0"/>
          </a:p>
        </p:txBody>
      </p:sp>
      <p:sp>
        <p:nvSpPr>
          <p:cNvPr id="29" name="Text 27"/>
          <p:cNvSpPr/>
          <p:nvPr/>
        </p:nvSpPr>
        <p:spPr>
          <a:xfrm>
            <a:off x="5998741" y="3542258"/>
            <a:ext cx="2520404"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Native ESM, instant startup, fast HMR vs slow pre-compilation</a:t>
            </a:r>
            <a:endParaRPr lang="en-US" sz="950" dirty="0"/>
          </a:p>
        </p:txBody>
      </p:sp>
      <p:sp>
        <p:nvSpPr>
          <p:cNvPr id="30" name="Text 28"/>
          <p:cNvSpPr/>
          <p:nvPr/>
        </p:nvSpPr>
        <p:spPr>
          <a:xfrm>
            <a:off x="625078" y="410229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Database</a:t>
            </a:r>
            <a:endParaRPr lang="en-US" sz="950" dirty="0"/>
          </a:p>
        </p:txBody>
      </p:sp>
      <p:sp>
        <p:nvSpPr>
          <p:cNvPr id="31" name="Text 29"/>
          <p:cNvSpPr/>
          <p:nvPr/>
        </p:nvSpPr>
        <p:spPr>
          <a:xfrm>
            <a:off x="2416299" y="410229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MongoDB Atlas (BSON)</a:t>
            </a:r>
            <a:endParaRPr lang="en-US" sz="950" dirty="0"/>
          </a:p>
        </p:txBody>
      </p:sp>
      <p:sp>
        <p:nvSpPr>
          <p:cNvPr id="32" name="Text 30"/>
          <p:cNvSpPr/>
          <p:nvPr/>
        </p:nvSpPr>
        <p:spPr>
          <a:xfrm>
            <a:off x="4207520" y="4102298"/>
            <a:ext cx="2000473" cy="198462"/>
          </a:xfrm>
          <a:prstGeom prst="rect">
            <a:avLst/>
          </a:prstGeom>
          <a:noFill/>
          <a:ln>
            <a:noFill/>
          </a:ln>
        </p:spPr>
        <p:txBody>
          <a:bodyPr wrap="none" tIns="91440" bIns="91440" rtlCol="0" anchor="t"/>
          <a:lstStyle/>
          <a:p>
            <a:pPr marL="0" indent="0" algn="l">
              <a:lnSpc>
                <a:spcPct val="133000"/>
              </a:lnSpc>
              <a:buNone/>
            </a:pPr>
            <a:r>
              <a:rPr lang="en-US" sz="1300" dirty="0" b="1">
                <a:solidFill>
                  <a:srgbClr val="FFFFFF"/>
                </a:solidFill>
                <a:latin typeface="Segoe UI" pitchFamily="34" charset="0"/>
                <a:ea typeface="Nobile" pitchFamily="34" charset="-122"/>
                <a:cs typeface="Nobile" pitchFamily="34" charset="-120"/>
              </a:rPr>
              <a:t>PostgreSQL / MySQL</a:t>
            </a:r>
            <a:endParaRPr lang="en-US" sz="950" dirty="0"/>
          </a:p>
        </p:txBody>
      </p:sp>
      <p:sp>
        <p:nvSpPr>
          <p:cNvPr id="33" name="Text 31"/>
          <p:cNvSpPr/>
          <p:nvPr/>
        </p:nvSpPr>
        <p:spPr>
          <a:xfrm>
            <a:off x="5998741" y="4102298"/>
            <a:ext cx="2520404"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Schemaless BSON for heterogeneous CTI logs; no rigid migrations needed</a:t>
            </a:r>
            <a:endParaRPr lang="en-US" sz="950" dirty="0"/>
          </a:p>
        </p:txBody>
      </p:sp>
      <p:cxnSp>
        <p:nvCxnSpPr>
          <p:cNvPr id="39" name="Connecteur droit 38">
            <a:extLst>
              <a:ext uri="{FF2B5EF4-FFF2-40B4-BE49-F238E27FC236}">
                <a16:creationId xmlns:a16="http://schemas.microsoft.com/office/drawing/2014/main" id="{87555301-55CA-7568-BCE3-164B66B89720}"/>
              </a:ext>
            </a:extLst>
          </p:cNvPr>
          <p:cNvCxnSpPr/>
          <p:nvPr/>
        </p:nvCxnSpPr>
        <p:spPr>
          <a:xfrm>
            <a:off x="1928327" y="1416621"/>
            <a:ext cx="0" cy="3166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17BC1C9D-34CB-86C5-71BC-86E7EF1E6FD8}"/>
              </a:ext>
            </a:extLst>
          </p:cNvPr>
          <p:cNvCxnSpPr/>
          <p:nvPr/>
        </p:nvCxnSpPr>
        <p:spPr>
          <a:xfrm>
            <a:off x="3940629" y="1421383"/>
            <a:ext cx="0" cy="3166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5CE47D6-A23C-6234-251C-07A961B259E5}"/>
              </a:ext>
            </a:extLst>
          </p:cNvPr>
          <p:cNvCxnSpPr/>
          <p:nvPr/>
        </p:nvCxnSpPr>
        <p:spPr>
          <a:xfrm>
            <a:off x="5760099" y="1421383"/>
            <a:ext cx="0" cy="3166542"/>
          </a:xfrm>
          <a:prstGeom prst="line">
            <a:avLst/>
          </a:prstGeom>
        </p:spPr>
        <p:style>
          <a:lnRef idx="1">
            <a:schemeClr val="accent1"/>
          </a:lnRef>
          <a:fillRef idx="0">
            <a:schemeClr val="accent1"/>
          </a:fillRef>
          <a:effectRef idx="0">
            <a:schemeClr val="accent1"/>
          </a:effectRef>
          <a:fontRef idx="minor">
            <a:schemeClr val="tx1"/>
          </a:fontRef>
        </p:style>
      </p:cxnSp>
    </p:spTree>
  </p:cSld>
  <p:transition spd="slow">
    <p:fade/>
  </p:transition>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1056605" y="366713"/>
            <a:ext cx="1299865" cy="151507"/>
          </a:xfrm>
          <a:prstGeom prst="roundRect">
            <a:avLst>
              <a:gd name="adj" fmla="val 19773"/>
            </a:avLst>
          </a:prstGeom>
          <a:noFill/>
          <a:ln>
            <a:noFill/>
          </a:ln>
        </p:spPr>
        <p:txBody>
          <a:bodyPr tIns="91440" bIns="91440"/>
          <a:lstStyle/>
          <a:p>
            <a:endParaRPr lang="fr-TN"/>
          </a:p>
        </p:txBody>
      </p:sp>
      <p:sp>
        <p:nvSpPr>
          <p:cNvPr id="3" name="Text 1"/>
          <p:cNvSpPr/>
          <p:nvPr/>
        </p:nvSpPr>
        <p:spPr>
          <a:xfrm>
            <a:off x="1110035" y="393427"/>
            <a:ext cx="1650206" cy="98078"/>
          </a:xfrm>
          <a:prstGeom prst="rect">
            <a:avLst/>
          </a:prstGeom>
          <a:noFill/>
          <a:ln>
            <a:noFill/>
          </a:ln>
        </p:spPr>
        <p:txBody>
          <a:bodyPr wrap="none" tIns="91440" bIns="91440" rtlCol="0" anchor="t"/>
          <a:lstStyle/>
          <a:p>
            <a:pPr marL="0" indent="0" algn="l">
              <a:lnSpc>
                <a:spcPct val="115000"/>
              </a:lnSpc>
              <a:buNone/>
            </a:pPr>
            <a:r>
              <a:rPr lang="en-US" sz="1000" dirty="0" b="1">
                <a:solidFill>
                  <a:srgbClr val="00F0FF"/>
                </a:solidFill>
                <a:latin typeface="Segoe UI" pitchFamily="34" charset="0"/>
                <a:ea typeface="Nobile" pitchFamily="34" charset="-122"/>
                <a:cs typeface="Nobile" pitchFamily="34" charset="-120"/>
              </a:rPr>
              <a:t>CHAPTER 2 — CONCEPTUAL STUDY</a:t>
            </a:r>
            <a:endParaRPr lang="en-US" sz="550" dirty="0"/>
          </a:p>
        </p:txBody>
      </p:sp>
      <p:sp>
        <p:nvSpPr>
          <p:cNvPr id="4" name="Text 2"/>
          <p:cNvSpPr/>
          <p:nvPr/>
        </p:nvSpPr>
        <p:spPr>
          <a:xfrm>
            <a:off x="1056605" y="543818"/>
            <a:ext cx="2686124" cy="278532"/>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System Architecture</a:t>
            </a:r>
            <a:endParaRPr lang="en-US" sz="1750" dirty="0"/>
          </a:p>
        </p:txBody>
      </p:sp>
      <p:sp>
        <p:nvSpPr>
          <p:cNvPr id="7" name="Shape 3"/>
          <p:cNvSpPr/>
          <p:nvPr/>
        </p:nvSpPr>
        <p:spPr>
          <a:xfrm>
            <a:off x="1056605" y="4166146"/>
            <a:ext cx="7030715" cy="610642"/>
          </a:xfrm>
          <a:prstGeom prst="roundRect">
            <a:avLst>
              <a:gd name="adj" fmla="val 6132"/>
            </a:avLst>
          </a:prstGeom>
          <a:solidFill>
            <a:srgbClr val="131924"/>
          </a:solidFill>
          <a:ln w="12700">
            <a:solidFill>
              <a:srgbClr val="1E293B"/>
            </a:solidFill>
            <a:prstDash val="solid"/>
          </a:ln>
        </p:spPr>
        <p:txBody>
          <a:bodyPr tIns="91440" bIns="91440"/>
          <a:lstStyle/>
          <a:p>
            <a:endParaRPr lang="fr-TN"/>
          </a:p>
        </p:txBody>
      </p:sp>
      <p:sp>
        <p:nvSpPr>
          <p:cNvPr id="8" name="Shape 4"/>
          <p:cNvSpPr/>
          <p:nvPr/>
        </p:nvSpPr>
        <p:spPr>
          <a:xfrm>
            <a:off x="1061368" y="4170908"/>
            <a:ext cx="2340397" cy="601117"/>
          </a:xfrm>
          <a:prstGeom prst="rect">
            <a:avLst/>
          </a:prstGeom>
          <a:solidFill>
            <a:srgbClr val="131924"/>
          </a:solidFill>
          <a:ln w="12700">
            <a:solidFill>
              <a:srgbClr val="1E293B"/>
            </a:solidFill>
          </a:ln>
        </p:spPr>
        <p:txBody>
          <a:bodyPr tIns="91440" bIns="91440"/>
          <a:lstStyle/>
          <a:p>
            <a:endParaRPr lang="fr-TN"/>
          </a:p>
        </p:txBody>
      </p:sp>
      <p:sp>
        <p:nvSpPr>
          <p:cNvPr id="9" name="Text 5"/>
          <p:cNvSpPr/>
          <p:nvPr/>
        </p:nvSpPr>
        <p:spPr>
          <a:xfrm>
            <a:off x="1152144" y="1554480"/>
            <a:ext cx="2011680" cy="13930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Frontend (Vercel CDN)</a:t>
            </a:r>
            <a:endParaRPr lang="en-US" sz="850" dirty="0"/>
          </a:p>
        </p:txBody>
      </p:sp>
      <p:sp>
        <p:nvSpPr>
          <p:cNvPr id="10" name="Text 6"/>
          <p:cNvSpPr/>
          <p:nvPr/>
        </p:nvSpPr>
        <p:spPr>
          <a:xfrm>
            <a:off x="1152144" y="1920240"/>
            <a:ext cx="2011680" cy="228600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15000"/>
              </a:lnSpc>
              <a:buNone/>
            </a:pPr>
            <a:r>
              <a:rPr lang="en-US" sz="1100" dirty="0" b="0">
                <a:solidFill>
                  <a:srgbClr val="A8B2D1"/>
                </a:solidFill>
                <a:latin typeface="Segoe UI" pitchFamily="34" charset="0"/>
                <a:ea typeface="Nobile" pitchFamily="34" charset="-122"/>
                <a:cs typeface="Nobile" pitchFamily="34" charset="-120"/>
              </a:rPr>
              <a:t>React SPA hosted globally; API proxy rewrites via vercel.json eliminate CORS issues.</a:t>
            </a:r>
            <a:endParaRPr lang="en-US" sz="700" dirty="0"/>
          </a:p>
        </p:txBody>
      </p:sp>
      <p:sp>
        <p:nvSpPr>
          <p:cNvPr id="11" name="Shape 7"/>
          <p:cNvSpPr/>
          <p:nvPr/>
        </p:nvSpPr>
        <p:spPr>
          <a:xfrm>
            <a:off x="3401764" y="4170908"/>
            <a:ext cx="2340397" cy="601117"/>
          </a:xfrm>
          <a:prstGeom prst="rect">
            <a:avLst/>
          </a:prstGeom>
          <a:solidFill>
            <a:srgbClr val="131924"/>
          </a:solidFill>
          <a:ln w="12700">
            <a:solidFill>
              <a:srgbClr val="1E293B"/>
            </a:solidFill>
          </a:ln>
        </p:spPr>
        <p:txBody>
          <a:bodyPr tIns="91440" bIns="91440"/>
          <a:lstStyle/>
          <a:p>
            <a:endParaRPr lang="fr-TN"/>
          </a:p>
        </p:txBody>
      </p:sp>
      <p:sp>
        <p:nvSpPr>
          <p:cNvPr id="12" name="Shape 8"/>
          <p:cNvSpPr/>
          <p:nvPr/>
        </p:nvSpPr>
        <p:spPr>
          <a:xfrm>
            <a:off x="3401764" y="4170908"/>
            <a:ext cx="9525" cy="601117"/>
          </a:xfrm>
          <a:prstGeom prst="roundRect">
            <a:avLst>
              <a:gd name="adj" fmla="val 393140"/>
            </a:avLst>
          </a:prstGeom>
          <a:noFill/>
          <a:ln>
            <a:noFill/>
          </a:ln>
        </p:spPr>
        <p:txBody>
          <a:bodyPr tIns="91440" bIns="91440"/>
          <a:lstStyle/>
          <a:p>
            <a:endParaRPr lang="fr-TN"/>
          </a:p>
        </p:txBody>
      </p:sp>
      <p:sp>
        <p:nvSpPr>
          <p:cNvPr id="13" name="Text 9"/>
          <p:cNvSpPr/>
          <p:nvPr/>
        </p:nvSpPr>
        <p:spPr>
          <a:xfrm>
            <a:off x="3566160" y="1554480"/>
            <a:ext cx="2011680" cy="13930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Backend (Cloud VM / PM2)</a:t>
            </a:r>
            <a:endParaRPr lang="en-US" sz="850" dirty="0"/>
          </a:p>
        </p:txBody>
      </p:sp>
      <p:sp>
        <p:nvSpPr>
          <p:cNvPr id="14" name="Text 10"/>
          <p:cNvSpPr/>
          <p:nvPr/>
        </p:nvSpPr>
        <p:spPr>
          <a:xfrm>
            <a:off x="3566160" y="1920240"/>
            <a:ext cx="2011680" cy="228600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15000"/>
              </a:lnSpc>
              <a:buNone/>
            </a:pPr>
            <a:r>
              <a:rPr lang="en-US" sz="1100" dirty="0" b="0">
                <a:solidFill>
                  <a:srgbClr val="A8B2D1"/>
                </a:solidFill>
                <a:latin typeface="Segoe UI" pitchFamily="34" charset="0"/>
                <a:ea typeface="Nobile" pitchFamily="34" charset="-122"/>
                <a:cs typeface="Nobile" pitchFamily="34" charset="-120"/>
              </a:rPr>
              <a:t>Node.js Express server clustered across CPU cores with automated crash recovery.</a:t>
            </a:r>
            <a:endParaRPr lang="en-US" sz="700" dirty="0"/>
          </a:p>
        </p:txBody>
      </p:sp>
      <p:sp>
        <p:nvSpPr>
          <p:cNvPr id="15" name="Shape 11"/>
          <p:cNvSpPr/>
          <p:nvPr/>
        </p:nvSpPr>
        <p:spPr>
          <a:xfrm>
            <a:off x="5742161" y="4170908"/>
            <a:ext cx="2340397" cy="601117"/>
          </a:xfrm>
          <a:prstGeom prst="rect">
            <a:avLst/>
          </a:prstGeom>
          <a:solidFill>
            <a:srgbClr val="131924"/>
          </a:solidFill>
          <a:ln w="12700">
            <a:solidFill>
              <a:srgbClr val="1E293B"/>
            </a:solidFill>
          </a:ln>
        </p:spPr>
        <p:txBody>
          <a:bodyPr tIns="91440" bIns="91440"/>
          <a:lstStyle/>
          <a:p>
            <a:endParaRPr lang="fr-TN"/>
          </a:p>
        </p:txBody>
      </p:sp>
      <p:sp>
        <p:nvSpPr>
          <p:cNvPr id="16" name="Shape 12"/>
          <p:cNvSpPr/>
          <p:nvPr/>
        </p:nvSpPr>
        <p:spPr>
          <a:xfrm>
            <a:off x="5742161" y="4170908"/>
            <a:ext cx="9525" cy="601117"/>
          </a:xfrm>
          <a:prstGeom prst="roundRect">
            <a:avLst>
              <a:gd name="adj" fmla="val 393140"/>
            </a:avLst>
          </a:prstGeom>
          <a:noFill/>
          <a:ln>
            <a:noFill/>
          </a:ln>
        </p:spPr>
        <p:txBody>
          <a:bodyPr tIns="91440" bIns="91440"/>
          <a:lstStyle/>
          <a:p>
            <a:endParaRPr lang="fr-TN"/>
          </a:p>
        </p:txBody>
      </p:sp>
      <p:sp>
        <p:nvSpPr>
          <p:cNvPr id="17" name="Text 13"/>
          <p:cNvSpPr/>
          <p:nvPr/>
        </p:nvSpPr>
        <p:spPr>
          <a:xfrm>
            <a:off x="5980176" y="1554480"/>
            <a:ext cx="2011680" cy="13930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Database (MongoDB Atlas)</a:t>
            </a:r>
            <a:endParaRPr lang="en-US" sz="850" dirty="0"/>
          </a:p>
        </p:txBody>
      </p:sp>
      <p:sp>
        <p:nvSpPr>
          <p:cNvPr id="18" name="Text 14"/>
          <p:cNvSpPr/>
          <p:nvPr/>
        </p:nvSpPr>
        <p:spPr>
          <a:xfrm>
            <a:off x="5980176" y="1920240"/>
            <a:ext cx="2011680" cy="228600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15000"/>
              </a:lnSpc>
              <a:buNone/>
            </a:pPr>
            <a:r>
              <a:rPr lang="en-US" sz="1100" dirty="0" b="0">
                <a:solidFill>
                  <a:srgbClr val="A8B2D1"/>
                </a:solidFill>
                <a:latin typeface="Segoe UI" pitchFamily="34" charset="0"/>
                <a:ea typeface="Nobile" pitchFamily="34" charset="-122"/>
                <a:cs typeface="Nobile" pitchFamily="34" charset="-120"/>
              </a:rPr>
              <a:t>Replicated BSON cluster with 30-day TTL indexes and 500MB quota monitor.</a:t>
            </a:r>
            <a:endParaRPr lang="en-US" sz="700" dirty="0"/>
          </a:p>
        </p:txBody>
      </p:sp>
    </p:spTree>
  </p:cSld>
  <p:transition spd="slow">
    <p:fade/>
  </p:transition>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354509"/>
            <a:ext cx="1582192" cy="195263"/>
          </a:xfrm>
          <a:prstGeom prst="roundRect">
            <a:avLst>
              <a:gd name="adj" fmla="val 18677"/>
            </a:avLst>
          </a:prstGeom>
          <a:noFill/>
          <a:ln>
            <a:noFill/>
          </a:ln>
        </p:spPr>
        <p:txBody>
          <a:bodyPr tIns="91440" bIns="91440"/>
          <a:lstStyle/>
          <a:p>
            <a:endParaRPr lang="fr-TN"/>
          </a:p>
        </p:txBody>
      </p:sp>
      <p:sp>
        <p:nvSpPr>
          <p:cNvPr id="3" name="Text 1"/>
          <p:cNvSpPr/>
          <p:nvPr/>
        </p:nvSpPr>
        <p:spPr>
          <a:xfrm>
            <a:off x="561231" y="387028"/>
            <a:ext cx="1909167" cy="130225"/>
          </a:xfrm>
          <a:prstGeom prst="rect">
            <a:avLst/>
          </a:prstGeom>
          <a:noFill/>
          <a:ln>
            <a:noFill/>
          </a:ln>
        </p:spPr>
        <p:txBody>
          <a:bodyPr wrap="none" tIns="91440" bIns="91440" rtlCol="0" anchor="t"/>
          <a:lstStyle/>
          <a:p>
            <a:pPr marL="0" indent="0" algn="l">
              <a:lnSpc>
                <a:spcPct val="125000"/>
              </a:lnSpc>
              <a:buNone/>
            </a:pPr>
            <a:r>
              <a:rPr lang="en-US" sz="1000" dirty="0" b="1">
                <a:solidFill>
                  <a:srgbClr val="00F0FF"/>
                </a:solidFill>
                <a:latin typeface="Segoe UI" pitchFamily="34" charset="0"/>
                <a:ea typeface="Nobile" pitchFamily="34" charset="-122"/>
                <a:cs typeface="Nobile" pitchFamily="34" charset="-120"/>
              </a:rPr>
              <a:t>CHAPTER 2 — CONCEPTUAL STUDY</a:t>
            </a:r>
            <a:endParaRPr lang="en-US" sz="650" dirty="0"/>
          </a:p>
        </p:txBody>
      </p:sp>
      <p:sp>
        <p:nvSpPr>
          <p:cNvPr id="4" name="Text 2"/>
          <p:cNvSpPr/>
          <p:nvPr/>
        </p:nvSpPr>
        <p:spPr>
          <a:xfrm>
            <a:off x="496119" y="587722"/>
            <a:ext cx="3225329" cy="339179"/>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Global Class Diagram</a:t>
            </a:r>
            <a:endParaRPr lang="en-US" sz="2100" dirty="0"/>
          </a:p>
        </p:txBody>
      </p:sp>
      <p:sp>
        <p:nvSpPr>
          <p:cNvPr id="6" name="Shape 3"/>
          <p:cNvSpPr/>
          <p:nvPr/>
        </p:nvSpPr>
        <p:spPr>
          <a:xfrm>
            <a:off x="496119" y="3502893"/>
            <a:ext cx="2653903" cy="1286098"/>
          </a:xfrm>
          <a:prstGeom prst="roundRect">
            <a:avLst>
              <a:gd name="adj" fmla="val 3545"/>
            </a:avLst>
          </a:prstGeom>
          <a:solidFill>
            <a:srgbClr val="131924">
              <a:alpha val="95000"/>
            </a:srgbClr>
          </a:solidFill>
          <a:ln w="12700">
            <a:solidFill>
              <a:srgbClr val="1E293B"/>
            </a:solidFill>
            <a:prstDash val="solid"/>
          </a:ln>
        </p:spPr>
        <p:txBody>
          <a:bodyPr tIns="91440" bIns="91440"/>
          <a:lstStyle/>
          <a:p>
            <a:endParaRPr lang="fr-TN"/>
          </a:p>
        </p:txBody>
      </p:sp>
      <p:sp>
        <p:nvSpPr>
          <p:cNvPr id="7" name="Text 4"/>
          <p:cNvSpPr/>
          <p:nvPr/>
        </p:nvSpPr>
        <p:spPr>
          <a:xfrm>
            <a:off x="618902" y="3625676"/>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Backend Tier</a:t>
            </a:r>
            <a:endParaRPr lang="en-US" sz="1050" dirty="0"/>
          </a:p>
        </p:txBody>
      </p:sp>
      <p:sp>
        <p:nvSpPr>
          <p:cNvPr id="8" name="Text 5"/>
          <p:cNvSpPr/>
          <p:nvPr/>
        </p:nvSpPr>
        <p:spPr>
          <a:xfrm>
            <a:off x="618902" y="3852118"/>
            <a:ext cx="2408337" cy="81409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5000"/>
              </a:lnSpc>
              <a:buNone/>
            </a:pPr>
            <a:r>
              <a:rPr lang="en-US" sz="1100" b="0" dirty="0">
                <a:solidFill>
                  <a:srgbClr val="A8B2D1"/>
                </a:solidFill>
                <a:latin typeface="Segoe UI" pitchFamily="34" charset="0"/>
                <a:ea typeface="Nobile" pitchFamily="34" charset="-122"/>
                <a:cs typeface="Nobile" pitchFamily="34" charset="-120"/>
              </a:rPr>
              <a:t>ExpressServer</a:t>
            </a:r>
            <a:r>
              <a:rPr lang="en-US" sz="1100" dirty="0" b="0">
                <a:solidFill>
                  <a:srgbClr val="A8B2D1"/>
                </a:solidFill>
                <a:latin typeface="Segoe UI" pitchFamily="34" charset="0"/>
                <a:ea typeface="Nobile" pitchFamily="34" charset="-122"/>
                <a:cs typeface="Nobile" pitchFamily="34" charset="-120"/>
              </a:rPr>
              <a:t> schedules multiple </a:t>
            </a:r>
            <a:r>
              <a:rPr lang="en-US" sz="1100" b="0" dirty="0">
                <a:solidFill>
                  <a:srgbClr val="A8B2D1"/>
                </a:solidFill>
                <a:latin typeface="Segoe UI" pitchFamily="34" charset="0"/>
                <a:ea typeface="Nobile" pitchFamily="34" charset="-122"/>
                <a:cs typeface="Nobile" pitchFamily="34" charset="-120"/>
              </a:rPr>
              <a:t>ScraperService</a:t>
            </a:r>
            <a:r>
              <a:rPr lang="en-US" sz="1100" dirty="0" b="0">
                <a:solidFill>
                  <a:srgbClr val="A8B2D1"/>
                </a:solidFill>
                <a:latin typeface="Segoe UI" pitchFamily="34" charset="0"/>
                <a:ea typeface="Nobile" pitchFamily="34" charset="-122"/>
                <a:cs typeface="Nobile" pitchFamily="34" charset="-120"/>
              </a:rPr>
              <a:t> instances. </a:t>
            </a:r>
            <a:r>
              <a:rPr lang="en-US" sz="1100" b="0" dirty="0">
                <a:solidFill>
                  <a:srgbClr val="A8B2D1"/>
                </a:solidFill>
                <a:latin typeface="Segoe UI" pitchFamily="34" charset="0"/>
                <a:ea typeface="Nobile" pitchFamily="34" charset="-122"/>
                <a:cs typeface="Nobile" pitchFamily="34" charset="-120"/>
              </a:rPr>
              <a:t>EnrichmentService</a:t>
            </a:r>
            <a:r>
              <a:rPr lang="en-US" sz="1100" dirty="0" b="0">
                <a:solidFill>
                  <a:srgbClr val="A8B2D1"/>
                </a:solidFill>
                <a:latin typeface="Segoe UI" pitchFamily="34" charset="0"/>
                <a:ea typeface="Nobile" pitchFamily="34" charset="-122"/>
                <a:cs typeface="Nobile" pitchFamily="34" charset="-120"/>
              </a:rPr>
              <a:t> resolves geolocation and sector. </a:t>
            </a:r>
            <a:r>
              <a:rPr lang="en-US" sz="1100" b="0" dirty="0">
                <a:solidFill>
                  <a:srgbClr val="A8B2D1"/>
                </a:solidFill>
                <a:latin typeface="Segoe UI" pitchFamily="34" charset="0"/>
                <a:ea typeface="Nobile" pitchFamily="34" charset="-122"/>
                <a:cs typeface="Nobile" pitchFamily="34" charset="-120"/>
              </a:rPr>
              <a:t>MongooseThreatEvent</a:t>
            </a:r>
            <a:r>
              <a:rPr lang="en-US" sz="1100" dirty="0" b="0">
                <a:solidFill>
                  <a:srgbClr val="A8B2D1"/>
                </a:solidFill>
                <a:latin typeface="Segoe UI" pitchFamily="34" charset="0"/>
                <a:ea typeface="Nobile" pitchFamily="34" charset="-122"/>
                <a:cs typeface="Nobile" pitchFamily="34" charset="-120"/>
              </a:rPr>
              <a:t> persists compact BSON documents.</a:t>
            </a:r>
            <a:endParaRPr lang="en-US" sz="850" dirty="0"/>
          </a:p>
        </p:txBody>
      </p:sp>
      <p:sp>
        <p:nvSpPr>
          <p:cNvPr id="9" name="Shape 6"/>
          <p:cNvSpPr/>
          <p:nvPr/>
        </p:nvSpPr>
        <p:spPr>
          <a:xfrm>
            <a:off x="3244974" y="3502893"/>
            <a:ext cx="2653978" cy="1286098"/>
          </a:xfrm>
          <a:prstGeom prst="roundRect">
            <a:avLst>
              <a:gd name="adj" fmla="val 3545"/>
            </a:avLst>
          </a:prstGeom>
          <a:solidFill>
            <a:srgbClr val="131924">
              <a:alpha val="95000"/>
            </a:srgbClr>
          </a:solidFill>
          <a:ln w="12700">
            <a:solidFill>
              <a:srgbClr val="1E293B"/>
            </a:solidFill>
            <a:prstDash val="solid"/>
          </a:ln>
        </p:spPr>
        <p:txBody>
          <a:bodyPr tIns="91440" bIns="91440"/>
          <a:lstStyle/>
          <a:p>
            <a:endParaRPr lang="fr-TN"/>
          </a:p>
        </p:txBody>
      </p:sp>
      <p:sp>
        <p:nvSpPr>
          <p:cNvPr id="10" name="Text 7"/>
          <p:cNvSpPr/>
          <p:nvPr/>
        </p:nvSpPr>
        <p:spPr>
          <a:xfrm>
            <a:off x="3367757" y="3625676"/>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Zustand Store</a:t>
            </a:r>
            <a:endParaRPr lang="en-US" sz="1050" dirty="0"/>
          </a:p>
        </p:txBody>
      </p:sp>
      <p:sp>
        <p:nvSpPr>
          <p:cNvPr id="11" name="Text 8"/>
          <p:cNvSpPr/>
          <p:nvPr/>
        </p:nvSpPr>
        <p:spPr>
          <a:xfrm>
            <a:off x="3367757" y="3852118"/>
            <a:ext cx="2408411" cy="65127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5000"/>
              </a:lnSpc>
              <a:buNone/>
            </a:pPr>
            <a:r>
              <a:rPr lang="en-US" sz="1100" b="0" dirty="0">
                <a:solidFill>
                  <a:srgbClr val="A8B2D1"/>
                </a:solidFill>
                <a:latin typeface="Segoe UI" pitchFamily="34" charset="0"/>
                <a:ea typeface="Nobile" pitchFamily="34" charset="-122"/>
                <a:cs typeface="Nobile" pitchFamily="34" charset="-120"/>
              </a:rPr>
              <a:t>useStreamStore</a:t>
            </a:r>
            <a:r>
              <a:rPr lang="en-US" sz="1100" dirty="0" b="0">
                <a:solidFill>
                  <a:srgbClr val="A8B2D1"/>
                </a:solidFill>
                <a:latin typeface="Segoe UI" pitchFamily="34" charset="0"/>
                <a:ea typeface="Nobile" pitchFamily="34" charset="-122"/>
                <a:cs typeface="Nobile" pitchFamily="34" charset="-120"/>
              </a:rPr>
              <a:t> manages real-time state with a circular </a:t>
            </a:r>
            <a:r>
              <a:rPr lang="en-US" sz="1100" b="0" dirty="0">
                <a:solidFill>
                  <a:srgbClr val="A8B2D1"/>
                </a:solidFill>
                <a:latin typeface="Segoe UI" pitchFamily="34" charset="0"/>
                <a:ea typeface="Nobile" pitchFamily="34" charset="-122"/>
                <a:cs typeface="Nobile" pitchFamily="34" charset="-120"/>
              </a:rPr>
              <a:t>RingBuffer</a:t>
            </a:r>
            <a:r>
              <a:rPr lang="en-US" sz="1100" dirty="0" b="0">
                <a:solidFill>
                  <a:srgbClr val="A8B2D1"/>
                </a:solidFill>
                <a:latin typeface="Segoe UI" pitchFamily="34" charset="0"/>
                <a:ea typeface="Nobile" pitchFamily="34" charset="-122"/>
                <a:cs typeface="Nobile" pitchFamily="34" charset="-120"/>
              </a:rPr>
              <a:t> and </a:t>
            </a:r>
            <a:r>
              <a:rPr lang="en-US" sz="1100" b="0" dirty="0">
                <a:solidFill>
                  <a:srgbClr val="A8B2D1"/>
                </a:solidFill>
                <a:latin typeface="Segoe UI" pitchFamily="34" charset="0"/>
                <a:ea typeface="Nobile" pitchFamily="34" charset="-122"/>
                <a:cs typeface="Nobile" pitchFamily="34" charset="-120"/>
              </a:rPr>
              <a:t>perfTelemetry</a:t>
            </a:r>
            <a:r>
              <a:rPr lang="en-US" sz="1100" dirty="0" b="0">
                <a:solidFill>
                  <a:srgbClr val="A8B2D1"/>
                </a:solidFill>
                <a:latin typeface="Segoe UI" pitchFamily="34" charset="0"/>
                <a:ea typeface="Nobile" pitchFamily="34" charset="-122"/>
                <a:cs typeface="Nobile" pitchFamily="34" charset="-120"/>
              </a:rPr>
              <a:t> tracker to prevent memory leaks and GC spikes.</a:t>
            </a:r>
            <a:endParaRPr lang="en-US" sz="850" dirty="0"/>
          </a:p>
        </p:txBody>
      </p:sp>
      <p:sp>
        <p:nvSpPr>
          <p:cNvPr id="12" name="Shape 9"/>
          <p:cNvSpPr/>
          <p:nvPr/>
        </p:nvSpPr>
        <p:spPr>
          <a:xfrm>
            <a:off x="5993904" y="3502893"/>
            <a:ext cx="2653978" cy="1286098"/>
          </a:xfrm>
          <a:prstGeom prst="roundRect">
            <a:avLst>
              <a:gd name="adj" fmla="val 3545"/>
            </a:avLst>
          </a:prstGeom>
          <a:solidFill>
            <a:srgbClr val="131924">
              <a:alpha val="95000"/>
            </a:srgbClr>
          </a:solidFill>
          <a:ln w="12700">
            <a:solidFill>
              <a:srgbClr val="1E293B"/>
            </a:solidFill>
            <a:prstDash val="solid"/>
          </a:ln>
        </p:spPr>
        <p:txBody>
          <a:bodyPr tIns="91440" bIns="91440"/>
          <a:lstStyle/>
          <a:p>
            <a:endParaRPr lang="fr-TN"/>
          </a:p>
        </p:txBody>
      </p:sp>
      <p:sp>
        <p:nvSpPr>
          <p:cNvPr id="13" name="Text 10"/>
          <p:cNvSpPr/>
          <p:nvPr/>
        </p:nvSpPr>
        <p:spPr>
          <a:xfrm>
            <a:off x="6116687" y="3625676"/>
            <a:ext cx="1356717" cy="169515"/>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React Views</a:t>
            </a:r>
            <a:endParaRPr lang="en-US" sz="1050" dirty="0"/>
          </a:p>
        </p:txBody>
      </p:sp>
      <p:sp>
        <p:nvSpPr>
          <p:cNvPr id="14" name="Text 11"/>
          <p:cNvSpPr/>
          <p:nvPr/>
        </p:nvSpPr>
        <p:spPr>
          <a:xfrm>
            <a:off x="6116687" y="3852118"/>
            <a:ext cx="2408411" cy="65127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5000"/>
              </a:lnSpc>
              <a:buNone/>
            </a:pPr>
            <a:r>
              <a:rPr lang="en-US" sz="1100" b="0" dirty="0">
                <a:solidFill>
                  <a:srgbClr val="A8B2D1"/>
                </a:solidFill>
                <a:latin typeface="Segoe UI" pitchFamily="34" charset="0"/>
                <a:ea typeface="Nobile" pitchFamily="34" charset="-122"/>
                <a:cs typeface="Nobile" pitchFamily="34" charset="-120"/>
              </a:rPr>
              <a:t>DashboardPage</a:t>
            </a:r>
            <a:r>
              <a:rPr lang="en-US" sz="1100" dirty="0" b="0">
                <a:solidFill>
                  <a:srgbClr val="A8B2D1"/>
                </a:solidFill>
                <a:latin typeface="Segoe UI" pitchFamily="34" charset="0"/>
                <a:ea typeface="Nobile" pitchFamily="34" charset="-122"/>
                <a:cs typeface="Nobile" pitchFamily="34" charset="-120"/>
              </a:rPr>
              <a:t>, </a:t>
            </a:r>
            <a:r>
              <a:rPr lang="en-US" sz="1100" b="0" dirty="0">
                <a:solidFill>
                  <a:srgbClr val="A8B2D1"/>
                </a:solidFill>
                <a:latin typeface="Segoe UI" pitchFamily="34" charset="0"/>
                <a:ea typeface="Nobile" pitchFamily="34" charset="-122"/>
                <a:cs typeface="Nobile" pitchFamily="34" charset="-120"/>
              </a:rPr>
              <a:t>HistoryPage</a:t>
            </a:r>
            <a:r>
              <a:rPr lang="en-US" sz="1100" dirty="0" b="0">
                <a:solidFill>
                  <a:srgbClr val="A8B2D1"/>
                </a:solidFill>
                <a:latin typeface="Segoe UI" pitchFamily="34" charset="0"/>
                <a:ea typeface="Nobile" pitchFamily="34" charset="-122"/>
                <a:cs typeface="Nobile" pitchFamily="34" charset="-120"/>
              </a:rPr>
              <a:t>, </a:t>
            </a:r>
            <a:r>
              <a:rPr lang="en-US" sz="1100" b="0" dirty="0">
                <a:solidFill>
                  <a:srgbClr val="A8B2D1"/>
                </a:solidFill>
                <a:latin typeface="Segoe UI" pitchFamily="34" charset="0"/>
                <a:ea typeface="Nobile" pitchFamily="34" charset="-122"/>
                <a:cs typeface="Nobile" pitchFamily="34" charset="-120"/>
              </a:rPr>
              <a:t>AnalyticsPage</a:t>
            </a:r>
            <a:r>
              <a:rPr lang="en-US" sz="1100" dirty="0" b="0">
                <a:solidFill>
                  <a:srgbClr val="A8B2D1"/>
                </a:solidFill>
                <a:latin typeface="Segoe UI" pitchFamily="34" charset="0"/>
                <a:ea typeface="Nobile" pitchFamily="34" charset="-122"/>
                <a:cs typeface="Nobile" pitchFamily="34" charset="-120"/>
              </a:rPr>
              <a:t>, </a:t>
            </a:r>
            <a:r>
              <a:rPr lang="en-US" sz="1100" b="0" dirty="0">
                <a:solidFill>
                  <a:srgbClr val="A8B2D1"/>
                </a:solidFill>
                <a:latin typeface="Segoe UI" pitchFamily="34" charset="0"/>
                <a:ea typeface="Nobile" pitchFamily="34" charset="-122"/>
                <a:cs typeface="Nobile" pitchFamily="34" charset="-120"/>
              </a:rPr>
              <a:t>StixDashboard</a:t>
            </a:r>
            <a:r>
              <a:rPr lang="en-US" sz="1100" dirty="0" b="0">
                <a:solidFill>
                  <a:srgbClr val="A8B2D1"/>
                </a:solidFill>
                <a:latin typeface="Segoe UI" pitchFamily="34" charset="0"/>
                <a:ea typeface="Nobile" pitchFamily="34" charset="-122"/>
                <a:cs typeface="Nobile" pitchFamily="34" charset="-120"/>
              </a:rPr>
              <a:t>, and </a:t>
            </a:r>
            <a:r>
              <a:rPr lang="en-US" sz="1100" b="0" dirty="0">
                <a:solidFill>
                  <a:srgbClr val="A8B2D1"/>
                </a:solidFill>
                <a:latin typeface="Segoe UI" pitchFamily="34" charset="0"/>
                <a:ea typeface="Nobile" pitchFamily="34" charset="-122"/>
                <a:cs typeface="Nobile" pitchFamily="34" charset="-120"/>
              </a:rPr>
              <a:t>CountryDashboard</a:t>
            </a:r>
            <a:r>
              <a:rPr lang="en-US" sz="1100" dirty="0" b="0">
                <a:solidFill>
                  <a:srgbClr val="A8B2D1"/>
                </a:solidFill>
                <a:latin typeface="Segoe UI" pitchFamily="34" charset="0"/>
                <a:ea typeface="Nobile" pitchFamily="34" charset="-122"/>
                <a:cs typeface="Nobile" pitchFamily="34" charset="-120"/>
              </a:rPr>
              <a:t> subscribe to Zustand state slices and bind to REST endpoints.</a:t>
            </a:r>
            <a:endParaRPr lang="en-US" sz="850" dirty="0"/>
          </a:p>
        </p:txBody>
      </p:sp>
      <p:pic>
        <p:nvPicPr>
          <p:cNvPr id="15" name="Picture 14" descr="global_class_diagram.png"/>
          <p:cNvPicPr>
            <a:picLocks noChangeAspect="1"/>
          </p:cNvPicPr>
          <p:nvPr/>
        </p:nvPicPr>
        <p:blipFill>
          <a:blip r:embed="rId4"/>
          <a:stretch>
            <a:fillRect/>
          </a:stretch>
        </p:blipFill>
        <p:spPr>
          <a:xfrm>
            <a:off x="1819656" y="923544"/>
            <a:ext cx="5184648" cy="2322576"/>
          </a:xfrm>
          <a:prstGeom prst="rect">
            <a:avLst/>
          </a:prstGeom>
        </p:spPr>
      </p:pic>
    </p:spTree>
  </p:cSld>
  <p:transition spd="slow">
    <p:fade/>
  </p:transition>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521643" y="364778"/>
            <a:ext cx="1013520" cy="181719"/>
          </a:xfrm>
          <a:prstGeom prst="roundRect">
            <a:avLst>
              <a:gd name="adj" fmla="val 18994"/>
            </a:avLst>
          </a:prstGeom>
          <a:noFill/>
          <a:ln>
            <a:noFill/>
          </a:ln>
        </p:spPr>
        <p:txBody>
          <a:bodyPr tIns="91440" bIns="91440"/>
          <a:lstStyle/>
          <a:p>
            <a:endParaRPr lang="fr-TN"/>
          </a:p>
        </p:txBody>
      </p:sp>
      <p:sp>
        <p:nvSpPr>
          <p:cNvPr id="3" name="Text 1"/>
          <p:cNvSpPr/>
          <p:nvPr/>
        </p:nvSpPr>
        <p:spPr>
          <a:xfrm>
            <a:off x="583257" y="395585"/>
            <a:ext cx="1347490" cy="120104"/>
          </a:xfrm>
          <a:prstGeom prst="rect">
            <a:avLst/>
          </a:prstGeom>
          <a:noFill/>
          <a:ln>
            <a:noFill/>
          </a:ln>
        </p:spPr>
        <p:txBody>
          <a:bodyPr wrap="none" tIns="91440" bIns="91440" rtlCol="0" anchor="t"/>
          <a:lstStyle/>
          <a:p>
            <a:pPr marL="0" indent="0" algn="l">
              <a:lnSpc>
                <a:spcPct val="122000"/>
              </a:lnSpc>
              <a:buNone/>
            </a:pPr>
            <a:r>
              <a:rPr lang="en-US" sz="1000" dirty="0" b="1">
                <a:solidFill>
                  <a:srgbClr val="00F0FF"/>
                </a:solidFill>
                <a:latin typeface="Segoe UI" pitchFamily="34" charset="0"/>
                <a:ea typeface="Nobile" pitchFamily="34" charset="-122"/>
                <a:cs typeface="Nobile" pitchFamily="34" charset="-120"/>
              </a:rPr>
              <a:t>CHAPTER 3 — SPRINT 1</a:t>
            </a:r>
            <a:endParaRPr lang="en-US" sz="600" dirty="0"/>
          </a:p>
        </p:txBody>
      </p:sp>
      <p:sp>
        <p:nvSpPr>
          <p:cNvPr id="4" name="Text 2"/>
          <p:cNvSpPr/>
          <p:nvPr/>
        </p:nvSpPr>
        <p:spPr>
          <a:xfrm>
            <a:off x="521643" y="580504"/>
            <a:ext cx="6000750" cy="3209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Sprint 1: Data Ingestion &amp; Enrichment Pipeline</a:t>
            </a:r>
            <a:endParaRPr lang="en-US" sz="2000" dirty="0"/>
          </a:p>
        </p:txBody>
      </p:sp>
      <p:sp>
        <p:nvSpPr>
          <p:cNvPr id="5" name="Text 3"/>
          <p:cNvSpPr/>
          <p:nvPr/>
        </p:nvSpPr>
        <p:spPr>
          <a:xfrm>
            <a:off x="521643" y="1114053"/>
            <a:ext cx="1741215" cy="160511"/>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Sprint Objectives</a:t>
            </a:r>
            <a:endParaRPr lang="en-US" sz="1000" dirty="0"/>
          </a:p>
        </p:txBody>
      </p:sp>
      <p:sp>
        <p:nvSpPr>
          <p:cNvPr id="6" name="Text 4"/>
          <p:cNvSpPr/>
          <p:nvPr/>
        </p:nvSpPr>
        <p:spPr>
          <a:xfrm>
            <a:off x="521643" y="1359619"/>
            <a:ext cx="3924970" cy="450503"/>
          </a:xfrm>
          <a:prstGeom prst="rect">
            <a:avLst/>
          </a:prstGeom>
          <a:noFill/>
          <a:ln>
            <a:noFill/>
          </a:ln>
        </p:spPr>
        <p:txBody>
          <a:bodyPr wrap="square" tIns="91440" bIns="91440" rtlCol="0" anchor="t">
            <a:normAutofit/>
          </a:bodyPr>
          <a:lstStyle/>
          <a:p>
            <a:pPr marL="0" indent="0" algn="l">
              <a:lnSpc>
                <a:spcPct val="122000"/>
              </a:lnSpc>
              <a:buNone/>
            </a:pPr>
            <a:r>
              <a:rPr lang="en-US" sz="1100" dirty="0" b="0">
                <a:solidFill>
                  <a:srgbClr val="A8B2D1"/>
                </a:solidFill>
                <a:latin typeface="Segoe UI" pitchFamily="34" charset="0"/>
                <a:ea typeface="Nobile" pitchFamily="34" charset="-122"/>
                <a:cs typeface="Nobile" pitchFamily="34" charset="-120"/>
              </a:rPr>
              <a:t>Configure the Express server, set up Mongoose models, code 9 modular scrapers, and implement the 5-layer sector classification and geolocation enrichment pipeline.</a:t>
            </a:r>
            <a:endParaRPr lang="en-US" sz="800" dirty="0"/>
          </a:p>
        </p:txBody>
      </p:sp>
      <p:pic>
        <p:nvPicPr>
          <p:cNvPr id="7" name="Image 0" descr="preencoded.png"/>
          <p:cNvPicPr>
            <a:picLocks noChangeAspect="1"/>
          </p:cNvPicPr>
          <p:nvPr/>
        </p:nvPicPr>
        <p:blipFill>
          <a:blip r:embed="rId3"/>
          <a:stretch>
            <a:fillRect/>
          </a:stretch>
        </p:blipFill>
        <p:spPr>
          <a:xfrm>
            <a:off x="521643" y="1905819"/>
            <a:ext cx="3924970" cy="2221855"/>
          </a:xfrm>
          <a:prstGeom prst="rect">
            <a:avLst/>
          </a:prstGeom>
        </p:spPr>
      </p:pic>
      <p:sp>
        <p:nvSpPr>
          <p:cNvPr id="8" name="Text 5"/>
          <p:cNvSpPr/>
          <p:nvPr/>
        </p:nvSpPr>
        <p:spPr>
          <a:xfrm>
            <a:off x="4702001" y="1114053"/>
            <a:ext cx="1959620" cy="160511"/>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9 Integrated Threat Feeds</a:t>
            </a:r>
            <a:endParaRPr lang="en-US" sz="1000" dirty="0"/>
          </a:p>
        </p:txBody>
      </p:sp>
      <p:sp>
        <p:nvSpPr>
          <p:cNvPr id="9" name="Shape 6"/>
          <p:cNvSpPr/>
          <p:nvPr/>
        </p:nvSpPr>
        <p:spPr>
          <a:xfrm>
            <a:off x="4702001" y="1426741"/>
            <a:ext cx="51346" cy="51346"/>
          </a:xfrm>
          <a:prstGeom prst="roundRect">
            <a:avLst>
              <a:gd name="adj" fmla="val 556519"/>
            </a:avLst>
          </a:prstGeom>
          <a:noFill/>
          <a:ln>
            <a:noFill/>
          </a:ln>
        </p:spPr>
        <p:txBody>
          <a:bodyPr tIns="91440" bIns="91440"/>
          <a:lstStyle/>
          <a:p>
            <a:endParaRPr lang="fr-TN"/>
          </a:p>
        </p:txBody>
      </p:sp>
      <p:sp>
        <p:nvSpPr>
          <p:cNvPr id="10" name="Text 7"/>
          <p:cNvSpPr/>
          <p:nvPr/>
        </p:nvSpPr>
        <p:spPr>
          <a:xfrm>
            <a:off x="4838402" y="1370261"/>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Checkpoint</a:t>
            </a:r>
            <a:r>
              <a:rPr lang="en-US" sz="1100" dirty="0" b="0">
                <a:solidFill>
                  <a:srgbClr val="A8B2D1"/>
                </a:solidFill>
                <a:latin typeface="Segoe UI" pitchFamily="34" charset="0"/>
                <a:ea typeface="Nobile" pitchFamily="34" charset="-122"/>
                <a:cs typeface="Nobile" pitchFamily="34" charset="-120"/>
              </a:rPr>
              <a:t> — Persistent SSE stream (TLS 1.3)</a:t>
            </a:r>
            <a:endParaRPr lang="en-US" sz="800" dirty="0"/>
          </a:p>
        </p:txBody>
      </p:sp>
      <p:sp>
        <p:nvSpPr>
          <p:cNvPr id="11" name="Shape 8"/>
          <p:cNvSpPr/>
          <p:nvPr/>
        </p:nvSpPr>
        <p:spPr>
          <a:xfrm>
            <a:off x="4702001" y="1747019"/>
            <a:ext cx="51346" cy="51346"/>
          </a:xfrm>
          <a:prstGeom prst="roundRect">
            <a:avLst>
              <a:gd name="adj" fmla="val 556519"/>
            </a:avLst>
          </a:prstGeom>
          <a:noFill/>
          <a:ln>
            <a:noFill/>
          </a:ln>
        </p:spPr>
        <p:txBody>
          <a:bodyPr tIns="91440" bIns="91440"/>
          <a:lstStyle/>
          <a:p>
            <a:endParaRPr lang="fr-TN"/>
          </a:p>
        </p:txBody>
      </p:sp>
      <p:sp>
        <p:nvSpPr>
          <p:cNvPr id="12" name="Text 9"/>
          <p:cNvSpPr/>
          <p:nvPr/>
        </p:nvSpPr>
        <p:spPr>
          <a:xfrm>
            <a:off x="4838402" y="1690539"/>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Bitdefender</a:t>
            </a:r>
            <a:r>
              <a:rPr lang="en-US" sz="1100" dirty="0" b="0">
                <a:solidFill>
                  <a:srgbClr val="A8B2D1"/>
                </a:solidFill>
                <a:latin typeface="Segoe UI" pitchFamily="34" charset="0"/>
                <a:ea typeface="Nobile" pitchFamily="34" charset="-122"/>
                <a:cs typeface="Nobile" pitchFamily="34" charset="-120"/>
              </a:rPr>
              <a:t> — WebSocket, 13 threat channels</a:t>
            </a:r>
            <a:endParaRPr lang="en-US" sz="800" dirty="0"/>
          </a:p>
        </p:txBody>
      </p:sp>
      <p:sp>
        <p:nvSpPr>
          <p:cNvPr id="13" name="Shape 10"/>
          <p:cNvSpPr/>
          <p:nvPr/>
        </p:nvSpPr>
        <p:spPr>
          <a:xfrm>
            <a:off x="4702001" y="2067297"/>
            <a:ext cx="51346" cy="51346"/>
          </a:xfrm>
          <a:prstGeom prst="roundRect">
            <a:avLst>
              <a:gd name="adj" fmla="val 556519"/>
            </a:avLst>
          </a:prstGeom>
          <a:noFill/>
          <a:ln>
            <a:noFill/>
          </a:ln>
        </p:spPr>
        <p:txBody>
          <a:bodyPr tIns="91440" bIns="91440"/>
          <a:lstStyle/>
          <a:p>
            <a:endParaRPr lang="fr-TN"/>
          </a:p>
        </p:txBody>
      </p:sp>
      <p:sp>
        <p:nvSpPr>
          <p:cNvPr id="14" name="Text 11"/>
          <p:cNvSpPr/>
          <p:nvPr/>
        </p:nvSpPr>
        <p:spPr>
          <a:xfrm>
            <a:off x="4838402" y="2010817"/>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Fortinet FortiGuard</a:t>
            </a:r>
            <a:r>
              <a:rPr lang="en-US" sz="1100" dirty="0" b="0">
                <a:solidFill>
                  <a:srgbClr val="A8B2D1"/>
                </a:solidFill>
                <a:latin typeface="Segoe UI" pitchFamily="34" charset="0"/>
                <a:ea typeface="Nobile" pitchFamily="34" charset="-122"/>
                <a:cs typeface="Nobile" pitchFamily="34" charset="-120"/>
              </a:rPr>
              <a:t> — REST poll every 4 seconds</a:t>
            </a:r>
            <a:endParaRPr lang="en-US" sz="800" dirty="0"/>
          </a:p>
        </p:txBody>
      </p:sp>
      <p:sp>
        <p:nvSpPr>
          <p:cNvPr id="15" name="Shape 12"/>
          <p:cNvSpPr/>
          <p:nvPr/>
        </p:nvSpPr>
        <p:spPr>
          <a:xfrm>
            <a:off x="4702001" y="2387575"/>
            <a:ext cx="51346" cy="51346"/>
          </a:xfrm>
          <a:prstGeom prst="roundRect">
            <a:avLst>
              <a:gd name="adj" fmla="val 556519"/>
            </a:avLst>
          </a:prstGeom>
          <a:noFill/>
          <a:ln>
            <a:noFill/>
          </a:ln>
        </p:spPr>
        <p:txBody>
          <a:bodyPr tIns="91440" bIns="91440"/>
          <a:lstStyle/>
          <a:p>
            <a:endParaRPr lang="fr-TN"/>
          </a:p>
        </p:txBody>
      </p:sp>
      <p:sp>
        <p:nvSpPr>
          <p:cNvPr id="16" name="Text 13"/>
          <p:cNvSpPr/>
          <p:nvPr/>
        </p:nvSpPr>
        <p:spPr>
          <a:xfrm>
            <a:off x="4838402" y="2331095"/>
            <a:ext cx="3788569" cy="150168"/>
          </a:xfrm>
          <a:prstGeom prst="rect">
            <a:avLst/>
          </a:prstGeom>
          <a:noFill/>
          <a:ln>
            <a:noFill/>
          </a:ln>
        </p:spPr>
        <p:txBody>
          <a:bodyPr wrap="none" tIns="91440" bIns="91440" rtlCol="0" anchor="t"/>
          <a:lstStyle/>
          <a:p>
            <a:pPr marL="0" indent="0" algn="l">
              <a:lnSpc>
                <a:spcPct val="122000"/>
              </a:lnSpc>
              <a:buNone/>
            </a:pPr>
            <a:r>
              <a:rPr lang="en-US" sz="1300" b="1" dirty="0">
                <a:solidFill>
                  <a:srgbClr val="FFFFFF"/>
                </a:solidFill>
                <a:latin typeface="Segoe UI" pitchFamily="34" charset="0"/>
                <a:ea typeface="Nobile" pitchFamily="34" charset="-122"/>
                <a:cs typeface="Nobile" pitchFamily="34" charset="-120"/>
              </a:rPr>
              <a:t>URLhaus</a:t>
            </a:r>
            <a:r>
              <a:rPr lang="en-US" sz="1300" dirty="0" b="1">
                <a:solidFill>
                  <a:srgbClr val="FFFFFF"/>
                </a:solidFill>
                <a:latin typeface="Segoe UI" pitchFamily="34" charset="0"/>
                <a:ea typeface="Nobile" pitchFamily="34" charset="-122"/>
                <a:cs typeface="Nobile" pitchFamily="34" charset="-120"/>
              </a:rPr>
              <a:t> — abuse.ch malware URL feed</a:t>
            </a:r>
            <a:endParaRPr lang="en-US" sz="800" dirty="0"/>
          </a:p>
        </p:txBody>
      </p:sp>
      <p:sp>
        <p:nvSpPr>
          <p:cNvPr id="17" name="Shape 14"/>
          <p:cNvSpPr/>
          <p:nvPr/>
        </p:nvSpPr>
        <p:spPr>
          <a:xfrm>
            <a:off x="4702001" y="2707853"/>
            <a:ext cx="51346" cy="51346"/>
          </a:xfrm>
          <a:prstGeom prst="roundRect">
            <a:avLst>
              <a:gd name="adj" fmla="val 556519"/>
            </a:avLst>
          </a:prstGeom>
          <a:noFill/>
          <a:ln>
            <a:noFill/>
          </a:ln>
        </p:spPr>
        <p:txBody>
          <a:bodyPr tIns="91440" bIns="91440"/>
          <a:lstStyle/>
          <a:p>
            <a:endParaRPr lang="fr-TN"/>
          </a:p>
        </p:txBody>
      </p:sp>
      <p:sp>
        <p:nvSpPr>
          <p:cNvPr id="18" name="Text 15"/>
          <p:cNvSpPr/>
          <p:nvPr/>
        </p:nvSpPr>
        <p:spPr>
          <a:xfrm>
            <a:off x="4838402" y="2651373"/>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Kaspersky Feodo</a:t>
            </a:r>
            <a:r>
              <a:rPr lang="en-US" sz="1100" dirty="0" b="0">
                <a:solidFill>
                  <a:srgbClr val="A8B2D1"/>
                </a:solidFill>
                <a:latin typeface="Segoe UI" pitchFamily="34" charset="0"/>
                <a:ea typeface="Nobile" pitchFamily="34" charset="-122"/>
                <a:cs typeface="Nobile" pitchFamily="34" charset="-120"/>
              </a:rPr>
              <a:t> — C2 botnet CSV blocklist</a:t>
            </a:r>
            <a:endParaRPr lang="en-US" sz="800" dirty="0"/>
          </a:p>
        </p:txBody>
      </p:sp>
      <p:sp>
        <p:nvSpPr>
          <p:cNvPr id="19" name="Shape 16"/>
          <p:cNvSpPr/>
          <p:nvPr/>
        </p:nvSpPr>
        <p:spPr>
          <a:xfrm>
            <a:off x="4702001" y="3028131"/>
            <a:ext cx="51346" cy="51346"/>
          </a:xfrm>
          <a:prstGeom prst="roundRect">
            <a:avLst>
              <a:gd name="adj" fmla="val 556519"/>
            </a:avLst>
          </a:prstGeom>
          <a:noFill/>
          <a:ln>
            <a:noFill/>
          </a:ln>
        </p:spPr>
        <p:txBody>
          <a:bodyPr tIns="91440" bIns="91440"/>
          <a:lstStyle/>
          <a:p>
            <a:endParaRPr lang="fr-TN"/>
          </a:p>
        </p:txBody>
      </p:sp>
      <p:sp>
        <p:nvSpPr>
          <p:cNvPr id="20" name="Text 17"/>
          <p:cNvSpPr/>
          <p:nvPr/>
        </p:nvSpPr>
        <p:spPr>
          <a:xfrm>
            <a:off x="4838402" y="2971651"/>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AlienVault OTX</a:t>
            </a:r>
            <a:r>
              <a:rPr lang="en-US" sz="1100" dirty="0" b="0">
                <a:solidFill>
                  <a:srgbClr val="A8B2D1"/>
                </a:solidFill>
                <a:latin typeface="Segoe UI" pitchFamily="34" charset="0"/>
                <a:ea typeface="Nobile" pitchFamily="34" charset="-122"/>
                <a:cs typeface="Nobile" pitchFamily="34" charset="-120"/>
              </a:rPr>
              <a:t> — Subscribed pulse IOCs</a:t>
            </a:r>
            <a:endParaRPr lang="en-US" sz="800" dirty="0"/>
          </a:p>
        </p:txBody>
      </p:sp>
      <p:sp>
        <p:nvSpPr>
          <p:cNvPr id="21" name="Shape 18"/>
          <p:cNvSpPr/>
          <p:nvPr/>
        </p:nvSpPr>
        <p:spPr>
          <a:xfrm>
            <a:off x="4702001" y="3348410"/>
            <a:ext cx="51346" cy="51346"/>
          </a:xfrm>
          <a:prstGeom prst="roundRect">
            <a:avLst>
              <a:gd name="adj" fmla="val 556519"/>
            </a:avLst>
          </a:prstGeom>
          <a:noFill/>
          <a:ln>
            <a:noFill/>
          </a:ln>
        </p:spPr>
        <p:txBody>
          <a:bodyPr tIns="91440" bIns="91440"/>
          <a:lstStyle/>
          <a:p>
            <a:endParaRPr lang="fr-TN"/>
          </a:p>
        </p:txBody>
      </p:sp>
      <p:sp>
        <p:nvSpPr>
          <p:cNvPr id="22" name="Text 19"/>
          <p:cNvSpPr/>
          <p:nvPr/>
        </p:nvSpPr>
        <p:spPr>
          <a:xfrm>
            <a:off x="4838402" y="3291929"/>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RansomWatch</a:t>
            </a:r>
            <a:r>
              <a:rPr lang="en-US" sz="1100" dirty="0" b="0">
                <a:solidFill>
                  <a:srgbClr val="A8B2D1"/>
                </a:solidFill>
                <a:latin typeface="Segoe UI" pitchFamily="34" charset="0"/>
                <a:ea typeface="Nobile" pitchFamily="34" charset="-122"/>
                <a:cs typeface="Nobile" pitchFamily="34" charset="-120"/>
              </a:rPr>
              <a:t> — Dark web extortion posts</a:t>
            </a:r>
            <a:endParaRPr lang="en-US" sz="800" dirty="0"/>
          </a:p>
        </p:txBody>
      </p:sp>
      <p:sp>
        <p:nvSpPr>
          <p:cNvPr id="23" name="Shape 20"/>
          <p:cNvSpPr/>
          <p:nvPr/>
        </p:nvSpPr>
        <p:spPr>
          <a:xfrm>
            <a:off x="4702001" y="3668688"/>
            <a:ext cx="51346" cy="51346"/>
          </a:xfrm>
          <a:prstGeom prst="roundRect">
            <a:avLst>
              <a:gd name="adj" fmla="val 556519"/>
            </a:avLst>
          </a:prstGeom>
          <a:noFill/>
          <a:ln>
            <a:noFill/>
          </a:ln>
        </p:spPr>
        <p:txBody>
          <a:bodyPr tIns="91440" bIns="91440"/>
          <a:lstStyle/>
          <a:p>
            <a:endParaRPr lang="fr-TN"/>
          </a:p>
        </p:txBody>
      </p:sp>
      <p:sp>
        <p:nvSpPr>
          <p:cNvPr id="24" name="Text 21"/>
          <p:cNvSpPr/>
          <p:nvPr/>
        </p:nvSpPr>
        <p:spPr>
          <a:xfrm>
            <a:off x="4838402" y="3612207"/>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MontySecurity C2</a:t>
            </a:r>
            <a:r>
              <a:rPr lang="en-US" sz="1100" dirty="0" b="0">
                <a:solidFill>
                  <a:srgbClr val="A8B2D1"/>
                </a:solidFill>
                <a:latin typeface="Segoe UI" pitchFamily="34" charset="0"/>
                <a:ea typeface="Nobile" pitchFamily="34" charset="-122"/>
                <a:cs typeface="Nobile" pitchFamily="34" charset="-120"/>
              </a:rPr>
              <a:t> — Active C2 framework IPs</a:t>
            </a:r>
            <a:endParaRPr lang="en-US" sz="800" dirty="0"/>
          </a:p>
        </p:txBody>
      </p:sp>
      <p:sp>
        <p:nvSpPr>
          <p:cNvPr id="25" name="Shape 22"/>
          <p:cNvSpPr/>
          <p:nvPr/>
        </p:nvSpPr>
        <p:spPr>
          <a:xfrm>
            <a:off x="4702001" y="3988966"/>
            <a:ext cx="51346" cy="51346"/>
          </a:xfrm>
          <a:prstGeom prst="roundRect">
            <a:avLst>
              <a:gd name="adj" fmla="val 556519"/>
            </a:avLst>
          </a:prstGeom>
          <a:noFill/>
          <a:ln>
            <a:noFill/>
          </a:ln>
        </p:spPr>
        <p:txBody>
          <a:bodyPr tIns="91440" bIns="91440"/>
          <a:lstStyle/>
          <a:p>
            <a:endParaRPr lang="fr-TN"/>
          </a:p>
        </p:txBody>
      </p:sp>
      <p:sp>
        <p:nvSpPr>
          <p:cNvPr id="26" name="Text 23"/>
          <p:cNvSpPr/>
          <p:nvPr/>
        </p:nvSpPr>
        <p:spPr>
          <a:xfrm>
            <a:off x="4838402" y="3932486"/>
            <a:ext cx="3788569" cy="150168"/>
          </a:xfrm>
          <a:prstGeom prst="rect">
            <a:avLst/>
          </a:prstGeom>
          <a:noFill/>
          <a:ln>
            <a:noFill/>
          </a:ln>
        </p:spPr>
        <p:txBody>
          <a:bodyPr wrap="none" tIns="91440" bIns="91440" rtlCol="0" anchor="t"/>
          <a:lstStyle/>
          <a:p>
            <a:pPr marL="0" indent="0" algn="l">
              <a:lnSpc>
                <a:spcPct val="122000"/>
              </a:lnSpc>
              <a:buNone/>
            </a:pPr>
            <a:r>
              <a:rPr lang="en-US" sz="1100" b="0" dirty="0">
                <a:solidFill>
                  <a:srgbClr val="A8B2D1"/>
                </a:solidFill>
                <a:latin typeface="Segoe UI" pitchFamily="34" charset="0"/>
                <a:ea typeface="Nobile" pitchFamily="34" charset="-122"/>
                <a:cs typeface="Nobile" pitchFamily="34" charset="-120"/>
              </a:rPr>
              <a:t>MISP Galaxy</a:t>
            </a:r>
            <a:r>
              <a:rPr lang="en-US" sz="1100" dirty="0" b="0">
                <a:solidFill>
                  <a:srgbClr val="A8B2D1"/>
                </a:solidFill>
                <a:latin typeface="Segoe UI" pitchFamily="34" charset="0"/>
                <a:ea typeface="Nobile" pitchFamily="34" charset="-122"/>
                <a:cs typeface="Nobile" pitchFamily="34" charset="-120"/>
              </a:rPr>
              <a:t> — Synthetic threat actor events</a:t>
            </a:r>
            <a:endParaRPr lang="en-US" sz="800" dirty="0"/>
          </a:p>
        </p:txBody>
      </p:sp>
      <p:sp>
        <p:nvSpPr>
          <p:cNvPr id="27" name="Shape 24"/>
          <p:cNvSpPr/>
          <p:nvPr/>
        </p:nvSpPr>
        <p:spPr>
          <a:xfrm>
            <a:off x="4702001" y="4178350"/>
            <a:ext cx="3924970" cy="504676"/>
          </a:xfrm>
          <a:prstGeom prst="roundRect">
            <a:avLst>
              <a:gd name="adj" fmla="val 8549"/>
            </a:avLst>
          </a:prstGeom>
          <a:solidFill>
            <a:srgbClr val="131924"/>
          </a:solidFill>
          <a:ln w="12700">
            <a:solidFill>
              <a:srgbClr val="1E293B"/>
            </a:solidFill>
          </a:ln>
        </p:spPr>
        <p:txBody>
          <a:bodyPr tIns="91440" bIns="91440"/>
          <a:lstStyle/>
          <a:p>
            <a:endParaRPr lang="fr-TN"/>
          </a:p>
        </p:txBody>
      </p:sp>
      <p:pic>
        <p:nvPicPr>
          <p:cNvPr id="28" name="Image 1" descr="preencoded.png"/>
          <p:cNvPicPr>
            <a:picLocks noChangeAspect="1"/>
          </p:cNvPicPr>
          <p:nvPr/>
        </p:nvPicPr>
        <p:blipFill>
          <a:blip r:embed="rId4"/>
          <a:stretch>
            <a:fillRect/>
          </a:stretch>
        </p:blipFill>
        <p:spPr>
          <a:xfrm>
            <a:off x="4804693" y="4316834"/>
            <a:ext cx="128364" cy="102691"/>
          </a:xfrm>
          <a:prstGeom prst="rect">
            <a:avLst/>
          </a:prstGeom>
        </p:spPr>
      </p:pic>
      <p:sp>
        <p:nvSpPr>
          <p:cNvPr id="29" name="Text 25"/>
          <p:cNvSpPr/>
          <p:nvPr/>
        </p:nvSpPr>
        <p:spPr>
          <a:xfrm>
            <a:off x="5035748" y="4280520"/>
            <a:ext cx="3488531" cy="300335"/>
          </a:xfrm>
          <a:prstGeom prst="rect">
            <a:avLst/>
          </a:prstGeom>
          <a:noFill/>
          <a:ln>
            <a:noFill/>
          </a:ln>
        </p:spPr>
        <p:txBody>
          <a:bodyPr wrap="square" tIns="91440" bIns="91440" rtlCol="0" anchor="t">
            <a:normAutofit/>
          </a:bodyPr>
          <a:lstStyle/>
          <a:p>
            <a:pPr marL="0" indent="0" algn="l">
              <a:lnSpc>
                <a:spcPct val="122000"/>
              </a:lnSpc>
              <a:buNone/>
            </a:pPr>
            <a:r>
              <a:rPr lang="en-US" sz="1100" dirty="0" b="0">
                <a:solidFill>
                  <a:srgbClr val="A8B2D1"/>
                </a:solidFill>
                <a:latin typeface="Segoe UI" pitchFamily="34" charset="0"/>
                <a:ea typeface="Nobile" pitchFamily="34" charset="-122"/>
                <a:cs typeface="Nobile" pitchFamily="34" charset="-120"/>
              </a:rPr>
              <a:t>Compact BSON schema reduces document size from </a:t>
            </a:r>
            <a:r>
              <a:rPr lang="en-US" sz="1100" b="0" dirty="0">
                <a:solidFill>
                  <a:srgbClr val="A8B2D1"/>
                </a:solidFill>
                <a:latin typeface="Segoe UI" pitchFamily="34" charset="0"/>
                <a:ea typeface="Nobile" pitchFamily="34" charset="-122"/>
                <a:cs typeface="Nobile" pitchFamily="34" charset="-120"/>
              </a:rPr>
              <a:t>200 bytes → 80 bytes</a:t>
            </a:r>
            <a:r>
              <a:rPr lang="en-US" sz="1100" dirty="0" b="0">
                <a:solidFill>
                  <a:srgbClr val="A8B2D1"/>
                </a:solidFill>
                <a:latin typeface="Segoe UI" pitchFamily="34" charset="0"/>
                <a:ea typeface="Nobile" pitchFamily="34" charset="-122"/>
                <a:cs typeface="Nobile" pitchFamily="34" charset="-120"/>
              </a:rPr>
              <a:t>, conserving cloud storage.</a:t>
            </a:r>
            <a:endParaRPr lang="en-US" sz="800" dirty="0"/>
          </a:p>
        </p:txBody>
      </p:sp>
    </p:spTree>
  </p:cSld>
  <p:transition spd="slow">
    <p:fade/>
  </p:transition>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676052"/>
            <a:ext cx="1223739"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713259"/>
            <a:ext cx="1532111"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3 — SPRINT 1</a:t>
            </a:r>
            <a:endParaRPr lang="en-US" sz="750" dirty="0"/>
          </a:p>
        </p:txBody>
      </p:sp>
      <p:sp>
        <p:nvSpPr>
          <p:cNvPr id="4" name="Text 2"/>
          <p:cNvSpPr/>
          <p:nvPr/>
        </p:nvSpPr>
        <p:spPr>
          <a:xfrm>
            <a:off x="496119" y="958825"/>
            <a:ext cx="5704433" cy="387548"/>
          </a:xfrm>
          <a:prstGeom prst="rect">
            <a:avLst/>
          </a:prstGeom>
          <a:noFill/>
          <a:ln>
            <a:noFill/>
          </a:ln>
        </p:spPr>
        <p:txBody>
          <a:bodyPr wrap="none" tIns="91440" bIns="91440" rtlCol="0" anchor="t"/>
          <a:lstStyle/>
          <a:p>
            <a:r>
              <a:rPr sz="2800" b="1">
                <a:solidFill>
                  <a:srgbClr val="FFFFFF"/>
                </a:solidFill>
                <a:latin typeface="Segoe UI"/>
              </a:rPr>
              <a:t>Sprint 1: Enrichment Engine &amp; Ingestion Logic</a:t>
            </a:r>
          </a:p>
        </p:txBody>
      </p:sp>
      <p:sp>
        <p:nvSpPr>
          <p:cNvPr id="7" name="Text 3"/>
          <p:cNvSpPr/>
          <p:nvPr/>
        </p:nvSpPr>
        <p:spPr>
          <a:xfrm>
            <a:off x="914400" y="1645920"/>
            <a:ext cx="7315200" cy="292608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The </a:t>
            </a:r>
            <a:r>
              <a:rPr lang="en-US" sz="1100" b="0" dirty="0">
                <a:solidFill>
                  <a:srgbClr val="A8B2D1"/>
                </a:solidFill>
                <a:latin typeface="Segoe UI" pitchFamily="34" charset="0"/>
                <a:ea typeface="Nobile" pitchFamily="34" charset="-122"/>
                <a:cs typeface="Nobile" pitchFamily="34" charset="-120"/>
              </a:rPr>
              <a:t>EnrichmentService</a:t>
            </a:r>
            <a:r>
              <a:rPr lang="en-US" sz="1100" dirty="0" b="0">
                <a:solidFill>
                  <a:srgbClr val="A8B2D1"/>
                </a:solidFill>
                <a:latin typeface="Segoe UI" pitchFamily="34" charset="0"/>
                <a:ea typeface="Nobile" pitchFamily="34" charset="-122"/>
                <a:cs typeface="Nobile" pitchFamily="34" charset="-120"/>
              </a:rPr>
              <a:t> applies a 5-layer classification engine: (1) victim name keywords, (2) event detail regex, (3) destination port mapping, (4) MISP Galaxy metadata, and (5) source API fallback. An asynchronous RDAP cache resolves IP owners with a 3-second timeout, adding organizational context without blocking the ingestion loop.</a:t>
            </a:r>
            <a:endParaRPr lang="en-US" sz="950" dirty="0"/>
          </a:p>
        </p:txBody>
      </p:sp>
    </p:spTree>
  </p:cSld>
  <p:transition spd="slow">
    <p:fade/>
  </p:transition>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D14"/>
        </a:solidFill>
        <a:effectLst/>
      </p:bgPr>
    </p:bg>
    <p:spTree>
      <p:nvGrpSpPr>
        <p:cNvPr id="1" name=""/>
        <p:cNvGrpSpPr/>
        <p:nvPr/>
      </p:nvGrpSpPr>
      <p:grpSpPr>
        <a:xfrm>
          <a:off x="0" y="0"/>
          <a:ext cx="0" cy="0"/>
          <a:chOff x="0" y="0"/>
          <a:chExt cx="0" cy="0"/>
        </a:xfrm>
      </p:grpSpPr>
      <p:sp>
        <p:nvSpPr>
          <p:cNvPr id="10" name="Organigramme : Alternative 9">
            <a:extLst>
              <a:ext uri="{FF2B5EF4-FFF2-40B4-BE49-F238E27FC236}">
                <a16:creationId xmlns:a16="http://schemas.microsoft.com/office/drawing/2014/main" id="{197BB706-C847-9AE8-6975-7BF25C93131A}"/>
              </a:ext>
            </a:extLst>
          </p:cNvPr>
          <p:cNvSpPr/>
          <p:nvPr/>
        </p:nvSpPr>
        <p:spPr>
          <a:xfrm>
            <a:off x="4574049" y="2321569"/>
            <a:ext cx="4078595" cy="1559616"/>
          </a:xfrm>
          <a:prstGeom prst="flowChartAlternateProcess">
            <a:avLst/>
          </a:prstGeom>
          <a:solidFill>
            <a:srgbClr val="131924"/>
          </a:solidFill>
          <a:ln w="12700">
            <a:solidFill>
              <a:srgbClr val="1E293B"/>
            </a:solidFill>
          </a:ln>
        </p:spPr>
        <p:style>
          <a:lnRef idx="1">
            <a:schemeClr val="accent1"/>
          </a:lnRef>
          <a:fillRef idx="2">
            <a:schemeClr val="accent1"/>
          </a:fillRef>
          <a:effectRef idx="1">
            <a:schemeClr val="accent1"/>
          </a:effectRef>
          <a:fontRef idx="minor">
            <a:schemeClr val="dk1"/>
          </a:fontRef>
        </p:style>
        <p:txBody>
          <a:bodyPr rtlCol="0" anchor="ctr" tIns="91440" bIns="91440"/>
          <a:lstStyle/>
          <a:p>
            <a:pPr algn="ctr"/>
            <a:endParaRPr lang="fr-TN"/>
          </a:p>
        </p:txBody>
      </p:sp>
      <p:sp>
        <p:nvSpPr>
          <p:cNvPr id="9" name="Organigramme : Alternative 8">
            <a:extLst>
              <a:ext uri="{FF2B5EF4-FFF2-40B4-BE49-F238E27FC236}">
                <a16:creationId xmlns:a16="http://schemas.microsoft.com/office/drawing/2014/main" id="{0119EFC7-C6DF-319E-80DF-C93E222FA9C8}"/>
              </a:ext>
            </a:extLst>
          </p:cNvPr>
          <p:cNvSpPr/>
          <p:nvPr/>
        </p:nvSpPr>
        <p:spPr>
          <a:xfrm>
            <a:off x="342122" y="2295331"/>
            <a:ext cx="4078595" cy="1559616"/>
          </a:xfrm>
          <a:prstGeom prst="flowChartAlternateProcess">
            <a:avLst/>
          </a:prstGeom>
          <a:solidFill>
            <a:srgbClr val="131924"/>
          </a:solidFill>
          <a:ln w="12700">
            <a:solidFill>
              <a:srgbClr val="1E293B"/>
            </a:solidFill>
          </a:ln>
        </p:spPr>
        <p:style>
          <a:lnRef idx="1">
            <a:schemeClr val="accent1"/>
          </a:lnRef>
          <a:fillRef idx="2">
            <a:schemeClr val="accent1"/>
          </a:fillRef>
          <a:effectRef idx="1">
            <a:schemeClr val="accent1"/>
          </a:effectRef>
          <a:fontRef idx="minor">
            <a:schemeClr val="dk1"/>
          </a:fontRef>
        </p:style>
        <p:txBody>
          <a:bodyPr rtlCol="0" anchor="ctr" tIns="91440" bIns="91440"/>
          <a:lstStyle/>
          <a:p>
            <a:pPr algn="ctr"/>
            <a:endParaRPr lang="fr-TN"/>
          </a:p>
        </p:txBody>
      </p:sp>
      <p:sp>
        <p:nvSpPr>
          <p:cNvPr id="2" name="Shape 0"/>
          <p:cNvSpPr/>
          <p:nvPr/>
        </p:nvSpPr>
        <p:spPr>
          <a:xfrm>
            <a:off x="496119" y="1176933"/>
            <a:ext cx="1241227"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1214140"/>
            <a:ext cx="1549598"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3 — SPRINT 2</a:t>
            </a:r>
            <a:endParaRPr lang="en-US" sz="750" dirty="0"/>
          </a:p>
        </p:txBody>
      </p:sp>
      <p:sp>
        <p:nvSpPr>
          <p:cNvPr id="4" name="Text 2"/>
          <p:cNvSpPr/>
          <p:nvPr/>
        </p:nvSpPr>
        <p:spPr>
          <a:xfrm>
            <a:off x="496119" y="1459706"/>
            <a:ext cx="8151763" cy="77509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04000"/>
              </a:lnSpc>
              <a:buNone/>
            </a:pPr>
            <a:r>
              <a:rPr lang="en-US" sz="1100" dirty="0" b="0">
                <a:solidFill>
                  <a:srgbClr val="A8B2D1"/>
                </a:solidFill>
                <a:latin typeface="Segoe UI" pitchFamily="34" charset="0"/>
                <a:ea typeface="Corben" pitchFamily="34" charset="-122"/>
                <a:cs typeface="Corben" pitchFamily="34" charset="-120"/>
              </a:rPr>
              <a:t>Sprint 2: Real-Time SSE Stream &amp; 3D Globe Visualization</a:t>
            </a:r>
            <a:endParaRPr lang="en-US" sz="2400" dirty="0"/>
          </a:p>
        </p:txBody>
      </p:sp>
      <p:sp>
        <p:nvSpPr>
          <p:cNvPr id="5" name="Text 3"/>
          <p:cNvSpPr/>
          <p:nvPr/>
        </p:nvSpPr>
        <p:spPr>
          <a:xfrm>
            <a:off x="496119" y="2544812"/>
            <a:ext cx="207503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SSE Broadcast Engine</a:t>
            </a:r>
            <a:endParaRPr lang="en-US" sz="1200" dirty="0"/>
          </a:p>
        </p:txBody>
      </p:sp>
      <p:sp>
        <p:nvSpPr>
          <p:cNvPr id="6" name="Text 4"/>
          <p:cNvSpPr/>
          <p:nvPr/>
        </p:nvSpPr>
        <p:spPr>
          <a:xfrm>
            <a:off x="496119" y="2862635"/>
            <a:ext cx="3924598" cy="803374"/>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The </a:t>
            </a:r>
            <a:r>
              <a:rPr lang="en-US" sz="1100" b="0" dirty="0">
                <a:solidFill>
                  <a:srgbClr val="A8B2D1"/>
                </a:solidFill>
                <a:latin typeface="Segoe UI" pitchFamily="34" charset="0"/>
                <a:ea typeface="Nobile" pitchFamily="34" charset="-122"/>
                <a:cs typeface="Nobile" pitchFamily="34" charset="-120"/>
              </a:rPr>
              <a:t>GET /api/feed</a:t>
            </a:r>
            <a:r>
              <a:rPr lang="en-US" sz="1100" dirty="0" b="0">
                <a:solidFill>
                  <a:srgbClr val="A8B2D1"/>
                </a:solidFill>
                <a:latin typeface="Segoe UI" pitchFamily="34" charset="0"/>
                <a:ea typeface="Nobile" pitchFamily="34" charset="-122"/>
                <a:cs typeface="Nobile" pitchFamily="34" charset="-120"/>
              </a:rPr>
              <a:t> endpoint sets </a:t>
            </a:r>
            <a:r>
              <a:rPr lang="en-US" sz="1100" dirty="0" b="0">
                <a:solidFill>
                  <a:srgbClr val="A8B2D1"/>
                </a:solidFill>
                <a:highlight>
                  <a:srgbClr val="ECECF2"/>
                </a:highlight>
                <a:latin typeface="Segoe UI" pitchFamily="34" charset="0"/>
                <a:ea typeface="Consolas" pitchFamily="34" charset="-122"/>
                <a:cs typeface="Consolas" pitchFamily="34" charset="-120"/>
              </a:rPr>
              <a:t>text/event-stream</a:t>
            </a:r>
            <a:r>
              <a:rPr lang="en-US" sz="1100" dirty="0" b="0">
                <a:solidFill>
                  <a:srgbClr val="A8B2D1"/>
                </a:solidFill>
                <a:latin typeface="Segoe UI" pitchFamily="34" charset="0"/>
                <a:ea typeface="Nobile" pitchFamily="34" charset="-122"/>
                <a:cs typeface="Nobile" pitchFamily="34" charset="-120"/>
              </a:rPr>
              <a:t> headers and runs a </a:t>
            </a:r>
            <a:r>
              <a:rPr lang="en-US" sz="1100" b="0" dirty="0">
                <a:solidFill>
                  <a:srgbClr val="A8B2D1"/>
                </a:solidFill>
                <a:latin typeface="Segoe UI" pitchFamily="34" charset="0"/>
                <a:ea typeface="Nobile" pitchFamily="34" charset="-122"/>
                <a:cs typeface="Nobile" pitchFamily="34" charset="-120"/>
              </a:rPr>
              <a:t>300ms flush interval</a:t>
            </a:r>
            <a:r>
              <a:rPr lang="en-US" sz="1100" dirty="0" b="0">
                <a:solidFill>
                  <a:srgbClr val="A8B2D1"/>
                </a:solidFill>
                <a:latin typeface="Segoe UI" pitchFamily="34" charset="0"/>
                <a:ea typeface="Nobile" pitchFamily="34" charset="-122"/>
                <a:cs typeface="Nobile" pitchFamily="34" charset="-120"/>
              </a:rPr>
              <a:t> scheduler, consolidating queued events into single payloads. A 30-second ping heartbeat keeps connections alive through proxies.</a:t>
            </a:r>
            <a:endParaRPr lang="en-US" sz="950" dirty="0"/>
          </a:p>
        </p:txBody>
      </p:sp>
      <p:sp>
        <p:nvSpPr>
          <p:cNvPr id="7" name="Text 5"/>
          <p:cNvSpPr/>
          <p:nvPr/>
        </p:nvSpPr>
        <p:spPr>
          <a:xfrm>
            <a:off x="4728046" y="2544812"/>
            <a:ext cx="2109490"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3D Globe Mathematics</a:t>
            </a:r>
            <a:endParaRPr lang="en-US" sz="1200" dirty="0"/>
          </a:p>
        </p:txBody>
      </p:sp>
      <p:sp>
        <p:nvSpPr>
          <p:cNvPr id="8" name="Text 6"/>
          <p:cNvSpPr/>
          <p:nvPr/>
        </p:nvSpPr>
        <p:spPr>
          <a:xfrm>
            <a:off x="4728046" y="2862635"/>
            <a:ext cx="3924598"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Geographic coordinates are converted to 3D Cartesian vectors using spherical trigonometry. Attack arcs use </a:t>
            </a:r>
            <a:r>
              <a:rPr lang="en-US" sz="1100" b="0" dirty="0">
                <a:solidFill>
                  <a:srgbClr val="A8B2D1"/>
                </a:solidFill>
                <a:latin typeface="Segoe UI" pitchFamily="34" charset="0"/>
                <a:ea typeface="Nobile" pitchFamily="34" charset="-122"/>
                <a:cs typeface="Nobile" pitchFamily="34" charset="-120"/>
              </a:rPr>
              <a:t>Spherical Linear Interpolation (SLERP)</a:t>
            </a:r>
            <a:r>
              <a:rPr lang="en-US" sz="1100" dirty="0" b="0">
                <a:solidFill>
                  <a:srgbClr val="A8B2D1"/>
                </a:solidFill>
                <a:latin typeface="Segoe UI" pitchFamily="34" charset="0"/>
                <a:ea typeface="Nobile" pitchFamily="34" charset="-122"/>
                <a:cs typeface="Nobile" pitchFamily="34" charset="-120"/>
              </a:rPr>
              <a:t> to follow Earth's curvature, then </a:t>
            </a:r>
            <a:r>
              <a:rPr lang="en-US" sz="1100" b="0" dirty="0">
                <a:solidFill>
                  <a:srgbClr val="A8B2D1"/>
                </a:solidFill>
                <a:latin typeface="Segoe UI" pitchFamily="34" charset="0"/>
                <a:ea typeface="Nobile" pitchFamily="34" charset="-122"/>
                <a:cs typeface="Nobile" pitchFamily="34" charset="-120"/>
              </a:rPr>
              <a:t>parametric Bezier elevation</a:t>
            </a:r>
            <a:r>
              <a:rPr lang="en-US" sz="1100" dirty="0" b="0">
                <a:solidFill>
                  <a:srgbClr val="A8B2D1"/>
                </a:solidFill>
                <a:latin typeface="Segoe UI" pitchFamily="34" charset="0"/>
                <a:ea typeface="Nobile" pitchFamily="34" charset="-122"/>
                <a:cs typeface="Nobile" pitchFamily="34" charset="-120"/>
              </a:rPr>
              <a:t> lifts arcs above the surface — longer distances arch higher.</a:t>
            </a:r>
            <a:endParaRPr lang="en-US" sz="950" dirty="0"/>
          </a:p>
        </p:txBody>
      </p:sp>
    </p:spTree>
  </p:cSld>
  <p:transition spd="slow">
    <p:fade/>
  </p:transition>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D14"/>
        </a:solidFill>
        <a:effectLst/>
      </p:bgPr>
    </p:bg>
    <p:spTree>
      <p:nvGrpSpPr>
        <p:cNvPr id="1" name=""/>
        <p:cNvGrpSpPr/>
        <p:nvPr/>
      </p:nvGrpSpPr>
      <p:grpSpPr>
        <a:xfrm>
          <a:off x="0" y="0"/>
          <a:ext cx="0" cy="0"/>
          <a:chOff x="0" y="0"/>
          <a:chExt cx="0" cy="0"/>
        </a:xfrm>
      </p:grpSpPr>
      <p:sp>
        <p:nvSpPr>
          <p:cNvPr id="18" name="Rectangle 17"/>
          <p:cNvSpPr/>
          <p:nvPr/>
        </p:nvSpPr>
        <p:spPr>
          <a:xfrm>
            <a:off x="6181344" y="1645920"/>
            <a:ext cx="2468880" cy="2926080"/>
          </a:xfrm>
          <a:prstGeom prst="rect">
            <a:avLst/>
          </a:prstGeom>
          <a:solidFill>
            <a:srgbClr val="1319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p>
        </p:txBody>
      </p:sp>
      <p:sp>
        <p:nvSpPr>
          <p:cNvPr id="17" name="Rectangle 16"/>
          <p:cNvSpPr/>
          <p:nvPr/>
        </p:nvSpPr>
        <p:spPr>
          <a:xfrm>
            <a:off x="3337560" y="1645920"/>
            <a:ext cx="2468880" cy="2926080"/>
          </a:xfrm>
          <a:prstGeom prst="rect">
            <a:avLst/>
          </a:prstGeom>
          <a:solidFill>
            <a:srgbClr val="1319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p>
        </p:txBody>
      </p:sp>
      <p:sp>
        <p:nvSpPr>
          <p:cNvPr id="16" name="Rectangle 15"/>
          <p:cNvSpPr/>
          <p:nvPr/>
        </p:nvSpPr>
        <p:spPr>
          <a:xfrm>
            <a:off x="493776" y="1645920"/>
            <a:ext cx="2468880" cy="2926080"/>
          </a:xfrm>
          <a:prstGeom prst="rect">
            <a:avLst/>
          </a:prstGeom>
          <a:solidFill>
            <a:srgbClr val="131924"/>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91440" bIns="91440"/>
          <a:lstStyle/>
          <a:p>
            <a:pPr algn="ctr"/>
          </a:p>
        </p:txBody>
      </p:sp>
      <p:sp>
        <p:nvSpPr>
          <p:cNvPr id="2" name="Shape 0"/>
          <p:cNvSpPr/>
          <p:nvPr/>
        </p:nvSpPr>
        <p:spPr>
          <a:xfrm>
            <a:off x="496119" y="490761"/>
            <a:ext cx="1105198" cy="199876"/>
          </a:xfrm>
          <a:prstGeom prst="roundRect">
            <a:avLst>
              <a:gd name="adj" fmla="val 18572"/>
            </a:avLst>
          </a:prstGeom>
          <a:noFill/>
          <a:ln>
            <a:noFill/>
          </a:ln>
        </p:spPr>
        <p:txBody>
          <a:bodyPr tIns="91440" bIns="91440"/>
          <a:lstStyle/>
          <a:p>
            <a:endParaRPr lang="fr-TN"/>
          </a:p>
        </p:txBody>
      </p:sp>
      <p:sp>
        <p:nvSpPr>
          <p:cNvPr id="3" name="Text 1"/>
          <p:cNvSpPr/>
          <p:nvPr/>
        </p:nvSpPr>
        <p:spPr>
          <a:xfrm>
            <a:off x="562347" y="523875"/>
            <a:ext cx="1429941" cy="133648"/>
          </a:xfrm>
          <a:prstGeom prst="rect">
            <a:avLst/>
          </a:prstGeom>
          <a:noFill/>
          <a:ln>
            <a:noFill/>
          </a:ln>
        </p:spPr>
        <p:txBody>
          <a:bodyPr wrap="none" tIns="91440" bIns="91440" rtlCol="0" anchor="t"/>
          <a:lstStyle/>
          <a:p>
            <a:pPr marL="0" indent="0" algn="l">
              <a:lnSpc>
                <a:spcPct val="126000"/>
              </a:lnSpc>
              <a:buNone/>
            </a:pPr>
            <a:r>
              <a:rPr lang="en-US" sz="1000" dirty="0" b="1">
                <a:solidFill>
                  <a:srgbClr val="00F0FF"/>
                </a:solidFill>
                <a:latin typeface="Segoe UI" pitchFamily="34" charset="0"/>
                <a:ea typeface="Nobile" pitchFamily="34" charset="-122"/>
                <a:cs typeface="Nobile" pitchFamily="34" charset="-120"/>
              </a:rPr>
              <a:t>CHAPTER 3 — SPRINT 2</a:t>
            </a:r>
            <a:endParaRPr lang="en-US" sz="650" dirty="0"/>
          </a:p>
        </p:txBody>
      </p:sp>
      <p:sp>
        <p:nvSpPr>
          <p:cNvPr id="4" name="Text 2"/>
          <p:cNvSpPr/>
          <p:nvPr/>
        </p:nvSpPr>
        <p:spPr>
          <a:xfrm>
            <a:off x="496119" y="729928"/>
            <a:ext cx="6448946" cy="345281"/>
          </a:xfrm>
          <a:prstGeom prst="rect">
            <a:avLst/>
          </a:prstGeom>
          <a:noFill/>
          <a:ln>
            <a:noFill/>
          </a:ln>
        </p:spPr>
        <p:txBody>
          <a:bodyPr wrap="none" tIns="91440" bIns="91440" rtlCol="0" anchor="t"/>
          <a:lstStyle/>
          <a:p>
            <a:r>
              <a:rPr sz="2800" b="1">
                <a:solidFill>
                  <a:srgbClr val="FFFFFF"/>
                </a:solidFill>
                <a:latin typeface="Segoe UI"/>
              </a:rPr>
              <a:t>Sprint 2: WebGL Custom Shaders</a:t>
            </a:r>
          </a:p>
        </p:txBody>
      </p:sp>
      <p:sp>
        <p:nvSpPr>
          <p:cNvPr id="6" name="Text 4"/>
          <p:cNvSpPr/>
          <p:nvPr/>
        </p:nvSpPr>
        <p:spPr>
          <a:xfrm>
            <a:off x="4711526" y="1321147"/>
            <a:ext cx="1924794" cy="172641"/>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Custom GLSL Shaders</a:t>
            </a:r>
            <a:endParaRPr lang="en-US" sz="1050" dirty="0"/>
          </a:p>
        </p:txBody>
      </p:sp>
      <p:sp>
        <p:nvSpPr>
          <p:cNvPr id="8" name="Text 5"/>
          <p:cNvSpPr/>
          <p:nvPr/>
        </p:nvSpPr>
        <p:spPr>
          <a:xfrm>
            <a:off x="630936" y="1828800"/>
            <a:ext cx="2194560" cy="172641"/>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Atmospheric Glow</a:t>
            </a:r>
            <a:endParaRPr lang="en-US" sz="1050" dirty="0"/>
          </a:p>
        </p:txBody>
      </p:sp>
      <p:sp>
        <p:nvSpPr>
          <p:cNvPr id="9" name="Text 6"/>
          <p:cNvSpPr/>
          <p:nvPr/>
        </p:nvSpPr>
        <p:spPr>
          <a:xfrm>
            <a:off x="630936" y="2194560"/>
            <a:ext cx="2194560" cy="219456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6000"/>
              </a:lnSpc>
              <a:buNone/>
            </a:pPr>
            <a:r>
              <a:rPr lang="en-US" sz="1100" dirty="0" b="0">
                <a:solidFill>
                  <a:srgbClr val="A8B2D1"/>
                </a:solidFill>
                <a:latin typeface="Segoe UI" pitchFamily="34" charset="0"/>
                <a:ea typeface="Nobile" pitchFamily="34" charset="-122"/>
                <a:cs typeface="Nobile" pitchFamily="34" charset="-120"/>
              </a:rPr>
              <a:t>Fresnel-effect vertex/fragment shader creates a neon cyberblue glow around the globe silhouette using dot-product intensity falloff.</a:t>
            </a:r>
            <a:endParaRPr lang="en-US" sz="850" dirty="0"/>
          </a:p>
        </p:txBody>
      </p:sp>
      <p:sp>
        <p:nvSpPr>
          <p:cNvPr id="11" name="Text 7"/>
          <p:cNvSpPr/>
          <p:nvPr/>
        </p:nvSpPr>
        <p:spPr>
          <a:xfrm>
            <a:off x="3474720" y="1828800"/>
            <a:ext cx="2194560" cy="172641"/>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Neon Country Borders</a:t>
            </a:r>
            <a:endParaRPr lang="en-US" sz="1050" dirty="0"/>
          </a:p>
        </p:txBody>
      </p:sp>
      <p:sp>
        <p:nvSpPr>
          <p:cNvPr id="12" name="Text 8"/>
          <p:cNvSpPr/>
          <p:nvPr/>
        </p:nvSpPr>
        <p:spPr>
          <a:xfrm>
            <a:off x="3474720" y="2194560"/>
            <a:ext cx="2194560" cy="219456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6000"/>
              </a:lnSpc>
              <a:buNone/>
            </a:pPr>
            <a:r>
              <a:rPr lang="en-US" sz="1100" dirty="0" b="0">
                <a:solidFill>
                  <a:srgbClr val="A8B2D1"/>
                </a:solidFill>
                <a:latin typeface="Segoe UI" pitchFamily="34" charset="0"/>
                <a:ea typeface="Nobile" pitchFamily="34" charset="-122"/>
                <a:cs typeface="Nobile" pitchFamily="34" charset="-120"/>
              </a:rPr>
              <a:t>5 overlapping TopoJSON vector line layers at microscopic scale increases (R=1.002 to R=1.010) with decreasing opacities create a glowing border effect.</a:t>
            </a:r>
            <a:endParaRPr lang="en-US" sz="850" dirty="0"/>
          </a:p>
        </p:txBody>
      </p:sp>
      <p:sp>
        <p:nvSpPr>
          <p:cNvPr id="14" name="Text 9"/>
          <p:cNvSpPr/>
          <p:nvPr/>
        </p:nvSpPr>
        <p:spPr>
          <a:xfrm>
            <a:off x="6318504" y="1828800"/>
            <a:ext cx="2194560" cy="172641"/>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Bloom Post-Processing</a:t>
            </a:r>
            <a:endParaRPr lang="en-US" sz="1050" dirty="0"/>
          </a:p>
        </p:txBody>
      </p:sp>
      <p:sp>
        <p:nvSpPr>
          <p:cNvPr id="15" name="Text 10"/>
          <p:cNvSpPr/>
          <p:nvPr/>
        </p:nvSpPr>
        <p:spPr>
          <a:xfrm>
            <a:off x="6318504" y="2194560"/>
            <a:ext cx="2194560" cy="219456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26000"/>
              </a:lnSpc>
              <a:buNone/>
            </a:pPr>
            <a:r>
              <a:rPr lang="en-US" sz="1100" dirty="0" b="0">
                <a:solidFill>
                  <a:srgbClr val="A8B2D1"/>
                </a:solidFill>
                <a:highlight>
                  <a:srgbClr val="ECECF2"/>
                </a:highlight>
                <a:latin typeface="Segoe UI" pitchFamily="34" charset="0"/>
                <a:ea typeface="Consolas" pitchFamily="34" charset="-122"/>
                <a:cs typeface="Consolas" pitchFamily="34" charset="-120"/>
              </a:rPr>
              <a:t>EffectComposer</a:t>
            </a:r>
            <a:r>
              <a:rPr lang="en-US" sz="1100" dirty="0" b="0">
                <a:solidFill>
                  <a:srgbClr val="A8B2D1"/>
                </a:solidFill>
                <a:latin typeface="Segoe UI" pitchFamily="34" charset="0"/>
                <a:ea typeface="Nobile" pitchFamily="34" charset="-122"/>
                <a:cs typeface="Nobile" pitchFamily="34" charset="-120"/>
              </a:rPr>
              <a:t> with </a:t>
            </a:r>
            <a:r>
              <a:rPr lang="en-US" sz="1100" dirty="0" b="0">
                <a:solidFill>
                  <a:srgbClr val="A8B2D1"/>
                </a:solidFill>
                <a:highlight>
                  <a:srgbClr val="ECECF2"/>
                </a:highlight>
                <a:latin typeface="Segoe UI" pitchFamily="34" charset="0"/>
                <a:ea typeface="Consolas" pitchFamily="34" charset="-122"/>
                <a:cs typeface="Consolas" pitchFamily="34" charset="-120"/>
              </a:rPr>
              <a:t>Bloom</a:t>
            </a:r>
            <a:r>
              <a:rPr lang="en-US" sz="1100" dirty="0" b="0">
                <a:solidFill>
                  <a:srgbClr val="A8B2D1"/>
                </a:solidFill>
                <a:latin typeface="Segoe UI" pitchFamily="34" charset="0"/>
                <a:ea typeface="Nobile" pitchFamily="34" charset="-122"/>
                <a:cs typeface="Nobile" pitchFamily="34" charset="-120"/>
              </a:rPr>
              <a:t> shader (luminanceThreshold 0.15, intensity 0.8) makes severity-colored arcs glow like neon light fibers.</a:t>
            </a:r>
            <a:endParaRPr lang="en-US" sz="850" dirty="0"/>
          </a:p>
        </p:txBody>
      </p:sp>
    </p:spTree>
  </p:cSld>
  <p:transition spd="slow">
    <p:fade/>
  </p:transition>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1365945"/>
            <a:ext cx="1245840"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1403152"/>
            <a:ext cx="1554212"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4 — SPRINT 3</a:t>
            </a:r>
            <a:endParaRPr lang="en-US" sz="750" dirty="0"/>
          </a:p>
        </p:txBody>
      </p:sp>
      <p:sp>
        <p:nvSpPr>
          <p:cNvPr id="4" name="Text 2"/>
          <p:cNvSpPr/>
          <p:nvPr/>
        </p:nvSpPr>
        <p:spPr>
          <a:xfrm>
            <a:off x="496119" y="1648718"/>
            <a:ext cx="6903244" cy="387548"/>
          </a:xfrm>
          <a:prstGeom prst="rect">
            <a:avLst/>
          </a:prstGeom>
          <a:noFill/>
          <a:ln>
            <a:noFill/>
          </a:ln>
        </p:spPr>
        <p:txBody>
          <a:bodyPr wrap="none" tIns="91440" bIns="91440" rtlCol="0" anchor="t"/>
          <a:lstStyle/>
          <a:p>
            <a:pPr marL="0" indent="0" algn="l">
              <a:lnSpc>
                <a:spcPct val="104000"/>
              </a:lnSpc>
              <a:buNone/>
            </a:pPr>
            <a:r>
              <a:rPr lang="en-US" sz="1100" dirty="0" b="0">
                <a:solidFill>
                  <a:srgbClr val="A8B2D1"/>
                </a:solidFill>
                <a:latin typeface="Segoe UI" pitchFamily="34" charset="0"/>
                <a:ea typeface="Corben" pitchFamily="34" charset="-122"/>
                <a:cs typeface="Corben" pitchFamily="34" charset="-120"/>
              </a:rPr>
              <a:t>Sprint 3: STIX 2.1 Threat Analysis Dashboard</a:t>
            </a:r>
            <a:endParaRPr lang="en-US" sz="2400" dirty="0"/>
          </a:p>
        </p:txBody>
      </p:sp>
      <p:sp>
        <p:nvSpPr>
          <p:cNvPr id="5" name="Text 3"/>
          <p:cNvSpPr/>
          <p:nvPr/>
        </p:nvSpPr>
        <p:spPr>
          <a:xfrm>
            <a:off x="496119" y="2346275"/>
            <a:ext cx="20077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STIX 2.1 Parser</a:t>
            </a:r>
            <a:endParaRPr lang="en-US" sz="1200" dirty="0"/>
          </a:p>
        </p:txBody>
      </p:sp>
      <p:sp>
        <p:nvSpPr>
          <p:cNvPr id="6" name="Text 4"/>
          <p:cNvSpPr/>
          <p:nvPr/>
        </p:nvSpPr>
        <p:spPr>
          <a:xfrm>
            <a:off x="496119" y="2664098"/>
            <a:ext cx="3924598" cy="100183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Client-side JSON parser processes intelligence bundles entirely in the browser — sensitive files never leave the analyst's machine. Validates </a:t>
            </a:r>
            <a:r>
              <a:rPr lang="en-US" sz="1100" dirty="0" b="0">
                <a:solidFill>
                  <a:srgbClr val="A8B2D1"/>
                </a:solidFill>
                <a:highlight>
                  <a:srgbClr val="ECECF2"/>
                </a:highlight>
                <a:latin typeface="Segoe UI" pitchFamily="34" charset="0"/>
                <a:ea typeface="Consolas" pitchFamily="34" charset="-122"/>
                <a:cs typeface="Consolas" pitchFamily="34" charset="-120"/>
              </a:rPr>
              <a:t>spec_version: "2.1"</a:t>
            </a:r>
            <a:r>
              <a:rPr lang="en-US" sz="1100" dirty="0" b="0">
                <a:solidFill>
                  <a:srgbClr val="A8B2D1"/>
                </a:solidFill>
                <a:latin typeface="Segoe UI" pitchFamily="34" charset="0"/>
                <a:ea typeface="Nobile" pitchFamily="34" charset="-122"/>
                <a:cs typeface="Nobile" pitchFamily="34" charset="-120"/>
              </a:rPr>
              <a:t> and extracts all STIX Domain Objects (SDOs): Threat Actors, Campaigns, Malware, Tools, Attack Patterns, Indicators, and Relationships.</a:t>
            </a:r>
            <a:endParaRPr lang="en-US" sz="950" dirty="0"/>
          </a:p>
        </p:txBody>
      </p:sp>
      <p:sp>
        <p:nvSpPr>
          <p:cNvPr id="7" name="Text 5"/>
          <p:cNvSpPr/>
          <p:nvPr/>
        </p:nvSpPr>
        <p:spPr>
          <a:xfrm>
            <a:off x="4728046" y="2346275"/>
            <a:ext cx="2343894"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MITRE ATT&amp;CK Mapping</a:t>
            </a:r>
            <a:endParaRPr lang="en-US" sz="1200" dirty="0"/>
          </a:p>
        </p:txBody>
      </p:sp>
      <p:sp>
        <p:nvSpPr>
          <p:cNvPr id="8" name="Text 6"/>
          <p:cNvSpPr/>
          <p:nvPr/>
        </p:nvSpPr>
        <p:spPr>
          <a:xfrm>
            <a:off x="4728046" y="2664098"/>
            <a:ext cx="3924598" cy="100183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Parsed </a:t>
            </a:r>
            <a:r>
              <a:rPr lang="en-US" sz="1100" dirty="0" b="0">
                <a:solidFill>
                  <a:srgbClr val="A8B2D1"/>
                </a:solidFill>
                <a:highlight>
                  <a:srgbClr val="ECECF2"/>
                </a:highlight>
                <a:latin typeface="Segoe UI" pitchFamily="34" charset="0"/>
                <a:ea typeface="Consolas" pitchFamily="34" charset="-122"/>
                <a:cs typeface="Consolas" pitchFamily="34" charset="-120"/>
              </a:rPr>
              <a:t>attack-pattern</a:t>
            </a:r>
            <a:r>
              <a:rPr lang="en-US" sz="1100" dirty="0" b="0">
                <a:solidFill>
                  <a:srgbClr val="A8B2D1"/>
                </a:solidFill>
                <a:latin typeface="Segoe UI" pitchFamily="34" charset="0"/>
                <a:ea typeface="Nobile" pitchFamily="34" charset="-122"/>
                <a:cs typeface="Nobile" pitchFamily="34" charset="-120"/>
              </a:rPr>
              <a:t> objects are automatically mapped to the </a:t>
            </a:r>
            <a:r>
              <a:rPr lang="en-US" sz="1100" b="0" dirty="0">
                <a:solidFill>
                  <a:srgbClr val="A8B2D1"/>
                </a:solidFill>
                <a:latin typeface="Segoe UI" pitchFamily="34" charset="0"/>
                <a:ea typeface="Nobile" pitchFamily="34" charset="-122"/>
                <a:cs typeface="Nobile" pitchFamily="34" charset="-120"/>
              </a:rPr>
              <a:t>12 phases of the MITRE ATT&amp;CK Kill Chain</a:t>
            </a:r>
            <a:r>
              <a:rPr lang="en-US" sz="1100" dirty="0" b="0">
                <a:solidFill>
                  <a:srgbClr val="A8B2D1"/>
                </a:solidFill>
                <a:latin typeface="Segoe UI" pitchFamily="34" charset="0"/>
                <a:ea typeface="Nobile" pitchFamily="34" charset="-122"/>
                <a:cs typeface="Nobile" pitchFamily="34" charset="-120"/>
              </a:rPr>
              <a:t> (Initial Access → Exfiltration). Phase distribution counts update instantly, highlighting the most heavily populated adversary stages to focus mitigation efforts.</a:t>
            </a:r>
            <a:endParaRPr lang="en-US" sz="950" dirty="0"/>
          </a:p>
        </p:txBody>
      </p:sp>
    </p:spTree>
  </p:cSld>
  <p:transition spd="slow">
    <p:fade/>
  </p:transition>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496119" y="643830"/>
            <a:ext cx="1245840" cy="233214"/>
          </a:xfrm>
          <a:prstGeom prst="roundRect">
            <a:avLst>
              <a:gd name="adj" fmla="val 17872"/>
            </a:avLst>
          </a:prstGeom>
          <a:noFill/>
          <a:ln>
            <a:noFill/>
          </a:ln>
        </p:spPr>
        <p:txBody>
          <a:bodyPr tIns="91440" bIns="91440"/>
          <a:lstStyle/>
          <a:p>
            <a:endParaRPr lang="fr-TN"/>
          </a:p>
        </p:txBody>
      </p:sp>
      <p:sp>
        <p:nvSpPr>
          <p:cNvPr id="3" name="Text 1"/>
          <p:cNvSpPr/>
          <p:nvPr/>
        </p:nvSpPr>
        <p:spPr>
          <a:xfrm>
            <a:off x="570533" y="681038"/>
            <a:ext cx="1554212" cy="158800"/>
          </a:xfrm>
          <a:prstGeom prst="rect">
            <a:avLst/>
          </a:prstGeom>
          <a:noFill/>
          <a:ln>
            <a:noFill/>
          </a:ln>
        </p:spPr>
        <p:txBody>
          <a:bodyPr wrap="none" tIns="91440" bIns="91440" rtlCol="0" anchor="t"/>
          <a:lstStyle/>
          <a:p>
            <a:pPr marL="0" indent="0" algn="l">
              <a:lnSpc>
                <a:spcPct val="133000"/>
              </a:lnSpc>
              <a:buNone/>
            </a:pPr>
            <a:r>
              <a:rPr lang="en-US" sz="1000" dirty="0" b="1">
                <a:solidFill>
                  <a:srgbClr val="00F0FF"/>
                </a:solidFill>
                <a:latin typeface="Segoe UI" pitchFamily="34" charset="0"/>
                <a:ea typeface="Nobile" pitchFamily="34" charset="-122"/>
                <a:cs typeface="Nobile" pitchFamily="34" charset="-120"/>
              </a:rPr>
              <a:t>CHAPTER 4 — SPRINT 3</a:t>
            </a:r>
            <a:endParaRPr lang="en-US" sz="750" dirty="0"/>
          </a:p>
        </p:txBody>
      </p:sp>
      <p:sp>
        <p:nvSpPr>
          <p:cNvPr id="4" name="Text 2"/>
          <p:cNvSpPr/>
          <p:nvPr/>
        </p:nvSpPr>
        <p:spPr>
          <a:xfrm>
            <a:off x="496119" y="926604"/>
            <a:ext cx="5786958" cy="387548"/>
          </a:xfrm>
          <a:prstGeom prst="rect">
            <a:avLst/>
          </a:prstGeom>
          <a:noFill/>
          <a:ln>
            <a:noFill/>
          </a:ln>
        </p:spPr>
        <p:txBody>
          <a:bodyPr wrap="none" tIns="91440" bIns="91440" rtlCol="0" anchor="t"/>
          <a:lstStyle/>
          <a:p>
            <a:r>
              <a:rPr sz="2800" b="1">
                <a:solidFill>
                  <a:srgbClr val="FFFFFF"/>
                </a:solidFill>
                <a:latin typeface="Segoe UI"/>
              </a:rPr>
              <a:t>Sprint 3: Threat Relationship Graph Model</a:t>
            </a:r>
          </a:p>
        </p:txBody>
      </p:sp>
      <p:sp>
        <p:nvSpPr>
          <p:cNvPr id="7" name="Text 3"/>
          <p:cNvSpPr/>
          <p:nvPr/>
        </p:nvSpPr>
        <p:spPr>
          <a:xfrm>
            <a:off x="914400" y="1645920"/>
            <a:ext cx="7315200" cy="2926080"/>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The </a:t>
            </a:r>
            <a:r>
              <a:rPr lang="en-US" sz="1100" b="0" dirty="0">
                <a:solidFill>
                  <a:srgbClr val="A8B2D1"/>
                </a:solidFill>
                <a:latin typeface="Segoe UI" pitchFamily="34" charset="0"/>
                <a:ea typeface="Nobile" pitchFamily="34" charset="-122"/>
                <a:cs typeface="Nobile" pitchFamily="34" charset="-120"/>
              </a:rPr>
              <a:t>D3 Force Graph</a:t>
            </a:r>
            <a:r>
              <a:rPr lang="en-US" sz="1100" dirty="0" b="0">
                <a:solidFill>
                  <a:srgbClr val="A8B2D1"/>
                </a:solidFill>
                <a:latin typeface="Segoe UI" pitchFamily="34" charset="0"/>
                <a:ea typeface="Nobile" pitchFamily="34" charset="-122"/>
                <a:cs typeface="Nobile" pitchFamily="34" charset="-120"/>
              </a:rPr>
              <a:t> renders STIX objects as interactive nodes linked by relationship edges. The simulation applies repulsion, spring, and gravity forces using Verlet integration until the graph cools into a stable layout. Analysts can hover over nodes to inspect raw SDO metadata and click to explore relationship chains.</a:t>
            </a:r>
            <a:endParaRPr lang="en-US" sz="950" dirty="0"/>
          </a:p>
        </p:txBody>
      </p:sp>
    </p:spTree>
  </p:cSld>
  <p:transition spd="slow">
    <p:fade/>
  </p:transition>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750912" y="345653"/>
            <a:ext cx="975345" cy="168473"/>
          </a:xfrm>
          <a:prstGeom prst="roundRect">
            <a:avLst>
              <a:gd name="adj" fmla="val 19328"/>
            </a:avLst>
          </a:prstGeom>
          <a:noFill/>
          <a:ln>
            <a:noFill/>
          </a:ln>
        </p:spPr>
        <p:txBody>
          <a:bodyPr tIns="91440" bIns="91440"/>
          <a:lstStyle/>
          <a:p>
            <a:endParaRPr lang="fr-TN"/>
          </a:p>
        </p:txBody>
      </p:sp>
      <p:sp>
        <p:nvSpPr>
          <p:cNvPr id="3" name="Text 1"/>
          <p:cNvSpPr/>
          <p:nvPr/>
        </p:nvSpPr>
        <p:spPr>
          <a:xfrm>
            <a:off x="809030" y="374675"/>
            <a:ext cx="1316310" cy="110430"/>
          </a:xfrm>
          <a:prstGeom prst="rect">
            <a:avLst/>
          </a:prstGeom>
          <a:noFill/>
          <a:ln>
            <a:noFill/>
          </a:ln>
        </p:spPr>
        <p:txBody>
          <a:bodyPr wrap="none" tIns="91440" bIns="91440" rtlCol="0" anchor="t"/>
          <a:lstStyle/>
          <a:p>
            <a:pPr marL="0" indent="0" algn="l">
              <a:lnSpc>
                <a:spcPct val="119000"/>
              </a:lnSpc>
              <a:buNone/>
            </a:pPr>
            <a:r>
              <a:rPr lang="en-US" sz="1000" dirty="0" b="1">
                <a:solidFill>
                  <a:srgbClr val="00F0FF"/>
                </a:solidFill>
                <a:latin typeface="Segoe UI" pitchFamily="34" charset="0"/>
                <a:ea typeface="Nobile" pitchFamily="34" charset="-122"/>
                <a:cs typeface="Nobile" pitchFamily="34" charset="-120"/>
              </a:rPr>
              <a:t>CHAPTER 4 — SPRINT 4</a:t>
            </a:r>
            <a:endParaRPr lang="en-US" sz="600" dirty="0"/>
          </a:p>
        </p:txBody>
      </p:sp>
      <p:sp>
        <p:nvSpPr>
          <p:cNvPr id="4" name="Text 2"/>
          <p:cNvSpPr/>
          <p:nvPr/>
        </p:nvSpPr>
        <p:spPr>
          <a:xfrm>
            <a:off x="750912" y="544339"/>
            <a:ext cx="6516812" cy="302865"/>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Sprint 4: Analytics, History &amp; Performance Guardrails</a:t>
            </a:r>
            <a:endParaRPr lang="en-US" sz="1900" dirty="0"/>
          </a:p>
        </p:txBody>
      </p:sp>
      <p:sp>
        <p:nvSpPr>
          <p:cNvPr id="5" name="Text 3"/>
          <p:cNvSpPr/>
          <p:nvPr/>
        </p:nvSpPr>
        <p:spPr>
          <a:xfrm>
            <a:off x="750912" y="1028849"/>
            <a:ext cx="4160044" cy="138038"/>
          </a:xfrm>
          <a:prstGeom prst="rect">
            <a:avLst/>
          </a:prstGeom>
          <a:noFill/>
          <a:ln>
            <a:noFill/>
          </a:ln>
        </p:spPr>
        <p:txBody>
          <a:bodyPr wrap="none" tIns="91440" bIns="91440" rtlCol="0" anchor="t"/>
          <a:lstStyle/>
          <a:p>
            <a:pPr marL="0" indent="0" algn="l">
              <a:lnSpc>
                <a:spcPct val="119000"/>
              </a:lnSpc>
              <a:buNone/>
            </a:pPr>
            <a:endParaRPr lang="en-US" sz="750" dirty="0"/>
          </a:p>
        </p:txBody>
      </p:sp>
      <p:sp>
        <p:nvSpPr>
          <p:cNvPr id="6" name="Text 4"/>
          <p:cNvSpPr/>
          <p:nvPr/>
        </p:nvSpPr>
        <p:spPr>
          <a:xfrm>
            <a:off x="750912" y="1091170"/>
            <a:ext cx="1668587" cy="15143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Sprint 4 Deliverables</a:t>
            </a:r>
            <a:endParaRPr lang="en-US" sz="950" dirty="0"/>
          </a:p>
        </p:txBody>
      </p:sp>
      <p:sp>
        <p:nvSpPr>
          <p:cNvPr id="7" name="Text 5"/>
          <p:cNvSpPr/>
          <p:nvPr/>
        </p:nvSpPr>
        <p:spPr>
          <a:xfrm>
            <a:off x="783659" y="1603808"/>
            <a:ext cx="193774" cy="121072"/>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01</a:t>
            </a:r>
            <a:endParaRPr lang="en-US" sz="750" dirty="0"/>
          </a:p>
        </p:txBody>
      </p:sp>
      <p:sp>
        <p:nvSpPr>
          <p:cNvPr id="8" name="Shape 6"/>
          <p:cNvSpPr/>
          <p:nvPr/>
        </p:nvSpPr>
        <p:spPr>
          <a:xfrm>
            <a:off x="783659" y="1754125"/>
            <a:ext cx="3702844" cy="14288"/>
          </a:xfrm>
          <a:prstGeom prst="rect">
            <a:avLst/>
          </a:prstGeom>
          <a:noFill/>
          <a:ln>
            <a:noFill/>
          </a:ln>
        </p:spPr>
        <p:txBody>
          <a:bodyPr tIns="91440" bIns="91440"/>
          <a:lstStyle/>
          <a:p>
            <a:endParaRPr lang="fr-TN"/>
          </a:p>
        </p:txBody>
      </p:sp>
      <p:sp>
        <p:nvSpPr>
          <p:cNvPr id="9" name="Text 7"/>
          <p:cNvSpPr/>
          <p:nvPr/>
        </p:nvSpPr>
        <p:spPr>
          <a:xfrm>
            <a:off x="783659" y="1831143"/>
            <a:ext cx="1534864" cy="15143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Paginated History Browser</a:t>
            </a:r>
            <a:endParaRPr lang="en-US" sz="950" dirty="0"/>
          </a:p>
        </p:txBody>
      </p:sp>
      <p:sp>
        <p:nvSpPr>
          <p:cNvPr id="10" name="Text 8"/>
          <p:cNvSpPr/>
          <p:nvPr/>
        </p:nvSpPr>
        <p:spPr>
          <a:xfrm>
            <a:off x="783659" y="2058255"/>
            <a:ext cx="3702844" cy="276076"/>
          </a:xfrm>
          <a:prstGeom prst="rect">
            <a:avLst/>
          </a:prstGeom>
          <a:noFill/>
          <a:ln>
            <a:noFill/>
          </a:ln>
        </p:spPr>
        <p:txBody>
          <a:bodyPr wrap="square" tIns="91440" bIns="91440" rtlCol="0" anchor="t">
            <a:normAutofit/>
          </a:bodyPr>
          <a:lstStyle/>
          <a:p>
            <a:pPr marL="0" indent="0" algn="l">
              <a:lnSpc>
                <a:spcPct val="119000"/>
              </a:lnSpc>
              <a:buNone/>
            </a:pPr>
            <a:r>
              <a:rPr lang="en-US" sz="1100" dirty="0" b="0">
                <a:solidFill>
                  <a:srgbClr val="A8B2D1"/>
                </a:solidFill>
                <a:latin typeface="Segoe UI" pitchFamily="34" charset="0"/>
                <a:ea typeface="Nobile" pitchFamily="34" charset="-122"/>
                <a:cs typeface="Nobile" pitchFamily="34" charset="-120"/>
              </a:rPr>
              <a:t>MongoDB queries with regex, country, sector filters. Default 50 logs/page, executing in under 50ms via compound indexes.</a:t>
            </a:r>
            <a:endParaRPr lang="en-US" sz="750" dirty="0"/>
          </a:p>
        </p:txBody>
      </p:sp>
      <p:sp>
        <p:nvSpPr>
          <p:cNvPr id="11" name="Text 9"/>
          <p:cNvSpPr/>
          <p:nvPr/>
        </p:nvSpPr>
        <p:spPr>
          <a:xfrm>
            <a:off x="4648234" y="1603808"/>
            <a:ext cx="193774" cy="121072"/>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02</a:t>
            </a:r>
            <a:endParaRPr lang="en-US" sz="750" dirty="0"/>
          </a:p>
        </p:txBody>
      </p:sp>
      <p:sp>
        <p:nvSpPr>
          <p:cNvPr id="12" name="Shape 10"/>
          <p:cNvSpPr/>
          <p:nvPr/>
        </p:nvSpPr>
        <p:spPr>
          <a:xfrm>
            <a:off x="4648234" y="1754125"/>
            <a:ext cx="3702844" cy="14288"/>
          </a:xfrm>
          <a:prstGeom prst="rect">
            <a:avLst/>
          </a:prstGeom>
          <a:noFill/>
          <a:ln>
            <a:noFill/>
          </a:ln>
        </p:spPr>
        <p:txBody>
          <a:bodyPr tIns="91440" bIns="91440"/>
          <a:lstStyle/>
          <a:p>
            <a:endParaRPr lang="fr-TN"/>
          </a:p>
        </p:txBody>
      </p:sp>
      <p:sp>
        <p:nvSpPr>
          <p:cNvPr id="13" name="Text 11"/>
          <p:cNvSpPr/>
          <p:nvPr/>
        </p:nvSpPr>
        <p:spPr>
          <a:xfrm>
            <a:off x="4648234" y="1831143"/>
            <a:ext cx="1211387" cy="15143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Target My IP</a:t>
            </a:r>
            <a:endParaRPr lang="en-US" sz="950" dirty="0"/>
          </a:p>
        </p:txBody>
      </p:sp>
      <p:sp>
        <p:nvSpPr>
          <p:cNvPr id="14" name="Text 12"/>
          <p:cNvSpPr/>
          <p:nvPr/>
        </p:nvSpPr>
        <p:spPr>
          <a:xfrm>
            <a:off x="4648234" y="2058255"/>
            <a:ext cx="3702844" cy="276076"/>
          </a:xfrm>
          <a:prstGeom prst="rect">
            <a:avLst/>
          </a:prstGeom>
          <a:noFill/>
          <a:ln>
            <a:noFill/>
          </a:ln>
        </p:spPr>
        <p:txBody>
          <a:bodyPr wrap="square" tIns="91440" bIns="91440" rtlCol="0" anchor="t">
            <a:normAutofit/>
          </a:bodyPr>
          <a:lstStyle/>
          <a:p>
            <a:pPr marL="0" indent="0" algn="l">
              <a:lnSpc>
                <a:spcPct val="119000"/>
              </a:lnSpc>
              <a:buNone/>
            </a:pPr>
            <a:r>
              <a:rPr lang="en-US" sz="1100" dirty="0" b="0">
                <a:solidFill>
                  <a:srgbClr val="A8B2D1"/>
                </a:solidFill>
                <a:latin typeface="Segoe UI" pitchFamily="34" charset="0"/>
                <a:ea typeface="Nobile" pitchFamily="34" charset="-122"/>
                <a:cs typeface="Nobile" pitchFamily="34" charset="-120"/>
              </a:rPr>
              <a:t>Queries public IP API, geolocates the analyst, and auto-filters threat history to logs targeting their network subnet.</a:t>
            </a:r>
            <a:endParaRPr lang="en-US" sz="750" dirty="0"/>
          </a:p>
        </p:txBody>
      </p:sp>
      <p:sp>
        <p:nvSpPr>
          <p:cNvPr id="15" name="Text 13"/>
          <p:cNvSpPr/>
          <p:nvPr/>
        </p:nvSpPr>
        <p:spPr>
          <a:xfrm>
            <a:off x="750912" y="3085393"/>
            <a:ext cx="193774" cy="121072"/>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03</a:t>
            </a:r>
            <a:endParaRPr lang="en-US" sz="750" dirty="0"/>
          </a:p>
        </p:txBody>
      </p:sp>
      <p:sp>
        <p:nvSpPr>
          <p:cNvPr id="16" name="Shape 14"/>
          <p:cNvSpPr/>
          <p:nvPr/>
        </p:nvSpPr>
        <p:spPr>
          <a:xfrm>
            <a:off x="750912" y="3235709"/>
            <a:ext cx="3702844" cy="14288"/>
          </a:xfrm>
          <a:prstGeom prst="rect">
            <a:avLst/>
          </a:prstGeom>
          <a:noFill/>
          <a:ln>
            <a:noFill/>
          </a:ln>
        </p:spPr>
        <p:txBody>
          <a:bodyPr tIns="91440" bIns="91440"/>
          <a:lstStyle/>
          <a:p>
            <a:endParaRPr lang="fr-TN"/>
          </a:p>
        </p:txBody>
      </p:sp>
      <p:sp>
        <p:nvSpPr>
          <p:cNvPr id="17" name="Text 15"/>
          <p:cNvSpPr/>
          <p:nvPr/>
        </p:nvSpPr>
        <p:spPr>
          <a:xfrm>
            <a:off x="750912" y="3312727"/>
            <a:ext cx="1211387" cy="15143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Excel Export</a:t>
            </a:r>
            <a:endParaRPr lang="en-US" sz="950" dirty="0"/>
          </a:p>
        </p:txBody>
      </p:sp>
      <p:sp>
        <p:nvSpPr>
          <p:cNvPr id="18" name="Text 16"/>
          <p:cNvSpPr/>
          <p:nvPr/>
        </p:nvSpPr>
        <p:spPr>
          <a:xfrm>
            <a:off x="750912" y="3539839"/>
            <a:ext cx="3702844" cy="276076"/>
          </a:xfrm>
          <a:prstGeom prst="rect">
            <a:avLst/>
          </a:prstGeom>
          <a:noFill/>
          <a:ln>
            <a:noFill/>
          </a:ln>
        </p:spPr>
        <p:txBody>
          <a:bodyPr wrap="square" tIns="91440" bIns="91440" rtlCol="0" anchor="t">
            <a:normAutofit/>
          </a:bodyPr>
          <a:lstStyle/>
          <a:p>
            <a:pPr marL="0" indent="0" algn="l">
              <a:lnSpc>
                <a:spcPct val="119000"/>
              </a:lnSpc>
              <a:buNone/>
            </a:pPr>
            <a:r>
              <a:rPr lang="en-US" sz="1100" dirty="0" b="0">
                <a:solidFill>
                  <a:srgbClr val="A8B2D1"/>
                </a:solidFill>
                <a:latin typeface="Segoe UI" pitchFamily="34" charset="0"/>
                <a:ea typeface="Nobile" pitchFamily="34" charset="-122"/>
                <a:cs typeface="Nobile" pitchFamily="34" charset="-120"/>
              </a:rPr>
              <a:t>Client-side worksheet generation supporting up to 5,000 logs without browser memory exhaustion.</a:t>
            </a:r>
            <a:endParaRPr lang="en-US" sz="750" dirty="0"/>
          </a:p>
        </p:txBody>
      </p:sp>
      <p:sp>
        <p:nvSpPr>
          <p:cNvPr id="19" name="Text 17"/>
          <p:cNvSpPr/>
          <p:nvPr/>
        </p:nvSpPr>
        <p:spPr>
          <a:xfrm>
            <a:off x="4615487" y="3085393"/>
            <a:ext cx="193774" cy="121072"/>
          </a:xfrm>
          <a:prstGeom prst="rect">
            <a:avLst/>
          </a:prstGeom>
          <a:noFill/>
          <a:ln>
            <a:noFill/>
          </a:ln>
        </p:spPr>
        <p:txBody>
          <a:bodyPr wrap="none" tIns="91440" bIns="91440" rtlCol="0" anchor="ctr"/>
          <a:lstStyle/>
          <a:p>
            <a:pPr marL="0" indent="0" algn="l">
              <a:lnSpc>
                <a:spcPct val="100000"/>
              </a:lnSpc>
              <a:buNone/>
            </a:pPr>
            <a:r>
              <a:rPr lang="en-US" sz="1300" dirty="0" b="1">
                <a:solidFill>
                  <a:srgbClr val="FFFFFF"/>
                </a:solidFill>
                <a:latin typeface="Segoe UI" pitchFamily="34" charset="0"/>
                <a:ea typeface="Corben Light" pitchFamily="34" charset="-122"/>
                <a:cs typeface="Corben Light" pitchFamily="34" charset="-120"/>
              </a:rPr>
              <a:t>04</a:t>
            </a:r>
            <a:endParaRPr lang="en-US" sz="750" dirty="0"/>
          </a:p>
        </p:txBody>
      </p:sp>
      <p:sp>
        <p:nvSpPr>
          <p:cNvPr id="20" name="Shape 18"/>
          <p:cNvSpPr/>
          <p:nvPr/>
        </p:nvSpPr>
        <p:spPr>
          <a:xfrm>
            <a:off x="4615487" y="3235709"/>
            <a:ext cx="3702844" cy="14288"/>
          </a:xfrm>
          <a:prstGeom prst="rect">
            <a:avLst/>
          </a:prstGeom>
          <a:noFill/>
          <a:ln>
            <a:noFill/>
          </a:ln>
        </p:spPr>
        <p:txBody>
          <a:bodyPr tIns="91440" bIns="91440"/>
          <a:lstStyle/>
          <a:p>
            <a:endParaRPr lang="fr-TN"/>
          </a:p>
        </p:txBody>
      </p:sp>
      <p:sp>
        <p:nvSpPr>
          <p:cNvPr id="21" name="Text 19"/>
          <p:cNvSpPr/>
          <p:nvPr/>
        </p:nvSpPr>
        <p:spPr>
          <a:xfrm>
            <a:off x="4615487" y="3312728"/>
            <a:ext cx="1375023" cy="151433"/>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Performance Guardrails</a:t>
            </a:r>
            <a:endParaRPr lang="en-US" sz="950" dirty="0"/>
          </a:p>
        </p:txBody>
      </p:sp>
      <p:sp>
        <p:nvSpPr>
          <p:cNvPr id="22" name="Text 20"/>
          <p:cNvSpPr/>
          <p:nvPr/>
        </p:nvSpPr>
        <p:spPr>
          <a:xfrm>
            <a:off x="4615487" y="3539839"/>
            <a:ext cx="3702844" cy="276076"/>
          </a:xfrm>
          <a:prstGeom prst="rect">
            <a:avLst/>
          </a:prstGeom>
          <a:noFill/>
          <a:ln>
            <a:noFill/>
          </a:ln>
        </p:spPr>
        <p:txBody>
          <a:bodyPr wrap="square" tIns="91440" bIns="91440" rtlCol="0" anchor="t">
            <a:normAutofit/>
          </a:bodyPr>
          <a:lstStyle/>
          <a:p>
            <a:pPr marL="0" indent="0" algn="l">
              <a:lnSpc>
                <a:spcPct val="119000"/>
              </a:lnSpc>
              <a:buNone/>
            </a:pPr>
            <a:r>
              <a:rPr lang="en-US" sz="1100" dirty="0" b="0">
                <a:solidFill>
                  <a:srgbClr val="A8B2D1"/>
                </a:solidFill>
                <a:latin typeface="Segoe UI" pitchFamily="34" charset="0"/>
                <a:ea typeface="Nobile" pitchFamily="34" charset="-122"/>
                <a:cs typeface="Nobile" pitchFamily="34" charset="-120"/>
              </a:rPr>
              <a:t>Circular RingBuffer (10,000 slots) + Adaptive FPS Sampling Engine drops 50–75% of visual events under load.</a:t>
            </a:r>
            <a:endParaRPr lang="en-US" sz="750" dirty="0"/>
          </a:p>
        </p:txBody>
      </p:sp>
    </p:spTree>
  </p:cSld>
  <p:transition spd="slow">
    <p:fade/>
  </p:transition>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D14"/>
        </a:solidFill>
        <a:effectLst/>
      </p:bgPr>
    </p:bg>
    <p:spTree>
      <p:nvGrpSpPr>
        <p:cNvPr id="1" name=""/>
        <p:cNvGrpSpPr/>
        <p:nvPr/>
      </p:nvGrpSpPr>
      <p:grpSpPr>
        <a:xfrm>
          <a:off x="0" y="0"/>
          <a:ext cx="0" cy="0"/>
          <a:chOff x="0" y="0"/>
          <a:chExt cx="0" cy="0"/>
        </a:xfrm>
      </p:grpSpPr>
      <p:sp>
        <p:nvSpPr>
          <p:cNvPr id="2" name="Shape 0"/>
          <p:cNvSpPr/>
          <p:nvPr/>
        </p:nvSpPr>
        <p:spPr>
          <a:xfrm>
            <a:off x="980182" y="345430"/>
            <a:ext cx="917153" cy="155674"/>
          </a:xfrm>
          <a:prstGeom prst="roundRect">
            <a:avLst>
              <a:gd name="adj" fmla="val 19662"/>
            </a:avLst>
          </a:prstGeom>
          <a:noFill/>
          <a:ln>
            <a:noFill/>
          </a:ln>
        </p:spPr>
        <p:txBody>
          <a:bodyPr tIns="91440" bIns="91440"/>
          <a:lstStyle/>
          <a:p>
            <a:endParaRPr lang="fr-TN"/>
          </a:p>
        </p:txBody>
      </p:sp>
      <p:sp>
        <p:nvSpPr>
          <p:cNvPr id="3" name="Text 1"/>
          <p:cNvSpPr/>
          <p:nvPr/>
        </p:nvSpPr>
        <p:spPr>
          <a:xfrm>
            <a:off x="1034802" y="372740"/>
            <a:ext cx="1265113" cy="101054"/>
          </a:xfrm>
          <a:prstGeom prst="rect">
            <a:avLst/>
          </a:prstGeom>
          <a:noFill/>
          <a:ln>
            <a:noFill/>
          </a:ln>
        </p:spPr>
        <p:txBody>
          <a:bodyPr wrap="none" tIns="91440" bIns="91440" rtlCol="0" anchor="t"/>
          <a:lstStyle/>
          <a:p>
            <a:pPr marL="0" indent="0" algn="l">
              <a:lnSpc>
                <a:spcPct val="116000"/>
              </a:lnSpc>
              <a:buNone/>
            </a:pPr>
            <a:r>
              <a:rPr lang="en-US" sz="1000" dirty="0" b="1">
                <a:solidFill>
                  <a:srgbClr val="00F0FF"/>
                </a:solidFill>
                <a:latin typeface="Segoe UI" pitchFamily="34" charset="0"/>
                <a:ea typeface="Nobile" pitchFamily="34" charset="-122"/>
                <a:cs typeface="Nobile" pitchFamily="34" charset="-120"/>
              </a:rPr>
              <a:t>CHAPTER 4 — SPRINT 4</a:t>
            </a:r>
            <a:endParaRPr lang="en-US" sz="550" dirty="0"/>
          </a:p>
        </p:txBody>
      </p:sp>
      <p:sp>
        <p:nvSpPr>
          <p:cNvPr id="4" name="Text 2"/>
          <p:cNvSpPr/>
          <p:nvPr/>
        </p:nvSpPr>
        <p:spPr>
          <a:xfrm>
            <a:off x="980182" y="527819"/>
            <a:ext cx="5064547" cy="284634"/>
          </a:xfrm>
          <a:prstGeom prst="rect">
            <a:avLst/>
          </a:prstGeom>
          <a:noFill/>
          <a:ln>
            <a:noFill/>
          </a:ln>
        </p:spPr>
        <p:txBody>
          <a:bodyPr wrap="none" tIns="91440" bIns="91440" rtlCol="0" anchor="t"/>
          <a:lstStyle/>
          <a:p>
            <a:r>
              <a:rPr sz="2800" b="1">
                <a:solidFill>
                  <a:srgbClr val="FFFFFF"/>
                </a:solidFill>
                <a:latin typeface="Segoe UI"/>
              </a:rPr>
              <a:t>Sprint 4: Performance Guardrails &amp; Event Sampling</a:t>
            </a:r>
          </a:p>
        </p:txBody>
      </p:sp>
      <p:sp>
        <p:nvSpPr>
          <p:cNvPr id="7" name="Text 3"/>
          <p:cNvSpPr/>
          <p:nvPr/>
        </p:nvSpPr>
        <p:spPr>
          <a:xfrm>
            <a:off x="2822412" y="979661"/>
            <a:ext cx="1807815" cy="142280"/>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Adaptive Event Sampling</a:t>
            </a:r>
            <a:endParaRPr lang="en-US" sz="850" dirty="0"/>
          </a:p>
        </p:txBody>
      </p:sp>
      <p:sp>
        <p:nvSpPr>
          <p:cNvPr id="8" name="Shape 4"/>
          <p:cNvSpPr/>
          <p:nvPr/>
        </p:nvSpPr>
        <p:spPr>
          <a:xfrm>
            <a:off x="2822412" y="1197173"/>
            <a:ext cx="3480643" cy="1267271"/>
          </a:xfrm>
          <a:prstGeom prst="roundRect">
            <a:avLst>
              <a:gd name="adj" fmla="val 3019"/>
            </a:avLst>
          </a:prstGeom>
          <a:solidFill>
            <a:srgbClr val="131924"/>
          </a:solidFill>
          <a:ln w="12700">
            <a:solidFill>
              <a:srgbClr val="1E293B">
                <a:alpha val="8000"/>
              </a:srgbClr>
            </a:solidFill>
            <a:prstDash val="solid"/>
          </a:ln>
        </p:spPr>
        <p:txBody>
          <a:bodyPr tIns="91440" bIns="91440"/>
          <a:lstStyle/>
          <a:p>
            <a:endParaRPr lang="fr-TN"/>
          </a:p>
        </p:txBody>
      </p:sp>
      <p:sp>
        <p:nvSpPr>
          <p:cNvPr id="9" name="Shape 5"/>
          <p:cNvSpPr/>
          <p:nvPr/>
        </p:nvSpPr>
        <p:spPr>
          <a:xfrm>
            <a:off x="2827621" y="1201936"/>
            <a:ext cx="1156767" cy="218480"/>
          </a:xfrm>
          <a:prstGeom prst="rect">
            <a:avLst/>
          </a:prstGeom>
          <a:noFill/>
          <a:ln>
            <a:noFill/>
          </a:ln>
        </p:spPr>
        <p:txBody>
          <a:bodyPr tIns="91440" bIns="91440"/>
          <a:lstStyle/>
          <a:p>
            <a:endParaRPr lang="fr-TN"/>
          </a:p>
        </p:txBody>
      </p:sp>
      <p:sp>
        <p:nvSpPr>
          <p:cNvPr id="10" name="Text 6"/>
          <p:cNvSpPr/>
          <p:nvPr/>
        </p:nvSpPr>
        <p:spPr>
          <a:xfrm>
            <a:off x="2918704" y="1246808"/>
            <a:ext cx="1431801" cy="126355"/>
          </a:xfrm>
          <a:prstGeom prst="rect">
            <a:avLst/>
          </a:prstGeom>
          <a:noFill/>
          <a:ln>
            <a:noFill/>
          </a:ln>
        </p:spPr>
        <p:txBody>
          <a:bodyPr wrap="none" tIns="91440" bIns="91440" rtlCol="0" anchor="t"/>
          <a:lstStyle/>
          <a:p>
            <a:pPr marL="0" indent="0" algn="l">
              <a:lnSpc>
                <a:spcPct val="116000"/>
              </a:lnSpc>
              <a:buNone/>
            </a:pPr>
            <a:r>
              <a:rPr lang="en-US" sz="1300" b="1" dirty="0">
                <a:solidFill>
                  <a:srgbClr val="FFFFFF"/>
                </a:solidFill>
                <a:latin typeface="Segoe UI" pitchFamily="34" charset="0"/>
                <a:ea typeface="Nobile" pitchFamily="34" charset="-122"/>
                <a:cs typeface="Nobile" pitchFamily="34" charset="-120"/>
              </a:rPr>
              <a:t>Mode</a:t>
            </a:r>
            <a:endParaRPr lang="en-US" sz="700" dirty="0"/>
          </a:p>
        </p:txBody>
      </p:sp>
      <p:sp>
        <p:nvSpPr>
          <p:cNvPr id="11" name="Shape 7"/>
          <p:cNvSpPr/>
          <p:nvPr/>
        </p:nvSpPr>
        <p:spPr>
          <a:xfrm>
            <a:off x="3984388" y="1201936"/>
            <a:ext cx="1156767" cy="218480"/>
          </a:xfrm>
          <a:prstGeom prst="rect">
            <a:avLst/>
          </a:prstGeom>
          <a:noFill/>
          <a:ln>
            <a:noFill/>
          </a:ln>
        </p:spPr>
        <p:txBody>
          <a:bodyPr tIns="91440" bIns="91440"/>
          <a:lstStyle/>
          <a:p>
            <a:endParaRPr lang="fr-TN"/>
          </a:p>
        </p:txBody>
      </p:sp>
      <p:sp>
        <p:nvSpPr>
          <p:cNvPr id="12" name="Text 8"/>
          <p:cNvSpPr/>
          <p:nvPr/>
        </p:nvSpPr>
        <p:spPr>
          <a:xfrm>
            <a:off x="4075471" y="1246808"/>
            <a:ext cx="1431801" cy="126355"/>
          </a:xfrm>
          <a:prstGeom prst="rect">
            <a:avLst/>
          </a:prstGeom>
          <a:noFill/>
          <a:ln>
            <a:noFill/>
          </a:ln>
        </p:spPr>
        <p:txBody>
          <a:bodyPr wrap="none" tIns="91440" bIns="91440" rtlCol="0" anchor="t"/>
          <a:lstStyle/>
          <a:p>
            <a:pPr marL="0" indent="0" algn="l">
              <a:lnSpc>
                <a:spcPct val="116000"/>
              </a:lnSpc>
              <a:buNone/>
            </a:pPr>
            <a:r>
              <a:rPr lang="en-US" sz="1300" b="1" dirty="0">
                <a:solidFill>
                  <a:srgbClr val="FFFFFF"/>
                </a:solidFill>
                <a:latin typeface="Segoe UI" pitchFamily="34" charset="0"/>
                <a:ea typeface="Nobile" pitchFamily="34" charset="-122"/>
                <a:cs typeface="Nobile" pitchFamily="34" charset="-120"/>
              </a:rPr>
              <a:t>FPS Range</a:t>
            </a:r>
            <a:endParaRPr lang="en-US" sz="700" dirty="0"/>
          </a:p>
        </p:txBody>
      </p:sp>
      <p:sp>
        <p:nvSpPr>
          <p:cNvPr id="13" name="Shape 9"/>
          <p:cNvSpPr/>
          <p:nvPr/>
        </p:nvSpPr>
        <p:spPr>
          <a:xfrm>
            <a:off x="5141154" y="1201936"/>
            <a:ext cx="1156767" cy="218480"/>
          </a:xfrm>
          <a:prstGeom prst="rect">
            <a:avLst/>
          </a:prstGeom>
          <a:noFill/>
          <a:ln>
            <a:noFill/>
          </a:ln>
        </p:spPr>
        <p:txBody>
          <a:bodyPr tIns="91440" bIns="91440"/>
          <a:lstStyle/>
          <a:p>
            <a:endParaRPr lang="fr-TN"/>
          </a:p>
        </p:txBody>
      </p:sp>
      <p:sp>
        <p:nvSpPr>
          <p:cNvPr id="14" name="Text 10"/>
          <p:cNvSpPr/>
          <p:nvPr/>
        </p:nvSpPr>
        <p:spPr>
          <a:xfrm>
            <a:off x="5232237" y="1246808"/>
            <a:ext cx="1431801" cy="126355"/>
          </a:xfrm>
          <a:prstGeom prst="rect">
            <a:avLst/>
          </a:prstGeom>
          <a:noFill/>
          <a:ln>
            <a:noFill/>
          </a:ln>
        </p:spPr>
        <p:txBody>
          <a:bodyPr wrap="none" tIns="91440" bIns="91440" rtlCol="0" anchor="t"/>
          <a:lstStyle/>
          <a:p>
            <a:pPr marL="0" indent="0" algn="l">
              <a:lnSpc>
                <a:spcPct val="116000"/>
              </a:lnSpc>
              <a:buNone/>
            </a:pPr>
            <a:r>
              <a:rPr lang="en-US" sz="1300" b="1" dirty="0">
                <a:solidFill>
                  <a:srgbClr val="FFFFFF"/>
                </a:solidFill>
                <a:latin typeface="Segoe UI" pitchFamily="34" charset="0"/>
                <a:ea typeface="Nobile" pitchFamily="34" charset="-122"/>
                <a:cs typeface="Nobile" pitchFamily="34" charset="-120"/>
              </a:rPr>
              <a:t>Drop Rate</a:t>
            </a:r>
            <a:endParaRPr lang="en-US" sz="700" dirty="0"/>
          </a:p>
        </p:txBody>
      </p:sp>
      <p:sp>
        <p:nvSpPr>
          <p:cNvPr id="15" name="Text 11"/>
          <p:cNvSpPr/>
          <p:nvPr/>
        </p:nvSpPr>
        <p:spPr>
          <a:xfrm>
            <a:off x="2918704" y="1467669"/>
            <a:ext cx="1431801" cy="126355"/>
          </a:xfrm>
          <a:prstGeom prst="rect">
            <a:avLst/>
          </a:prstGeom>
          <a:noFill/>
          <a:ln>
            <a:noFill/>
          </a:ln>
        </p:spPr>
        <p:txBody>
          <a:bodyPr wrap="none" tIns="91440" bIns="91440" rtlCol="0" anchor="t"/>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High-Fluidity</a:t>
            </a:r>
            <a:endParaRPr lang="en-US" sz="700" dirty="0"/>
          </a:p>
        </p:txBody>
      </p:sp>
      <p:sp>
        <p:nvSpPr>
          <p:cNvPr id="16" name="Text 12"/>
          <p:cNvSpPr/>
          <p:nvPr/>
        </p:nvSpPr>
        <p:spPr>
          <a:xfrm>
            <a:off x="4075471" y="1467669"/>
            <a:ext cx="1431801" cy="126355"/>
          </a:xfrm>
          <a:prstGeom prst="rect">
            <a:avLst/>
          </a:prstGeom>
          <a:noFill/>
          <a:ln>
            <a:noFill/>
          </a:ln>
        </p:spPr>
        <p:txBody>
          <a:bodyPr wrap="none" tIns="91440" bIns="91440" rtlCol="0" anchor="t"/>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 55 fps</a:t>
            </a:r>
            <a:endParaRPr lang="en-US" sz="700" dirty="0"/>
          </a:p>
        </p:txBody>
      </p:sp>
      <p:sp>
        <p:nvSpPr>
          <p:cNvPr id="17" name="Text 13"/>
          <p:cNvSpPr/>
          <p:nvPr/>
        </p:nvSpPr>
        <p:spPr>
          <a:xfrm>
            <a:off x="5232237" y="1467669"/>
            <a:ext cx="974601" cy="252710"/>
          </a:xfrm>
          <a:prstGeom prst="rect">
            <a:avLst/>
          </a:prstGeom>
          <a:noFill/>
          <a:ln>
            <a:noFill/>
          </a:ln>
        </p:spPr>
        <p:txBody>
          <a:bodyPr wrap="square" tIns="91440" bIns="91440" rtlCol="0" anchor="t">
            <a:normAutofit/>
          </a:bodyPr>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0% — all events rendered</a:t>
            </a:r>
            <a:endParaRPr lang="en-US" sz="700" dirty="0"/>
          </a:p>
        </p:txBody>
      </p:sp>
      <p:sp>
        <p:nvSpPr>
          <p:cNvPr id="18" name="Text 14"/>
          <p:cNvSpPr/>
          <p:nvPr/>
        </p:nvSpPr>
        <p:spPr>
          <a:xfrm>
            <a:off x="2918704" y="1814885"/>
            <a:ext cx="1431801" cy="126355"/>
          </a:xfrm>
          <a:prstGeom prst="rect">
            <a:avLst/>
          </a:prstGeom>
          <a:noFill/>
          <a:ln>
            <a:noFill/>
          </a:ln>
        </p:spPr>
        <p:txBody>
          <a:bodyPr wrap="none" tIns="91440" bIns="91440" rtlCol="0" anchor="t"/>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Medium-Load</a:t>
            </a:r>
            <a:endParaRPr lang="en-US" sz="700" dirty="0"/>
          </a:p>
        </p:txBody>
      </p:sp>
      <p:sp>
        <p:nvSpPr>
          <p:cNvPr id="19" name="Text 15"/>
          <p:cNvSpPr/>
          <p:nvPr/>
        </p:nvSpPr>
        <p:spPr>
          <a:xfrm>
            <a:off x="4075471" y="1814885"/>
            <a:ext cx="1431801" cy="126355"/>
          </a:xfrm>
          <a:prstGeom prst="rect">
            <a:avLst/>
          </a:prstGeom>
          <a:noFill/>
          <a:ln>
            <a:noFill/>
          </a:ln>
        </p:spPr>
        <p:txBody>
          <a:bodyPr wrap="none" tIns="91440" bIns="91440" rtlCol="0" anchor="t"/>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30–55 fps</a:t>
            </a:r>
            <a:endParaRPr lang="en-US" sz="700" dirty="0"/>
          </a:p>
        </p:txBody>
      </p:sp>
      <p:sp>
        <p:nvSpPr>
          <p:cNvPr id="20" name="Text 16"/>
          <p:cNvSpPr/>
          <p:nvPr/>
        </p:nvSpPr>
        <p:spPr>
          <a:xfrm>
            <a:off x="5232237" y="1814885"/>
            <a:ext cx="974601" cy="252710"/>
          </a:xfrm>
          <a:prstGeom prst="rect">
            <a:avLst/>
          </a:prstGeom>
          <a:noFill/>
          <a:ln>
            <a:noFill/>
          </a:ln>
        </p:spPr>
        <p:txBody>
          <a:bodyPr wrap="square" tIns="91440" bIns="91440" rtlCol="0" anchor="t">
            <a:normAutofit/>
          </a:bodyPr>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50% visual events dropped</a:t>
            </a:r>
            <a:endParaRPr lang="en-US" sz="700" dirty="0"/>
          </a:p>
        </p:txBody>
      </p:sp>
      <p:sp>
        <p:nvSpPr>
          <p:cNvPr id="21" name="Text 17"/>
          <p:cNvSpPr/>
          <p:nvPr/>
        </p:nvSpPr>
        <p:spPr>
          <a:xfrm>
            <a:off x="2918704" y="2162101"/>
            <a:ext cx="1431801" cy="126355"/>
          </a:xfrm>
          <a:prstGeom prst="rect">
            <a:avLst/>
          </a:prstGeom>
          <a:noFill/>
          <a:ln>
            <a:noFill/>
          </a:ln>
        </p:spPr>
        <p:txBody>
          <a:bodyPr wrap="none" tIns="91440" bIns="91440" rtlCol="0" anchor="t"/>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Stress-Mitigation</a:t>
            </a:r>
            <a:endParaRPr lang="en-US" sz="700" dirty="0"/>
          </a:p>
        </p:txBody>
      </p:sp>
      <p:sp>
        <p:nvSpPr>
          <p:cNvPr id="22" name="Text 18"/>
          <p:cNvSpPr/>
          <p:nvPr/>
        </p:nvSpPr>
        <p:spPr>
          <a:xfrm>
            <a:off x="4075471" y="2162101"/>
            <a:ext cx="1431801" cy="126355"/>
          </a:xfrm>
          <a:prstGeom prst="rect">
            <a:avLst/>
          </a:prstGeom>
          <a:noFill/>
          <a:ln>
            <a:noFill/>
          </a:ln>
        </p:spPr>
        <p:txBody>
          <a:bodyPr wrap="none" tIns="91440" bIns="91440" rtlCol="0" anchor="t"/>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 30 fps</a:t>
            </a:r>
            <a:endParaRPr lang="en-US" sz="700" dirty="0"/>
          </a:p>
        </p:txBody>
      </p:sp>
      <p:sp>
        <p:nvSpPr>
          <p:cNvPr id="23" name="Text 19"/>
          <p:cNvSpPr/>
          <p:nvPr/>
        </p:nvSpPr>
        <p:spPr>
          <a:xfrm>
            <a:off x="5232237" y="2162101"/>
            <a:ext cx="974601" cy="252710"/>
          </a:xfrm>
          <a:prstGeom prst="rect">
            <a:avLst/>
          </a:prstGeom>
          <a:noFill/>
          <a:ln>
            <a:noFill/>
          </a:ln>
        </p:spPr>
        <p:txBody>
          <a:bodyPr wrap="square" tIns="91440" bIns="91440" rtlCol="0" anchor="t">
            <a:normAutofit/>
          </a:bodyPr>
          <a:lstStyle/>
          <a:p>
            <a:pPr marL="0" indent="0" algn="l">
              <a:lnSpc>
                <a:spcPct val="116000"/>
              </a:lnSpc>
              <a:buNone/>
            </a:pPr>
            <a:r>
              <a:rPr lang="en-US" sz="1300" dirty="0" b="1">
                <a:solidFill>
                  <a:srgbClr val="FFFFFF"/>
                </a:solidFill>
                <a:latin typeface="Segoe UI" pitchFamily="34" charset="0"/>
                <a:ea typeface="Nobile" pitchFamily="34" charset="-122"/>
                <a:cs typeface="Nobile" pitchFamily="34" charset="-120"/>
              </a:rPr>
              <a:t>75% visual events dropped</a:t>
            </a:r>
            <a:endParaRPr lang="en-US" sz="700" dirty="0"/>
          </a:p>
        </p:txBody>
      </p:sp>
      <p:sp>
        <p:nvSpPr>
          <p:cNvPr id="24" name="Shape 20"/>
          <p:cNvSpPr/>
          <p:nvPr/>
        </p:nvSpPr>
        <p:spPr>
          <a:xfrm>
            <a:off x="2822412" y="2539678"/>
            <a:ext cx="3480643" cy="428179"/>
          </a:xfrm>
          <a:prstGeom prst="roundRect">
            <a:avLst>
              <a:gd name="adj" fmla="val 8936"/>
            </a:avLst>
          </a:prstGeom>
          <a:noFill/>
          <a:ln>
            <a:noFill/>
          </a:ln>
        </p:spPr>
        <p:txBody>
          <a:bodyPr tIns="91440" bIns="91440"/>
          <a:lstStyle/>
          <a:p>
            <a:endParaRPr lang="fr-TN"/>
          </a:p>
        </p:txBody>
      </p:sp>
      <p:sp>
        <p:nvSpPr>
          <p:cNvPr id="26" name="Text 21"/>
          <p:cNvSpPr/>
          <p:nvPr/>
        </p:nvSpPr>
        <p:spPr>
          <a:xfrm>
            <a:off x="3118431" y="2622649"/>
            <a:ext cx="3093541" cy="262235"/>
          </a:xfrm>
          <a:prstGeom prst="rect">
            <a:avLst/>
          </a:prstGeom>
          <a:noFill/>
          <a:ln>
            <a:noFill/>
          </a:ln>
        </p:spPr>
        <p:txBody>
          <a:bodyPr wrap="square" tIns="91440" bIns="91440" rtlCol="0" anchor="t">
            <a:normAutofit/>
          </a:bodyPr>
          <a:lstStyle/>
          <a:p>
            <a:pPr marL="0" indent="0" algn="l">
              <a:lnSpc>
                <a:spcPct val="116000"/>
              </a:lnSpc>
              <a:buNone/>
            </a:pPr>
            <a:r>
              <a:rPr lang="en-US" sz="1100" dirty="0" b="0">
                <a:solidFill>
                  <a:srgbClr val="A8B2D1"/>
                </a:solidFill>
                <a:latin typeface="Segoe UI" pitchFamily="34" charset="0"/>
                <a:ea typeface="Nobile" pitchFamily="34" charset="-122"/>
                <a:cs typeface="Nobile" pitchFamily="34" charset="-120"/>
              </a:rPr>
              <a:t>RingBuffer </a:t>
            </a:r>
            <a:r>
              <a:rPr lang="en-US" sz="1100" dirty="0" b="0">
                <a:solidFill>
                  <a:srgbClr val="A8B2D1"/>
                </a:solidFill>
                <a:highlight>
                  <a:srgbClr val="ECECF2"/>
                </a:highlight>
                <a:latin typeface="Segoe UI" pitchFamily="34" charset="0"/>
                <a:ea typeface="Consolas" pitchFamily="34" charset="-122"/>
                <a:cs typeface="Consolas" pitchFamily="34" charset="-120"/>
              </a:rPr>
              <a:t>push()</a:t>
            </a:r>
            <a:r>
              <a:rPr lang="en-US" sz="1100" dirty="0" b="0">
                <a:solidFill>
                  <a:srgbClr val="A8B2D1"/>
                </a:solidFill>
                <a:latin typeface="Segoe UI" pitchFamily="34" charset="0"/>
                <a:ea typeface="Nobile" pitchFamily="34" charset="-122"/>
                <a:cs typeface="Nobile" pitchFamily="34" charset="-120"/>
              </a:rPr>
              <a:t> operates in </a:t>
            </a:r>
            <a:r>
              <a:rPr lang="en-US" sz="1100" b="0" dirty="0">
                <a:solidFill>
                  <a:srgbClr val="A8B2D1"/>
                </a:solidFill>
                <a:latin typeface="Segoe UI" pitchFamily="34" charset="0"/>
                <a:ea typeface="Nobile" pitchFamily="34" charset="-122"/>
                <a:cs typeface="Nobile" pitchFamily="34" charset="-120"/>
              </a:rPr>
              <a:t>O(1)</a:t>
            </a:r>
            <a:r>
              <a:rPr lang="en-US" sz="1100" dirty="0" b="0">
                <a:solidFill>
                  <a:srgbClr val="A8B2D1"/>
                </a:solidFill>
                <a:latin typeface="Segoe UI" pitchFamily="34" charset="0"/>
                <a:ea typeface="Nobile" pitchFamily="34" charset="-122"/>
                <a:cs typeface="Nobile" pitchFamily="34" charset="-120"/>
              </a:rPr>
              <a:t> constant time — zero GC pressure regardless of event volume.</a:t>
            </a:r>
            <a:endParaRPr lang="en-US" sz="700" dirty="0"/>
          </a:p>
        </p:txBody>
      </p:sp>
    </p:spTree>
  </p:cSld>
  <p:transition spd="slow">
    <p:fade/>
  </p:transition>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496119" y="1204094"/>
            <a:ext cx="5132859" cy="387548"/>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Application Interfaces Overview</a:t>
            </a:r>
            <a:endParaRPr lang="en-US" sz="2400" dirty="0"/>
          </a:p>
        </p:txBody>
      </p:sp>
      <p:pic>
        <p:nvPicPr>
          <p:cNvPr id="3" name="Image 0" descr="preencoded.png"/>
          <p:cNvPicPr>
            <a:picLocks noChangeAspect="1"/>
          </p:cNvPicPr>
          <p:nvPr/>
        </p:nvPicPr>
        <p:blipFill>
          <a:blip r:embed="rId3"/>
          <a:stretch>
            <a:fillRect/>
          </a:stretch>
        </p:blipFill>
        <p:spPr>
          <a:xfrm>
            <a:off x="496119" y="1839664"/>
            <a:ext cx="1114499" cy="688777"/>
          </a:xfrm>
          <a:prstGeom prst="rect">
            <a:avLst/>
          </a:prstGeom>
        </p:spPr>
      </p:pic>
      <p:sp>
        <p:nvSpPr>
          <p:cNvPr id="4" name="Text 1"/>
          <p:cNvSpPr/>
          <p:nvPr/>
        </p:nvSpPr>
        <p:spPr>
          <a:xfrm>
            <a:off x="496119" y="2683446"/>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3D Live Threat Map</a:t>
            </a:r>
            <a:endParaRPr lang="en-US" sz="1200" dirty="0"/>
          </a:p>
        </p:txBody>
      </p:sp>
      <p:sp>
        <p:nvSpPr>
          <p:cNvPr id="5" name="Text 2"/>
          <p:cNvSpPr/>
          <p:nvPr/>
        </p:nvSpPr>
        <p:spPr>
          <a:xfrm>
            <a:off x="496119" y="2951708"/>
            <a:ext cx="1921669" cy="793849"/>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Interactive WebGL Earth with glowing bezier arcs, pulsating markers, and real-time SSE threat feeds.</a:t>
            </a:r>
            <a:endParaRPr lang="en-US" sz="950" dirty="0"/>
          </a:p>
        </p:txBody>
      </p:sp>
      <p:pic>
        <p:nvPicPr>
          <p:cNvPr id="6" name="Image 1" descr="preencoded.png"/>
          <p:cNvPicPr>
            <a:picLocks noChangeAspect="1"/>
          </p:cNvPicPr>
          <p:nvPr/>
        </p:nvPicPr>
        <p:blipFill>
          <a:blip r:embed="rId4"/>
          <a:stretch>
            <a:fillRect/>
          </a:stretch>
        </p:blipFill>
        <p:spPr>
          <a:xfrm>
            <a:off x="2572792" y="1839664"/>
            <a:ext cx="1114499" cy="688777"/>
          </a:xfrm>
          <a:prstGeom prst="rect">
            <a:avLst/>
          </a:prstGeom>
        </p:spPr>
      </p:pic>
      <p:sp>
        <p:nvSpPr>
          <p:cNvPr id="7" name="Text 3"/>
          <p:cNvSpPr/>
          <p:nvPr/>
        </p:nvSpPr>
        <p:spPr>
          <a:xfrm>
            <a:off x="2572792" y="2683446"/>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System Dashboard</a:t>
            </a:r>
            <a:endParaRPr lang="en-US" sz="1200" dirty="0"/>
          </a:p>
        </p:txBody>
      </p:sp>
      <p:sp>
        <p:nvSpPr>
          <p:cNvPr id="8" name="Text 4"/>
          <p:cNvSpPr/>
          <p:nvPr/>
        </p:nvSpPr>
        <p:spPr>
          <a:xfrm>
            <a:off x="2572792" y="2951708"/>
            <a:ext cx="1921669" cy="793849"/>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Tactical command center with real-time metrics, sparklines, 2D flat map, and drill-down country stats.</a:t>
            </a:r>
            <a:endParaRPr lang="en-US" sz="950" dirty="0"/>
          </a:p>
        </p:txBody>
      </p:sp>
      <p:pic>
        <p:nvPicPr>
          <p:cNvPr id="9" name="Image 2" descr="preencoded.png"/>
          <p:cNvPicPr>
            <a:picLocks noChangeAspect="1"/>
          </p:cNvPicPr>
          <p:nvPr/>
        </p:nvPicPr>
        <p:blipFill>
          <a:blip r:embed="rId5"/>
          <a:stretch>
            <a:fillRect/>
          </a:stretch>
        </p:blipFill>
        <p:spPr>
          <a:xfrm>
            <a:off x="4649465" y="1839664"/>
            <a:ext cx="1114499" cy="688777"/>
          </a:xfrm>
          <a:prstGeom prst="rect">
            <a:avLst/>
          </a:prstGeom>
        </p:spPr>
      </p:pic>
      <p:sp>
        <p:nvSpPr>
          <p:cNvPr id="10" name="Text 5"/>
          <p:cNvSpPr/>
          <p:nvPr/>
        </p:nvSpPr>
        <p:spPr>
          <a:xfrm>
            <a:off x="4649465" y="2683446"/>
            <a:ext cx="1921669" cy="387697"/>
          </a:xfrm>
          <a:prstGeom prst="rect">
            <a:avLst/>
          </a:prstGeom>
          <a:noFill/>
          <a:ln>
            <a:noFill/>
          </a:ln>
        </p:spPr>
        <p:txBody>
          <a:bodyPr wrap="square" tIns="91440" bIns="91440" rtlCol="0" anchor="t">
            <a:normAutofit/>
          </a:bodyPr>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STIX Intelligence Workspace</a:t>
            </a:r>
            <a:endParaRPr lang="en-US" sz="1200" dirty="0"/>
          </a:p>
        </p:txBody>
      </p:sp>
      <p:sp>
        <p:nvSpPr>
          <p:cNvPr id="11" name="Text 6"/>
          <p:cNvSpPr/>
          <p:nvPr/>
        </p:nvSpPr>
        <p:spPr>
          <a:xfrm>
            <a:off x="4649465" y="3145557"/>
            <a:ext cx="1921669" cy="793849"/>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Upload STIX 2.1 bundles, explore D3 force graphs, and map adversary TTPs to the MITRE ATT&amp;CK matrix.</a:t>
            </a:r>
            <a:endParaRPr lang="en-US" sz="950" dirty="0"/>
          </a:p>
        </p:txBody>
      </p:sp>
      <p:pic>
        <p:nvPicPr>
          <p:cNvPr id="12" name="Image 3" descr="preencoded.png"/>
          <p:cNvPicPr>
            <a:picLocks noChangeAspect="1"/>
          </p:cNvPicPr>
          <p:nvPr/>
        </p:nvPicPr>
        <p:blipFill>
          <a:blip r:embed="rId6"/>
          <a:stretch>
            <a:fillRect/>
          </a:stretch>
        </p:blipFill>
        <p:spPr>
          <a:xfrm>
            <a:off x="6726138" y="1839664"/>
            <a:ext cx="1114574" cy="688851"/>
          </a:xfrm>
          <a:prstGeom prst="rect">
            <a:avLst/>
          </a:prstGeom>
        </p:spPr>
      </p:pic>
      <p:sp>
        <p:nvSpPr>
          <p:cNvPr id="13" name="Text 7"/>
          <p:cNvSpPr/>
          <p:nvPr/>
        </p:nvSpPr>
        <p:spPr>
          <a:xfrm>
            <a:off x="6726138" y="2683520"/>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Analytics Dashboard</a:t>
            </a:r>
            <a:endParaRPr lang="en-US" sz="1200" dirty="0"/>
          </a:p>
        </p:txBody>
      </p:sp>
      <p:sp>
        <p:nvSpPr>
          <p:cNvPr id="14" name="Text 8"/>
          <p:cNvSpPr/>
          <p:nvPr/>
        </p:nvSpPr>
        <p:spPr>
          <a:xfrm>
            <a:off x="6726138" y="2951783"/>
            <a:ext cx="1921743" cy="793849"/>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Aggregate threat metrics, sector distributions, MISP Galaxy threat actor profiles, and trend charts.</a:t>
            </a:r>
            <a:endParaRPr lang="en-US" sz="950" dirty="0"/>
          </a:p>
        </p:txBody>
      </p:sp>
    </p:spTree>
  </p:cSld>
  <p:transition spd="slow">
    <p:fade/>
  </p:transition>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674489" y="381223"/>
            <a:ext cx="5609332" cy="308893"/>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Project Retrospective &amp; Technical Challenges</a:t>
            </a:r>
            <a:endParaRPr lang="en-US" sz="1900" dirty="0"/>
          </a:p>
        </p:txBody>
      </p:sp>
      <p:sp>
        <p:nvSpPr>
          <p:cNvPr id="3" name="Text 1"/>
          <p:cNvSpPr/>
          <p:nvPr/>
        </p:nvSpPr>
        <p:spPr>
          <a:xfrm>
            <a:off x="674489" y="886941"/>
            <a:ext cx="1692771" cy="15440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Scrum Velocity</a:t>
            </a:r>
            <a:endParaRPr lang="en-US" sz="950" dirty="0"/>
          </a:p>
        </p:txBody>
      </p:sp>
      <p:sp>
        <p:nvSpPr>
          <p:cNvPr id="4" name="Text 2"/>
          <p:cNvSpPr/>
          <p:nvPr/>
        </p:nvSpPr>
        <p:spPr>
          <a:xfrm>
            <a:off x="674489" y="1120080"/>
            <a:ext cx="3776886" cy="426169"/>
          </a:xfrm>
          <a:prstGeom prst="rect">
            <a:avLst/>
          </a:prstGeom>
          <a:noFill/>
          <a:ln>
            <a:noFill/>
          </a:ln>
        </p:spPr>
        <p:txBody>
          <a:bodyPr wrap="square" tIns="91440" bIns="91440" rtlCol="0" anchor="t">
            <a:normAutofit/>
          </a:bodyPr>
          <a:lstStyle/>
          <a:p>
            <a:pPr marL="0" indent="0" algn="l">
              <a:lnSpc>
                <a:spcPct val="120000"/>
              </a:lnSpc>
              <a:buNone/>
            </a:pPr>
            <a:r>
              <a:rPr lang="en-US" sz="1100" dirty="0" b="0">
                <a:solidFill>
                  <a:srgbClr val="A8B2D1"/>
                </a:solidFill>
                <a:latin typeface="Segoe UI" pitchFamily="34" charset="0"/>
                <a:ea typeface="Nobile" pitchFamily="34" charset="-122"/>
                <a:cs typeface="Nobile" pitchFamily="34" charset="-120"/>
              </a:rPr>
              <a:t>The team maintained a stable velocity of </a:t>
            </a:r>
            <a:r>
              <a:rPr lang="en-US" sz="1100" b="0" dirty="0">
                <a:solidFill>
                  <a:srgbClr val="A8B2D1"/>
                </a:solidFill>
                <a:latin typeface="Segoe UI" pitchFamily="34" charset="0"/>
                <a:ea typeface="Nobile" pitchFamily="34" charset="-122"/>
                <a:cs typeface="Nobile" pitchFamily="34" charset="-120"/>
              </a:rPr>
              <a:t>25–30 story points per sprint</a:t>
            </a:r>
            <a:r>
              <a:rPr lang="en-US" sz="1100" dirty="0" b="0">
                <a:solidFill>
                  <a:srgbClr val="A8B2D1"/>
                </a:solidFill>
                <a:latin typeface="Segoe UI" pitchFamily="34" charset="0"/>
                <a:ea typeface="Nobile" pitchFamily="34" charset="-122"/>
                <a:cs typeface="Nobile" pitchFamily="34" charset="-120"/>
              </a:rPr>
              <a:t>, delivering all committed features on schedule. Each Sprint Review concluded with a fully demonstrable software increment.</a:t>
            </a:r>
            <a:endParaRPr lang="en-US" sz="750" dirty="0"/>
          </a:p>
        </p:txBody>
      </p:sp>
      <p:sp>
        <p:nvSpPr>
          <p:cNvPr id="5" name="Text 3"/>
          <p:cNvSpPr/>
          <p:nvPr/>
        </p:nvSpPr>
        <p:spPr>
          <a:xfrm>
            <a:off x="674489" y="1624980"/>
            <a:ext cx="2452539" cy="15440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Three Critical Challenges Resolved</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202" y="1867942"/>
            <a:ext cx="3791173" cy="743471"/>
          </a:xfrm>
          <a:prstGeom prst="rect">
            <a:avLst/>
          </a:prstGeom>
        </p:spPr>
      </p:pic>
      <p:sp>
        <p:nvSpPr>
          <p:cNvPr id="7" name="Text 4"/>
          <p:cNvSpPr/>
          <p:nvPr/>
        </p:nvSpPr>
        <p:spPr>
          <a:xfrm>
            <a:off x="830461" y="1981051"/>
            <a:ext cx="1235571" cy="15440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Visual Interface Lag</a:t>
            </a:r>
            <a:endParaRPr lang="en-US" sz="950" dirty="0"/>
          </a:p>
        </p:txBody>
      </p:sp>
      <p:sp>
        <p:nvSpPr>
          <p:cNvPr id="8" name="Text 5"/>
          <p:cNvSpPr/>
          <p:nvPr/>
        </p:nvSpPr>
        <p:spPr>
          <a:xfrm>
            <a:off x="830461" y="2214190"/>
            <a:ext cx="3507804" cy="284113"/>
          </a:xfrm>
          <a:prstGeom prst="rect">
            <a:avLst/>
          </a:prstGeom>
          <a:noFill/>
          <a:ln>
            <a:noFill/>
          </a:ln>
        </p:spPr>
        <p:txBody>
          <a:bodyPr wrap="square" tIns="91440" bIns="91440" rtlCol="0" anchor="t">
            <a:normAutofit/>
          </a:bodyPr>
          <a:lstStyle/>
          <a:p>
            <a:pPr marL="0" indent="0" algn="l">
              <a:lnSpc>
                <a:spcPct val="120000"/>
              </a:lnSpc>
              <a:buNone/>
            </a:pPr>
            <a:r>
              <a:rPr lang="en-US" sz="1100" dirty="0" b="0">
                <a:solidFill>
                  <a:srgbClr val="A8B2D1"/>
                </a:solidFill>
                <a:latin typeface="Segoe UI" pitchFamily="34" charset="0"/>
                <a:ea typeface="Nobile" pitchFamily="34" charset="-122"/>
                <a:cs typeface="Nobile" pitchFamily="34" charset="-120"/>
              </a:rPr>
              <a:t>Resolved via 300ms event grouping queue, 150-arc cap, and adaptive FPS sampling — restoring smooth 60fps performance.</a:t>
            </a:r>
            <a:endParaRPr lang="en-US" sz="7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202" y="2690143"/>
            <a:ext cx="3791173" cy="743471"/>
          </a:xfrm>
          <a:prstGeom prst="rect">
            <a:avLst/>
          </a:prstGeom>
        </p:spPr>
      </p:pic>
      <p:sp>
        <p:nvSpPr>
          <p:cNvPr id="10" name="Text 6"/>
          <p:cNvSpPr/>
          <p:nvPr/>
        </p:nvSpPr>
        <p:spPr>
          <a:xfrm>
            <a:off x="830461" y="2803252"/>
            <a:ext cx="1420118" cy="15440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Database Storage Limits</a:t>
            </a:r>
            <a:endParaRPr lang="en-US" sz="950" dirty="0"/>
          </a:p>
        </p:txBody>
      </p:sp>
      <p:sp>
        <p:nvSpPr>
          <p:cNvPr id="11" name="Text 7"/>
          <p:cNvSpPr/>
          <p:nvPr/>
        </p:nvSpPr>
        <p:spPr>
          <a:xfrm>
            <a:off x="830461" y="3036391"/>
            <a:ext cx="3507804" cy="284113"/>
          </a:xfrm>
          <a:prstGeom prst="rect">
            <a:avLst/>
          </a:prstGeom>
          <a:noFill/>
          <a:ln>
            <a:noFill/>
          </a:ln>
        </p:spPr>
        <p:txBody>
          <a:bodyPr wrap="square" tIns="91440" bIns="91440" rtlCol="0" anchor="t">
            <a:normAutofit/>
          </a:bodyPr>
          <a:lstStyle/>
          <a:p>
            <a:pPr marL="0" indent="0" algn="l">
              <a:lnSpc>
                <a:spcPct val="120000"/>
              </a:lnSpc>
              <a:buNone/>
            </a:pPr>
            <a:r>
              <a:rPr lang="en-US" sz="1100" dirty="0" b="0">
                <a:solidFill>
                  <a:srgbClr val="A8B2D1"/>
                </a:solidFill>
                <a:latin typeface="Segoe UI" pitchFamily="34" charset="0"/>
                <a:ea typeface="Nobile" pitchFamily="34" charset="-122"/>
                <a:cs typeface="Nobile" pitchFamily="34" charset="-120"/>
              </a:rPr>
              <a:t>Compact BSON field names reduced storage size by </a:t>
            </a:r>
            <a:r>
              <a:rPr lang="en-US" sz="1100" b="0" dirty="0">
                <a:solidFill>
                  <a:srgbClr val="A8B2D1"/>
                </a:solidFill>
                <a:latin typeface="Segoe UI" pitchFamily="34" charset="0"/>
                <a:ea typeface="Nobile" pitchFamily="34" charset="-122"/>
                <a:cs typeface="Nobile" pitchFamily="34" charset="-120"/>
              </a:rPr>
              <a:t>50%</a:t>
            </a:r>
            <a:r>
              <a:rPr lang="en-US" sz="1100" dirty="0" b="0">
                <a:solidFill>
                  <a:srgbClr val="A8B2D1"/>
                </a:solidFill>
                <a:latin typeface="Segoe UI" pitchFamily="34" charset="0"/>
                <a:ea typeface="Nobile" pitchFamily="34" charset="-122"/>
                <a:cs typeface="Nobile" pitchFamily="34" charset="-120"/>
              </a:rPr>
              <a:t>. TTL indexes auto-prune records after 30 days.</a:t>
            </a:r>
            <a:endParaRPr lang="en-US" sz="7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202" y="3512344"/>
            <a:ext cx="3791173" cy="743471"/>
          </a:xfrm>
          <a:prstGeom prst="rect">
            <a:avLst/>
          </a:prstGeom>
        </p:spPr>
      </p:pic>
      <p:sp>
        <p:nvSpPr>
          <p:cNvPr id="13" name="Text 8"/>
          <p:cNvSpPr/>
          <p:nvPr/>
        </p:nvSpPr>
        <p:spPr>
          <a:xfrm>
            <a:off x="830461" y="3625453"/>
            <a:ext cx="1524372" cy="15440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CORS Deployment Blocks</a:t>
            </a:r>
            <a:endParaRPr lang="en-US" sz="950" dirty="0"/>
          </a:p>
        </p:txBody>
      </p:sp>
      <p:sp>
        <p:nvSpPr>
          <p:cNvPr id="14" name="Text 9"/>
          <p:cNvSpPr/>
          <p:nvPr/>
        </p:nvSpPr>
        <p:spPr>
          <a:xfrm>
            <a:off x="830461" y="3858592"/>
            <a:ext cx="3507804" cy="284113"/>
          </a:xfrm>
          <a:prstGeom prst="rect">
            <a:avLst/>
          </a:prstGeom>
          <a:noFill/>
          <a:ln>
            <a:noFill/>
          </a:ln>
        </p:spPr>
        <p:txBody>
          <a:bodyPr wrap="square" tIns="91440" bIns="91440" rtlCol="0" anchor="t">
            <a:normAutofit/>
          </a:bodyPr>
          <a:lstStyle/>
          <a:p>
            <a:pPr marL="0" indent="0" algn="l">
              <a:lnSpc>
                <a:spcPct val="120000"/>
              </a:lnSpc>
              <a:buNone/>
            </a:pPr>
            <a:r>
              <a:rPr lang="en-US" sz="1100" dirty="0" b="0">
                <a:solidFill>
                  <a:srgbClr val="A8B2D1"/>
                </a:solidFill>
                <a:latin typeface="Segoe UI" pitchFamily="34" charset="0"/>
                <a:ea typeface="Nobile" pitchFamily="34" charset="-122"/>
                <a:cs typeface="Nobile" pitchFamily="34" charset="-120"/>
              </a:rPr>
              <a:t>Vercel reverse-proxy routing rules direct frontend requests through internal paths, eliminating cross-origin failures.</a:t>
            </a:r>
            <a:endParaRPr lang="en-US" sz="750" dirty="0"/>
          </a:p>
        </p:txBody>
      </p:sp>
      <p:pic>
        <p:nvPicPr>
          <p:cNvPr id="15" name="Image 3" descr="preencoded.png"/>
          <p:cNvPicPr>
            <a:picLocks noChangeAspect="1"/>
          </p:cNvPicPr>
          <p:nvPr/>
        </p:nvPicPr>
        <p:blipFill>
          <a:blip r:embed="rId4"/>
          <a:stretch>
            <a:fillRect/>
          </a:stretch>
        </p:blipFill>
        <p:spPr>
          <a:xfrm>
            <a:off x="4697239" y="896764"/>
            <a:ext cx="3776886" cy="3776886"/>
          </a:xfrm>
          <a:prstGeom prst="rect">
            <a:avLst/>
          </a:prstGeom>
        </p:spPr>
      </p:pic>
    </p:spTree>
  </p:cSld>
  <p:transition spd="slow">
    <p:fade/>
  </p:transition>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D1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11150"/>
            <a:ext cx="4722763" cy="775097"/>
          </a:xfrm>
          <a:prstGeom prst="rect">
            <a:avLst/>
          </a:prstGeom>
          <a:noFill/>
          <a:ln>
            <a:noFill/>
          </a:ln>
        </p:spPr>
        <p:txBody>
          <a:bodyPr wrap="square" tIns="91440" bIns="91440" rtlCol="0" anchor="t">
            <a:normAutofit/>
          </a:bodyPr>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Future Perspectives &amp; Scalability Roadmap</a:t>
            </a:r>
            <a:endParaRPr lang="en-US" sz="2400" dirty="0"/>
          </a:p>
        </p:txBody>
      </p:sp>
      <p:sp>
        <p:nvSpPr>
          <p:cNvPr id="4" name="Shape 1"/>
          <p:cNvSpPr/>
          <p:nvPr/>
        </p:nvSpPr>
        <p:spPr>
          <a:xfrm>
            <a:off x="3925119" y="1472282"/>
            <a:ext cx="2299395" cy="1914971"/>
          </a:xfrm>
          <a:prstGeom prst="roundRect">
            <a:avLst>
              <a:gd name="adj" fmla="val 2721"/>
            </a:avLst>
          </a:prstGeom>
          <a:solidFill>
            <a:srgbClr val="131924"/>
          </a:solidFill>
          <a:ln w="12700">
            <a:solidFill>
              <a:srgbClr val="1E293B"/>
            </a:solidFill>
            <a:prstDash val="solid"/>
          </a:ln>
        </p:spPr>
        <p:txBody>
          <a:bodyPr tIns="91440" bIns="91440"/>
          <a:lstStyle/>
          <a:p>
            <a:endParaRPr lang="fr-TN"/>
          </a:p>
        </p:txBody>
      </p:sp>
      <p:sp>
        <p:nvSpPr>
          <p:cNvPr id="5" name="Text 2"/>
          <p:cNvSpPr/>
          <p:nvPr/>
        </p:nvSpPr>
        <p:spPr>
          <a:xfrm>
            <a:off x="4053855" y="1601019"/>
            <a:ext cx="2034257"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Kafka Distributed Ingestion</a:t>
            </a:r>
            <a:endParaRPr lang="en-US" sz="1200" dirty="0"/>
          </a:p>
        </p:txBody>
      </p:sp>
      <p:sp>
        <p:nvSpPr>
          <p:cNvPr id="6" name="Text 3"/>
          <p:cNvSpPr/>
          <p:nvPr/>
        </p:nvSpPr>
        <p:spPr>
          <a:xfrm>
            <a:off x="4053855" y="1869281"/>
            <a:ext cx="2041922" cy="1389236"/>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Replace direct scraper-to-server writes with Apache Kafka message queues. Scrapers publish to durable topics; the server consumes and streams — ensuring fault-tolerant ingestion under massive threat volumes.</a:t>
            </a:r>
            <a:endParaRPr lang="en-US" sz="950" dirty="0"/>
          </a:p>
        </p:txBody>
      </p:sp>
      <p:sp>
        <p:nvSpPr>
          <p:cNvPr id="7" name="Shape 4"/>
          <p:cNvSpPr/>
          <p:nvPr/>
        </p:nvSpPr>
        <p:spPr>
          <a:xfrm>
            <a:off x="6348487" y="1472282"/>
            <a:ext cx="2299395" cy="1914971"/>
          </a:xfrm>
          <a:prstGeom prst="roundRect">
            <a:avLst>
              <a:gd name="adj" fmla="val 2721"/>
            </a:avLst>
          </a:prstGeom>
          <a:solidFill>
            <a:srgbClr val="131924"/>
          </a:solidFill>
          <a:ln w="12700">
            <a:solidFill>
              <a:srgbClr val="1E293B"/>
            </a:solidFill>
            <a:prstDash val="solid"/>
          </a:ln>
        </p:spPr>
        <p:txBody>
          <a:bodyPr tIns="91440" bIns="91440"/>
          <a:lstStyle/>
          <a:p>
            <a:endParaRPr lang="fr-TN"/>
          </a:p>
        </p:txBody>
      </p:sp>
      <p:sp>
        <p:nvSpPr>
          <p:cNvPr id="8" name="Text 5"/>
          <p:cNvSpPr/>
          <p:nvPr/>
        </p:nvSpPr>
        <p:spPr>
          <a:xfrm>
            <a:off x="6477223" y="1601019"/>
            <a:ext cx="188200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Predictive ML Extensions</a:t>
            </a:r>
            <a:endParaRPr lang="en-US" sz="1200" dirty="0"/>
          </a:p>
        </p:txBody>
      </p:sp>
      <p:sp>
        <p:nvSpPr>
          <p:cNvPr id="9" name="Text 6"/>
          <p:cNvSpPr/>
          <p:nvPr/>
        </p:nvSpPr>
        <p:spPr>
          <a:xfrm>
            <a:off x="6477223" y="1869281"/>
            <a:ext cx="2041922"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Train machine learning models on historical threat distributions to forecast attack spikes and target sectors, displaying predictions as threat heatmaps on the 3D globe.</a:t>
            </a:r>
            <a:endParaRPr lang="en-US" sz="950" dirty="0"/>
          </a:p>
        </p:txBody>
      </p:sp>
      <p:sp>
        <p:nvSpPr>
          <p:cNvPr id="10" name="Shape 7"/>
          <p:cNvSpPr/>
          <p:nvPr/>
        </p:nvSpPr>
        <p:spPr>
          <a:xfrm>
            <a:off x="3925119" y="3511228"/>
            <a:ext cx="4722763" cy="1121122"/>
          </a:xfrm>
          <a:prstGeom prst="roundRect">
            <a:avLst>
              <a:gd name="adj" fmla="val 4647"/>
            </a:avLst>
          </a:prstGeom>
          <a:solidFill>
            <a:srgbClr val="131924"/>
          </a:solidFill>
          <a:ln w="12700">
            <a:solidFill>
              <a:srgbClr val="1E293B"/>
            </a:solidFill>
            <a:prstDash val="solid"/>
          </a:ln>
        </p:spPr>
        <p:txBody>
          <a:bodyPr tIns="91440" bIns="91440"/>
          <a:lstStyle/>
          <a:p>
            <a:endParaRPr lang="fr-TN"/>
          </a:p>
        </p:txBody>
      </p:sp>
      <p:sp>
        <p:nvSpPr>
          <p:cNvPr id="11" name="Text 8"/>
          <p:cNvSpPr/>
          <p:nvPr/>
        </p:nvSpPr>
        <p:spPr>
          <a:xfrm>
            <a:off x="4053855" y="3639964"/>
            <a:ext cx="2455664"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Sharded Geo-Database Clustering</a:t>
            </a:r>
            <a:endParaRPr lang="en-US" sz="1200" dirty="0"/>
          </a:p>
        </p:txBody>
      </p:sp>
      <p:sp>
        <p:nvSpPr>
          <p:cNvPr id="12" name="Text 9"/>
          <p:cNvSpPr/>
          <p:nvPr/>
        </p:nvSpPr>
        <p:spPr>
          <a:xfrm>
            <a:off x="4053855" y="3908227"/>
            <a:ext cx="4465290" cy="595387"/>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Shard MongoDB by geographic region so queries for specific countries route only to their corresponding database segments — minimizing latency and scaling storage capacity horizontally.</a:t>
            </a:r>
            <a:endParaRPr lang="en-US" sz="950" dirty="0"/>
          </a:p>
        </p:txBody>
      </p:sp>
    </p:spTree>
  </p:cSld>
  <p:transition spd="slow">
    <p:fade/>
  </p:transition>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496119" y="1057721"/>
            <a:ext cx="3558332" cy="387548"/>
          </a:xfrm>
          <a:prstGeom prst="rect">
            <a:avLst/>
          </a:prstGeom>
          <a:noFill/>
          <a:ln>
            <a:noFill/>
          </a:ln>
        </p:spPr>
        <p:txBody>
          <a:bodyPr wrap="none" tIns="91440" bIns="91440" rtlCol="0" anchor="t"/>
          <a:lstStyle/>
          <a:p>
            <a:pPr marL="0" indent="0" algn="l">
              <a:lnSpc>
                <a:spcPct val="104000"/>
              </a:lnSpc>
              <a:buNone/>
            </a:pPr>
            <a:r>
              <a:rPr lang="en-US" sz="2800" dirty="0" b="1">
                <a:solidFill>
                  <a:srgbClr val="FFFFFF"/>
                </a:solidFill>
                <a:latin typeface="Segoe UI" pitchFamily="34" charset="0"/>
                <a:ea typeface="Corben" pitchFamily="34" charset="-122"/>
                <a:cs typeface="Corben" pitchFamily="34" charset="-120"/>
              </a:rPr>
              <a:t>General Conclusion</a:t>
            </a:r>
            <a:endParaRPr lang="en-US" sz="2400" dirty="0"/>
          </a:p>
        </p:txBody>
      </p:sp>
      <p:sp>
        <p:nvSpPr>
          <p:cNvPr id="3" name="Text 1"/>
          <p:cNvSpPr/>
          <p:nvPr/>
        </p:nvSpPr>
        <p:spPr>
          <a:xfrm>
            <a:off x="496119" y="1693292"/>
            <a:ext cx="8151763" cy="396925"/>
          </a:xfrm>
          <a:prstGeom prst="rect">
            <a:avLst/>
          </a:prstGeom>
          <a:noFill/>
          <a:ln>
            <a:no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The </a:t>
            </a:r>
            <a:r>
              <a:rPr lang="en-US" sz="1100" b="0" dirty="0">
                <a:solidFill>
                  <a:srgbClr val="A8B2D1"/>
                </a:solidFill>
                <a:latin typeface="Segoe UI" pitchFamily="34" charset="0"/>
                <a:ea typeface="Nobile" pitchFamily="34" charset="-122"/>
                <a:cs typeface="Nobile" pitchFamily="34" charset="-120"/>
              </a:rPr>
              <a:t>Predictra Threat Map</a:t>
            </a:r>
            <a:r>
              <a:rPr lang="en-US" sz="1100" dirty="0" b="0">
                <a:solidFill>
                  <a:srgbClr val="A8B2D1"/>
                </a:solidFill>
                <a:latin typeface="Segoe UI" pitchFamily="34" charset="0"/>
                <a:ea typeface="Nobile" pitchFamily="34" charset="-122"/>
                <a:cs typeface="Nobile" pitchFamily="34" charset="-120"/>
              </a:rPr>
              <a:t> successfully bridges the critical visibility gap in modern cyber defense — transforming raw, heterogeneous threat feeds into a live, interactive 3D intelligence platform.</a:t>
            </a:r>
            <a:endParaRPr lang="en-US" sz="950" dirty="0"/>
          </a:p>
        </p:txBody>
      </p:sp>
      <p:sp>
        <p:nvSpPr>
          <p:cNvPr id="4" name="Shape 2"/>
          <p:cNvSpPr/>
          <p:nvPr/>
        </p:nvSpPr>
        <p:spPr>
          <a:xfrm>
            <a:off x="496119" y="2229743"/>
            <a:ext cx="8151763" cy="1518047"/>
          </a:xfrm>
          <a:prstGeom prst="roundRect">
            <a:avLst>
              <a:gd name="adj" fmla="val 3432"/>
            </a:avLst>
          </a:prstGeom>
          <a:solidFill>
            <a:srgbClr val="131924"/>
          </a:solidFill>
          <a:ln w="12700">
            <a:solidFill>
              <a:srgbClr val="1E293B"/>
            </a:solidFill>
            <a:prstDash val="solid"/>
          </a:ln>
        </p:spPr>
        <p:txBody>
          <a:bodyPr tIns="91440" bIns="91440"/>
          <a:lstStyle/>
          <a:p>
            <a:endParaRPr lang="fr-TN"/>
          </a:p>
        </p:txBody>
      </p:sp>
      <p:sp>
        <p:nvSpPr>
          <p:cNvPr id="5" name="Shape 3"/>
          <p:cNvSpPr/>
          <p:nvPr/>
        </p:nvSpPr>
        <p:spPr>
          <a:xfrm>
            <a:off x="500881" y="2234505"/>
            <a:ext cx="2714030" cy="1508522"/>
          </a:xfrm>
          <a:prstGeom prst="rect">
            <a:avLst/>
          </a:prstGeom>
          <a:solidFill>
            <a:srgbClr val="131924"/>
          </a:solidFill>
          <a:ln w="12700">
            <a:solidFill>
              <a:srgbClr val="1E293B"/>
            </a:solidFill>
          </a:ln>
        </p:spPr>
        <p:txBody>
          <a:bodyPr tIns="91440" bIns="91440"/>
          <a:lstStyle/>
          <a:p>
            <a:endParaRPr lang="fr-TN"/>
          </a:p>
        </p:txBody>
      </p:sp>
      <p:sp>
        <p:nvSpPr>
          <p:cNvPr id="6" name="Text 4"/>
          <p:cNvSpPr/>
          <p:nvPr/>
        </p:nvSpPr>
        <p:spPr>
          <a:xfrm>
            <a:off x="624855" y="2358479"/>
            <a:ext cx="1679153"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Technical Achievement</a:t>
            </a:r>
            <a:endParaRPr lang="en-US" sz="1200" dirty="0"/>
          </a:p>
        </p:txBody>
      </p:sp>
      <p:sp>
        <p:nvSpPr>
          <p:cNvPr id="7" name="Text 5"/>
          <p:cNvSpPr/>
          <p:nvPr/>
        </p:nvSpPr>
        <p:spPr>
          <a:xfrm>
            <a:off x="624855" y="2626742"/>
            <a:ext cx="2466082"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9+ asynchronous scrapers, real-time SSE streaming, 60fps WebGL 3D globe, client-side STIX 2.1 parser, and MITRE ATT&amp;CK mapping — all delivered across 4 Agile sprints.</a:t>
            </a:r>
            <a:endParaRPr lang="en-US" sz="950" dirty="0"/>
          </a:p>
        </p:txBody>
      </p:sp>
      <p:sp>
        <p:nvSpPr>
          <p:cNvPr id="8" name="Shape 6"/>
          <p:cNvSpPr/>
          <p:nvPr/>
        </p:nvSpPr>
        <p:spPr>
          <a:xfrm>
            <a:off x="3214911" y="2234505"/>
            <a:ext cx="2714104" cy="1508522"/>
          </a:xfrm>
          <a:prstGeom prst="rect">
            <a:avLst/>
          </a:prstGeom>
          <a:solidFill>
            <a:srgbClr val="131924"/>
          </a:solidFill>
          <a:ln w="12700">
            <a:solidFill>
              <a:srgbClr val="1E293B"/>
            </a:solidFill>
          </a:ln>
        </p:spPr>
        <p:txBody>
          <a:bodyPr tIns="91440" bIns="91440"/>
          <a:lstStyle/>
          <a:p>
            <a:endParaRPr lang="fr-TN"/>
          </a:p>
        </p:txBody>
      </p:sp>
      <p:sp>
        <p:nvSpPr>
          <p:cNvPr id="9" name="Shape 7"/>
          <p:cNvSpPr/>
          <p:nvPr/>
        </p:nvSpPr>
        <p:spPr>
          <a:xfrm>
            <a:off x="3214911" y="2234505"/>
            <a:ext cx="14288" cy="1508522"/>
          </a:xfrm>
          <a:prstGeom prst="roundRect">
            <a:avLst>
              <a:gd name="adj" fmla="val 364638"/>
            </a:avLst>
          </a:prstGeom>
          <a:noFill/>
          <a:ln>
            <a:noFill/>
          </a:ln>
        </p:spPr>
        <p:txBody>
          <a:bodyPr tIns="91440" bIns="91440"/>
          <a:lstStyle/>
          <a:p>
            <a:endParaRPr lang="fr-TN"/>
          </a:p>
        </p:txBody>
      </p:sp>
      <p:sp>
        <p:nvSpPr>
          <p:cNvPr id="10" name="Text 8"/>
          <p:cNvSpPr/>
          <p:nvPr/>
        </p:nvSpPr>
        <p:spPr>
          <a:xfrm>
            <a:off x="3338885" y="2358479"/>
            <a:ext cx="1550566"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Operational Impact</a:t>
            </a:r>
            <a:endParaRPr lang="en-US" sz="1200" dirty="0"/>
          </a:p>
        </p:txBody>
      </p:sp>
      <p:sp>
        <p:nvSpPr>
          <p:cNvPr id="11" name="Text 9"/>
          <p:cNvSpPr/>
          <p:nvPr/>
        </p:nvSpPr>
        <p:spPr>
          <a:xfrm>
            <a:off x="3338885" y="2626742"/>
            <a:ext cx="2466156" cy="793849"/>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Reduces compromise dwell time from </a:t>
            </a:r>
            <a:r>
              <a:rPr lang="en-US" sz="1100" b="0" dirty="0">
                <a:solidFill>
                  <a:srgbClr val="A8B2D1"/>
                </a:solidFill>
                <a:latin typeface="Segoe UI" pitchFamily="34" charset="0"/>
                <a:ea typeface="Nobile" pitchFamily="34" charset="-122"/>
                <a:cs typeface="Nobile" pitchFamily="34" charset="-120"/>
              </a:rPr>
              <a:t>200+ days to seconds</a:t>
            </a:r>
            <a:r>
              <a:rPr lang="en-US" sz="1100" dirty="0" b="0">
                <a:solidFill>
                  <a:srgbClr val="A8B2D1"/>
                </a:solidFill>
                <a:latin typeface="Segoe UI" pitchFamily="34" charset="0"/>
                <a:ea typeface="Nobile" pitchFamily="34" charset="-122"/>
                <a:cs typeface="Nobile" pitchFamily="34" charset="-120"/>
              </a:rPr>
              <a:t> by providing SOC analysts with immediate, spatial, external threat visibility.</a:t>
            </a:r>
            <a:endParaRPr lang="en-US" sz="950" dirty="0"/>
          </a:p>
        </p:txBody>
      </p:sp>
      <p:sp>
        <p:nvSpPr>
          <p:cNvPr id="12" name="Shape 10"/>
          <p:cNvSpPr/>
          <p:nvPr/>
        </p:nvSpPr>
        <p:spPr>
          <a:xfrm>
            <a:off x="5929015" y="2234505"/>
            <a:ext cx="2714104" cy="1508522"/>
          </a:xfrm>
          <a:prstGeom prst="rect">
            <a:avLst/>
          </a:prstGeom>
          <a:solidFill>
            <a:srgbClr val="131924"/>
          </a:solidFill>
          <a:ln w="12700">
            <a:solidFill>
              <a:srgbClr val="1E293B"/>
            </a:solidFill>
          </a:ln>
        </p:spPr>
        <p:txBody>
          <a:bodyPr tIns="91440" bIns="91440"/>
          <a:lstStyle/>
          <a:p>
            <a:endParaRPr lang="fr-TN"/>
          </a:p>
        </p:txBody>
      </p:sp>
      <p:sp>
        <p:nvSpPr>
          <p:cNvPr id="13" name="Shape 11"/>
          <p:cNvSpPr/>
          <p:nvPr/>
        </p:nvSpPr>
        <p:spPr>
          <a:xfrm>
            <a:off x="5929015" y="2234505"/>
            <a:ext cx="14288" cy="1508522"/>
          </a:xfrm>
          <a:prstGeom prst="roundRect">
            <a:avLst>
              <a:gd name="adj" fmla="val 364638"/>
            </a:avLst>
          </a:prstGeom>
          <a:noFill/>
          <a:ln>
            <a:noFill/>
          </a:ln>
        </p:spPr>
        <p:txBody>
          <a:bodyPr tIns="91440" bIns="91440"/>
          <a:lstStyle/>
          <a:p>
            <a:endParaRPr lang="fr-TN"/>
          </a:p>
        </p:txBody>
      </p:sp>
      <p:sp>
        <p:nvSpPr>
          <p:cNvPr id="14" name="Text 12"/>
          <p:cNvSpPr/>
          <p:nvPr/>
        </p:nvSpPr>
        <p:spPr>
          <a:xfrm>
            <a:off x="6052989" y="2358479"/>
            <a:ext cx="1696343" cy="193849"/>
          </a:xfrm>
          <a:prstGeom prst="rect">
            <a:avLst/>
          </a:prstGeom>
          <a:noFill/>
          <a:ln>
            <a:noFill/>
          </a:ln>
        </p:spPr>
        <p:txBody>
          <a:bodyPr wrap="none" tIns="91440" bIns="91440" rtlCol="0" anchor="t"/>
          <a:lstStyle/>
          <a:p>
            <a:pPr marL="0" indent="0" algn="l">
              <a:lnSpc>
                <a:spcPct val="104000"/>
              </a:lnSpc>
              <a:buNone/>
            </a:pPr>
            <a:r>
              <a:rPr lang="en-US" sz="1300" dirty="0" b="1">
                <a:solidFill>
                  <a:srgbClr val="FFFFFF"/>
                </a:solidFill>
                <a:latin typeface="Segoe UI" pitchFamily="34" charset="0"/>
                <a:ea typeface="Corben" pitchFamily="34" charset="-122"/>
                <a:cs typeface="Corben" pitchFamily="34" charset="-120"/>
              </a:rPr>
              <a:t>Academic Contribution</a:t>
            </a:r>
            <a:endParaRPr lang="en-US" sz="1200" dirty="0"/>
          </a:p>
        </p:txBody>
      </p:sp>
      <p:sp>
        <p:nvSpPr>
          <p:cNvPr id="15" name="Text 13"/>
          <p:cNvSpPr/>
          <p:nvPr/>
        </p:nvSpPr>
        <p:spPr>
          <a:xfrm>
            <a:off x="6052989" y="2626742"/>
            <a:ext cx="2466156" cy="992312"/>
          </a:xfrm>
          <a:prstGeom prst="rect">
            <a:avLst/>
          </a:prstGeom>
          <a:solidFill>
            <a:srgbClr val="131924"/>
          </a:solidFill>
          <a:ln w="12700">
            <a:solidFill>
              <a:srgbClr val="1E293B"/>
            </a:solidFill>
          </a:ln>
        </p:spPr>
        <p:txBody>
          <a:bodyPr wrap="square" tIns="91440" bIns="91440" rtlCol="0" anchor="t">
            <a:normAutofit/>
          </a:bodyPr>
          <a:lstStyle/>
          <a:p>
            <a:pPr marL="0" indent="0" algn="l">
              <a:lnSpc>
                <a:spcPct val="133000"/>
              </a:lnSpc>
              <a:buNone/>
            </a:pPr>
            <a:r>
              <a:rPr lang="en-US" sz="1100" dirty="0" b="0">
                <a:solidFill>
                  <a:srgbClr val="A8B2D1"/>
                </a:solidFill>
                <a:latin typeface="Segoe UI" pitchFamily="34" charset="0"/>
                <a:ea typeface="Nobile" pitchFamily="34" charset="-122"/>
                <a:cs typeface="Nobile" pitchFamily="34" charset="-120"/>
              </a:rPr>
              <a:t>Demonstrates a rigorous engineering methodology combining Agile Scrum, UML modeling, and cutting-edge web technologies in a production-grade cybersecurity platform.</a:t>
            </a:r>
            <a:endParaRPr lang="en-US" sz="950" dirty="0"/>
          </a:p>
        </p:txBody>
      </p:sp>
      <p:sp>
        <p:nvSpPr>
          <p:cNvPr id="16" name="Text 14"/>
          <p:cNvSpPr/>
          <p:nvPr/>
        </p:nvSpPr>
        <p:spPr>
          <a:xfrm>
            <a:off x="267519" y="3887316"/>
            <a:ext cx="8608963" cy="198462"/>
          </a:xfrm>
          <a:prstGeom prst="rect">
            <a:avLst/>
          </a:prstGeom>
          <a:noFill/>
          <a:ln>
            <a:noFill/>
          </a:ln>
        </p:spPr>
        <p:txBody>
          <a:bodyPr wrap="none" tIns="91440" bIns="91440" rtlCol="0" anchor="t"/>
          <a:lstStyle/>
          <a:p>
            <a:pPr marL="0" indent="0" algn="ctr">
              <a:lnSpc>
                <a:spcPct val="133000"/>
              </a:lnSpc>
              <a:buNone/>
            </a:pPr>
            <a:r>
              <a:rPr lang="en-US" sz="1300" i="1" dirty="0" b="1">
                <a:solidFill>
                  <a:srgbClr val="FFFFFF"/>
                </a:solidFill>
                <a:latin typeface="Segoe UI" pitchFamily="34" charset="0"/>
                <a:ea typeface="Nobile" pitchFamily="34" charset="-122"/>
                <a:cs typeface="Nobile" pitchFamily="34" charset="-120"/>
              </a:rPr>
              <a:t>Thank you — Questions Welcome</a:t>
            </a:r>
            <a:endParaRPr lang="en-US" sz="950" dirty="0"/>
          </a:p>
        </p:txBody>
      </p:sp>
    </p:spTree>
  </p:cSld>
  <p:transition spd="slow">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2533</Words>
  <Application>Microsoft Office PowerPoint</Application>
  <PresentationFormat>Affichage à l'écran (16:9)</PresentationFormat>
  <Paragraphs>303</Paragraphs>
  <Slides>26</Slides>
  <Notes>26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Corben</vt:lpstr>
      <vt:lpstr>Corben Light</vt:lpstr>
      <vt:lpstr>Nobile</vt:lpstr>
      <vt:lpstr>Consolas</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chiheb amri</cp:lastModifiedBy>
  <cp:revision>2</cp:revision>
  <dcterms:created xsi:type="dcterms:W3CDTF">2026-06-14T15:19:33Z</dcterms:created>
  <dcterms:modified xsi:type="dcterms:W3CDTF">2026-06-15T23:01:06Z</dcterms:modified>
</cp:coreProperties>
</file>