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88825" cy="6858000"/>
  <p:notesSz cx="6858000" cy="1218882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7" d="100"/>
          <a:sy n="117" d="100"/>
        </p:scale>
        <p:origin x="318"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63DDBAB-0725-41DF-BCF4-8035F51EDA15}" type="doc">
      <dgm:prSet loTypeId="urn:microsoft.com/office/officeart/2005/8/layout/orgChart1" loCatId="hierarchy" qsTypeId="urn:microsoft.com/office/officeart/2005/8/quickstyle/simple2" qsCatId="simple" csTypeId="urn:microsoft.com/office/officeart/2005/8/colors/accent1_3" csCatId="accent1" phldr="1"/>
      <dgm:spPr/>
      <dgm:t>
        <a:bodyPr/>
        <a:lstStyle/>
        <a:p>
          <a:endParaRPr lang="fr-TN"/>
        </a:p>
      </dgm:t>
    </dgm:pt>
    <dgm:pt modelId="{22835A0D-37B9-42BC-9FE6-7F75F409CB81}">
      <dgm:prSet phldrT="[Texte]" phldr="0"/>
      <dgm:spPr/>
      <dgm:t>
        <a:bodyPr/>
        <a:lstStyle/>
        <a:p>
          <a:r>
            <a:rPr lang="fr-FR" dirty="0" err="1"/>
            <a:t>Predictra</a:t>
          </a:r>
          <a:r>
            <a:rPr lang="fr-FR" dirty="0"/>
            <a:t> Board</a:t>
          </a:r>
          <a:endParaRPr lang="fr-TN" dirty="0"/>
        </a:p>
      </dgm:t>
    </dgm:pt>
    <dgm:pt modelId="{745F2573-3F4F-4563-B3C9-D65EB0DCDEF3}" type="parTrans" cxnId="{E3078A66-3E3B-4A7D-8BE5-A388FA55EB05}">
      <dgm:prSet/>
      <dgm:spPr/>
      <dgm:t>
        <a:bodyPr/>
        <a:lstStyle/>
        <a:p>
          <a:endParaRPr lang="fr-TN"/>
        </a:p>
      </dgm:t>
    </dgm:pt>
    <dgm:pt modelId="{38FC7C9B-03ED-4085-A2FD-DF741CD6126E}" type="sibTrans" cxnId="{E3078A66-3E3B-4A7D-8BE5-A388FA55EB05}">
      <dgm:prSet/>
      <dgm:spPr/>
      <dgm:t>
        <a:bodyPr/>
        <a:lstStyle/>
        <a:p>
          <a:endParaRPr lang="fr-TN"/>
        </a:p>
      </dgm:t>
    </dgm:pt>
    <dgm:pt modelId="{AAF57EE3-8985-4060-99D4-8087B6F50150}">
      <dgm:prSet phldrT="[Texte]" phldr="0"/>
      <dgm:spPr/>
      <dgm:t>
        <a:bodyPr/>
        <a:lstStyle/>
        <a:p>
          <a:r>
            <a:rPr lang="fr-FR" dirty="0"/>
            <a:t>Threat </a:t>
          </a:r>
          <a:r>
            <a:rPr lang="fr-FR" dirty="0" err="1"/>
            <a:t>Research</a:t>
          </a:r>
          <a:r>
            <a:rPr lang="fr-FR" dirty="0"/>
            <a:t> </a:t>
          </a:r>
          <a:r>
            <a:rPr lang="fr-FR" dirty="0" err="1"/>
            <a:t>Department</a:t>
          </a:r>
          <a:endParaRPr lang="fr-TN" dirty="0"/>
        </a:p>
      </dgm:t>
    </dgm:pt>
    <dgm:pt modelId="{62AE7919-E1F7-4417-9A88-5B123318D09D}" type="parTrans" cxnId="{A825BE2A-53DA-4B96-8005-F2E57205905C}">
      <dgm:prSet/>
      <dgm:spPr/>
      <dgm:t>
        <a:bodyPr/>
        <a:lstStyle/>
        <a:p>
          <a:endParaRPr lang="fr-TN"/>
        </a:p>
      </dgm:t>
    </dgm:pt>
    <dgm:pt modelId="{94670B35-3864-4649-B8E5-16A05E5CC0E4}" type="sibTrans" cxnId="{A825BE2A-53DA-4B96-8005-F2E57205905C}">
      <dgm:prSet/>
      <dgm:spPr/>
      <dgm:t>
        <a:bodyPr/>
        <a:lstStyle/>
        <a:p>
          <a:endParaRPr lang="fr-TN"/>
        </a:p>
      </dgm:t>
    </dgm:pt>
    <dgm:pt modelId="{230A854F-BCF9-48F2-99C5-B82C38B0C636}">
      <dgm:prSet phldrT="[Texte]" phldr="0"/>
      <dgm:spPr/>
      <dgm:t>
        <a:bodyPr/>
        <a:lstStyle/>
        <a:p>
          <a:r>
            <a:rPr lang="fr-FR" dirty="0"/>
            <a:t>Security Engineering </a:t>
          </a:r>
          <a:r>
            <a:rPr lang="fr-FR" dirty="0" err="1"/>
            <a:t>Department</a:t>
          </a:r>
          <a:endParaRPr lang="fr-TN" dirty="0"/>
        </a:p>
      </dgm:t>
    </dgm:pt>
    <dgm:pt modelId="{04D248A9-5F43-42DE-A7CA-9F4A19422317}" type="parTrans" cxnId="{E52F4069-A7BC-41A1-ABB3-B26E3DAA4261}">
      <dgm:prSet/>
      <dgm:spPr/>
      <dgm:t>
        <a:bodyPr/>
        <a:lstStyle/>
        <a:p>
          <a:endParaRPr lang="fr-TN"/>
        </a:p>
      </dgm:t>
    </dgm:pt>
    <dgm:pt modelId="{6EE56DD9-A82E-4C52-8057-246B63EEE3C1}" type="sibTrans" cxnId="{E52F4069-A7BC-41A1-ABB3-B26E3DAA4261}">
      <dgm:prSet/>
      <dgm:spPr/>
      <dgm:t>
        <a:bodyPr/>
        <a:lstStyle/>
        <a:p>
          <a:endParaRPr lang="fr-TN"/>
        </a:p>
      </dgm:t>
    </dgm:pt>
    <dgm:pt modelId="{1F1CBB84-68AB-4ECC-8D2F-84BE22FD08C6}">
      <dgm:prSet phldrT="[Texte]" phldr="0"/>
      <dgm:spPr/>
      <dgm:t>
        <a:bodyPr/>
        <a:lstStyle/>
        <a:p>
          <a:r>
            <a:rPr lang="fr-FR" dirty="0"/>
            <a:t>Sales &amp; </a:t>
          </a:r>
          <a:r>
            <a:rPr lang="fr-FR" dirty="0" err="1"/>
            <a:t>operation</a:t>
          </a:r>
          <a:r>
            <a:rPr lang="fr-FR" dirty="0"/>
            <a:t> </a:t>
          </a:r>
          <a:r>
            <a:rPr lang="fr-FR" dirty="0" err="1"/>
            <a:t>Department</a:t>
          </a:r>
          <a:endParaRPr lang="fr-TN" dirty="0"/>
        </a:p>
      </dgm:t>
    </dgm:pt>
    <dgm:pt modelId="{C7AF05E0-D9B6-4F0C-A9FD-EE5B2810A6D7}" type="parTrans" cxnId="{2C4C1B96-15F9-4BF0-A4E6-BA7F2944C1F0}">
      <dgm:prSet/>
      <dgm:spPr/>
      <dgm:t>
        <a:bodyPr/>
        <a:lstStyle/>
        <a:p>
          <a:endParaRPr lang="fr-TN"/>
        </a:p>
      </dgm:t>
    </dgm:pt>
    <dgm:pt modelId="{3FB2CBE1-E0D7-4071-ABB2-8E8290371F29}" type="sibTrans" cxnId="{2C4C1B96-15F9-4BF0-A4E6-BA7F2944C1F0}">
      <dgm:prSet/>
      <dgm:spPr/>
      <dgm:t>
        <a:bodyPr/>
        <a:lstStyle/>
        <a:p>
          <a:endParaRPr lang="fr-TN"/>
        </a:p>
      </dgm:t>
    </dgm:pt>
    <dgm:pt modelId="{BFA73BDB-F5F5-4767-9816-B9D577CFE2BA}" type="pres">
      <dgm:prSet presAssocID="{363DDBAB-0725-41DF-BCF4-8035F51EDA15}" presName="hierChild1" presStyleCnt="0">
        <dgm:presLayoutVars>
          <dgm:orgChart val="1"/>
          <dgm:chPref val="1"/>
          <dgm:dir/>
          <dgm:animOne val="branch"/>
          <dgm:animLvl val="lvl"/>
          <dgm:resizeHandles/>
        </dgm:presLayoutVars>
      </dgm:prSet>
      <dgm:spPr/>
    </dgm:pt>
    <dgm:pt modelId="{8C6BCC74-A6A3-45E9-90A4-D49DBBAC3A54}" type="pres">
      <dgm:prSet presAssocID="{22835A0D-37B9-42BC-9FE6-7F75F409CB81}" presName="hierRoot1" presStyleCnt="0">
        <dgm:presLayoutVars>
          <dgm:hierBranch val="init"/>
        </dgm:presLayoutVars>
      </dgm:prSet>
      <dgm:spPr/>
    </dgm:pt>
    <dgm:pt modelId="{09B96BE6-427C-4263-968E-6BD37EB0E5C1}" type="pres">
      <dgm:prSet presAssocID="{22835A0D-37B9-42BC-9FE6-7F75F409CB81}" presName="rootComposite1" presStyleCnt="0"/>
      <dgm:spPr/>
    </dgm:pt>
    <dgm:pt modelId="{8E750039-1161-4067-BC08-42389CBC21F0}" type="pres">
      <dgm:prSet presAssocID="{22835A0D-37B9-42BC-9FE6-7F75F409CB81}" presName="rootText1" presStyleLbl="node0" presStyleIdx="0" presStyleCnt="1">
        <dgm:presLayoutVars>
          <dgm:chPref val="3"/>
        </dgm:presLayoutVars>
      </dgm:prSet>
      <dgm:spPr/>
    </dgm:pt>
    <dgm:pt modelId="{136D7655-4E4E-4E43-BC3B-9B5A0C692E1D}" type="pres">
      <dgm:prSet presAssocID="{22835A0D-37B9-42BC-9FE6-7F75F409CB81}" presName="rootConnector1" presStyleLbl="node1" presStyleIdx="0" presStyleCnt="0"/>
      <dgm:spPr/>
    </dgm:pt>
    <dgm:pt modelId="{C20418A5-AF02-4B39-B28A-A153B026F7CC}" type="pres">
      <dgm:prSet presAssocID="{22835A0D-37B9-42BC-9FE6-7F75F409CB81}" presName="hierChild2" presStyleCnt="0"/>
      <dgm:spPr/>
    </dgm:pt>
    <dgm:pt modelId="{913767A1-D424-4568-B704-BE25141C9AE4}" type="pres">
      <dgm:prSet presAssocID="{62AE7919-E1F7-4417-9A88-5B123318D09D}" presName="Name37" presStyleLbl="parChTrans1D2" presStyleIdx="0" presStyleCnt="3"/>
      <dgm:spPr/>
    </dgm:pt>
    <dgm:pt modelId="{1DF57111-FACC-45C1-88AC-A6AB2805FCA9}" type="pres">
      <dgm:prSet presAssocID="{AAF57EE3-8985-4060-99D4-8087B6F50150}" presName="hierRoot2" presStyleCnt="0">
        <dgm:presLayoutVars>
          <dgm:hierBranch val="init"/>
        </dgm:presLayoutVars>
      </dgm:prSet>
      <dgm:spPr/>
    </dgm:pt>
    <dgm:pt modelId="{56B1C894-5836-455D-A0B5-8D00CCA21B4A}" type="pres">
      <dgm:prSet presAssocID="{AAF57EE3-8985-4060-99D4-8087B6F50150}" presName="rootComposite" presStyleCnt="0"/>
      <dgm:spPr/>
    </dgm:pt>
    <dgm:pt modelId="{678E6246-EFB6-42CD-86A9-F61D7A0213DA}" type="pres">
      <dgm:prSet presAssocID="{AAF57EE3-8985-4060-99D4-8087B6F50150}" presName="rootText" presStyleLbl="node2" presStyleIdx="0" presStyleCnt="3">
        <dgm:presLayoutVars>
          <dgm:chPref val="3"/>
        </dgm:presLayoutVars>
      </dgm:prSet>
      <dgm:spPr/>
    </dgm:pt>
    <dgm:pt modelId="{1DD612BD-A308-4646-B3AE-3DB47382A05A}" type="pres">
      <dgm:prSet presAssocID="{AAF57EE3-8985-4060-99D4-8087B6F50150}" presName="rootConnector" presStyleLbl="node2" presStyleIdx="0" presStyleCnt="3"/>
      <dgm:spPr/>
    </dgm:pt>
    <dgm:pt modelId="{A3516C02-076B-4E41-A867-285AF81C9155}" type="pres">
      <dgm:prSet presAssocID="{AAF57EE3-8985-4060-99D4-8087B6F50150}" presName="hierChild4" presStyleCnt="0"/>
      <dgm:spPr/>
    </dgm:pt>
    <dgm:pt modelId="{689BB826-4A09-4915-88AC-E045F5C33D0B}" type="pres">
      <dgm:prSet presAssocID="{AAF57EE3-8985-4060-99D4-8087B6F50150}" presName="hierChild5" presStyleCnt="0"/>
      <dgm:spPr/>
    </dgm:pt>
    <dgm:pt modelId="{D2EAD1C7-4A9B-4C15-B3C8-1A69F13BCA38}" type="pres">
      <dgm:prSet presAssocID="{04D248A9-5F43-42DE-A7CA-9F4A19422317}" presName="Name37" presStyleLbl="parChTrans1D2" presStyleIdx="1" presStyleCnt="3"/>
      <dgm:spPr/>
    </dgm:pt>
    <dgm:pt modelId="{957891FD-7E79-4B26-8742-9C29D8DF3F0C}" type="pres">
      <dgm:prSet presAssocID="{230A854F-BCF9-48F2-99C5-B82C38B0C636}" presName="hierRoot2" presStyleCnt="0">
        <dgm:presLayoutVars>
          <dgm:hierBranch val="init"/>
        </dgm:presLayoutVars>
      </dgm:prSet>
      <dgm:spPr/>
    </dgm:pt>
    <dgm:pt modelId="{94192EC7-D9BD-4A54-AB00-AA05CD7AC1A2}" type="pres">
      <dgm:prSet presAssocID="{230A854F-BCF9-48F2-99C5-B82C38B0C636}" presName="rootComposite" presStyleCnt="0"/>
      <dgm:spPr/>
    </dgm:pt>
    <dgm:pt modelId="{D5867DBC-5444-4DC2-9B96-B229A4AFFF2A}" type="pres">
      <dgm:prSet presAssocID="{230A854F-BCF9-48F2-99C5-B82C38B0C636}" presName="rootText" presStyleLbl="node2" presStyleIdx="1" presStyleCnt="3">
        <dgm:presLayoutVars>
          <dgm:chPref val="3"/>
        </dgm:presLayoutVars>
      </dgm:prSet>
      <dgm:spPr/>
    </dgm:pt>
    <dgm:pt modelId="{9453AAB4-E960-4C5E-86B3-DD41AE17C562}" type="pres">
      <dgm:prSet presAssocID="{230A854F-BCF9-48F2-99C5-B82C38B0C636}" presName="rootConnector" presStyleLbl="node2" presStyleIdx="1" presStyleCnt="3"/>
      <dgm:spPr/>
    </dgm:pt>
    <dgm:pt modelId="{A989AB8B-FD86-458D-A65A-B5B3FB3C4FE0}" type="pres">
      <dgm:prSet presAssocID="{230A854F-BCF9-48F2-99C5-B82C38B0C636}" presName="hierChild4" presStyleCnt="0"/>
      <dgm:spPr/>
    </dgm:pt>
    <dgm:pt modelId="{930C69DE-5EE3-495D-928C-EB63C6DFC3C5}" type="pres">
      <dgm:prSet presAssocID="{230A854F-BCF9-48F2-99C5-B82C38B0C636}" presName="hierChild5" presStyleCnt="0"/>
      <dgm:spPr/>
    </dgm:pt>
    <dgm:pt modelId="{384EBFD5-967B-494F-85A4-ED4707CAA437}" type="pres">
      <dgm:prSet presAssocID="{C7AF05E0-D9B6-4F0C-A9FD-EE5B2810A6D7}" presName="Name37" presStyleLbl="parChTrans1D2" presStyleIdx="2" presStyleCnt="3"/>
      <dgm:spPr/>
    </dgm:pt>
    <dgm:pt modelId="{6EEE3E47-9D90-4BA4-AA6E-FE351E44E1CB}" type="pres">
      <dgm:prSet presAssocID="{1F1CBB84-68AB-4ECC-8D2F-84BE22FD08C6}" presName="hierRoot2" presStyleCnt="0">
        <dgm:presLayoutVars>
          <dgm:hierBranch val="init"/>
        </dgm:presLayoutVars>
      </dgm:prSet>
      <dgm:spPr/>
    </dgm:pt>
    <dgm:pt modelId="{425AA1B2-FA3E-41D6-8B7A-8AF817C0780F}" type="pres">
      <dgm:prSet presAssocID="{1F1CBB84-68AB-4ECC-8D2F-84BE22FD08C6}" presName="rootComposite" presStyleCnt="0"/>
      <dgm:spPr/>
    </dgm:pt>
    <dgm:pt modelId="{F2519C9A-82E7-468E-B66B-52D87FF6A712}" type="pres">
      <dgm:prSet presAssocID="{1F1CBB84-68AB-4ECC-8D2F-84BE22FD08C6}" presName="rootText" presStyleLbl="node2" presStyleIdx="2" presStyleCnt="3">
        <dgm:presLayoutVars>
          <dgm:chPref val="3"/>
        </dgm:presLayoutVars>
      </dgm:prSet>
      <dgm:spPr/>
    </dgm:pt>
    <dgm:pt modelId="{A04B20C6-9A45-4BAF-8317-EA55796DC9B0}" type="pres">
      <dgm:prSet presAssocID="{1F1CBB84-68AB-4ECC-8D2F-84BE22FD08C6}" presName="rootConnector" presStyleLbl="node2" presStyleIdx="2" presStyleCnt="3"/>
      <dgm:spPr/>
    </dgm:pt>
    <dgm:pt modelId="{F2E621F2-9660-486B-8CC2-9CD58CD5F403}" type="pres">
      <dgm:prSet presAssocID="{1F1CBB84-68AB-4ECC-8D2F-84BE22FD08C6}" presName="hierChild4" presStyleCnt="0"/>
      <dgm:spPr/>
    </dgm:pt>
    <dgm:pt modelId="{18023AF6-56C9-475F-974C-F77578C65F28}" type="pres">
      <dgm:prSet presAssocID="{1F1CBB84-68AB-4ECC-8D2F-84BE22FD08C6}" presName="hierChild5" presStyleCnt="0"/>
      <dgm:spPr/>
    </dgm:pt>
    <dgm:pt modelId="{EBC74FE9-F178-4B4F-B7ED-77BC1FCD20F4}" type="pres">
      <dgm:prSet presAssocID="{22835A0D-37B9-42BC-9FE6-7F75F409CB81}" presName="hierChild3" presStyleCnt="0"/>
      <dgm:spPr/>
    </dgm:pt>
  </dgm:ptLst>
  <dgm:cxnLst>
    <dgm:cxn modelId="{6BAC6E10-1BE2-44FE-8A0C-218A0938CAE6}" type="presOf" srcId="{1F1CBB84-68AB-4ECC-8D2F-84BE22FD08C6}" destId="{A04B20C6-9A45-4BAF-8317-EA55796DC9B0}" srcOrd="1" destOrd="0" presId="urn:microsoft.com/office/officeart/2005/8/layout/orgChart1"/>
    <dgm:cxn modelId="{A825BE2A-53DA-4B96-8005-F2E57205905C}" srcId="{22835A0D-37B9-42BC-9FE6-7F75F409CB81}" destId="{AAF57EE3-8985-4060-99D4-8087B6F50150}" srcOrd="0" destOrd="0" parTransId="{62AE7919-E1F7-4417-9A88-5B123318D09D}" sibTransId="{94670B35-3864-4649-B8E5-16A05E5CC0E4}"/>
    <dgm:cxn modelId="{C397F73F-FAC4-4937-8CD6-827C8EE65F9C}" type="presOf" srcId="{363DDBAB-0725-41DF-BCF4-8035F51EDA15}" destId="{BFA73BDB-F5F5-4767-9816-B9D577CFE2BA}" srcOrd="0" destOrd="0" presId="urn:microsoft.com/office/officeart/2005/8/layout/orgChart1"/>
    <dgm:cxn modelId="{E3078A66-3E3B-4A7D-8BE5-A388FA55EB05}" srcId="{363DDBAB-0725-41DF-BCF4-8035F51EDA15}" destId="{22835A0D-37B9-42BC-9FE6-7F75F409CB81}" srcOrd="0" destOrd="0" parTransId="{745F2573-3F4F-4563-B3C9-D65EB0DCDEF3}" sibTransId="{38FC7C9B-03ED-4085-A2FD-DF741CD6126E}"/>
    <dgm:cxn modelId="{E52F4069-A7BC-41A1-ABB3-B26E3DAA4261}" srcId="{22835A0D-37B9-42BC-9FE6-7F75F409CB81}" destId="{230A854F-BCF9-48F2-99C5-B82C38B0C636}" srcOrd="1" destOrd="0" parTransId="{04D248A9-5F43-42DE-A7CA-9F4A19422317}" sibTransId="{6EE56DD9-A82E-4C52-8057-246B63EEE3C1}"/>
    <dgm:cxn modelId="{02FF5F4D-A0D7-47AB-BF49-47639B8092B6}" type="presOf" srcId="{C7AF05E0-D9B6-4F0C-A9FD-EE5B2810A6D7}" destId="{384EBFD5-967B-494F-85A4-ED4707CAA437}" srcOrd="0" destOrd="0" presId="urn:microsoft.com/office/officeart/2005/8/layout/orgChart1"/>
    <dgm:cxn modelId="{60FC3C85-D5E1-4089-9E74-2A79CB110CFB}" type="presOf" srcId="{AAF57EE3-8985-4060-99D4-8087B6F50150}" destId="{1DD612BD-A308-4646-B3AE-3DB47382A05A}" srcOrd="1" destOrd="0" presId="urn:microsoft.com/office/officeart/2005/8/layout/orgChart1"/>
    <dgm:cxn modelId="{2C4C1B96-15F9-4BF0-A4E6-BA7F2944C1F0}" srcId="{22835A0D-37B9-42BC-9FE6-7F75F409CB81}" destId="{1F1CBB84-68AB-4ECC-8D2F-84BE22FD08C6}" srcOrd="2" destOrd="0" parTransId="{C7AF05E0-D9B6-4F0C-A9FD-EE5B2810A6D7}" sibTransId="{3FB2CBE1-E0D7-4071-ABB2-8E8290371F29}"/>
    <dgm:cxn modelId="{2B009E9E-5B15-4F01-857A-C98E6E4BAC04}" type="presOf" srcId="{62AE7919-E1F7-4417-9A88-5B123318D09D}" destId="{913767A1-D424-4568-B704-BE25141C9AE4}" srcOrd="0" destOrd="0" presId="urn:microsoft.com/office/officeart/2005/8/layout/orgChart1"/>
    <dgm:cxn modelId="{29C72EAB-84BB-4643-9AE8-A39A04824B35}" type="presOf" srcId="{22835A0D-37B9-42BC-9FE6-7F75F409CB81}" destId="{8E750039-1161-4067-BC08-42389CBC21F0}" srcOrd="0" destOrd="0" presId="urn:microsoft.com/office/officeart/2005/8/layout/orgChart1"/>
    <dgm:cxn modelId="{676328BA-FFE4-4FF8-9D55-39DE5AC28EEC}" type="presOf" srcId="{22835A0D-37B9-42BC-9FE6-7F75F409CB81}" destId="{136D7655-4E4E-4E43-BC3B-9B5A0C692E1D}" srcOrd="1" destOrd="0" presId="urn:microsoft.com/office/officeart/2005/8/layout/orgChart1"/>
    <dgm:cxn modelId="{2E8940C8-280E-4A37-B4B6-D494147CBEEE}" type="presOf" srcId="{04D248A9-5F43-42DE-A7CA-9F4A19422317}" destId="{D2EAD1C7-4A9B-4C15-B3C8-1A69F13BCA38}" srcOrd="0" destOrd="0" presId="urn:microsoft.com/office/officeart/2005/8/layout/orgChart1"/>
    <dgm:cxn modelId="{549207D4-511D-4781-9614-0277DFC83164}" type="presOf" srcId="{AAF57EE3-8985-4060-99D4-8087B6F50150}" destId="{678E6246-EFB6-42CD-86A9-F61D7A0213DA}" srcOrd="0" destOrd="0" presId="urn:microsoft.com/office/officeart/2005/8/layout/orgChart1"/>
    <dgm:cxn modelId="{51A0ECDE-68E1-43EB-B0A8-3278AF7C939F}" type="presOf" srcId="{230A854F-BCF9-48F2-99C5-B82C38B0C636}" destId="{D5867DBC-5444-4DC2-9B96-B229A4AFFF2A}" srcOrd="0" destOrd="0" presId="urn:microsoft.com/office/officeart/2005/8/layout/orgChart1"/>
    <dgm:cxn modelId="{8495A5E8-F60C-4EE7-873D-A98763C738D8}" type="presOf" srcId="{230A854F-BCF9-48F2-99C5-B82C38B0C636}" destId="{9453AAB4-E960-4C5E-86B3-DD41AE17C562}" srcOrd="1" destOrd="0" presId="urn:microsoft.com/office/officeart/2005/8/layout/orgChart1"/>
    <dgm:cxn modelId="{502C3DEA-D955-4CAD-8F7B-CA0B3B9083EC}" type="presOf" srcId="{1F1CBB84-68AB-4ECC-8D2F-84BE22FD08C6}" destId="{F2519C9A-82E7-468E-B66B-52D87FF6A712}" srcOrd="0" destOrd="0" presId="urn:microsoft.com/office/officeart/2005/8/layout/orgChart1"/>
    <dgm:cxn modelId="{B119C04F-BB5F-453F-88BB-998BC54BF4E4}" type="presParOf" srcId="{BFA73BDB-F5F5-4767-9816-B9D577CFE2BA}" destId="{8C6BCC74-A6A3-45E9-90A4-D49DBBAC3A54}" srcOrd="0" destOrd="0" presId="urn:microsoft.com/office/officeart/2005/8/layout/orgChart1"/>
    <dgm:cxn modelId="{4B7321CD-BE6D-4E0F-AA1E-7DE6ADA0F94E}" type="presParOf" srcId="{8C6BCC74-A6A3-45E9-90A4-D49DBBAC3A54}" destId="{09B96BE6-427C-4263-968E-6BD37EB0E5C1}" srcOrd="0" destOrd="0" presId="urn:microsoft.com/office/officeart/2005/8/layout/orgChart1"/>
    <dgm:cxn modelId="{42321E69-5859-4245-B65F-DB99525F3264}" type="presParOf" srcId="{09B96BE6-427C-4263-968E-6BD37EB0E5C1}" destId="{8E750039-1161-4067-BC08-42389CBC21F0}" srcOrd="0" destOrd="0" presId="urn:microsoft.com/office/officeart/2005/8/layout/orgChart1"/>
    <dgm:cxn modelId="{CD2F5492-068A-4FEB-BDD9-0357599C31C4}" type="presParOf" srcId="{09B96BE6-427C-4263-968E-6BD37EB0E5C1}" destId="{136D7655-4E4E-4E43-BC3B-9B5A0C692E1D}" srcOrd="1" destOrd="0" presId="urn:microsoft.com/office/officeart/2005/8/layout/orgChart1"/>
    <dgm:cxn modelId="{46F676BB-BC64-4773-891B-9B38E69292ED}" type="presParOf" srcId="{8C6BCC74-A6A3-45E9-90A4-D49DBBAC3A54}" destId="{C20418A5-AF02-4B39-B28A-A153B026F7CC}" srcOrd="1" destOrd="0" presId="urn:microsoft.com/office/officeart/2005/8/layout/orgChart1"/>
    <dgm:cxn modelId="{E5AC8AEA-9D7D-4504-9000-7B17D337D725}" type="presParOf" srcId="{C20418A5-AF02-4B39-B28A-A153B026F7CC}" destId="{913767A1-D424-4568-B704-BE25141C9AE4}" srcOrd="0" destOrd="0" presId="urn:microsoft.com/office/officeart/2005/8/layout/orgChart1"/>
    <dgm:cxn modelId="{BEE6DA91-2BD3-4D9E-8F7B-573F2DAC0A17}" type="presParOf" srcId="{C20418A5-AF02-4B39-B28A-A153B026F7CC}" destId="{1DF57111-FACC-45C1-88AC-A6AB2805FCA9}" srcOrd="1" destOrd="0" presId="urn:microsoft.com/office/officeart/2005/8/layout/orgChart1"/>
    <dgm:cxn modelId="{DCCD0285-CCCD-45FC-926F-412DC1601C96}" type="presParOf" srcId="{1DF57111-FACC-45C1-88AC-A6AB2805FCA9}" destId="{56B1C894-5836-455D-A0B5-8D00CCA21B4A}" srcOrd="0" destOrd="0" presId="urn:microsoft.com/office/officeart/2005/8/layout/orgChart1"/>
    <dgm:cxn modelId="{D8C3495A-2E7D-4FAA-A41A-5E15470D3473}" type="presParOf" srcId="{56B1C894-5836-455D-A0B5-8D00CCA21B4A}" destId="{678E6246-EFB6-42CD-86A9-F61D7A0213DA}" srcOrd="0" destOrd="0" presId="urn:microsoft.com/office/officeart/2005/8/layout/orgChart1"/>
    <dgm:cxn modelId="{C9CB16B9-471C-4DB9-A2B0-3965F581D6EE}" type="presParOf" srcId="{56B1C894-5836-455D-A0B5-8D00CCA21B4A}" destId="{1DD612BD-A308-4646-B3AE-3DB47382A05A}" srcOrd="1" destOrd="0" presId="urn:microsoft.com/office/officeart/2005/8/layout/orgChart1"/>
    <dgm:cxn modelId="{24CB4E7E-594D-4A80-BF54-CC6785A4B847}" type="presParOf" srcId="{1DF57111-FACC-45C1-88AC-A6AB2805FCA9}" destId="{A3516C02-076B-4E41-A867-285AF81C9155}" srcOrd="1" destOrd="0" presId="urn:microsoft.com/office/officeart/2005/8/layout/orgChart1"/>
    <dgm:cxn modelId="{C9D1980D-CF8A-45F8-A680-55CC63F7DB05}" type="presParOf" srcId="{1DF57111-FACC-45C1-88AC-A6AB2805FCA9}" destId="{689BB826-4A09-4915-88AC-E045F5C33D0B}" srcOrd="2" destOrd="0" presId="urn:microsoft.com/office/officeart/2005/8/layout/orgChart1"/>
    <dgm:cxn modelId="{4AE7F477-EF09-4DB1-AA1E-5FAC3230165A}" type="presParOf" srcId="{C20418A5-AF02-4B39-B28A-A153B026F7CC}" destId="{D2EAD1C7-4A9B-4C15-B3C8-1A69F13BCA38}" srcOrd="2" destOrd="0" presId="urn:microsoft.com/office/officeart/2005/8/layout/orgChart1"/>
    <dgm:cxn modelId="{4A853F43-55B8-4944-9279-4860EC14BB87}" type="presParOf" srcId="{C20418A5-AF02-4B39-B28A-A153B026F7CC}" destId="{957891FD-7E79-4B26-8742-9C29D8DF3F0C}" srcOrd="3" destOrd="0" presId="urn:microsoft.com/office/officeart/2005/8/layout/orgChart1"/>
    <dgm:cxn modelId="{0122FE3B-86D7-4F7B-9A57-3EBDF2B06EC7}" type="presParOf" srcId="{957891FD-7E79-4B26-8742-9C29D8DF3F0C}" destId="{94192EC7-D9BD-4A54-AB00-AA05CD7AC1A2}" srcOrd="0" destOrd="0" presId="urn:microsoft.com/office/officeart/2005/8/layout/orgChart1"/>
    <dgm:cxn modelId="{BB281D37-D6B2-4885-87C8-8CFD9A76B17C}" type="presParOf" srcId="{94192EC7-D9BD-4A54-AB00-AA05CD7AC1A2}" destId="{D5867DBC-5444-4DC2-9B96-B229A4AFFF2A}" srcOrd="0" destOrd="0" presId="urn:microsoft.com/office/officeart/2005/8/layout/orgChart1"/>
    <dgm:cxn modelId="{DD423633-527D-4BA3-AFE6-8794B8D2DAE8}" type="presParOf" srcId="{94192EC7-D9BD-4A54-AB00-AA05CD7AC1A2}" destId="{9453AAB4-E960-4C5E-86B3-DD41AE17C562}" srcOrd="1" destOrd="0" presId="urn:microsoft.com/office/officeart/2005/8/layout/orgChart1"/>
    <dgm:cxn modelId="{C2163900-AD67-4C57-A9C4-94AB61645F16}" type="presParOf" srcId="{957891FD-7E79-4B26-8742-9C29D8DF3F0C}" destId="{A989AB8B-FD86-458D-A65A-B5B3FB3C4FE0}" srcOrd="1" destOrd="0" presId="urn:microsoft.com/office/officeart/2005/8/layout/orgChart1"/>
    <dgm:cxn modelId="{1B8766FF-A9AC-4B71-AC21-007DFB80CAEA}" type="presParOf" srcId="{957891FD-7E79-4B26-8742-9C29D8DF3F0C}" destId="{930C69DE-5EE3-495D-928C-EB63C6DFC3C5}" srcOrd="2" destOrd="0" presId="urn:microsoft.com/office/officeart/2005/8/layout/orgChart1"/>
    <dgm:cxn modelId="{F350B17A-9306-4B51-85D5-AB431822EBB0}" type="presParOf" srcId="{C20418A5-AF02-4B39-B28A-A153B026F7CC}" destId="{384EBFD5-967B-494F-85A4-ED4707CAA437}" srcOrd="4" destOrd="0" presId="urn:microsoft.com/office/officeart/2005/8/layout/orgChart1"/>
    <dgm:cxn modelId="{42CF9DD2-E71E-450C-A6C5-EFA69F86B7EF}" type="presParOf" srcId="{C20418A5-AF02-4B39-B28A-A153B026F7CC}" destId="{6EEE3E47-9D90-4BA4-AA6E-FE351E44E1CB}" srcOrd="5" destOrd="0" presId="urn:microsoft.com/office/officeart/2005/8/layout/orgChart1"/>
    <dgm:cxn modelId="{76247FEC-8F79-4AFA-8903-2D4B0C078369}" type="presParOf" srcId="{6EEE3E47-9D90-4BA4-AA6E-FE351E44E1CB}" destId="{425AA1B2-FA3E-41D6-8B7A-8AF817C0780F}" srcOrd="0" destOrd="0" presId="urn:microsoft.com/office/officeart/2005/8/layout/orgChart1"/>
    <dgm:cxn modelId="{54FFE43E-0F77-4FCE-BED8-E1B2BDADBAE4}" type="presParOf" srcId="{425AA1B2-FA3E-41D6-8B7A-8AF817C0780F}" destId="{F2519C9A-82E7-468E-B66B-52D87FF6A712}" srcOrd="0" destOrd="0" presId="urn:microsoft.com/office/officeart/2005/8/layout/orgChart1"/>
    <dgm:cxn modelId="{D25F54C0-4E12-4340-9AFC-3947E38E7D58}" type="presParOf" srcId="{425AA1B2-FA3E-41D6-8B7A-8AF817C0780F}" destId="{A04B20C6-9A45-4BAF-8317-EA55796DC9B0}" srcOrd="1" destOrd="0" presId="urn:microsoft.com/office/officeart/2005/8/layout/orgChart1"/>
    <dgm:cxn modelId="{C626CE58-1956-4E5B-9649-B5128D1A7047}" type="presParOf" srcId="{6EEE3E47-9D90-4BA4-AA6E-FE351E44E1CB}" destId="{F2E621F2-9660-486B-8CC2-9CD58CD5F403}" srcOrd="1" destOrd="0" presId="urn:microsoft.com/office/officeart/2005/8/layout/orgChart1"/>
    <dgm:cxn modelId="{EB0E4ED4-E3FF-4FE8-AFA7-128B52DB94C0}" type="presParOf" srcId="{6EEE3E47-9D90-4BA4-AA6E-FE351E44E1CB}" destId="{18023AF6-56C9-475F-974C-F77578C65F28}" srcOrd="2" destOrd="0" presId="urn:microsoft.com/office/officeart/2005/8/layout/orgChart1"/>
    <dgm:cxn modelId="{1089E898-B8C3-4B7D-985C-1CE160D451A3}" type="presParOf" srcId="{8C6BCC74-A6A3-45E9-90A4-D49DBBAC3A54}" destId="{EBC74FE9-F178-4B4F-B7ED-77BC1FCD20F4}"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84EBFD5-967B-494F-85A4-ED4707CAA437}">
      <dsp:nvSpPr>
        <dsp:cNvPr id="0" name=""/>
        <dsp:cNvSpPr/>
      </dsp:nvSpPr>
      <dsp:spPr>
        <a:xfrm>
          <a:off x="2706952" y="1979075"/>
          <a:ext cx="1915188" cy="332388"/>
        </a:xfrm>
        <a:custGeom>
          <a:avLst/>
          <a:gdLst/>
          <a:ahLst/>
          <a:cxnLst/>
          <a:rect l="0" t="0" r="0" b="0"/>
          <a:pathLst>
            <a:path>
              <a:moveTo>
                <a:pt x="0" y="0"/>
              </a:moveTo>
              <a:lnTo>
                <a:pt x="0" y="166194"/>
              </a:lnTo>
              <a:lnTo>
                <a:pt x="1915188" y="166194"/>
              </a:lnTo>
              <a:lnTo>
                <a:pt x="1915188" y="332388"/>
              </a:lnTo>
            </a:path>
          </a:pathLst>
        </a:custGeom>
        <a:noFill/>
        <a:ln w="12700" cap="flat" cmpd="sng" algn="ctr">
          <a:solidFill>
            <a:schemeClr val="accent1">
              <a:tint val="99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2EAD1C7-4A9B-4C15-B3C8-1A69F13BCA38}">
      <dsp:nvSpPr>
        <dsp:cNvPr id="0" name=""/>
        <dsp:cNvSpPr/>
      </dsp:nvSpPr>
      <dsp:spPr>
        <a:xfrm>
          <a:off x="2661232" y="1979075"/>
          <a:ext cx="91440" cy="332388"/>
        </a:xfrm>
        <a:custGeom>
          <a:avLst/>
          <a:gdLst/>
          <a:ahLst/>
          <a:cxnLst/>
          <a:rect l="0" t="0" r="0" b="0"/>
          <a:pathLst>
            <a:path>
              <a:moveTo>
                <a:pt x="45720" y="0"/>
              </a:moveTo>
              <a:lnTo>
                <a:pt x="45720" y="332388"/>
              </a:lnTo>
            </a:path>
          </a:pathLst>
        </a:custGeom>
        <a:noFill/>
        <a:ln w="12700" cap="flat" cmpd="sng" algn="ctr">
          <a:solidFill>
            <a:schemeClr val="accent1">
              <a:tint val="99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13767A1-D424-4568-B704-BE25141C9AE4}">
      <dsp:nvSpPr>
        <dsp:cNvPr id="0" name=""/>
        <dsp:cNvSpPr/>
      </dsp:nvSpPr>
      <dsp:spPr>
        <a:xfrm>
          <a:off x="791763" y="1979075"/>
          <a:ext cx="1915188" cy="332388"/>
        </a:xfrm>
        <a:custGeom>
          <a:avLst/>
          <a:gdLst/>
          <a:ahLst/>
          <a:cxnLst/>
          <a:rect l="0" t="0" r="0" b="0"/>
          <a:pathLst>
            <a:path>
              <a:moveTo>
                <a:pt x="1915188" y="0"/>
              </a:moveTo>
              <a:lnTo>
                <a:pt x="1915188" y="166194"/>
              </a:lnTo>
              <a:lnTo>
                <a:pt x="0" y="166194"/>
              </a:lnTo>
              <a:lnTo>
                <a:pt x="0" y="332388"/>
              </a:lnTo>
            </a:path>
          </a:pathLst>
        </a:custGeom>
        <a:noFill/>
        <a:ln w="12700" cap="flat" cmpd="sng" algn="ctr">
          <a:solidFill>
            <a:schemeClr val="accent1">
              <a:tint val="99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E750039-1161-4067-BC08-42389CBC21F0}">
      <dsp:nvSpPr>
        <dsp:cNvPr id="0" name=""/>
        <dsp:cNvSpPr/>
      </dsp:nvSpPr>
      <dsp:spPr>
        <a:xfrm>
          <a:off x="1915551" y="1187675"/>
          <a:ext cx="1582800" cy="791400"/>
        </a:xfrm>
        <a:prstGeom prst="rect">
          <a:avLst/>
        </a:prstGeom>
        <a:solidFill>
          <a:schemeClr val="accent1">
            <a:shade val="8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fr-FR" sz="1800" kern="1200" dirty="0" err="1"/>
            <a:t>Predictra</a:t>
          </a:r>
          <a:r>
            <a:rPr lang="fr-FR" sz="1800" kern="1200" dirty="0"/>
            <a:t> Board</a:t>
          </a:r>
          <a:endParaRPr lang="fr-TN" sz="1800" kern="1200" dirty="0"/>
        </a:p>
      </dsp:txBody>
      <dsp:txXfrm>
        <a:off x="1915551" y="1187675"/>
        <a:ext cx="1582800" cy="791400"/>
      </dsp:txXfrm>
    </dsp:sp>
    <dsp:sp modelId="{678E6246-EFB6-42CD-86A9-F61D7A0213DA}">
      <dsp:nvSpPr>
        <dsp:cNvPr id="0" name=""/>
        <dsp:cNvSpPr/>
      </dsp:nvSpPr>
      <dsp:spPr>
        <a:xfrm>
          <a:off x="363" y="2311464"/>
          <a:ext cx="1582800" cy="791400"/>
        </a:xfrm>
        <a:prstGeom prst="rect">
          <a:avLst/>
        </a:prstGeom>
        <a:solidFill>
          <a:schemeClr val="accent1">
            <a:tint val="99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fr-FR" sz="1800" kern="1200" dirty="0"/>
            <a:t>Threat </a:t>
          </a:r>
          <a:r>
            <a:rPr lang="fr-FR" sz="1800" kern="1200" dirty="0" err="1"/>
            <a:t>Research</a:t>
          </a:r>
          <a:r>
            <a:rPr lang="fr-FR" sz="1800" kern="1200" dirty="0"/>
            <a:t> </a:t>
          </a:r>
          <a:r>
            <a:rPr lang="fr-FR" sz="1800" kern="1200" dirty="0" err="1"/>
            <a:t>Department</a:t>
          </a:r>
          <a:endParaRPr lang="fr-TN" sz="1800" kern="1200" dirty="0"/>
        </a:p>
      </dsp:txBody>
      <dsp:txXfrm>
        <a:off x="363" y="2311464"/>
        <a:ext cx="1582800" cy="791400"/>
      </dsp:txXfrm>
    </dsp:sp>
    <dsp:sp modelId="{D5867DBC-5444-4DC2-9B96-B229A4AFFF2A}">
      <dsp:nvSpPr>
        <dsp:cNvPr id="0" name=""/>
        <dsp:cNvSpPr/>
      </dsp:nvSpPr>
      <dsp:spPr>
        <a:xfrm>
          <a:off x="1915551" y="2311464"/>
          <a:ext cx="1582800" cy="791400"/>
        </a:xfrm>
        <a:prstGeom prst="rect">
          <a:avLst/>
        </a:prstGeom>
        <a:solidFill>
          <a:schemeClr val="accent1">
            <a:tint val="99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fr-FR" sz="1800" kern="1200" dirty="0"/>
            <a:t>Security Engineering </a:t>
          </a:r>
          <a:r>
            <a:rPr lang="fr-FR" sz="1800" kern="1200" dirty="0" err="1"/>
            <a:t>Department</a:t>
          </a:r>
          <a:endParaRPr lang="fr-TN" sz="1800" kern="1200" dirty="0"/>
        </a:p>
      </dsp:txBody>
      <dsp:txXfrm>
        <a:off x="1915551" y="2311464"/>
        <a:ext cx="1582800" cy="791400"/>
      </dsp:txXfrm>
    </dsp:sp>
    <dsp:sp modelId="{F2519C9A-82E7-468E-B66B-52D87FF6A712}">
      <dsp:nvSpPr>
        <dsp:cNvPr id="0" name=""/>
        <dsp:cNvSpPr/>
      </dsp:nvSpPr>
      <dsp:spPr>
        <a:xfrm>
          <a:off x="3830740" y="2311464"/>
          <a:ext cx="1582800" cy="791400"/>
        </a:xfrm>
        <a:prstGeom prst="rect">
          <a:avLst/>
        </a:prstGeom>
        <a:solidFill>
          <a:schemeClr val="accent1">
            <a:tint val="99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fr-FR" sz="1800" kern="1200" dirty="0"/>
            <a:t>Sales &amp; </a:t>
          </a:r>
          <a:r>
            <a:rPr lang="fr-FR" sz="1800" kern="1200" dirty="0" err="1"/>
            <a:t>operation</a:t>
          </a:r>
          <a:r>
            <a:rPr lang="fr-FR" sz="1800" kern="1200" dirty="0"/>
            <a:t> </a:t>
          </a:r>
          <a:r>
            <a:rPr lang="fr-FR" sz="1800" kern="1200" dirty="0" err="1"/>
            <a:t>Department</a:t>
          </a:r>
          <a:endParaRPr lang="fr-TN" sz="1800" kern="1200" dirty="0"/>
        </a:p>
      </dsp:txBody>
      <dsp:txXfrm>
        <a:off x="3830740" y="2311464"/>
        <a:ext cx="1582800" cy="791400"/>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586857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Brahim: Good morning, ladies and gentlemen of the jury. Welcome to our graduation defense for our Bachelor's Degree in Information Technology. My name is Brahim Jaballi, and alongside my colleague Chiheb Amri, we are proud to present our final year project: the 'Predictra Threat Map'. This project, conducted under the supervision of Mr. Anis Dhahri at ISET Gafsa, and in collaboration with host company Predictra Cybersecurity, focuses on the design and development of a real-time spatialized threat intelligence visualization platform. We would also like to thank Ms. Hadhami Issaoui and Mr. Walid Hammemi for presiding and reporting on our defense today.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Brahim: To guide you through our presentation, we have structured our defense into five key chapters. I will begin with the Introduction and the Pre-Study, outlining the cybersecurity landscape, our problematic, and the Agile Scrum methodology. Next, we will present our Conceptual Study, including system actors, requirements, use cases, and architecture. We will then dive into the Realization phase, detailing our 9 threat feed scrapers, enrichment engine, and streaming pipeline. Finally, we will conclude with a retrospective and future perspectives.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Brahim: Let us start with the introduction. Today, corporate networks and cloud platforms are faced with an expanded attack surface. Highly coordinated threat groups launch disruptive operations globally. As Sun Tzu wrote in The Art of War: 'If you know the enemy and know yourself, you need not fear the result of a hundred battles.' In cybersecurity, this means shifting from a reactive posture to a proactive threat intelligence model.</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Brahim: Our host organization, Predictra Cybersecurity, is an AI-driven Cyber Threat Intelligence firm. Their goal is to democratize threat intelligence, transforming raw feeds into actionable visual insights. A critical industry metric is the compromise dwell time, which globally averages over 200 days. Our Threat Map aims to shrink this window from months to seconds by providing immediate, real-time visibility.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Brahim: The core problem we address is threefold. First, spreadsheet overload — SOC analysts suffer from visual fatigue reading thousands of static logs. Second, lack of spatial context — traditional dashboards fail to show attack origins geographically. Third, data heterogeneity — threat feeds are scattered across multiple vendors in incompatible formats.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Brahim: To solve this, we propose the Predictra Threat Map built on four layers. The Ingestion Layer harvests data from 9 different threat feeds using multiple protocols — SSE for Checkpoint, WebSocket for Bitdefender, REST polling for FortiGuard and others. The Enrichment Layer uses a 5-layer classification engine including keyword matching, RDAP lookups, and port-based inference. The Streaming Layer batches events every 300ms via SSE. The Visualization Layer renders the data on a 3D globe with STIX and MITRE mapping.</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Brahim: We adopted the Agile Scrum methodology over 4 sprints and 12 weeks. Sprint 1 was the heaviest — building all 9 feed scrapers: Checkpoint via Server-Sent Events, Bitdefender via socket.io WebSocket, FortiGuard via REST polling every 4 seconds, URLhaus via REST polling every 90 seconds, AlienVault OTX, Kaspersky, RansomWatch for ransomware leak tracking, C2 Tracker for command-and-control servers, and MISP Galaxy for APT actor intelligence. Sprint 2 built the streaming pipeline and globe. Sprint 3 added STIX parsing. Sprint 4 added analytics and performance guardrails.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Brahim: This is our Global Use Case diagram. The primary system actor is the set of 9 External Threat Feed scrapers that automatically trigger backend ingestion. The human actor is the Security Analyst who monitors the dashboard, filters threat logs, uploads STIX bundles, and exports reports.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Brahim: We defined 9 functional requirements. These include multi-feed ingestion using SSE, WebSocket, and REST protocols, IP geolocation via geoip-lite dictionary, sector classification using our 5-layer enrichment engine, real-time SSE streaming with 300ms batch flush, 3D globe rendering, STIX parsing, MITRE mapping, log search, Target My IP, and Excel export. Non-functional requirements cover 60fps fluidity, circular memory buffer, 30-day database TTL, a 500MB quota guard, and a premium dark glassmorphism layout.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Chiheb: This is our Global Class Diagram. In the Backend tier, the Express Server orchestrates 9 Scraper Service subclasses — each one handling a different vendor protocol (SSE, WebSocket, REST). They all map to a unified ThreatEvent BSON schema. The Enrichment Service resolves sectors using keyword matching, RDAP lookups, port inference, and MISP Galaxy data. The frontend uses Zustand for reactive state management with a circular RingBuffer.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Chiheb: We selected Node.js and Express 5 for the backend because its non-blocking event loop natively supports SSE and WebSocket concurrency — critical for our 9 simultaneous scraper connections. Zustand 5 for frontend state gives us reactive updates outside the React render loop. Three.js for the globe, MongoDB Atlas for schemaless BSON, and Vercel for zero-config deployment.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Chiheb: Our system architecture has three tiers. The Frontend React SPA is served via Vercel CDN with proxy routing to eliminate CORS issues. The Backend runs on a Cloud VM with PM2 clustering and 9 parallel ingestion scrapers. The Database tier uses MongoDB Atlas with 30-day TTL pruning and a 500MB quota guard.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Brahim: Our ingestion layer consists of 9 parallel scrapers, each using a different protocol. Checkpoint connects via Server-Sent Events for real-time streaming. Bitdefender uses a socket.io WebSocket client subscribing to 13 attack channels including botnet, SSH, RDP, VNC, MySQL, HTTP, IoT, and spam. FortiGuard polls a REST endpoint every 4 seconds tracking active outbreak IDs. URLhaus polls abuse.ch every 90 seconds for active malicious URLs. AlienVault queries OTX pulses. Kaspersky scrapes cybermap data. RansomWatch monitors ransomware leak sites. C2 Tracker tracks command-and-control infrastructure. MISP Galaxy loads APT actor profiles at boot and refreshes every 6 hours.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Brahim: Our enrichment engine uses a 5-layer priority cascade to classify every attack into one of 9 industry sectors. Layer 1 performs regex keyword matching on the victim hostname — if it contains 'hospital', 'bank', 'university', etc., we get a high-confidence match. Layer 2 broadens the search to combined text. Layer 3 uses port-based inference — MySQL port 3306 maps to Database Services, SSH port 22 to IT Infrastructure. Layer 4 reads MISP Galaxy APT actor target sectors. Layer 5 is a source-API fallback. We also have an async RDAP organization lookup with a 3-second timeout cache.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Chiheb: Our streaming pipeline uses a 300ms batch flush instead of per-event SSE writes. This cuts frontend Zustand updates by 50×. We use a 500-event staging queue with oldest-drop, and bulk MongoDB inserts every 25 documents. The BSON schema uses compact field names — a_c for attack count, s_ip for source IP — shrinking each document from 200 bytes to 80 bytes. All 9 scrapers normalize to a unified ThreatEvent schema with country code normalization and coordinate jitter.</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Chiheb: Sprints 3 and 4 introduced STIX parsing, MITRE mapping, and performance guards. The STIX 2.1 parser runs completely in the browser for privacy, mapping techniques to 12 MITRE phases. To maintain 60fps, we built a circular RingBuffer and Adaptive Event Sampling that drops up to 75% of visual events under heavy CPU load.</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Brahim: Here is an overview of our four main interfaces. The 3D Threat Map displays attack arcs from all 9 scrapers on a globe. The System Dashboard provides real-time metrics and country statistics. The STIX Workspace has the D3 force graph and MITRE grid. The Analytics Dashboard aggregates sector distributions and threat actor trends.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Brahim: We resolved three major challenges. First, rendering storms from 9 concurrent scrapers were fixed with 300ms batching and adaptive FPS sampling. Second, MongoDB quota limits were addressed with BSON compression reducing documents by 60%, plus TTL indexes and a 500MB write guard. Third, CORS blocks were eliminated with Vercel reverse-proxy configuration.</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Chiheb: Our roadmap has three phases. Phase 1: Kafka Distributed Ingestion to decouple our 9 scrapers from the server process, preventing crashes during traffic spikes. Phase 2: ML models to forecast attack patterns. Phase 3: Sharded MongoDB clustering by country code for geographic query optimization.</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Chiheb: In conclusion, the Predictra Threat Map successfully bridges the visibility gap in cyber defense. We built 9 parallel scrapers using SSE, WebSocket, and REST protocols, unified them into a compressed BSON schema, and enriched every event with a 5-layer sector classification engine. The platform reduces dwell time from months to seconds. Thank you for your time, and we welcome any questions.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2563EB"/>
          </a:solidFill>
          <a:ln/>
        </p:spPr>
        <p:txBody>
          <a:bodyPr/>
          <a:lstStyle/>
          <a:p>
            <a:endParaRPr lang="fr-TN"/>
          </a:p>
        </p:txBody>
      </p:sp>
      <p:sp>
        <p:nvSpPr>
          <p:cNvPr id="3" name="Shape 1"/>
          <p:cNvSpPr/>
          <p:nvPr/>
        </p:nvSpPr>
        <p:spPr>
          <a:xfrm>
            <a:off x="-914400" y="-457200"/>
            <a:ext cx="3657600" cy="3657600"/>
          </a:xfrm>
          <a:prstGeom prst="ellipse">
            <a:avLst/>
          </a:prstGeom>
          <a:solidFill>
            <a:srgbClr val="2563EB">
              <a:alpha val="4000"/>
            </a:srgbClr>
          </a:solidFill>
          <a:ln w="3810">
            <a:solidFill>
              <a:srgbClr val="2563EB">
                <a:alpha val="10000"/>
              </a:srgbClr>
            </a:solidFill>
            <a:prstDash val="solid"/>
          </a:ln>
        </p:spPr>
        <p:txBody>
          <a:bodyPr/>
          <a:lstStyle/>
          <a:p>
            <a:endParaRPr lang="fr-TN"/>
          </a:p>
        </p:txBody>
      </p:sp>
      <p:sp>
        <p:nvSpPr>
          <p:cNvPr id="4" name="Shape 2"/>
          <p:cNvSpPr/>
          <p:nvPr/>
        </p:nvSpPr>
        <p:spPr>
          <a:xfrm>
            <a:off x="10058400" y="4572000"/>
            <a:ext cx="3200400" cy="3200400"/>
          </a:xfrm>
          <a:prstGeom prst="ellipse">
            <a:avLst/>
          </a:prstGeom>
          <a:solidFill>
            <a:srgbClr val="4F46E5">
              <a:alpha val="3000"/>
            </a:srgbClr>
          </a:solidFill>
          <a:ln w="3810">
            <a:solidFill>
              <a:srgbClr val="4F46E5">
                <a:alpha val="8000"/>
              </a:srgbClr>
            </a:solidFill>
            <a:prstDash val="solid"/>
          </a:ln>
        </p:spPr>
        <p:txBody>
          <a:bodyPr/>
          <a:lstStyle/>
          <a:p>
            <a:endParaRPr lang="fr-TN"/>
          </a:p>
        </p:txBody>
      </p:sp>
      <p:sp>
        <p:nvSpPr>
          <p:cNvPr id="5" name="Shape 3"/>
          <p:cNvSpPr/>
          <p:nvPr/>
        </p:nvSpPr>
        <p:spPr>
          <a:xfrm>
            <a:off x="10972800" y="274320"/>
            <a:ext cx="914400" cy="1829"/>
          </a:xfrm>
          <a:prstGeom prst="rect">
            <a:avLst/>
          </a:prstGeom>
          <a:solidFill>
            <a:srgbClr val="E2E8F0"/>
          </a:solidFill>
          <a:ln/>
        </p:spPr>
        <p:txBody>
          <a:bodyPr/>
          <a:lstStyle/>
          <a:p>
            <a:endParaRPr lang="fr-TN"/>
          </a:p>
        </p:txBody>
      </p:sp>
      <p:sp>
        <p:nvSpPr>
          <p:cNvPr id="6" name="Shape 4"/>
          <p:cNvSpPr/>
          <p:nvPr/>
        </p:nvSpPr>
        <p:spPr>
          <a:xfrm>
            <a:off x="11868912" y="274320"/>
            <a:ext cx="1829" cy="640080"/>
          </a:xfrm>
          <a:prstGeom prst="rect">
            <a:avLst/>
          </a:prstGeom>
          <a:solidFill>
            <a:srgbClr val="E2E8F0"/>
          </a:solidFill>
          <a:ln/>
        </p:spPr>
        <p:txBody>
          <a:bodyPr/>
          <a:lstStyle/>
          <a:p>
            <a:endParaRPr lang="fr-TN"/>
          </a:p>
        </p:txBody>
      </p:sp>
      <p:sp>
        <p:nvSpPr>
          <p:cNvPr id="7" name="Shape 5"/>
          <p:cNvSpPr/>
          <p:nvPr/>
        </p:nvSpPr>
        <p:spPr>
          <a:xfrm>
            <a:off x="320040" y="6537960"/>
            <a:ext cx="1829" cy="274320"/>
          </a:xfrm>
          <a:prstGeom prst="rect">
            <a:avLst/>
          </a:prstGeom>
          <a:solidFill>
            <a:srgbClr val="E2E8F0"/>
          </a:solidFill>
          <a:ln/>
        </p:spPr>
        <p:txBody>
          <a:bodyPr/>
          <a:lstStyle/>
          <a:p>
            <a:endParaRPr lang="fr-TN"/>
          </a:p>
        </p:txBody>
      </p:sp>
      <p:sp>
        <p:nvSpPr>
          <p:cNvPr id="8" name="Shape 6"/>
          <p:cNvSpPr/>
          <p:nvPr/>
        </p:nvSpPr>
        <p:spPr>
          <a:xfrm>
            <a:off x="320040" y="6537960"/>
            <a:ext cx="640080" cy="1829"/>
          </a:xfrm>
          <a:prstGeom prst="rect">
            <a:avLst/>
          </a:prstGeom>
          <a:solidFill>
            <a:srgbClr val="E2E8F0"/>
          </a:solidFill>
          <a:ln/>
        </p:spPr>
        <p:txBody>
          <a:bodyPr/>
          <a:lstStyle/>
          <a:p>
            <a:endParaRPr lang="fr-TN"/>
          </a:p>
        </p:txBody>
      </p:sp>
      <p:sp>
        <p:nvSpPr>
          <p:cNvPr id="9" name="Text 7"/>
          <p:cNvSpPr/>
          <p:nvPr/>
        </p:nvSpPr>
        <p:spPr>
          <a:xfrm>
            <a:off x="0" y="914400"/>
            <a:ext cx="12188952" cy="1005840"/>
          </a:xfrm>
          <a:prstGeom prst="rect">
            <a:avLst/>
          </a:prstGeom>
          <a:noFill/>
          <a:ln/>
        </p:spPr>
        <p:txBody>
          <a:bodyPr wrap="square" rtlCol="0" anchor="ctr"/>
          <a:lstStyle/>
          <a:p>
            <a:pPr marL="0" indent="0" algn="ctr">
              <a:buNone/>
            </a:pPr>
            <a:r>
              <a:rPr lang="en-US" sz="6200" b="1" dirty="0">
                <a:solidFill>
                  <a:srgbClr val="0F172A"/>
                </a:solidFill>
                <a:latin typeface="Segoe UI" pitchFamily="34" charset="0"/>
                <a:ea typeface="Segoe UI" pitchFamily="34" charset="-122"/>
                <a:cs typeface="Segoe UI" pitchFamily="34" charset="-120"/>
              </a:rPr>
              <a:t>PREDICTRA</a:t>
            </a:r>
            <a:endParaRPr lang="en-US" sz="6200" dirty="0"/>
          </a:p>
        </p:txBody>
      </p:sp>
      <p:sp>
        <p:nvSpPr>
          <p:cNvPr id="10" name="Text 8"/>
          <p:cNvSpPr/>
          <p:nvPr/>
        </p:nvSpPr>
        <p:spPr>
          <a:xfrm>
            <a:off x="0" y="1828800"/>
            <a:ext cx="12188952" cy="822960"/>
          </a:xfrm>
          <a:prstGeom prst="rect">
            <a:avLst/>
          </a:prstGeom>
          <a:noFill/>
          <a:ln/>
        </p:spPr>
        <p:txBody>
          <a:bodyPr wrap="square" rtlCol="0" anchor="ctr"/>
          <a:lstStyle/>
          <a:p>
            <a:pPr marL="0" indent="0" algn="ctr">
              <a:buNone/>
            </a:pPr>
            <a:r>
              <a:rPr lang="en-US" sz="4800" b="1" dirty="0">
                <a:solidFill>
                  <a:srgbClr val="2563EB"/>
                </a:solidFill>
                <a:latin typeface="Segoe UI" pitchFamily="34" charset="0"/>
                <a:ea typeface="Segoe UI" pitchFamily="34" charset="-122"/>
                <a:cs typeface="Segoe UI" pitchFamily="34" charset="-120"/>
              </a:rPr>
              <a:t>THREAT MAP</a:t>
            </a:r>
            <a:endParaRPr lang="en-US" sz="4800" dirty="0"/>
          </a:p>
        </p:txBody>
      </p:sp>
      <p:sp>
        <p:nvSpPr>
          <p:cNvPr id="11" name="Shape 9"/>
          <p:cNvSpPr/>
          <p:nvPr/>
        </p:nvSpPr>
        <p:spPr>
          <a:xfrm>
            <a:off x="3657600" y="2743200"/>
            <a:ext cx="4873752" cy="32004"/>
          </a:xfrm>
          <a:prstGeom prst="rect">
            <a:avLst/>
          </a:prstGeom>
          <a:solidFill>
            <a:srgbClr val="2563EB"/>
          </a:solidFill>
          <a:ln/>
        </p:spPr>
        <p:txBody>
          <a:bodyPr/>
          <a:lstStyle/>
          <a:p>
            <a:endParaRPr lang="fr-TN"/>
          </a:p>
        </p:txBody>
      </p:sp>
      <p:sp>
        <p:nvSpPr>
          <p:cNvPr id="12" name="Text 10"/>
          <p:cNvSpPr/>
          <p:nvPr/>
        </p:nvSpPr>
        <p:spPr>
          <a:xfrm>
            <a:off x="1371600" y="2880360"/>
            <a:ext cx="9445752" cy="640080"/>
          </a:xfrm>
          <a:prstGeom prst="rect">
            <a:avLst/>
          </a:prstGeom>
          <a:noFill/>
          <a:ln/>
        </p:spPr>
        <p:txBody>
          <a:bodyPr wrap="square" rtlCol="0" anchor="ctr"/>
          <a:lstStyle/>
          <a:p>
            <a:pPr marL="0" indent="0" algn="ctr">
              <a:lnSpc>
                <a:spcPct val="150000"/>
              </a:lnSpc>
              <a:buNone/>
            </a:pPr>
            <a:r>
              <a:rPr lang="en-US" sz="1400" dirty="0">
                <a:solidFill>
                  <a:srgbClr val="334155"/>
                </a:solidFill>
                <a:latin typeface="Segoe UI" pitchFamily="34" charset="0"/>
                <a:ea typeface="Segoe UI" pitchFamily="34" charset="-122"/>
                <a:cs typeface="Segoe UI" pitchFamily="34" charset="-120"/>
              </a:rPr>
              <a:t>Design &amp; Development of a Real-Time Spatialized</a:t>
            </a:r>
            <a:endParaRPr lang="en-US" sz="1400" dirty="0"/>
          </a:p>
          <a:p>
            <a:pPr marL="0" indent="0" algn="ctr">
              <a:lnSpc>
                <a:spcPct val="150000"/>
              </a:lnSpc>
              <a:buNone/>
            </a:pPr>
            <a:r>
              <a:rPr lang="en-US" sz="1400" dirty="0">
                <a:solidFill>
                  <a:srgbClr val="334155"/>
                </a:solidFill>
                <a:latin typeface="Segoe UI" pitchFamily="34" charset="0"/>
                <a:ea typeface="Segoe UI" pitchFamily="34" charset="-122"/>
                <a:cs typeface="Segoe UI" pitchFamily="34" charset="-120"/>
              </a:rPr>
              <a:t>Threat Intelligence Visualization Platform</a:t>
            </a:r>
            <a:endParaRPr lang="en-US" sz="1400" dirty="0"/>
          </a:p>
        </p:txBody>
      </p:sp>
      <p:sp>
        <p:nvSpPr>
          <p:cNvPr id="13" name="Shape 11"/>
          <p:cNvSpPr/>
          <p:nvPr/>
        </p:nvSpPr>
        <p:spPr>
          <a:xfrm>
            <a:off x="914400" y="3794760"/>
            <a:ext cx="4754880" cy="2011680"/>
          </a:xfrm>
          <a:prstGeom prst="roundRect">
            <a:avLst>
              <a:gd name="adj" fmla="val 6818"/>
            </a:avLst>
          </a:prstGeom>
          <a:solidFill>
            <a:srgbClr val="FFFFFF"/>
          </a:solidFill>
          <a:ln w="10160">
            <a:solidFill>
              <a:srgbClr val="E2E8F0"/>
            </a:solidFill>
            <a:prstDash val="solid"/>
          </a:ln>
          <a:effectLst>
            <a:outerShdw blurRad="177800" dist="38100" dir="12000000" algn="bl" rotWithShape="0">
              <a:srgbClr val="94A3B8">
                <a:alpha val="20000"/>
              </a:srgbClr>
            </a:outerShdw>
          </a:effectLst>
        </p:spPr>
        <p:txBody>
          <a:bodyPr/>
          <a:lstStyle/>
          <a:p>
            <a:endParaRPr lang="fr-TN"/>
          </a:p>
        </p:txBody>
      </p:sp>
      <p:sp>
        <p:nvSpPr>
          <p:cNvPr id="14" name="Shape 12"/>
          <p:cNvSpPr/>
          <p:nvPr/>
        </p:nvSpPr>
        <p:spPr>
          <a:xfrm>
            <a:off x="1051560" y="3813048"/>
            <a:ext cx="4480560" cy="36576"/>
          </a:xfrm>
          <a:prstGeom prst="rect">
            <a:avLst/>
          </a:prstGeom>
          <a:solidFill>
            <a:srgbClr val="2563EB"/>
          </a:solidFill>
          <a:ln/>
        </p:spPr>
        <p:txBody>
          <a:bodyPr/>
          <a:lstStyle/>
          <a:p>
            <a:endParaRPr lang="fr-TN"/>
          </a:p>
        </p:txBody>
      </p:sp>
      <p:sp>
        <p:nvSpPr>
          <p:cNvPr id="15" name="Text 13"/>
          <p:cNvSpPr/>
          <p:nvPr/>
        </p:nvSpPr>
        <p:spPr>
          <a:xfrm>
            <a:off x="1143000" y="3977640"/>
            <a:ext cx="4297680" cy="1645920"/>
          </a:xfrm>
          <a:prstGeom prst="rect">
            <a:avLst/>
          </a:prstGeom>
          <a:noFill/>
          <a:ln/>
        </p:spPr>
        <p:txBody>
          <a:bodyPr wrap="square" rtlCol="0" anchor="t"/>
          <a:lstStyle/>
          <a:p>
            <a:pPr marL="0" indent="0">
              <a:buNone/>
            </a:pPr>
            <a:r>
              <a:rPr lang="en-US" sz="800" b="1" dirty="0">
                <a:solidFill>
                  <a:srgbClr val="2563EB"/>
                </a:solidFill>
              </a:rPr>
              <a:t>AUTHORS
</a:t>
            </a:r>
            <a:r>
              <a:rPr lang="en-US" sz="1600" b="1" dirty="0">
                <a:solidFill>
                  <a:srgbClr val="0F172A"/>
                </a:solidFill>
              </a:rPr>
              <a:t>Brahim JABALLI  &amp;  Chiheb AMRI
</a:t>
            </a:r>
            <a:r>
              <a:rPr lang="en-US" sz="800" b="1" dirty="0">
                <a:solidFill>
                  <a:srgbClr val="2563EB"/>
                </a:solidFill>
              </a:rPr>
              <a:t>SUPERVISOR
</a:t>
            </a:r>
            <a:r>
              <a:rPr lang="en-US" sz="1300" dirty="0">
                <a:solidFill>
                  <a:srgbClr val="334155"/>
                </a:solidFill>
              </a:rPr>
              <a:t>Mr. Anis DHAHRI — ISET Gafsa</a:t>
            </a:r>
            <a:endParaRPr lang="en-US" sz="800" dirty="0"/>
          </a:p>
        </p:txBody>
      </p:sp>
      <p:sp>
        <p:nvSpPr>
          <p:cNvPr id="16" name="Shape 14"/>
          <p:cNvSpPr/>
          <p:nvPr/>
        </p:nvSpPr>
        <p:spPr>
          <a:xfrm>
            <a:off x="6519672" y="3794760"/>
            <a:ext cx="4754880" cy="2011680"/>
          </a:xfrm>
          <a:prstGeom prst="roundRect">
            <a:avLst>
              <a:gd name="adj" fmla="val 6818"/>
            </a:avLst>
          </a:prstGeom>
          <a:solidFill>
            <a:srgbClr val="FFFFFF"/>
          </a:solidFill>
          <a:ln w="10160">
            <a:solidFill>
              <a:srgbClr val="E2E8F0"/>
            </a:solidFill>
            <a:prstDash val="solid"/>
          </a:ln>
          <a:effectLst>
            <a:outerShdw blurRad="177800" dist="38100" dir="12000000" algn="bl" rotWithShape="0">
              <a:srgbClr val="94A3B8">
                <a:alpha val="20000"/>
              </a:srgbClr>
            </a:outerShdw>
          </a:effectLst>
        </p:spPr>
        <p:txBody>
          <a:bodyPr/>
          <a:lstStyle/>
          <a:p>
            <a:endParaRPr lang="fr-TN"/>
          </a:p>
        </p:txBody>
      </p:sp>
      <p:sp>
        <p:nvSpPr>
          <p:cNvPr id="17" name="Shape 15"/>
          <p:cNvSpPr/>
          <p:nvPr/>
        </p:nvSpPr>
        <p:spPr>
          <a:xfrm>
            <a:off x="6656832" y="3813048"/>
            <a:ext cx="4480560" cy="36576"/>
          </a:xfrm>
          <a:prstGeom prst="rect">
            <a:avLst/>
          </a:prstGeom>
          <a:solidFill>
            <a:srgbClr val="4F46E5"/>
          </a:solidFill>
          <a:ln/>
        </p:spPr>
        <p:txBody>
          <a:bodyPr/>
          <a:lstStyle/>
          <a:p>
            <a:endParaRPr lang="fr-TN"/>
          </a:p>
        </p:txBody>
      </p:sp>
      <p:sp>
        <p:nvSpPr>
          <p:cNvPr id="18" name="Text 16"/>
          <p:cNvSpPr/>
          <p:nvPr/>
        </p:nvSpPr>
        <p:spPr>
          <a:xfrm>
            <a:off x="6748272" y="3977640"/>
            <a:ext cx="4297680" cy="1645920"/>
          </a:xfrm>
          <a:prstGeom prst="rect">
            <a:avLst/>
          </a:prstGeom>
          <a:noFill/>
          <a:ln/>
        </p:spPr>
        <p:txBody>
          <a:bodyPr wrap="square" rtlCol="0" anchor="t"/>
          <a:lstStyle/>
          <a:p>
            <a:pPr marL="0" indent="0">
              <a:buNone/>
            </a:pPr>
            <a:r>
              <a:rPr lang="en-US" sz="800" b="1" dirty="0">
                <a:solidFill>
                  <a:srgbClr val="4F46E5"/>
                </a:solidFill>
              </a:rPr>
              <a:t>HOST ORGANIZATION
</a:t>
            </a:r>
            <a:r>
              <a:rPr lang="en-US" sz="1600" b="1" dirty="0">
                <a:solidFill>
                  <a:srgbClr val="0F172A"/>
                </a:solidFill>
              </a:rPr>
              <a:t>Predictra Cybersecurity
</a:t>
            </a:r>
            <a:r>
              <a:rPr lang="en-US" sz="800" b="1" dirty="0">
                <a:solidFill>
                  <a:srgbClr val="4F46E5"/>
                </a:solidFill>
              </a:rPr>
              <a:t>ACADEMIC YEAR
</a:t>
            </a:r>
            <a:r>
              <a:rPr lang="en-US" sz="1200" dirty="0">
                <a:solidFill>
                  <a:srgbClr val="334155"/>
                </a:solidFill>
              </a:rPr>
              <a:t>2025 / 2026  ·  Computer System Development</a:t>
            </a:r>
            <a:endParaRPr lang="en-US" sz="800" dirty="0"/>
          </a:p>
        </p:txBody>
      </p:sp>
      <p:sp>
        <p:nvSpPr>
          <p:cNvPr id="19" name="Text 17"/>
          <p:cNvSpPr/>
          <p:nvPr/>
        </p:nvSpPr>
        <p:spPr>
          <a:xfrm>
            <a:off x="0" y="6080760"/>
            <a:ext cx="12188952" cy="411480"/>
          </a:xfrm>
          <a:prstGeom prst="rect">
            <a:avLst/>
          </a:prstGeom>
          <a:noFill/>
          <a:ln/>
        </p:spPr>
        <p:txBody>
          <a:bodyPr wrap="square" rtlCol="0" anchor="ctr"/>
          <a:lstStyle/>
          <a:p>
            <a:pPr marL="0" indent="0" algn="ctr">
              <a:buNone/>
            </a:pPr>
            <a:r>
              <a:rPr lang="en-US" sz="1000" i="1" dirty="0">
                <a:solidFill>
                  <a:srgbClr val="94A3B8"/>
                </a:solidFill>
                <a:latin typeface="Segoe UI" pitchFamily="34" charset="0"/>
                <a:ea typeface="Segoe UI" pitchFamily="34" charset="-122"/>
                <a:cs typeface="Segoe UI" pitchFamily="34" charset="-120"/>
              </a:rPr>
              <a:t>Jury:  Ms. Hadhami ISSAOUI (President)   ·   Mr. Walid HAMMEMI (Reporter)</a:t>
            </a:r>
            <a:endParaRPr lang="en-US" sz="1000" dirty="0"/>
          </a:p>
        </p:txBody>
      </p:sp>
      <p:sp>
        <p:nvSpPr>
          <p:cNvPr id="20" name="Shape 18"/>
          <p:cNvSpPr/>
          <p:nvPr/>
        </p:nvSpPr>
        <p:spPr>
          <a:xfrm>
            <a:off x="0" y="6803136"/>
            <a:ext cx="12188952" cy="54864"/>
          </a:xfrm>
          <a:prstGeom prst="rect">
            <a:avLst/>
          </a:prstGeom>
          <a:solidFill>
            <a:srgbClr val="2563EB"/>
          </a:solidFill>
          <a:ln/>
        </p:spPr>
        <p:txBody>
          <a:bodyPr/>
          <a:lstStyle/>
          <a:p>
            <a:endParaRPr lang="fr-T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88952" cy="45720"/>
          </a:xfrm>
          <a:prstGeom prst="rect">
            <a:avLst/>
          </a:prstGeom>
          <a:solidFill>
            <a:srgbClr val="2563EB"/>
          </a:solidFill>
          <a:ln/>
        </p:spPr>
        <p:txBody>
          <a:bodyPr/>
          <a:lstStyle/>
          <a:p>
            <a:endParaRPr lang="fr-TN"/>
          </a:p>
        </p:txBody>
      </p:sp>
      <p:sp>
        <p:nvSpPr>
          <p:cNvPr id="3" name="Shape 1"/>
          <p:cNvSpPr/>
          <p:nvPr/>
        </p:nvSpPr>
        <p:spPr>
          <a:xfrm>
            <a:off x="10972800" y="274320"/>
            <a:ext cx="914400" cy="1829"/>
          </a:xfrm>
          <a:prstGeom prst="rect">
            <a:avLst/>
          </a:prstGeom>
          <a:solidFill>
            <a:srgbClr val="E2E8F0"/>
          </a:solidFill>
          <a:ln/>
        </p:spPr>
        <p:txBody>
          <a:bodyPr/>
          <a:lstStyle/>
          <a:p>
            <a:endParaRPr lang="fr-TN"/>
          </a:p>
        </p:txBody>
      </p:sp>
      <p:sp>
        <p:nvSpPr>
          <p:cNvPr id="4" name="Shape 2"/>
          <p:cNvSpPr/>
          <p:nvPr/>
        </p:nvSpPr>
        <p:spPr>
          <a:xfrm>
            <a:off x="11868912" y="274320"/>
            <a:ext cx="1829" cy="640080"/>
          </a:xfrm>
          <a:prstGeom prst="rect">
            <a:avLst/>
          </a:prstGeom>
          <a:solidFill>
            <a:srgbClr val="E2E8F0"/>
          </a:solidFill>
          <a:ln/>
        </p:spPr>
        <p:txBody>
          <a:bodyPr/>
          <a:lstStyle/>
          <a:p>
            <a:endParaRPr lang="fr-TN"/>
          </a:p>
        </p:txBody>
      </p:sp>
      <p:sp>
        <p:nvSpPr>
          <p:cNvPr id="5" name="Shape 3"/>
          <p:cNvSpPr/>
          <p:nvPr/>
        </p:nvSpPr>
        <p:spPr>
          <a:xfrm>
            <a:off x="320040" y="6537960"/>
            <a:ext cx="1829" cy="274320"/>
          </a:xfrm>
          <a:prstGeom prst="rect">
            <a:avLst/>
          </a:prstGeom>
          <a:solidFill>
            <a:srgbClr val="E2E8F0"/>
          </a:solidFill>
          <a:ln/>
        </p:spPr>
        <p:txBody>
          <a:bodyPr/>
          <a:lstStyle/>
          <a:p>
            <a:endParaRPr lang="fr-TN"/>
          </a:p>
        </p:txBody>
      </p:sp>
      <p:sp>
        <p:nvSpPr>
          <p:cNvPr id="6" name="Shape 4"/>
          <p:cNvSpPr/>
          <p:nvPr/>
        </p:nvSpPr>
        <p:spPr>
          <a:xfrm>
            <a:off x="320040" y="6537960"/>
            <a:ext cx="640080" cy="1829"/>
          </a:xfrm>
          <a:prstGeom prst="rect">
            <a:avLst/>
          </a:prstGeom>
          <a:solidFill>
            <a:srgbClr val="E2E8F0"/>
          </a:solidFill>
          <a:ln/>
        </p:spPr>
        <p:txBody>
          <a:bodyPr/>
          <a:lstStyle/>
          <a:p>
            <a:endParaRPr lang="fr-TN"/>
          </a:p>
        </p:txBody>
      </p:sp>
      <p:sp>
        <p:nvSpPr>
          <p:cNvPr id="7" name="Text 5"/>
          <p:cNvSpPr/>
          <p:nvPr/>
        </p:nvSpPr>
        <p:spPr>
          <a:xfrm>
            <a:off x="731520" y="274320"/>
            <a:ext cx="10515600" cy="256032"/>
          </a:xfrm>
          <a:prstGeom prst="rect">
            <a:avLst/>
          </a:prstGeom>
          <a:noFill/>
          <a:ln/>
        </p:spPr>
        <p:txBody>
          <a:bodyPr wrap="square" rtlCol="0" anchor="ctr"/>
          <a:lstStyle/>
          <a:p>
            <a:pPr marL="0" indent="0">
              <a:buNone/>
            </a:pPr>
            <a:r>
              <a:rPr lang="en-US" sz="900" b="1" dirty="0">
                <a:solidFill>
                  <a:srgbClr val="2563EB"/>
                </a:solidFill>
                <a:latin typeface="Segoe UI" pitchFamily="34" charset="0"/>
                <a:ea typeface="Segoe UI" pitchFamily="34" charset="-122"/>
                <a:cs typeface="Segoe UI" pitchFamily="34" charset="-120"/>
              </a:rPr>
              <a:t>AGENDA</a:t>
            </a:r>
            <a:endParaRPr lang="en-US" sz="900" dirty="0"/>
          </a:p>
        </p:txBody>
      </p:sp>
      <p:sp>
        <p:nvSpPr>
          <p:cNvPr id="8" name="Text 6"/>
          <p:cNvSpPr/>
          <p:nvPr/>
        </p:nvSpPr>
        <p:spPr>
          <a:xfrm>
            <a:off x="731520" y="548640"/>
            <a:ext cx="10515600" cy="502920"/>
          </a:xfrm>
          <a:prstGeom prst="rect">
            <a:avLst/>
          </a:prstGeom>
          <a:noFill/>
          <a:ln/>
        </p:spPr>
        <p:txBody>
          <a:bodyPr wrap="square" rtlCol="0" anchor="ctr"/>
          <a:lstStyle/>
          <a:p>
            <a:pPr marL="0" indent="0">
              <a:buNone/>
            </a:pPr>
            <a:r>
              <a:rPr lang="en-US" sz="3000" b="1" dirty="0">
                <a:solidFill>
                  <a:srgbClr val="0F172A"/>
                </a:solidFill>
                <a:latin typeface="Segoe UI" pitchFamily="34" charset="0"/>
                <a:ea typeface="Segoe UI" pitchFamily="34" charset="-122"/>
                <a:cs typeface="Segoe UI" pitchFamily="34" charset="-120"/>
              </a:rPr>
              <a:t>Presentation Outline</a:t>
            </a:r>
            <a:endParaRPr lang="en-US" sz="3000" dirty="0"/>
          </a:p>
        </p:txBody>
      </p:sp>
      <p:sp>
        <p:nvSpPr>
          <p:cNvPr id="9" name="Shape 7"/>
          <p:cNvSpPr/>
          <p:nvPr/>
        </p:nvSpPr>
        <p:spPr>
          <a:xfrm>
            <a:off x="731520" y="1115568"/>
            <a:ext cx="1828800" cy="32004"/>
          </a:xfrm>
          <a:prstGeom prst="rect">
            <a:avLst/>
          </a:prstGeom>
          <a:solidFill>
            <a:srgbClr val="2563EB"/>
          </a:solidFill>
          <a:ln/>
        </p:spPr>
        <p:txBody>
          <a:bodyPr/>
          <a:lstStyle/>
          <a:p>
            <a:endParaRPr lang="fr-TN"/>
          </a:p>
        </p:txBody>
      </p:sp>
      <p:sp>
        <p:nvSpPr>
          <p:cNvPr id="10" name="Shape 8"/>
          <p:cNvSpPr/>
          <p:nvPr/>
        </p:nvSpPr>
        <p:spPr>
          <a:xfrm>
            <a:off x="2651760" y="1124712"/>
            <a:ext cx="8778240" cy="10973"/>
          </a:xfrm>
          <a:prstGeom prst="rect">
            <a:avLst/>
          </a:prstGeom>
          <a:solidFill>
            <a:srgbClr val="E2E8F0"/>
          </a:solidFill>
          <a:ln/>
        </p:spPr>
        <p:txBody>
          <a:bodyPr/>
          <a:lstStyle/>
          <a:p>
            <a:endParaRPr lang="fr-TN"/>
          </a:p>
        </p:txBody>
      </p:sp>
      <p:sp>
        <p:nvSpPr>
          <p:cNvPr id="11" name="Shape 9"/>
          <p:cNvSpPr/>
          <p:nvPr/>
        </p:nvSpPr>
        <p:spPr>
          <a:xfrm>
            <a:off x="502920" y="1463040"/>
            <a:ext cx="2057400" cy="4754880"/>
          </a:xfrm>
          <a:prstGeom prst="roundRect">
            <a:avLst>
              <a:gd name="adj" fmla="val 5333"/>
            </a:avLst>
          </a:prstGeom>
          <a:solidFill>
            <a:srgbClr val="FFFFFF"/>
          </a:solidFill>
          <a:ln w="7620">
            <a:solidFill>
              <a:srgbClr val="E2E8F0"/>
            </a:solidFill>
            <a:prstDash val="solid"/>
          </a:ln>
          <a:effectLst>
            <a:outerShdw blurRad="127000" dist="38100" dir="12000000" algn="bl" rotWithShape="0">
              <a:srgbClr val="94A3B8">
                <a:alpha val="20000"/>
              </a:srgbClr>
            </a:outerShdw>
          </a:effectLst>
        </p:spPr>
        <p:txBody>
          <a:bodyPr/>
          <a:lstStyle/>
          <a:p>
            <a:endParaRPr lang="fr-TN"/>
          </a:p>
        </p:txBody>
      </p:sp>
      <p:sp>
        <p:nvSpPr>
          <p:cNvPr id="12" name="Shape 10"/>
          <p:cNvSpPr/>
          <p:nvPr/>
        </p:nvSpPr>
        <p:spPr>
          <a:xfrm>
            <a:off x="594360" y="1481328"/>
            <a:ext cx="1874520" cy="36576"/>
          </a:xfrm>
          <a:prstGeom prst="rect">
            <a:avLst/>
          </a:prstGeom>
          <a:solidFill>
            <a:srgbClr val="2563EB"/>
          </a:solidFill>
          <a:ln/>
        </p:spPr>
        <p:txBody>
          <a:bodyPr/>
          <a:lstStyle/>
          <a:p>
            <a:endParaRPr lang="fr-TN"/>
          </a:p>
        </p:txBody>
      </p:sp>
      <p:sp>
        <p:nvSpPr>
          <p:cNvPr id="13" name="Text 11"/>
          <p:cNvSpPr/>
          <p:nvPr/>
        </p:nvSpPr>
        <p:spPr>
          <a:xfrm>
            <a:off x="640080" y="1691640"/>
            <a:ext cx="731520" cy="548640"/>
          </a:xfrm>
          <a:prstGeom prst="rect">
            <a:avLst/>
          </a:prstGeom>
          <a:noFill/>
          <a:ln/>
        </p:spPr>
        <p:txBody>
          <a:bodyPr wrap="square" rtlCol="0" anchor="ctr"/>
          <a:lstStyle/>
          <a:p>
            <a:pPr marL="0" indent="0">
              <a:buNone/>
            </a:pPr>
            <a:r>
              <a:rPr lang="en-US" sz="2600" b="1" dirty="0">
                <a:solidFill>
                  <a:srgbClr val="2563EB"/>
                </a:solidFill>
                <a:latin typeface="Segoe UI" pitchFamily="34" charset="0"/>
                <a:ea typeface="Segoe UI" pitchFamily="34" charset="-122"/>
                <a:cs typeface="Segoe UI" pitchFamily="34" charset="-120"/>
              </a:rPr>
              <a:t>01</a:t>
            </a:r>
            <a:endParaRPr lang="en-US" sz="2600" dirty="0"/>
          </a:p>
        </p:txBody>
      </p:sp>
      <p:sp>
        <p:nvSpPr>
          <p:cNvPr id="14" name="Text 12"/>
          <p:cNvSpPr/>
          <p:nvPr/>
        </p:nvSpPr>
        <p:spPr>
          <a:xfrm>
            <a:off x="640080" y="2240280"/>
            <a:ext cx="1783080" cy="365760"/>
          </a:xfrm>
          <a:prstGeom prst="rect">
            <a:avLst/>
          </a:prstGeom>
          <a:noFill/>
          <a:ln/>
        </p:spPr>
        <p:txBody>
          <a:bodyPr wrap="square" rtlCol="0" anchor="ctr"/>
          <a:lstStyle/>
          <a:p>
            <a:pPr marL="0" indent="0">
              <a:buNone/>
            </a:pPr>
            <a:r>
              <a:rPr lang="en-US" sz="1400" b="1" dirty="0">
                <a:solidFill>
                  <a:srgbClr val="0F172A"/>
                </a:solidFill>
                <a:latin typeface="Segoe UI" pitchFamily="34" charset="0"/>
                <a:ea typeface="Segoe UI" pitchFamily="34" charset="-122"/>
                <a:cs typeface="Segoe UI" pitchFamily="34" charset="-120"/>
              </a:rPr>
              <a:t>Introduction</a:t>
            </a:r>
            <a:endParaRPr lang="en-US" sz="1400" dirty="0"/>
          </a:p>
        </p:txBody>
      </p:sp>
      <p:sp>
        <p:nvSpPr>
          <p:cNvPr id="15" name="Shape 13"/>
          <p:cNvSpPr/>
          <p:nvPr/>
        </p:nvSpPr>
        <p:spPr>
          <a:xfrm>
            <a:off x="640080" y="2697480"/>
            <a:ext cx="1783080" cy="10973"/>
          </a:xfrm>
          <a:prstGeom prst="rect">
            <a:avLst/>
          </a:prstGeom>
          <a:solidFill>
            <a:srgbClr val="2563EB">
              <a:alpha val="30000"/>
            </a:srgbClr>
          </a:solidFill>
          <a:ln/>
        </p:spPr>
        <p:txBody>
          <a:bodyPr/>
          <a:lstStyle/>
          <a:p>
            <a:endParaRPr lang="fr-TN"/>
          </a:p>
        </p:txBody>
      </p:sp>
      <p:sp>
        <p:nvSpPr>
          <p:cNvPr id="16" name="Text 14"/>
          <p:cNvSpPr/>
          <p:nvPr/>
        </p:nvSpPr>
        <p:spPr>
          <a:xfrm>
            <a:off x="640080" y="2880360"/>
            <a:ext cx="1783080" cy="3108960"/>
          </a:xfrm>
          <a:prstGeom prst="rect">
            <a:avLst/>
          </a:prstGeom>
          <a:noFill/>
          <a:ln/>
        </p:spPr>
        <p:txBody>
          <a:bodyPr wrap="square" rtlCol="0" anchor="t"/>
          <a:lstStyle/>
          <a:p>
            <a:pPr marL="0" indent="0">
              <a:lnSpc>
                <a:spcPct val="120000"/>
              </a:lnSpc>
              <a:buNone/>
            </a:pPr>
            <a:r>
              <a:rPr lang="en-US" sz="950" dirty="0">
                <a:solidFill>
                  <a:srgbClr val="475569"/>
                </a:solidFill>
                <a:latin typeface="Segoe UI" pitchFamily="34" charset="0"/>
                <a:ea typeface="Segoe UI" pitchFamily="34" charset="-122"/>
                <a:cs typeface="Segoe UI" pitchFamily="34" charset="-120"/>
              </a:rPr>
              <a:t>▸  Global threat landscape</a:t>
            </a:r>
            <a:endParaRPr lang="en-US" sz="950" dirty="0"/>
          </a:p>
          <a:p>
            <a:pPr marL="0" indent="0">
              <a:lnSpc>
                <a:spcPct val="120000"/>
              </a:lnSpc>
              <a:buNone/>
            </a:pPr>
            <a:endParaRPr lang="en-US" sz="950" dirty="0"/>
          </a:p>
          <a:p>
            <a:pPr marL="0" indent="0">
              <a:lnSpc>
                <a:spcPct val="120000"/>
              </a:lnSpc>
              <a:buNone/>
            </a:pPr>
            <a:r>
              <a:rPr lang="en-US" sz="950" dirty="0">
                <a:solidFill>
                  <a:srgbClr val="475569"/>
                </a:solidFill>
                <a:latin typeface="Segoe UI" pitchFamily="34" charset="0"/>
                <a:ea typeface="Segoe UI" pitchFamily="34" charset="-122"/>
                <a:cs typeface="Segoe UI" pitchFamily="34" charset="-120"/>
              </a:rPr>
              <a:t>▸  Expanding attack surface</a:t>
            </a:r>
            <a:endParaRPr lang="en-US" sz="950" dirty="0"/>
          </a:p>
          <a:p>
            <a:pPr marL="0" indent="0">
              <a:lnSpc>
                <a:spcPct val="120000"/>
              </a:lnSpc>
              <a:buNone/>
            </a:pPr>
            <a:endParaRPr lang="en-US" sz="950" dirty="0"/>
          </a:p>
          <a:p>
            <a:pPr marL="0" indent="0">
              <a:lnSpc>
                <a:spcPct val="120000"/>
              </a:lnSpc>
              <a:buNone/>
            </a:pPr>
            <a:r>
              <a:rPr lang="en-US" sz="950" dirty="0">
                <a:solidFill>
                  <a:srgbClr val="475569"/>
                </a:solidFill>
                <a:latin typeface="Segoe UI" pitchFamily="34" charset="0"/>
                <a:ea typeface="Segoe UI" pitchFamily="34" charset="-122"/>
                <a:cs typeface="Segoe UI" pitchFamily="34" charset="-120"/>
              </a:rPr>
              <a:t>▸  Strategic threat intel</a:t>
            </a:r>
            <a:endParaRPr lang="en-US" sz="950" dirty="0"/>
          </a:p>
        </p:txBody>
      </p:sp>
      <p:sp>
        <p:nvSpPr>
          <p:cNvPr id="17" name="Shape 15"/>
          <p:cNvSpPr/>
          <p:nvPr/>
        </p:nvSpPr>
        <p:spPr>
          <a:xfrm>
            <a:off x="2743200" y="1463040"/>
            <a:ext cx="2057400" cy="4754880"/>
          </a:xfrm>
          <a:prstGeom prst="roundRect">
            <a:avLst>
              <a:gd name="adj" fmla="val 5333"/>
            </a:avLst>
          </a:prstGeom>
          <a:solidFill>
            <a:srgbClr val="FFFFFF"/>
          </a:solidFill>
          <a:ln w="7620">
            <a:solidFill>
              <a:srgbClr val="E2E8F0"/>
            </a:solidFill>
            <a:prstDash val="solid"/>
          </a:ln>
          <a:effectLst>
            <a:outerShdw blurRad="127000" dist="38100" dir="12000000" algn="bl" rotWithShape="0">
              <a:srgbClr val="94A3B8">
                <a:alpha val="20000"/>
              </a:srgbClr>
            </a:outerShdw>
          </a:effectLst>
        </p:spPr>
        <p:txBody>
          <a:bodyPr/>
          <a:lstStyle/>
          <a:p>
            <a:endParaRPr lang="fr-TN"/>
          </a:p>
        </p:txBody>
      </p:sp>
      <p:sp>
        <p:nvSpPr>
          <p:cNvPr id="18" name="Shape 16"/>
          <p:cNvSpPr/>
          <p:nvPr/>
        </p:nvSpPr>
        <p:spPr>
          <a:xfrm>
            <a:off x="2834640" y="1481328"/>
            <a:ext cx="1874520" cy="36576"/>
          </a:xfrm>
          <a:prstGeom prst="rect">
            <a:avLst/>
          </a:prstGeom>
          <a:solidFill>
            <a:srgbClr val="4F46E5"/>
          </a:solidFill>
          <a:ln/>
        </p:spPr>
        <p:txBody>
          <a:bodyPr/>
          <a:lstStyle/>
          <a:p>
            <a:endParaRPr lang="fr-TN"/>
          </a:p>
        </p:txBody>
      </p:sp>
      <p:sp>
        <p:nvSpPr>
          <p:cNvPr id="19" name="Text 17"/>
          <p:cNvSpPr/>
          <p:nvPr/>
        </p:nvSpPr>
        <p:spPr>
          <a:xfrm>
            <a:off x="2880360" y="1691640"/>
            <a:ext cx="731520" cy="548640"/>
          </a:xfrm>
          <a:prstGeom prst="rect">
            <a:avLst/>
          </a:prstGeom>
          <a:noFill/>
          <a:ln/>
        </p:spPr>
        <p:txBody>
          <a:bodyPr wrap="square" rtlCol="0" anchor="ctr"/>
          <a:lstStyle/>
          <a:p>
            <a:pPr marL="0" indent="0">
              <a:buNone/>
            </a:pPr>
            <a:r>
              <a:rPr lang="en-US" sz="2600" b="1" dirty="0">
                <a:solidFill>
                  <a:srgbClr val="4F46E5"/>
                </a:solidFill>
                <a:latin typeface="Segoe UI" pitchFamily="34" charset="0"/>
                <a:ea typeface="Segoe UI" pitchFamily="34" charset="-122"/>
                <a:cs typeface="Segoe UI" pitchFamily="34" charset="-120"/>
              </a:rPr>
              <a:t>02</a:t>
            </a:r>
            <a:endParaRPr lang="en-US" sz="2600" dirty="0"/>
          </a:p>
        </p:txBody>
      </p:sp>
      <p:sp>
        <p:nvSpPr>
          <p:cNvPr id="20" name="Text 18"/>
          <p:cNvSpPr/>
          <p:nvPr/>
        </p:nvSpPr>
        <p:spPr>
          <a:xfrm>
            <a:off x="2880360" y="2240280"/>
            <a:ext cx="1783080" cy="365760"/>
          </a:xfrm>
          <a:prstGeom prst="rect">
            <a:avLst/>
          </a:prstGeom>
          <a:noFill/>
          <a:ln/>
        </p:spPr>
        <p:txBody>
          <a:bodyPr wrap="square" rtlCol="0" anchor="ctr"/>
          <a:lstStyle/>
          <a:p>
            <a:pPr marL="0" indent="0">
              <a:buNone/>
            </a:pPr>
            <a:r>
              <a:rPr lang="en-US" sz="1400" b="1" dirty="0">
                <a:solidFill>
                  <a:srgbClr val="0F172A"/>
                </a:solidFill>
                <a:latin typeface="Segoe UI" pitchFamily="34" charset="0"/>
                <a:ea typeface="Segoe UI" pitchFamily="34" charset="-122"/>
                <a:cs typeface="Segoe UI" pitchFamily="34" charset="-120"/>
              </a:rPr>
              <a:t>Pre-Study</a:t>
            </a:r>
            <a:endParaRPr lang="en-US" sz="1400" dirty="0"/>
          </a:p>
        </p:txBody>
      </p:sp>
      <p:sp>
        <p:nvSpPr>
          <p:cNvPr id="21" name="Shape 19"/>
          <p:cNvSpPr/>
          <p:nvPr/>
        </p:nvSpPr>
        <p:spPr>
          <a:xfrm>
            <a:off x="2880360" y="2697480"/>
            <a:ext cx="1783080" cy="10973"/>
          </a:xfrm>
          <a:prstGeom prst="rect">
            <a:avLst/>
          </a:prstGeom>
          <a:solidFill>
            <a:srgbClr val="4F46E5">
              <a:alpha val="30000"/>
            </a:srgbClr>
          </a:solidFill>
          <a:ln/>
        </p:spPr>
        <p:txBody>
          <a:bodyPr/>
          <a:lstStyle/>
          <a:p>
            <a:endParaRPr lang="fr-TN"/>
          </a:p>
        </p:txBody>
      </p:sp>
      <p:sp>
        <p:nvSpPr>
          <p:cNvPr id="22" name="Text 20"/>
          <p:cNvSpPr/>
          <p:nvPr/>
        </p:nvSpPr>
        <p:spPr>
          <a:xfrm>
            <a:off x="2880360" y="2880360"/>
            <a:ext cx="1783080" cy="3108960"/>
          </a:xfrm>
          <a:prstGeom prst="rect">
            <a:avLst/>
          </a:prstGeom>
          <a:noFill/>
          <a:ln/>
        </p:spPr>
        <p:txBody>
          <a:bodyPr wrap="square" rtlCol="0" anchor="t"/>
          <a:lstStyle/>
          <a:p>
            <a:pPr marL="0" indent="0">
              <a:lnSpc>
                <a:spcPct val="120000"/>
              </a:lnSpc>
              <a:buNone/>
            </a:pPr>
            <a:r>
              <a:rPr lang="en-US" sz="950" dirty="0">
                <a:solidFill>
                  <a:srgbClr val="475569"/>
                </a:solidFill>
                <a:latin typeface="Segoe UI" pitchFamily="34" charset="0"/>
                <a:ea typeface="Segoe UI" pitchFamily="34" charset="-122"/>
                <a:cs typeface="Segoe UI" pitchFamily="34" charset="-120"/>
              </a:rPr>
              <a:t>▸  Host company profile</a:t>
            </a:r>
            <a:endParaRPr lang="en-US" sz="950" dirty="0"/>
          </a:p>
          <a:p>
            <a:pPr marL="0" indent="0">
              <a:lnSpc>
                <a:spcPct val="120000"/>
              </a:lnSpc>
              <a:buNone/>
            </a:pPr>
            <a:endParaRPr lang="en-US" sz="950" dirty="0"/>
          </a:p>
          <a:p>
            <a:pPr marL="0" indent="0">
              <a:lnSpc>
                <a:spcPct val="120000"/>
              </a:lnSpc>
              <a:buNone/>
            </a:pPr>
            <a:r>
              <a:rPr lang="en-US" sz="950" dirty="0">
                <a:solidFill>
                  <a:srgbClr val="475569"/>
                </a:solidFill>
                <a:latin typeface="Segoe UI" pitchFamily="34" charset="0"/>
                <a:ea typeface="Segoe UI" pitchFamily="34" charset="-122"/>
                <a:cs typeface="Segoe UI" pitchFamily="34" charset="-120"/>
              </a:rPr>
              <a:t>▸  The critical problematic</a:t>
            </a:r>
            <a:endParaRPr lang="en-US" sz="950" dirty="0"/>
          </a:p>
          <a:p>
            <a:pPr marL="0" indent="0">
              <a:lnSpc>
                <a:spcPct val="120000"/>
              </a:lnSpc>
              <a:buNone/>
            </a:pPr>
            <a:endParaRPr lang="en-US" sz="950" dirty="0"/>
          </a:p>
          <a:p>
            <a:pPr marL="0" indent="0">
              <a:lnSpc>
                <a:spcPct val="120000"/>
              </a:lnSpc>
              <a:buNone/>
            </a:pPr>
            <a:r>
              <a:rPr lang="en-US" sz="950" dirty="0">
                <a:solidFill>
                  <a:srgbClr val="475569"/>
                </a:solidFill>
                <a:latin typeface="Segoe UI" pitchFamily="34" charset="0"/>
                <a:ea typeface="Segoe UI" pitchFamily="34" charset="-122"/>
                <a:cs typeface="Segoe UI" pitchFamily="34" charset="-120"/>
              </a:rPr>
              <a:t>▸  Proposed 4-layer solution</a:t>
            </a:r>
            <a:endParaRPr lang="en-US" sz="950" dirty="0"/>
          </a:p>
          <a:p>
            <a:pPr marL="0" indent="0">
              <a:lnSpc>
                <a:spcPct val="120000"/>
              </a:lnSpc>
              <a:buNone/>
            </a:pPr>
            <a:endParaRPr lang="en-US" sz="950" dirty="0"/>
          </a:p>
          <a:p>
            <a:pPr marL="0" indent="0">
              <a:lnSpc>
                <a:spcPct val="120000"/>
              </a:lnSpc>
              <a:buNone/>
            </a:pPr>
            <a:r>
              <a:rPr lang="en-US" sz="950" dirty="0">
                <a:solidFill>
                  <a:srgbClr val="475569"/>
                </a:solidFill>
                <a:latin typeface="Segoe UI" pitchFamily="34" charset="0"/>
                <a:ea typeface="Segoe UI" pitchFamily="34" charset="-122"/>
                <a:cs typeface="Segoe UI" pitchFamily="34" charset="-120"/>
              </a:rPr>
              <a:t>▸  Agile Scrum model</a:t>
            </a:r>
            <a:endParaRPr lang="en-US" sz="950" dirty="0"/>
          </a:p>
        </p:txBody>
      </p:sp>
      <p:sp>
        <p:nvSpPr>
          <p:cNvPr id="23" name="Shape 21"/>
          <p:cNvSpPr/>
          <p:nvPr/>
        </p:nvSpPr>
        <p:spPr>
          <a:xfrm>
            <a:off x="4983480" y="1463040"/>
            <a:ext cx="2057400" cy="4754880"/>
          </a:xfrm>
          <a:prstGeom prst="roundRect">
            <a:avLst>
              <a:gd name="adj" fmla="val 5333"/>
            </a:avLst>
          </a:prstGeom>
          <a:solidFill>
            <a:srgbClr val="FFFFFF"/>
          </a:solidFill>
          <a:ln w="7620">
            <a:solidFill>
              <a:srgbClr val="E2E8F0"/>
            </a:solidFill>
            <a:prstDash val="solid"/>
          </a:ln>
          <a:effectLst>
            <a:outerShdw blurRad="127000" dist="38100" dir="12000000" algn="bl" rotWithShape="0">
              <a:srgbClr val="94A3B8">
                <a:alpha val="20000"/>
              </a:srgbClr>
            </a:outerShdw>
          </a:effectLst>
        </p:spPr>
        <p:txBody>
          <a:bodyPr/>
          <a:lstStyle/>
          <a:p>
            <a:endParaRPr lang="fr-TN"/>
          </a:p>
        </p:txBody>
      </p:sp>
      <p:sp>
        <p:nvSpPr>
          <p:cNvPr id="24" name="Shape 22"/>
          <p:cNvSpPr/>
          <p:nvPr/>
        </p:nvSpPr>
        <p:spPr>
          <a:xfrm>
            <a:off x="5074920" y="1481328"/>
            <a:ext cx="1874520" cy="36576"/>
          </a:xfrm>
          <a:prstGeom prst="rect">
            <a:avLst/>
          </a:prstGeom>
          <a:solidFill>
            <a:srgbClr val="7C3AED"/>
          </a:solidFill>
          <a:ln/>
        </p:spPr>
        <p:txBody>
          <a:bodyPr/>
          <a:lstStyle/>
          <a:p>
            <a:endParaRPr lang="fr-TN"/>
          </a:p>
        </p:txBody>
      </p:sp>
      <p:sp>
        <p:nvSpPr>
          <p:cNvPr id="25" name="Text 23"/>
          <p:cNvSpPr/>
          <p:nvPr/>
        </p:nvSpPr>
        <p:spPr>
          <a:xfrm>
            <a:off x="5120640" y="1691640"/>
            <a:ext cx="731520" cy="548640"/>
          </a:xfrm>
          <a:prstGeom prst="rect">
            <a:avLst/>
          </a:prstGeom>
          <a:noFill/>
          <a:ln/>
        </p:spPr>
        <p:txBody>
          <a:bodyPr wrap="square" rtlCol="0" anchor="ctr"/>
          <a:lstStyle/>
          <a:p>
            <a:pPr marL="0" indent="0">
              <a:buNone/>
            </a:pPr>
            <a:r>
              <a:rPr lang="en-US" sz="2600" b="1" dirty="0">
                <a:solidFill>
                  <a:srgbClr val="7C3AED"/>
                </a:solidFill>
                <a:latin typeface="Segoe UI" pitchFamily="34" charset="0"/>
                <a:ea typeface="Segoe UI" pitchFamily="34" charset="-122"/>
                <a:cs typeface="Segoe UI" pitchFamily="34" charset="-120"/>
              </a:rPr>
              <a:t>03</a:t>
            </a:r>
            <a:endParaRPr lang="en-US" sz="2600" dirty="0"/>
          </a:p>
        </p:txBody>
      </p:sp>
      <p:sp>
        <p:nvSpPr>
          <p:cNvPr id="26" name="Text 24"/>
          <p:cNvSpPr/>
          <p:nvPr/>
        </p:nvSpPr>
        <p:spPr>
          <a:xfrm>
            <a:off x="5120640" y="2240280"/>
            <a:ext cx="1783080" cy="365760"/>
          </a:xfrm>
          <a:prstGeom prst="rect">
            <a:avLst/>
          </a:prstGeom>
          <a:noFill/>
          <a:ln/>
        </p:spPr>
        <p:txBody>
          <a:bodyPr wrap="square" rtlCol="0" anchor="ctr"/>
          <a:lstStyle/>
          <a:p>
            <a:pPr marL="0" indent="0">
              <a:buNone/>
            </a:pPr>
            <a:r>
              <a:rPr lang="en-US" sz="1400" b="1" dirty="0">
                <a:solidFill>
                  <a:srgbClr val="0F172A"/>
                </a:solidFill>
                <a:latin typeface="Segoe UI" pitchFamily="34" charset="0"/>
                <a:ea typeface="Segoe UI" pitchFamily="34" charset="-122"/>
                <a:cs typeface="Segoe UI" pitchFamily="34" charset="-120"/>
              </a:rPr>
              <a:t>Conceptual Study</a:t>
            </a:r>
            <a:endParaRPr lang="en-US" sz="1400" dirty="0"/>
          </a:p>
        </p:txBody>
      </p:sp>
      <p:sp>
        <p:nvSpPr>
          <p:cNvPr id="27" name="Shape 25"/>
          <p:cNvSpPr/>
          <p:nvPr/>
        </p:nvSpPr>
        <p:spPr>
          <a:xfrm>
            <a:off x="5120640" y="2697480"/>
            <a:ext cx="1783080" cy="10973"/>
          </a:xfrm>
          <a:prstGeom prst="rect">
            <a:avLst/>
          </a:prstGeom>
          <a:solidFill>
            <a:srgbClr val="7C3AED">
              <a:alpha val="30000"/>
            </a:srgbClr>
          </a:solidFill>
          <a:ln/>
        </p:spPr>
        <p:txBody>
          <a:bodyPr/>
          <a:lstStyle/>
          <a:p>
            <a:endParaRPr lang="fr-TN"/>
          </a:p>
        </p:txBody>
      </p:sp>
      <p:sp>
        <p:nvSpPr>
          <p:cNvPr id="28" name="Text 26"/>
          <p:cNvSpPr/>
          <p:nvPr/>
        </p:nvSpPr>
        <p:spPr>
          <a:xfrm>
            <a:off x="5120640" y="2880360"/>
            <a:ext cx="1783080" cy="3108960"/>
          </a:xfrm>
          <a:prstGeom prst="rect">
            <a:avLst/>
          </a:prstGeom>
          <a:noFill/>
          <a:ln/>
        </p:spPr>
        <p:txBody>
          <a:bodyPr wrap="square" rtlCol="0" anchor="t"/>
          <a:lstStyle/>
          <a:p>
            <a:pPr marL="0" indent="0">
              <a:lnSpc>
                <a:spcPct val="120000"/>
              </a:lnSpc>
              <a:buNone/>
            </a:pPr>
            <a:r>
              <a:rPr lang="en-US" sz="950" dirty="0">
                <a:solidFill>
                  <a:srgbClr val="475569"/>
                </a:solidFill>
                <a:latin typeface="Segoe UI" pitchFamily="34" charset="0"/>
                <a:ea typeface="Segoe UI" pitchFamily="34" charset="-122"/>
                <a:cs typeface="Segoe UI" pitchFamily="34" charset="-120"/>
              </a:rPr>
              <a:t>▸  System actors &amp; boundaries</a:t>
            </a:r>
            <a:endParaRPr lang="en-US" sz="950" dirty="0"/>
          </a:p>
          <a:p>
            <a:pPr marL="0" indent="0">
              <a:lnSpc>
                <a:spcPct val="120000"/>
              </a:lnSpc>
              <a:buNone/>
            </a:pPr>
            <a:endParaRPr lang="en-US" sz="950" dirty="0"/>
          </a:p>
          <a:p>
            <a:pPr marL="0" indent="0">
              <a:lnSpc>
                <a:spcPct val="120000"/>
              </a:lnSpc>
              <a:buNone/>
            </a:pPr>
            <a:r>
              <a:rPr lang="en-US" sz="950" dirty="0">
                <a:solidFill>
                  <a:srgbClr val="475569"/>
                </a:solidFill>
                <a:latin typeface="Segoe UI" pitchFamily="34" charset="0"/>
                <a:ea typeface="Segoe UI" pitchFamily="34" charset="-122"/>
                <a:cs typeface="Segoe UI" pitchFamily="34" charset="-120"/>
              </a:rPr>
              <a:t>▸  Functional requirements</a:t>
            </a:r>
            <a:endParaRPr lang="en-US" sz="950" dirty="0"/>
          </a:p>
          <a:p>
            <a:pPr marL="0" indent="0">
              <a:lnSpc>
                <a:spcPct val="120000"/>
              </a:lnSpc>
              <a:buNone/>
            </a:pPr>
            <a:endParaRPr lang="en-US" sz="950" dirty="0"/>
          </a:p>
          <a:p>
            <a:pPr marL="0" indent="0">
              <a:lnSpc>
                <a:spcPct val="120000"/>
              </a:lnSpc>
              <a:buNone/>
            </a:pPr>
            <a:r>
              <a:rPr lang="en-US" sz="950" dirty="0">
                <a:solidFill>
                  <a:srgbClr val="475569"/>
                </a:solidFill>
                <a:latin typeface="Segoe UI" pitchFamily="34" charset="0"/>
                <a:ea typeface="Segoe UI" pitchFamily="34" charset="-122"/>
                <a:cs typeface="Segoe UI" pitchFamily="34" charset="-120"/>
              </a:rPr>
              <a:t>▸  Use Case &amp; Class models</a:t>
            </a:r>
            <a:endParaRPr lang="en-US" sz="950" dirty="0"/>
          </a:p>
          <a:p>
            <a:pPr marL="0" indent="0">
              <a:lnSpc>
                <a:spcPct val="120000"/>
              </a:lnSpc>
              <a:buNone/>
            </a:pPr>
            <a:endParaRPr lang="en-US" sz="950" dirty="0"/>
          </a:p>
          <a:p>
            <a:pPr marL="0" indent="0">
              <a:lnSpc>
                <a:spcPct val="120000"/>
              </a:lnSpc>
              <a:buNone/>
            </a:pPr>
            <a:r>
              <a:rPr lang="en-US" sz="950" dirty="0">
                <a:solidFill>
                  <a:srgbClr val="475569"/>
                </a:solidFill>
                <a:latin typeface="Segoe UI" pitchFamily="34" charset="0"/>
                <a:ea typeface="Segoe UI" pitchFamily="34" charset="-122"/>
                <a:cs typeface="Segoe UI" pitchFamily="34" charset="-120"/>
              </a:rPr>
              <a:t>▸  Technology stack</a:t>
            </a:r>
            <a:endParaRPr lang="en-US" sz="950" dirty="0"/>
          </a:p>
          <a:p>
            <a:pPr marL="0" indent="0">
              <a:lnSpc>
                <a:spcPct val="120000"/>
              </a:lnSpc>
              <a:buNone/>
            </a:pPr>
            <a:endParaRPr lang="en-US" sz="950" dirty="0"/>
          </a:p>
          <a:p>
            <a:pPr marL="0" indent="0">
              <a:lnSpc>
                <a:spcPct val="120000"/>
              </a:lnSpc>
              <a:buNone/>
            </a:pPr>
            <a:r>
              <a:rPr lang="en-US" sz="950" dirty="0">
                <a:solidFill>
                  <a:srgbClr val="475569"/>
                </a:solidFill>
                <a:latin typeface="Segoe UI" pitchFamily="34" charset="0"/>
                <a:ea typeface="Segoe UI" pitchFamily="34" charset="-122"/>
                <a:cs typeface="Segoe UI" pitchFamily="34" charset="-120"/>
              </a:rPr>
              <a:t>▸  System architecture</a:t>
            </a:r>
            <a:endParaRPr lang="en-US" sz="950" dirty="0"/>
          </a:p>
        </p:txBody>
      </p:sp>
      <p:sp>
        <p:nvSpPr>
          <p:cNvPr id="29" name="Shape 27"/>
          <p:cNvSpPr/>
          <p:nvPr/>
        </p:nvSpPr>
        <p:spPr>
          <a:xfrm>
            <a:off x="7223760" y="1463040"/>
            <a:ext cx="2057400" cy="4754880"/>
          </a:xfrm>
          <a:prstGeom prst="roundRect">
            <a:avLst>
              <a:gd name="adj" fmla="val 5333"/>
            </a:avLst>
          </a:prstGeom>
          <a:solidFill>
            <a:srgbClr val="FFFFFF"/>
          </a:solidFill>
          <a:ln w="7620">
            <a:solidFill>
              <a:srgbClr val="E2E8F0"/>
            </a:solidFill>
            <a:prstDash val="solid"/>
          </a:ln>
          <a:effectLst>
            <a:outerShdw blurRad="127000" dist="38100" dir="12000000" algn="bl" rotWithShape="0">
              <a:srgbClr val="94A3B8">
                <a:alpha val="20000"/>
              </a:srgbClr>
            </a:outerShdw>
          </a:effectLst>
        </p:spPr>
        <p:txBody>
          <a:bodyPr/>
          <a:lstStyle/>
          <a:p>
            <a:endParaRPr lang="fr-TN"/>
          </a:p>
        </p:txBody>
      </p:sp>
      <p:sp>
        <p:nvSpPr>
          <p:cNvPr id="30" name="Shape 28"/>
          <p:cNvSpPr/>
          <p:nvPr/>
        </p:nvSpPr>
        <p:spPr>
          <a:xfrm>
            <a:off x="7315200" y="1481328"/>
            <a:ext cx="1874520" cy="36576"/>
          </a:xfrm>
          <a:prstGeom prst="rect">
            <a:avLst/>
          </a:prstGeom>
          <a:solidFill>
            <a:srgbClr val="E11D48"/>
          </a:solidFill>
          <a:ln/>
        </p:spPr>
        <p:txBody>
          <a:bodyPr/>
          <a:lstStyle/>
          <a:p>
            <a:endParaRPr lang="fr-TN"/>
          </a:p>
        </p:txBody>
      </p:sp>
      <p:sp>
        <p:nvSpPr>
          <p:cNvPr id="31" name="Text 29"/>
          <p:cNvSpPr/>
          <p:nvPr/>
        </p:nvSpPr>
        <p:spPr>
          <a:xfrm>
            <a:off x="7360920" y="1691640"/>
            <a:ext cx="731520" cy="548640"/>
          </a:xfrm>
          <a:prstGeom prst="rect">
            <a:avLst/>
          </a:prstGeom>
          <a:noFill/>
          <a:ln/>
        </p:spPr>
        <p:txBody>
          <a:bodyPr wrap="square" rtlCol="0" anchor="ctr"/>
          <a:lstStyle/>
          <a:p>
            <a:pPr marL="0" indent="0">
              <a:buNone/>
            </a:pPr>
            <a:r>
              <a:rPr lang="en-US" sz="2600" b="1" dirty="0">
                <a:solidFill>
                  <a:srgbClr val="E11D48"/>
                </a:solidFill>
                <a:latin typeface="Segoe UI" pitchFamily="34" charset="0"/>
                <a:ea typeface="Segoe UI" pitchFamily="34" charset="-122"/>
                <a:cs typeface="Segoe UI" pitchFamily="34" charset="-120"/>
              </a:rPr>
              <a:t>04</a:t>
            </a:r>
            <a:endParaRPr lang="en-US" sz="2600" dirty="0"/>
          </a:p>
        </p:txBody>
      </p:sp>
      <p:sp>
        <p:nvSpPr>
          <p:cNvPr id="32" name="Text 30"/>
          <p:cNvSpPr/>
          <p:nvPr/>
        </p:nvSpPr>
        <p:spPr>
          <a:xfrm>
            <a:off x="7360920" y="2240280"/>
            <a:ext cx="1783080" cy="365760"/>
          </a:xfrm>
          <a:prstGeom prst="rect">
            <a:avLst/>
          </a:prstGeom>
          <a:noFill/>
          <a:ln/>
        </p:spPr>
        <p:txBody>
          <a:bodyPr wrap="square" rtlCol="0" anchor="ctr"/>
          <a:lstStyle/>
          <a:p>
            <a:pPr marL="0" indent="0">
              <a:buNone/>
            </a:pPr>
            <a:r>
              <a:rPr lang="en-US" sz="1400" b="1" dirty="0">
                <a:solidFill>
                  <a:srgbClr val="0F172A"/>
                </a:solidFill>
                <a:latin typeface="Segoe UI" pitchFamily="34" charset="0"/>
                <a:ea typeface="Segoe UI" pitchFamily="34" charset="-122"/>
                <a:cs typeface="Segoe UI" pitchFamily="34" charset="-120"/>
              </a:rPr>
              <a:t>Realization</a:t>
            </a:r>
            <a:endParaRPr lang="en-US" sz="1400" dirty="0"/>
          </a:p>
        </p:txBody>
      </p:sp>
      <p:sp>
        <p:nvSpPr>
          <p:cNvPr id="33" name="Shape 31"/>
          <p:cNvSpPr/>
          <p:nvPr/>
        </p:nvSpPr>
        <p:spPr>
          <a:xfrm>
            <a:off x="7360920" y="2697480"/>
            <a:ext cx="1783080" cy="10973"/>
          </a:xfrm>
          <a:prstGeom prst="rect">
            <a:avLst/>
          </a:prstGeom>
          <a:solidFill>
            <a:srgbClr val="E11D48">
              <a:alpha val="30000"/>
            </a:srgbClr>
          </a:solidFill>
          <a:ln/>
        </p:spPr>
        <p:txBody>
          <a:bodyPr/>
          <a:lstStyle/>
          <a:p>
            <a:endParaRPr lang="fr-TN"/>
          </a:p>
        </p:txBody>
      </p:sp>
      <p:sp>
        <p:nvSpPr>
          <p:cNvPr id="34" name="Text 32"/>
          <p:cNvSpPr/>
          <p:nvPr/>
        </p:nvSpPr>
        <p:spPr>
          <a:xfrm>
            <a:off x="7360920" y="2880360"/>
            <a:ext cx="1783080" cy="3108960"/>
          </a:xfrm>
          <a:prstGeom prst="rect">
            <a:avLst/>
          </a:prstGeom>
          <a:noFill/>
          <a:ln/>
        </p:spPr>
        <p:txBody>
          <a:bodyPr wrap="square" rtlCol="0" anchor="t"/>
          <a:lstStyle/>
          <a:p>
            <a:pPr marL="0" indent="0">
              <a:lnSpc>
                <a:spcPct val="120000"/>
              </a:lnSpc>
              <a:buNone/>
            </a:pPr>
            <a:r>
              <a:rPr lang="en-US" sz="950" dirty="0">
                <a:solidFill>
                  <a:srgbClr val="475569"/>
                </a:solidFill>
                <a:latin typeface="Segoe UI" pitchFamily="34" charset="0"/>
                <a:ea typeface="Segoe UI" pitchFamily="34" charset="-122"/>
                <a:cs typeface="Segoe UI" pitchFamily="34" charset="-120"/>
              </a:rPr>
              <a:t>▸  9 threat feed scrapers</a:t>
            </a:r>
            <a:endParaRPr lang="en-US" sz="950" dirty="0"/>
          </a:p>
          <a:p>
            <a:pPr marL="0" indent="0">
              <a:lnSpc>
                <a:spcPct val="120000"/>
              </a:lnSpc>
              <a:buNone/>
            </a:pPr>
            <a:endParaRPr lang="en-US" sz="950" dirty="0"/>
          </a:p>
          <a:p>
            <a:pPr marL="0" indent="0">
              <a:lnSpc>
                <a:spcPct val="120000"/>
              </a:lnSpc>
              <a:buNone/>
            </a:pPr>
            <a:r>
              <a:rPr lang="en-US" sz="950" dirty="0">
                <a:solidFill>
                  <a:srgbClr val="475569"/>
                </a:solidFill>
                <a:latin typeface="Segoe UI" pitchFamily="34" charset="0"/>
                <a:ea typeface="Segoe UI" pitchFamily="34" charset="-122"/>
                <a:cs typeface="Segoe UI" pitchFamily="34" charset="-120"/>
              </a:rPr>
              <a:t>▸  5-layer enrichment engine</a:t>
            </a:r>
            <a:endParaRPr lang="en-US" sz="950" dirty="0"/>
          </a:p>
          <a:p>
            <a:pPr marL="0" indent="0">
              <a:lnSpc>
                <a:spcPct val="120000"/>
              </a:lnSpc>
              <a:buNone/>
            </a:pPr>
            <a:endParaRPr lang="en-US" sz="950" dirty="0"/>
          </a:p>
          <a:p>
            <a:pPr marL="0" indent="0">
              <a:lnSpc>
                <a:spcPct val="120000"/>
              </a:lnSpc>
              <a:buNone/>
            </a:pPr>
            <a:r>
              <a:rPr lang="en-US" sz="950" dirty="0">
                <a:solidFill>
                  <a:srgbClr val="475569"/>
                </a:solidFill>
                <a:latin typeface="Segoe UI" pitchFamily="34" charset="0"/>
                <a:ea typeface="Segoe UI" pitchFamily="34" charset="-122"/>
                <a:cs typeface="Segoe UI" pitchFamily="34" charset="-120"/>
              </a:rPr>
              <a:t>▸  SSE streaming pipeline</a:t>
            </a:r>
            <a:endParaRPr lang="en-US" sz="950" dirty="0"/>
          </a:p>
          <a:p>
            <a:pPr marL="0" indent="0">
              <a:lnSpc>
                <a:spcPct val="120000"/>
              </a:lnSpc>
              <a:buNone/>
            </a:pPr>
            <a:endParaRPr lang="en-US" sz="950" dirty="0"/>
          </a:p>
          <a:p>
            <a:pPr marL="0" indent="0">
              <a:lnSpc>
                <a:spcPct val="120000"/>
              </a:lnSpc>
              <a:buNone/>
            </a:pPr>
            <a:r>
              <a:rPr lang="en-US" sz="950" dirty="0">
                <a:solidFill>
                  <a:srgbClr val="475569"/>
                </a:solidFill>
                <a:latin typeface="Segoe UI" pitchFamily="34" charset="0"/>
                <a:ea typeface="Segoe UI" pitchFamily="34" charset="-122"/>
                <a:cs typeface="Segoe UI" pitchFamily="34" charset="-120"/>
              </a:rPr>
              <a:t>▸  STIX &amp; MITRE mapping</a:t>
            </a:r>
            <a:endParaRPr lang="en-US" sz="950" dirty="0"/>
          </a:p>
          <a:p>
            <a:pPr marL="0" indent="0">
              <a:lnSpc>
                <a:spcPct val="120000"/>
              </a:lnSpc>
              <a:buNone/>
            </a:pPr>
            <a:endParaRPr lang="en-US" sz="950" dirty="0"/>
          </a:p>
          <a:p>
            <a:pPr marL="0" indent="0">
              <a:lnSpc>
                <a:spcPct val="120000"/>
              </a:lnSpc>
              <a:buNone/>
            </a:pPr>
            <a:r>
              <a:rPr lang="en-US" sz="950" dirty="0">
                <a:solidFill>
                  <a:srgbClr val="475569"/>
                </a:solidFill>
                <a:latin typeface="Segoe UI" pitchFamily="34" charset="0"/>
                <a:ea typeface="Segoe UI" pitchFamily="34" charset="-122"/>
                <a:cs typeface="Segoe UI" pitchFamily="34" charset="-120"/>
              </a:rPr>
              <a:t>▸  Performance guardrails</a:t>
            </a:r>
            <a:endParaRPr lang="en-US" sz="950" dirty="0"/>
          </a:p>
        </p:txBody>
      </p:sp>
      <p:sp>
        <p:nvSpPr>
          <p:cNvPr id="35" name="Shape 33"/>
          <p:cNvSpPr/>
          <p:nvPr/>
        </p:nvSpPr>
        <p:spPr>
          <a:xfrm>
            <a:off x="9464040" y="1463040"/>
            <a:ext cx="2057400" cy="4754880"/>
          </a:xfrm>
          <a:prstGeom prst="roundRect">
            <a:avLst>
              <a:gd name="adj" fmla="val 5333"/>
            </a:avLst>
          </a:prstGeom>
          <a:solidFill>
            <a:srgbClr val="FFFFFF"/>
          </a:solidFill>
          <a:ln w="7620">
            <a:solidFill>
              <a:srgbClr val="E2E8F0"/>
            </a:solidFill>
            <a:prstDash val="solid"/>
          </a:ln>
          <a:effectLst>
            <a:outerShdw blurRad="127000" dist="38100" dir="12000000" algn="bl" rotWithShape="0">
              <a:srgbClr val="94A3B8">
                <a:alpha val="20000"/>
              </a:srgbClr>
            </a:outerShdw>
          </a:effectLst>
        </p:spPr>
        <p:txBody>
          <a:bodyPr/>
          <a:lstStyle/>
          <a:p>
            <a:endParaRPr lang="fr-TN"/>
          </a:p>
        </p:txBody>
      </p:sp>
      <p:sp>
        <p:nvSpPr>
          <p:cNvPr id="36" name="Shape 34"/>
          <p:cNvSpPr/>
          <p:nvPr/>
        </p:nvSpPr>
        <p:spPr>
          <a:xfrm>
            <a:off x="9555480" y="1481328"/>
            <a:ext cx="1874520" cy="36576"/>
          </a:xfrm>
          <a:prstGeom prst="rect">
            <a:avLst/>
          </a:prstGeom>
          <a:solidFill>
            <a:srgbClr val="059669"/>
          </a:solidFill>
          <a:ln/>
        </p:spPr>
        <p:txBody>
          <a:bodyPr/>
          <a:lstStyle/>
          <a:p>
            <a:endParaRPr lang="fr-TN"/>
          </a:p>
        </p:txBody>
      </p:sp>
      <p:sp>
        <p:nvSpPr>
          <p:cNvPr id="37" name="Text 35"/>
          <p:cNvSpPr/>
          <p:nvPr/>
        </p:nvSpPr>
        <p:spPr>
          <a:xfrm>
            <a:off x="9601200" y="1691640"/>
            <a:ext cx="731520" cy="548640"/>
          </a:xfrm>
          <a:prstGeom prst="rect">
            <a:avLst/>
          </a:prstGeom>
          <a:noFill/>
          <a:ln/>
        </p:spPr>
        <p:txBody>
          <a:bodyPr wrap="square" rtlCol="0" anchor="ctr"/>
          <a:lstStyle/>
          <a:p>
            <a:pPr marL="0" indent="0">
              <a:buNone/>
            </a:pPr>
            <a:r>
              <a:rPr lang="en-US" sz="2600" b="1" dirty="0">
                <a:solidFill>
                  <a:srgbClr val="059669"/>
                </a:solidFill>
                <a:latin typeface="Segoe UI" pitchFamily="34" charset="0"/>
                <a:ea typeface="Segoe UI" pitchFamily="34" charset="-122"/>
                <a:cs typeface="Segoe UI" pitchFamily="34" charset="-120"/>
              </a:rPr>
              <a:t>05</a:t>
            </a:r>
            <a:endParaRPr lang="en-US" sz="2600" dirty="0"/>
          </a:p>
        </p:txBody>
      </p:sp>
      <p:sp>
        <p:nvSpPr>
          <p:cNvPr id="38" name="Text 36"/>
          <p:cNvSpPr/>
          <p:nvPr/>
        </p:nvSpPr>
        <p:spPr>
          <a:xfrm>
            <a:off x="9601200" y="2240280"/>
            <a:ext cx="1783080" cy="365760"/>
          </a:xfrm>
          <a:prstGeom prst="rect">
            <a:avLst/>
          </a:prstGeom>
          <a:noFill/>
          <a:ln/>
        </p:spPr>
        <p:txBody>
          <a:bodyPr wrap="square" rtlCol="0" anchor="ctr"/>
          <a:lstStyle/>
          <a:p>
            <a:pPr marL="0" indent="0">
              <a:buNone/>
            </a:pPr>
            <a:r>
              <a:rPr lang="en-US" sz="1400" b="1" dirty="0">
                <a:solidFill>
                  <a:srgbClr val="0F172A"/>
                </a:solidFill>
                <a:latin typeface="Segoe UI" pitchFamily="34" charset="0"/>
                <a:ea typeface="Segoe UI" pitchFamily="34" charset="-122"/>
                <a:cs typeface="Segoe UI" pitchFamily="34" charset="-120"/>
              </a:rPr>
              <a:t>Conclusion</a:t>
            </a:r>
            <a:endParaRPr lang="en-US" sz="1400" dirty="0"/>
          </a:p>
        </p:txBody>
      </p:sp>
      <p:sp>
        <p:nvSpPr>
          <p:cNvPr id="39" name="Shape 37"/>
          <p:cNvSpPr/>
          <p:nvPr/>
        </p:nvSpPr>
        <p:spPr>
          <a:xfrm>
            <a:off x="9601200" y="2697480"/>
            <a:ext cx="1783080" cy="10973"/>
          </a:xfrm>
          <a:prstGeom prst="rect">
            <a:avLst/>
          </a:prstGeom>
          <a:solidFill>
            <a:srgbClr val="059669">
              <a:alpha val="30000"/>
            </a:srgbClr>
          </a:solidFill>
          <a:ln/>
        </p:spPr>
        <p:txBody>
          <a:bodyPr/>
          <a:lstStyle/>
          <a:p>
            <a:endParaRPr lang="fr-TN"/>
          </a:p>
        </p:txBody>
      </p:sp>
      <p:sp>
        <p:nvSpPr>
          <p:cNvPr id="40" name="Text 38"/>
          <p:cNvSpPr/>
          <p:nvPr/>
        </p:nvSpPr>
        <p:spPr>
          <a:xfrm>
            <a:off x="9601200" y="2880360"/>
            <a:ext cx="1783080" cy="3108960"/>
          </a:xfrm>
          <a:prstGeom prst="rect">
            <a:avLst/>
          </a:prstGeom>
          <a:noFill/>
          <a:ln/>
        </p:spPr>
        <p:txBody>
          <a:bodyPr wrap="square" rtlCol="0" anchor="t"/>
          <a:lstStyle/>
          <a:p>
            <a:pPr marL="0" indent="0">
              <a:lnSpc>
                <a:spcPct val="120000"/>
              </a:lnSpc>
              <a:buNone/>
            </a:pPr>
            <a:r>
              <a:rPr lang="en-US" sz="950" dirty="0">
                <a:solidFill>
                  <a:srgbClr val="475569"/>
                </a:solidFill>
                <a:latin typeface="Segoe UI" pitchFamily="34" charset="0"/>
                <a:ea typeface="Segoe UI" pitchFamily="34" charset="-122"/>
                <a:cs typeface="Segoe UI" pitchFamily="34" charset="-120"/>
              </a:rPr>
              <a:t>▸  Achievement summary</a:t>
            </a:r>
            <a:endParaRPr lang="en-US" sz="950" dirty="0"/>
          </a:p>
          <a:p>
            <a:pPr marL="0" indent="0">
              <a:lnSpc>
                <a:spcPct val="120000"/>
              </a:lnSpc>
              <a:buNone/>
            </a:pPr>
            <a:endParaRPr lang="en-US" sz="950" dirty="0"/>
          </a:p>
          <a:p>
            <a:pPr marL="0" indent="0">
              <a:lnSpc>
                <a:spcPct val="120000"/>
              </a:lnSpc>
              <a:buNone/>
            </a:pPr>
            <a:r>
              <a:rPr lang="en-US" sz="950" dirty="0">
                <a:solidFill>
                  <a:srgbClr val="475569"/>
                </a:solidFill>
                <a:latin typeface="Segoe UI" pitchFamily="34" charset="0"/>
                <a:ea typeface="Segoe UI" pitchFamily="34" charset="-122"/>
                <a:cs typeface="Segoe UI" pitchFamily="34" charset="-120"/>
              </a:rPr>
              <a:t>▸  Sprint retrospective</a:t>
            </a:r>
            <a:endParaRPr lang="en-US" sz="950" dirty="0"/>
          </a:p>
          <a:p>
            <a:pPr marL="0" indent="0">
              <a:lnSpc>
                <a:spcPct val="120000"/>
              </a:lnSpc>
              <a:buNone/>
            </a:pPr>
            <a:endParaRPr lang="en-US" sz="950" dirty="0"/>
          </a:p>
          <a:p>
            <a:pPr marL="0" indent="0">
              <a:lnSpc>
                <a:spcPct val="120000"/>
              </a:lnSpc>
              <a:buNone/>
            </a:pPr>
            <a:r>
              <a:rPr lang="en-US" sz="950" dirty="0">
                <a:solidFill>
                  <a:srgbClr val="475569"/>
                </a:solidFill>
                <a:latin typeface="Segoe UI" pitchFamily="34" charset="0"/>
                <a:ea typeface="Segoe UI" pitchFamily="34" charset="-122"/>
                <a:cs typeface="Segoe UI" pitchFamily="34" charset="-120"/>
              </a:rPr>
              <a:t>▸  Kafka &amp; ML roadmap</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88952" cy="45720"/>
          </a:xfrm>
          <a:prstGeom prst="rect">
            <a:avLst/>
          </a:prstGeom>
          <a:solidFill>
            <a:srgbClr val="2563EB"/>
          </a:solidFill>
          <a:ln/>
        </p:spPr>
        <p:txBody>
          <a:bodyPr/>
          <a:lstStyle/>
          <a:p>
            <a:endParaRPr lang="fr-TN"/>
          </a:p>
        </p:txBody>
      </p:sp>
      <p:sp>
        <p:nvSpPr>
          <p:cNvPr id="3" name="Shape 1"/>
          <p:cNvSpPr/>
          <p:nvPr/>
        </p:nvSpPr>
        <p:spPr>
          <a:xfrm>
            <a:off x="10972800" y="274320"/>
            <a:ext cx="914400" cy="1829"/>
          </a:xfrm>
          <a:prstGeom prst="rect">
            <a:avLst/>
          </a:prstGeom>
          <a:solidFill>
            <a:srgbClr val="E2E8F0"/>
          </a:solidFill>
          <a:ln/>
        </p:spPr>
        <p:txBody>
          <a:bodyPr/>
          <a:lstStyle/>
          <a:p>
            <a:endParaRPr lang="fr-TN"/>
          </a:p>
        </p:txBody>
      </p:sp>
      <p:sp>
        <p:nvSpPr>
          <p:cNvPr id="4" name="Shape 2"/>
          <p:cNvSpPr/>
          <p:nvPr/>
        </p:nvSpPr>
        <p:spPr>
          <a:xfrm>
            <a:off x="11868912" y="274320"/>
            <a:ext cx="1829" cy="640080"/>
          </a:xfrm>
          <a:prstGeom prst="rect">
            <a:avLst/>
          </a:prstGeom>
          <a:solidFill>
            <a:srgbClr val="E2E8F0"/>
          </a:solidFill>
          <a:ln/>
        </p:spPr>
        <p:txBody>
          <a:bodyPr/>
          <a:lstStyle/>
          <a:p>
            <a:endParaRPr lang="fr-TN"/>
          </a:p>
        </p:txBody>
      </p:sp>
      <p:sp>
        <p:nvSpPr>
          <p:cNvPr id="5" name="Shape 3"/>
          <p:cNvSpPr/>
          <p:nvPr/>
        </p:nvSpPr>
        <p:spPr>
          <a:xfrm>
            <a:off x="320040" y="6537960"/>
            <a:ext cx="1829" cy="274320"/>
          </a:xfrm>
          <a:prstGeom prst="rect">
            <a:avLst/>
          </a:prstGeom>
          <a:solidFill>
            <a:srgbClr val="E2E8F0"/>
          </a:solidFill>
          <a:ln/>
        </p:spPr>
        <p:txBody>
          <a:bodyPr/>
          <a:lstStyle/>
          <a:p>
            <a:endParaRPr lang="fr-TN"/>
          </a:p>
        </p:txBody>
      </p:sp>
      <p:sp>
        <p:nvSpPr>
          <p:cNvPr id="6" name="Shape 4"/>
          <p:cNvSpPr/>
          <p:nvPr/>
        </p:nvSpPr>
        <p:spPr>
          <a:xfrm>
            <a:off x="320040" y="6537960"/>
            <a:ext cx="640080" cy="1829"/>
          </a:xfrm>
          <a:prstGeom prst="rect">
            <a:avLst/>
          </a:prstGeom>
          <a:solidFill>
            <a:srgbClr val="E2E8F0"/>
          </a:solidFill>
          <a:ln/>
        </p:spPr>
        <p:txBody>
          <a:bodyPr/>
          <a:lstStyle/>
          <a:p>
            <a:endParaRPr lang="fr-TN"/>
          </a:p>
        </p:txBody>
      </p:sp>
      <p:sp>
        <p:nvSpPr>
          <p:cNvPr id="7" name="Text 5"/>
          <p:cNvSpPr/>
          <p:nvPr/>
        </p:nvSpPr>
        <p:spPr>
          <a:xfrm>
            <a:off x="731520" y="274320"/>
            <a:ext cx="10515600" cy="256032"/>
          </a:xfrm>
          <a:prstGeom prst="rect">
            <a:avLst/>
          </a:prstGeom>
          <a:noFill/>
          <a:ln/>
        </p:spPr>
        <p:txBody>
          <a:bodyPr wrap="square" rtlCol="0" anchor="ctr"/>
          <a:lstStyle/>
          <a:p>
            <a:pPr marL="0" indent="0">
              <a:buNone/>
            </a:pPr>
            <a:r>
              <a:rPr lang="en-US" sz="900" b="1" dirty="0">
                <a:solidFill>
                  <a:srgbClr val="2563EB"/>
                </a:solidFill>
                <a:latin typeface="Segoe UI" pitchFamily="34" charset="0"/>
                <a:ea typeface="Segoe UI" pitchFamily="34" charset="-122"/>
                <a:cs typeface="Segoe UI" pitchFamily="34" charset="-120"/>
              </a:rPr>
              <a:t>CHAPTER 1 — INTRODUCTION</a:t>
            </a:r>
            <a:endParaRPr lang="en-US" sz="900" dirty="0"/>
          </a:p>
        </p:txBody>
      </p:sp>
      <p:sp>
        <p:nvSpPr>
          <p:cNvPr id="8" name="Text 6"/>
          <p:cNvSpPr/>
          <p:nvPr/>
        </p:nvSpPr>
        <p:spPr>
          <a:xfrm>
            <a:off x="731520" y="548640"/>
            <a:ext cx="10515600" cy="502920"/>
          </a:xfrm>
          <a:prstGeom prst="rect">
            <a:avLst/>
          </a:prstGeom>
          <a:noFill/>
          <a:ln/>
        </p:spPr>
        <p:txBody>
          <a:bodyPr wrap="square" rtlCol="0" anchor="ctr"/>
          <a:lstStyle/>
          <a:p>
            <a:pPr marL="0" indent="0">
              <a:buNone/>
            </a:pPr>
            <a:r>
              <a:rPr lang="en-US" sz="3000" b="1" dirty="0">
                <a:solidFill>
                  <a:srgbClr val="0F172A"/>
                </a:solidFill>
                <a:latin typeface="Segoe UI" pitchFamily="34" charset="0"/>
                <a:ea typeface="Segoe UI" pitchFamily="34" charset="-122"/>
                <a:cs typeface="Segoe UI" pitchFamily="34" charset="-120"/>
              </a:rPr>
              <a:t>General Introduction</a:t>
            </a:r>
            <a:endParaRPr lang="en-US" sz="3000" dirty="0"/>
          </a:p>
        </p:txBody>
      </p:sp>
      <p:sp>
        <p:nvSpPr>
          <p:cNvPr id="9" name="Shape 7"/>
          <p:cNvSpPr/>
          <p:nvPr/>
        </p:nvSpPr>
        <p:spPr>
          <a:xfrm>
            <a:off x="731520" y="1115568"/>
            <a:ext cx="1828800" cy="32004"/>
          </a:xfrm>
          <a:prstGeom prst="rect">
            <a:avLst/>
          </a:prstGeom>
          <a:solidFill>
            <a:srgbClr val="2563EB"/>
          </a:solidFill>
          <a:ln/>
        </p:spPr>
        <p:txBody>
          <a:bodyPr/>
          <a:lstStyle/>
          <a:p>
            <a:endParaRPr lang="fr-TN"/>
          </a:p>
        </p:txBody>
      </p:sp>
      <p:sp>
        <p:nvSpPr>
          <p:cNvPr id="10" name="Shape 8"/>
          <p:cNvSpPr/>
          <p:nvPr/>
        </p:nvSpPr>
        <p:spPr>
          <a:xfrm>
            <a:off x="2651760" y="1124712"/>
            <a:ext cx="8778240" cy="10973"/>
          </a:xfrm>
          <a:prstGeom prst="rect">
            <a:avLst/>
          </a:prstGeom>
          <a:solidFill>
            <a:srgbClr val="E2E8F0"/>
          </a:solidFill>
          <a:ln/>
        </p:spPr>
        <p:txBody>
          <a:bodyPr/>
          <a:lstStyle/>
          <a:p>
            <a:endParaRPr lang="fr-TN"/>
          </a:p>
        </p:txBody>
      </p:sp>
      <p:sp>
        <p:nvSpPr>
          <p:cNvPr id="11" name="Shape 9"/>
          <p:cNvSpPr/>
          <p:nvPr/>
        </p:nvSpPr>
        <p:spPr>
          <a:xfrm>
            <a:off x="685800" y="1417320"/>
            <a:ext cx="4937760" cy="4892040"/>
          </a:xfrm>
          <a:prstGeom prst="roundRect">
            <a:avLst>
              <a:gd name="adj" fmla="val 2804"/>
            </a:avLst>
          </a:prstGeom>
          <a:solidFill>
            <a:srgbClr val="FFFFFF"/>
          </a:solidFill>
          <a:ln w="10160">
            <a:solidFill>
              <a:srgbClr val="2563EB"/>
            </a:solidFill>
            <a:prstDash val="solid"/>
          </a:ln>
          <a:effectLst>
            <a:outerShdw blurRad="177800" dist="38100" dir="12000000" algn="bl" rotWithShape="0">
              <a:srgbClr val="94A3B8">
                <a:alpha val="22000"/>
              </a:srgbClr>
            </a:outerShdw>
          </a:effectLst>
        </p:spPr>
        <p:txBody>
          <a:bodyPr/>
          <a:lstStyle/>
          <a:p>
            <a:endParaRPr lang="fr-TN"/>
          </a:p>
        </p:txBody>
      </p:sp>
      <p:sp>
        <p:nvSpPr>
          <p:cNvPr id="12" name="Shape 10"/>
          <p:cNvSpPr/>
          <p:nvPr/>
        </p:nvSpPr>
        <p:spPr>
          <a:xfrm>
            <a:off x="822960" y="1435608"/>
            <a:ext cx="4663440" cy="36576"/>
          </a:xfrm>
          <a:prstGeom prst="rect">
            <a:avLst/>
          </a:prstGeom>
          <a:solidFill>
            <a:srgbClr val="2563EB"/>
          </a:solidFill>
          <a:ln/>
        </p:spPr>
        <p:txBody>
          <a:bodyPr/>
          <a:lstStyle/>
          <a:p>
            <a:endParaRPr lang="fr-TN"/>
          </a:p>
        </p:txBody>
      </p:sp>
      <p:sp>
        <p:nvSpPr>
          <p:cNvPr id="13" name="Text 11"/>
          <p:cNvSpPr/>
          <p:nvPr/>
        </p:nvSpPr>
        <p:spPr>
          <a:xfrm>
            <a:off x="914400" y="1645920"/>
            <a:ext cx="4480560" cy="4389120"/>
          </a:xfrm>
          <a:prstGeom prst="rect">
            <a:avLst/>
          </a:prstGeom>
          <a:noFill/>
          <a:ln/>
        </p:spPr>
        <p:txBody>
          <a:bodyPr wrap="square" rtlCol="0" anchor="t"/>
          <a:lstStyle/>
          <a:p>
            <a:pPr marL="0" indent="0">
              <a:lnSpc>
                <a:spcPct val="120000"/>
              </a:lnSpc>
              <a:buNone/>
            </a:pPr>
            <a:r>
              <a:rPr lang="en-US" sz="1500" b="1" dirty="0">
                <a:solidFill>
                  <a:srgbClr val="0F172A"/>
                </a:solidFill>
              </a:rPr>
              <a:t>THE STRATEGIC SHIFT TO
PROACTIVE DEFENSE
</a:t>
            </a:r>
            <a:r>
              <a:rPr lang="en-US" sz="1200" i="1" dirty="0">
                <a:solidFill>
                  <a:srgbClr val="2563EB"/>
                </a:solidFill>
              </a:rPr>
              <a:t>"If you know the enemy and know yourself, you need not fear the result of a hundred battles."
</a:t>
            </a:r>
            <a:r>
              <a:rPr lang="en-US" sz="900" dirty="0">
                <a:solidFill>
                  <a:srgbClr val="94A3B8"/>
                </a:solidFill>
              </a:rPr>
              <a:t>— Sun Tzu, The Art of War
</a:t>
            </a:r>
            <a:r>
              <a:rPr lang="en-US" sz="1050" dirty="0">
                <a:solidFill>
                  <a:srgbClr val="475569"/>
                </a:solidFill>
              </a:rPr>
              <a:t>Defenders must pivot from reactive, perimeter-based alerts (Firewalls &amp; antivirus) to proactive external visibility. By collecting, normalizing, and spatializing threat feeds, we anticipate campaigns before they penetrate our perimeter.</a:t>
            </a:r>
            <a:endParaRPr lang="en-US" sz="1500" dirty="0"/>
          </a:p>
        </p:txBody>
      </p:sp>
      <p:sp>
        <p:nvSpPr>
          <p:cNvPr id="14" name="Shape 12"/>
          <p:cNvSpPr/>
          <p:nvPr/>
        </p:nvSpPr>
        <p:spPr>
          <a:xfrm>
            <a:off x="5943600" y="1417320"/>
            <a:ext cx="5577840" cy="2331720"/>
          </a:xfrm>
          <a:prstGeom prst="roundRect">
            <a:avLst>
              <a:gd name="adj" fmla="val 4706"/>
            </a:avLst>
          </a:prstGeom>
          <a:solidFill>
            <a:srgbClr val="FFFFFF"/>
          </a:solidFill>
          <a:ln w="8890">
            <a:solidFill>
              <a:srgbClr val="E2E8F0"/>
            </a:solidFill>
            <a:prstDash val="solid"/>
          </a:ln>
          <a:effectLst>
            <a:outerShdw blurRad="152400" dist="38100" dir="12000000" algn="bl" rotWithShape="0">
              <a:srgbClr val="94A3B8">
                <a:alpha val="25000"/>
              </a:srgbClr>
            </a:outerShdw>
          </a:effectLst>
        </p:spPr>
        <p:txBody>
          <a:bodyPr/>
          <a:lstStyle/>
          <a:p>
            <a:endParaRPr lang="fr-TN"/>
          </a:p>
        </p:txBody>
      </p:sp>
      <p:sp>
        <p:nvSpPr>
          <p:cNvPr id="15" name="Shape 13"/>
          <p:cNvSpPr/>
          <p:nvPr/>
        </p:nvSpPr>
        <p:spPr>
          <a:xfrm>
            <a:off x="6053328" y="1435608"/>
            <a:ext cx="5358384" cy="36576"/>
          </a:xfrm>
          <a:prstGeom prst="rect">
            <a:avLst/>
          </a:prstGeom>
          <a:solidFill>
            <a:srgbClr val="0284C7"/>
          </a:solidFill>
          <a:ln/>
        </p:spPr>
        <p:txBody>
          <a:bodyPr/>
          <a:lstStyle/>
          <a:p>
            <a:endParaRPr lang="fr-TN"/>
          </a:p>
        </p:txBody>
      </p:sp>
      <p:sp>
        <p:nvSpPr>
          <p:cNvPr id="16" name="Text 14"/>
          <p:cNvSpPr/>
          <p:nvPr/>
        </p:nvSpPr>
        <p:spPr>
          <a:xfrm>
            <a:off x="6144768" y="1581912"/>
            <a:ext cx="5175504" cy="365760"/>
          </a:xfrm>
          <a:prstGeom prst="rect">
            <a:avLst/>
          </a:prstGeom>
          <a:noFill/>
          <a:ln/>
        </p:spPr>
        <p:txBody>
          <a:bodyPr wrap="square" rtlCol="0" anchor="ctr"/>
          <a:lstStyle/>
          <a:p>
            <a:pPr marL="0" indent="0">
              <a:buNone/>
            </a:pPr>
            <a:r>
              <a:rPr lang="en-US" sz="1400" b="1" dirty="0">
                <a:solidFill>
                  <a:srgbClr val="0F172A"/>
                </a:solidFill>
                <a:latin typeface="Segoe UI" pitchFamily="34" charset="0"/>
                <a:ea typeface="Segoe UI" pitchFamily="34" charset="-122"/>
                <a:cs typeface="Segoe UI" pitchFamily="34" charset="-120"/>
              </a:rPr>
              <a:t>Expanded Attack Surface</a:t>
            </a:r>
            <a:endParaRPr lang="en-US" sz="1400" dirty="0"/>
          </a:p>
        </p:txBody>
      </p:sp>
      <p:sp>
        <p:nvSpPr>
          <p:cNvPr id="17" name="Text 15"/>
          <p:cNvSpPr/>
          <p:nvPr/>
        </p:nvSpPr>
        <p:spPr>
          <a:xfrm>
            <a:off x="6144768" y="1984248"/>
            <a:ext cx="5175504" cy="1554480"/>
          </a:xfrm>
          <a:prstGeom prst="rect">
            <a:avLst/>
          </a:prstGeom>
          <a:noFill/>
          <a:ln/>
        </p:spPr>
        <p:txBody>
          <a:bodyPr wrap="square" rtlCol="0" anchor="t"/>
          <a:lstStyle/>
          <a:p>
            <a:pPr marL="0" indent="0">
              <a:lnSpc>
                <a:spcPct val="135000"/>
              </a:lnSpc>
              <a:buNone/>
            </a:pPr>
            <a:r>
              <a:rPr lang="en-US" sz="1050" dirty="0">
                <a:solidFill>
                  <a:srgbClr val="475569"/>
                </a:solidFill>
                <a:latin typeface="Segoe UI" pitchFamily="34" charset="0"/>
                <a:ea typeface="Segoe UI" pitchFamily="34" charset="-122"/>
                <a:cs typeface="Segoe UI" pitchFamily="34" charset="-120"/>
              </a:rPr>
              <a:t>Hyper-connectivity, cloud infrastructure, and distributed microservices have multiplied threat exposure points, making manual tracking impossible.</a:t>
            </a:r>
            <a:endParaRPr lang="en-US" sz="1050" dirty="0"/>
          </a:p>
          <a:p>
            <a:pPr marL="0" indent="0">
              <a:lnSpc>
                <a:spcPct val="135000"/>
              </a:lnSpc>
              <a:buNone/>
            </a:pPr>
            <a:endParaRPr lang="en-US" sz="1050" dirty="0"/>
          </a:p>
          <a:p>
            <a:pPr marL="0" indent="0">
              <a:lnSpc>
                <a:spcPct val="135000"/>
              </a:lnSpc>
              <a:buNone/>
            </a:pPr>
            <a:r>
              <a:rPr lang="en-US" sz="1050" dirty="0">
                <a:solidFill>
                  <a:srgbClr val="475569"/>
                </a:solidFill>
                <a:latin typeface="Segoe UI" pitchFamily="34" charset="0"/>
                <a:ea typeface="Segoe UI" pitchFamily="34" charset="-122"/>
                <a:cs typeface="Segoe UI" pitchFamily="34" charset="-120"/>
              </a:rPr>
              <a:t>▸ 4.7B internet users  ·  IoT devices exceed 15B globally</a:t>
            </a:r>
            <a:endParaRPr lang="en-US" sz="1050" dirty="0"/>
          </a:p>
        </p:txBody>
      </p:sp>
      <p:sp>
        <p:nvSpPr>
          <p:cNvPr id="18" name="Shape 16"/>
          <p:cNvSpPr/>
          <p:nvPr/>
        </p:nvSpPr>
        <p:spPr>
          <a:xfrm>
            <a:off x="5943600" y="3977640"/>
            <a:ext cx="5577840" cy="2331720"/>
          </a:xfrm>
          <a:prstGeom prst="roundRect">
            <a:avLst>
              <a:gd name="adj" fmla="val 4706"/>
            </a:avLst>
          </a:prstGeom>
          <a:solidFill>
            <a:srgbClr val="FFFFFF"/>
          </a:solidFill>
          <a:ln w="8890">
            <a:solidFill>
              <a:srgbClr val="E2E8F0"/>
            </a:solidFill>
            <a:prstDash val="solid"/>
          </a:ln>
          <a:effectLst>
            <a:outerShdw blurRad="152400" dist="38100" dir="12000000" algn="bl" rotWithShape="0">
              <a:srgbClr val="94A3B8">
                <a:alpha val="25000"/>
              </a:srgbClr>
            </a:outerShdw>
          </a:effectLst>
        </p:spPr>
        <p:txBody>
          <a:bodyPr/>
          <a:lstStyle/>
          <a:p>
            <a:endParaRPr lang="fr-TN"/>
          </a:p>
        </p:txBody>
      </p:sp>
      <p:sp>
        <p:nvSpPr>
          <p:cNvPr id="19" name="Shape 17"/>
          <p:cNvSpPr/>
          <p:nvPr/>
        </p:nvSpPr>
        <p:spPr>
          <a:xfrm>
            <a:off x="6053328" y="3995928"/>
            <a:ext cx="5358384" cy="36576"/>
          </a:xfrm>
          <a:prstGeom prst="rect">
            <a:avLst/>
          </a:prstGeom>
          <a:solidFill>
            <a:srgbClr val="E11D48"/>
          </a:solidFill>
          <a:ln/>
        </p:spPr>
        <p:txBody>
          <a:bodyPr/>
          <a:lstStyle/>
          <a:p>
            <a:endParaRPr lang="fr-TN"/>
          </a:p>
        </p:txBody>
      </p:sp>
      <p:sp>
        <p:nvSpPr>
          <p:cNvPr id="20" name="Text 18"/>
          <p:cNvSpPr/>
          <p:nvPr/>
        </p:nvSpPr>
        <p:spPr>
          <a:xfrm>
            <a:off x="6144768" y="4142232"/>
            <a:ext cx="5175504" cy="365760"/>
          </a:xfrm>
          <a:prstGeom prst="rect">
            <a:avLst/>
          </a:prstGeom>
          <a:noFill/>
          <a:ln/>
        </p:spPr>
        <p:txBody>
          <a:bodyPr wrap="square" rtlCol="0" anchor="ctr"/>
          <a:lstStyle/>
          <a:p>
            <a:pPr marL="0" indent="0">
              <a:buNone/>
            </a:pPr>
            <a:r>
              <a:rPr lang="en-US" sz="1400" b="1" dirty="0">
                <a:solidFill>
                  <a:srgbClr val="0F172A"/>
                </a:solidFill>
                <a:latin typeface="Segoe UI" pitchFamily="34" charset="0"/>
                <a:ea typeface="Segoe UI" pitchFamily="34" charset="-122"/>
                <a:cs typeface="Segoe UI" pitchFamily="34" charset="-120"/>
              </a:rPr>
              <a:t>Evolved Adversaries</a:t>
            </a:r>
            <a:endParaRPr lang="en-US" sz="1400" dirty="0"/>
          </a:p>
        </p:txBody>
      </p:sp>
      <p:sp>
        <p:nvSpPr>
          <p:cNvPr id="21" name="Text 19"/>
          <p:cNvSpPr/>
          <p:nvPr/>
        </p:nvSpPr>
        <p:spPr>
          <a:xfrm>
            <a:off x="6144768" y="4544568"/>
            <a:ext cx="5175504" cy="1554480"/>
          </a:xfrm>
          <a:prstGeom prst="rect">
            <a:avLst/>
          </a:prstGeom>
          <a:noFill/>
          <a:ln/>
        </p:spPr>
        <p:txBody>
          <a:bodyPr wrap="square" rtlCol="0" anchor="t"/>
          <a:lstStyle/>
          <a:p>
            <a:pPr marL="0" indent="0">
              <a:lnSpc>
                <a:spcPct val="135000"/>
              </a:lnSpc>
              <a:buNone/>
            </a:pPr>
            <a:r>
              <a:rPr lang="en-US" sz="1050" dirty="0">
                <a:solidFill>
                  <a:srgbClr val="475569"/>
                </a:solidFill>
                <a:latin typeface="Segoe UI" pitchFamily="34" charset="0"/>
                <a:ea typeface="Segoe UI" pitchFamily="34" charset="-122"/>
                <a:cs typeface="Segoe UI" pitchFamily="34" charset="-120"/>
              </a:rPr>
              <a:t>Attackers are no longer lone hackers but structured cartels, nation-states, and automated botnets operating rapid campaigns at scale.</a:t>
            </a:r>
            <a:endParaRPr lang="en-US" sz="1050" dirty="0"/>
          </a:p>
          <a:p>
            <a:pPr marL="0" indent="0">
              <a:lnSpc>
                <a:spcPct val="135000"/>
              </a:lnSpc>
              <a:buNone/>
            </a:pPr>
            <a:endParaRPr lang="en-US" sz="1050" dirty="0"/>
          </a:p>
          <a:p>
            <a:pPr marL="0" indent="0">
              <a:lnSpc>
                <a:spcPct val="135000"/>
              </a:lnSpc>
              <a:buNone/>
            </a:pPr>
            <a:r>
              <a:rPr lang="en-US" sz="1050" dirty="0">
                <a:solidFill>
                  <a:srgbClr val="475569"/>
                </a:solidFill>
                <a:latin typeface="Segoe UI" pitchFamily="34" charset="0"/>
                <a:ea typeface="Segoe UI" pitchFamily="34" charset="-122"/>
                <a:cs typeface="Segoe UI" pitchFamily="34" charset="-120"/>
              </a:rPr>
              <a:t>▸ Average cost of a data breach: $4.45M (IBM 2023)</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88952" cy="45720"/>
          </a:xfrm>
          <a:prstGeom prst="rect">
            <a:avLst/>
          </a:prstGeom>
          <a:solidFill>
            <a:srgbClr val="2563EB"/>
          </a:solidFill>
          <a:ln/>
        </p:spPr>
        <p:txBody>
          <a:bodyPr/>
          <a:lstStyle/>
          <a:p>
            <a:endParaRPr lang="fr-TN"/>
          </a:p>
        </p:txBody>
      </p:sp>
      <p:sp>
        <p:nvSpPr>
          <p:cNvPr id="3" name="Shape 1"/>
          <p:cNvSpPr/>
          <p:nvPr/>
        </p:nvSpPr>
        <p:spPr>
          <a:xfrm>
            <a:off x="10972800" y="274320"/>
            <a:ext cx="914400" cy="1829"/>
          </a:xfrm>
          <a:prstGeom prst="rect">
            <a:avLst/>
          </a:prstGeom>
          <a:solidFill>
            <a:srgbClr val="E2E8F0"/>
          </a:solidFill>
          <a:ln/>
        </p:spPr>
        <p:txBody>
          <a:bodyPr/>
          <a:lstStyle/>
          <a:p>
            <a:endParaRPr lang="fr-TN"/>
          </a:p>
        </p:txBody>
      </p:sp>
      <p:sp>
        <p:nvSpPr>
          <p:cNvPr id="4" name="Shape 2"/>
          <p:cNvSpPr/>
          <p:nvPr/>
        </p:nvSpPr>
        <p:spPr>
          <a:xfrm>
            <a:off x="11868912" y="274320"/>
            <a:ext cx="1829" cy="640080"/>
          </a:xfrm>
          <a:prstGeom prst="rect">
            <a:avLst/>
          </a:prstGeom>
          <a:solidFill>
            <a:srgbClr val="E2E8F0"/>
          </a:solidFill>
          <a:ln/>
        </p:spPr>
        <p:txBody>
          <a:bodyPr/>
          <a:lstStyle/>
          <a:p>
            <a:endParaRPr lang="fr-TN"/>
          </a:p>
        </p:txBody>
      </p:sp>
      <p:sp>
        <p:nvSpPr>
          <p:cNvPr id="5" name="Shape 3"/>
          <p:cNvSpPr/>
          <p:nvPr/>
        </p:nvSpPr>
        <p:spPr>
          <a:xfrm>
            <a:off x="320040" y="6537960"/>
            <a:ext cx="1829" cy="274320"/>
          </a:xfrm>
          <a:prstGeom prst="rect">
            <a:avLst/>
          </a:prstGeom>
          <a:solidFill>
            <a:srgbClr val="E2E8F0"/>
          </a:solidFill>
          <a:ln/>
        </p:spPr>
        <p:txBody>
          <a:bodyPr/>
          <a:lstStyle/>
          <a:p>
            <a:endParaRPr lang="fr-TN"/>
          </a:p>
        </p:txBody>
      </p:sp>
      <p:sp>
        <p:nvSpPr>
          <p:cNvPr id="6" name="Shape 4"/>
          <p:cNvSpPr/>
          <p:nvPr/>
        </p:nvSpPr>
        <p:spPr>
          <a:xfrm>
            <a:off x="320040" y="6537960"/>
            <a:ext cx="640080" cy="1829"/>
          </a:xfrm>
          <a:prstGeom prst="rect">
            <a:avLst/>
          </a:prstGeom>
          <a:solidFill>
            <a:srgbClr val="E2E8F0"/>
          </a:solidFill>
          <a:ln/>
        </p:spPr>
        <p:txBody>
          <a:bodyPr/>
          <a:lstStyle/>
          <a:p>
            <a:endParaRPr lang="fr-TN"/>
          </a:p>
        </p:txBody>
      </p:sp>
      <p:sp>
        <p:nvSpPr>
          <p:cNvPr id="7" name="Text 5"/>
          <p:cNvSpPr/>
          <p:nvPr/>
        </p:nvSpPr>
        <p:spPr>
          <a:xfrm>
            <a:off x="731520" y="274320"/>
            <a:ext cx="10515600" cy="256032"/>
          </a:xfrm>
          <a:prstGeom prst="rect">
            <a:avLst/>
          </a:prstGeom>
          <a:noFill/>
          <a:ln/>
        </p:spPr>
        <p:txBody>
          <a:bodyPr wrap="square" rtlCol="0" anchor="ctr"/>
          <a:lstStyle/>
          <a:p>
            <a:pPr marL="0" indent="0">
              <a:buNone/>
            </a:pPr>
            <a:r>
              <a:rPr lang="en-US" sz="900" b="1" dirty="0">
                <a:solidFill>
                  <a:srgbClr val="2563EB"/>
                </a:solidFill>
                <a:latin typeface="Segoe UI" pitchFamily="34" charset="0"/>
                <a:ea typeface="Segoe UI" pitchFamily="34" charset="-122"/>
                <a:cs typeface="Segoe UI" pitchFamily="34" charset="-120"/>
              </a:rPr>
              <a:t>CHAPTER 1 — PRE-STUDY</a:t>
            </a:r>
            <a:endParaRPr lang="en-US" sz="900" dirty="0"/>
          </a:p>
        </p:txBody>
      </p:sp>
      <p:sp>
        <p:nvSpPr>
          <p:cNvPr id="8" name="Text 6"/>
          <p:cNvSpPr/>
          <p:nvPr/>
        </p:nvSpPr>
        <p:spPr>
          <a:xfrm>
            <a:off x="731520" y="548640"/>
            <a:ext cx="10515600" cy="502920"/>
          </a:xfrm>
          <a:prstGeom prst="rect">
            <a:avLst/>
          </a:prstGeom>
          <a:noFill/>
          <a:ln/>
        </p:spPr>
        <p:txBody>
          <a:bodyPr wrap="square" rtlCol="0" anchor="ctr"/>
          <a:lstStyle/>
          <a:p>
            <a:pPr marL="0" indent="0">
              <a:buNone/>
            </a:pPr>
            <a:r>
              <a:rPr lang="en-US" sz="3000" b="1" dirty="0">
                <a:solidFill>
                  <a:srgbClr val="0F172A"/>
                </a:solidFill>
                <a:latin typeface="Segoe UI" pitchFamily="34" charset="0"/>
                <a:ea typeface="Segoe UI" pitchFamily="34" charset="-122"/>
                <a:cs typeface="Segoe UI" pitchFamily="34" charset="-120"/>
              </a:rPr>
              <a:t>Project Context &amp; Host Organization</a:t>
            </a:r>
            <a:endParaRPr lang="en-US" sz="3000" dirty="0"/>
          </a:p>
        </p:txBody>
      </p:sp>
      <p:sp>
        <p:nvSpPr>
          <p:cNvPr id="9" name="Shape 7"/>
          <p:cNvSpPr/>
          <p:nvPr/>
        </p:nvSpPr>
        <p:spPr>
          <a:xfrm>
            <a:off x="731520" y="1115568"/>
            <a:ext cx="1828800" cy="32004"/>
          </a:xfrm>
          <a:prstGeom prst="rect">
            <a:avLst/>
          </a:prstGeom>
          <a:solidFill>
            <a:srgbClr val="2563EB"/>
          </a:solidFill>
          <a:ln/>
        </p:spPr>
        <p:txBody>
          <a:bodyPr/>
          <a:lstStyle/>
          <a:p>
            <a:endParaRPr lang="fr-TN"/>
          </a:p>
        </p:txBody>
      </p:sp>
      <p:sp>
        <p:nvSpPr>
          <p:cNvPr id="10" name="Shape 8"/>
          <p:cNvSpPr/>
          <p:nvPr/>
        </p:nvSpPr>
        <p:spPr>
          <a:xfrm>
            <a:off x="2651760" y="1124712"/>
            <a:ext cx="8778240" cy="10973"/>
          </a:xfrm>
          <a:prstGeom prst="rect">
            <a:avLst/>
          </a:prstGeom>
          <a:solidFill>
            <a:srgbClr val="E2E8F0"/>
          </a:solidFill>
          <a:ln/>
        </p:spPr>
        <p:txBody>
          <a:bodyPr/>
          <a:lstStyle/>
          <a:p>
            <a:endParaRPr lang="fr-TN"/>
          </a:p>
        </p:txBody>
      </p:sp>
      <p:sp>
        <p:nvSpPr>
          <p:cNvPr id="11" name="Shape 9"/>
          <p:cNvSpPr/>
          <p:nvPr/>
        </p:nvSpPr>
        <p:spPr>
          <a:xfrm>
            <a:off x="685800" y="1417320"/>
            <a:ext cx="4937760" cy="2331720"/>
          </a:xfrm>
          <a:prstGeom prst="roundRect">
            <a:avLst>
              <a:gd name="adj" fmla="val 4706"/>
            </a:avLst>
          </a:prstGeom>
          <a:solidFill>
            <a:srgbClr val="FFFFFF"/>
          </a:solidFill>
          <a:ln w="8890">
            <a:solidFill>
              <a:srgbClr val="E2E8F0"/>
            </a:solidFill>
            <a:prstDash val="solid"/>
          </a:ln>
          <a:effectLst>
            <a:outerShdw blurRad="152400" dist="38100" dir="12000000" algn="bl" rotWithShape="0">
              <a:srgbClr val="94A3B8">
                <a:alpha val="25000"/>
              </a:srgbClr>
            </a:outerShdw>
          </a:effectLst>
        </p:spPr>
        <p:txBody>
          <a:bodyPr/>
          <a:lstStyle/>
          <a:p>
            <a:endParaRPr lang="fr-TN"/>
          </a:p>
        </p:txBody>
      </p:sp>
      <p:sp>
        <p:nvSpPr>
          <p:cNvPr id="12" name="Shape 10"/>
          <p:cNvSpPr/>
          <p:nvPr/>
        </p:nvSpPr>
        <p:spPr>
          <a:xfrm>
            <a:off x="795528" y="1435608"/>
            <a:ext cx="4718304" cy="36576"/>
          </a:xfrm>
          <a:prstGeom prst="rect">
            <a:avLst/>
          </a:prstGeom>
          <a:solidFill>
            <a:srgbClr val="2563EB"/>
          </a:solidFill>
          <a:ln/>
        </p:spPr>
        <p:txBody>
          <a:bodyPr/>
          <a:lstStyle/>
          <a:p>
            <a:endParaRPr lang="fr-TN"/>
          </a:p>
        </p:txBody>
      </p:sp>
      <p:sp>
        <p:nvSpPr>
          <p:cNvPr id="13" name="Text 11"/>
          <p:cNvSpPr/>
          <p:nvPr/>
        </p:nvSpPr>
        <p:spPr>
          <a:xfrm>
            <a:off x="886968" y="1581912"/>
            <a:ext cx="4535424" cy="365760"/>
          </a:xfrm>
          <a:prstGeom prst="rect">
            <a:avLst/>
          </a:prstGeom>
          <a:noFill/>
          <a:ln/>
        </p:spPr>
        <p:txBody>
          <a:bodyPr wrap="square" rtlCol="0" anchor="ctr"/>
          <a:lstStyle/>
          <a:p>
            <a:pPr marL="0" indent="0">
              <a:buNone/>
            </a:pPr>
            <a:r>
              <a:rPr lang="en-US" sz="1400" b="1" dirty="0">
                <a:solidFill>
                  <a:srgbClr val="0F172A"/>
                </a:solidFill>
                <a:latin typeface="Segoe UI" pitchFamily="34" charset="0"/>
                <a:ea typeface="Segoe UI" pitchFamily="34" charset="-122"/>
                <a:cs typeface="Segoe UI" pitchFamily="34" charset="-120"/>
              </a:rPr>
              <a:t>Host: Predictra Cybersecurity</a:t>
            </a:r>
            <a:endParaRPr lang="en-US" sz="1400" dirty="0"/>
          </a:p>
        </p:txBody>
      </p:sp>
      <p:sp>
        <p:nvSpPr>
          <p:cNvPr id="14" name="Text 12"/>
          <p:cNvSpPr/>
          <p:nvPr/>
        </p:nvSpPr>
        <p:spPr>
          <a:xfrm>
            <a:off x="886968" y="1984248"/>
            <a:ext cx="4535424" cy="1554480"/>
          </a:xfrm>
          <a:prstGeom prst="rect">
            <a:avLst/>
          </a:prstGeom>
          <a:noFill/>
          <a:ln/>
        </p:spPr>
        <p:txBody>
          <a:bodyPr wrap="square" rtlCol="0" anchor="t"/>
          <a:lstStyle/>
          <a:p>
            <a:pPr marL="0" indent="0">
              <a:lnSpc>
                <a:spcPct val="135000"/>
              </a:lnSpc>
              <a:buNone/>
            </a:pPr>
            <a:r>
              <a:rPr lang="en-US" sz="1050" dirty="0">
                <a:solidFill>
                  <a:srgbClr val="475569"/>
                </a:solidFill>
                <a:latin typeface="Segoe UI" pitchFamily="34" charset="0"/>
                <a:ea typeface="Segoe UI" pitchFamily="34" charset="-122"/>
                <a:cs typeface="Segoe UI" pitchFamily="34" charset="-120"/>
              </a:rPr>
              <a:t>An AI-driven Cyber Threat Intelligence (CTI) firm that focuses on democratizing raw threat datasets into immediate, visually actionable insights for enterprise SOCs.</a:t>
            </a:r>
            <a:endParaRPr lang="en-US" sz="1050" dirty="0"/>
          </a:p>
        </p:txBody>
      </p:sp>
      <p:sp>
        <p:nvSpPr>
          <p:cNvPr id="15" name="Shape 13"/>
          <p:cNvSpPr/>
          <p:nvPr/>
        </p:nvSpPr>
        <p:spPr>
          <a:xfrm>
            <a:off x="685800" y="3977640"/>
            <a:ext cx="4937760" cy="2331720"/>
          </a:xfrm>
          <a:prstGeom prst="roundRect">
            <a:avLst>
              <a:gd name="adj" fmla="val 4706"/>
            </a:avLst>
          </a:prstGeom>
          <a:solidFill>
            <a:srgbClr val="FFFFFF"/>
          </a:solidFill>
          <a:ln w="8890">
            <a:solidFill>
              <a:srgbClr val="E2E8F0"/>
            </a:solidFill>
            <a:prstDash val="solid"/>
          </a:ln>
          <a:effectLst>
            <a:outerShdw blurRad="152400" dist="38100" dir="12000000" algn="bl" rotWithShape="0">
              <a:srgbClr val="94A3B8">
                <a:alpha val="25000"/>
              </a:srgbClr>
            </a:outerShdw>
          </a:effectLst>
        </p:spPr>
        <p:txBody>
          <a:bodyPr/>
          <a:lstStyle/>
          <a:p>
            <a:endParaRPr lang="fr-TN"/>
          </a:p>
        </p:txBody>
      </p:sp>
      <p:sp>
        <p:nvSpPr>
          <p:cNvPr id="16" name="Shape 14"/>
          <p:cNvSpPr/>
          <p:nvPr/>
        </p:nvSpPr>
        <p:spPr>
          <a:xfrm>
            <a:off x="795528" y="3995928"/>
            <a:ext cx="4718304" cy="36576"/>
          </a:xfrm>
          <a:prstGeom prst="rect">
            <a:avLst/>
          </a:prstGeom>
          <a:solidFill>
            <a:srgbClr val="D97706"/>
          </a:solidFill>
          <a:ln/>
        </p:spPr>
        <p:txBody>
          <a:bodyPr/>
          <a:lstStyle/>
          <a:p>
            <a:endParaRPr lang="fr-TN"/>
          </a:p>
        </p:txBody>
      </p:sp>
      <p:sp>
        <p:nvSpPr>
          <p:cNvPr id="17" name="Text 15"/>
          <p:cNvSpPr/>
          <p:nvPr/>
        </p:nvSpPr>
        <p:spPr>
          <a:xfrm>
            <a:off x="886968" y="4142232"/>
            <a:ext cx="4535424" cy="365760"/>
          </a:xfrm>
          <a:prstGeom prst="rect">
            <a:avLst/>
          </a:prstGeom>
          <a:noFill/>
          <a:ln/>
        </p:spPr>
        <p:txBody>
          <a:bodyPr wrap="square" rtlCol="0" anchor="ctr"/>
          <a:lstStyle/>
          <a:p>
            <a:pPr marL="0" indent="0">
              <a:buNone/>
            </a:pPr>
            <a:r>
              <a:rPr lang="en-US" sz="1400" b="1" dirty="0">
                <a:solidFill>
                  <a:srgbClr val="0F172A"/>
                </a:solidFill>
                <a:latin typeface="Segoe UI" pitchFamily="34" charset="0"/>
                <a:ea typeface="Segoe UI" pitchFamily="34" charset="-122"/>
                <a:cs typeface="Segoe UI" pitchFamily="34" charset="-120"/>
              </a:rPr>
              <a:t>The Dwell Time Target</a:t>
            </a:r>
            <a:endParaRPr lang="en-US" sz="1400" dirty="0"/>
          </a:p>
        </p:txBody>
      </p:sp>
      <p:sp>
        <p:nvSpPr>
          <p:cNvPr id="18" name="Text 16"/>
          <p:cNvSpPr/>
          <p:nvPr/>
        </p:nvSpPr>
        <p:spPr>
          <a:xfrm>
            <a:off x="886968" y="4544568"/>
            <a:ext cx="4535424" cy="1554480"/>
          </a:xfrm>
          <a:prstGeom prst="rect">
            <a:avLst/>
          </a:prstGeom>
          <a:noFill/>
          <a:ln/>
        </p:spPr>
        <p:txBody>
          <a:bodyPr wrap="square" rtlCol="0" anchor="t"/>
          <a:lstStyle/>
          <a:p>
            <a:pPr marL="0" indent="0">
              <a:lnSpc>
                <a:spcPct val="135000"/>
              </a:lnSpc>
              <a:buNone/>
            </a:pPr>
            <a:r>
              <a:rPr lang="en-US" sz="1050" dirty="0">
                <a:solidFill>
                  <a:srgbClr val="475569"/>
                </a:solidFill>
                <a:latin typeface="Segoe UI" pitchFamily="34" charset="0"/>
                <a:ea typeface="Segoe UI" pitchFamily="34" charset="-122"/>
                <a:cs typeface="Segoe UI" pitchFamily="34" charset="-120"/>
              </a:rPr>
              <a:t>The global average dwell time for compromise detection exceeds 200 days.</a:t>
            </a:r>
            <a:endParaRPr lang="en-US" sz="1050" dirty="0"/>
          </a:p>
          <a:p>
            <a:pPr marL="0" indent="0">
              <a:lnSpc>
                <a:spcPct val="135000"/>
              </a:lnSpc>
              <a:buNone/>
            </a:pPr>
            <a:endParaRPr lang="en-US" sz="1050" dirty="0"/>
          </a:p>
          <a:p>
            <a:pPr marL="0" indent="0">
              <a:lnSpc>
                <a:spcPct val="135000"/>
              </a:lnSpc>
              <a:buNone/>
            </a:pPr>
            <a:r>
              <a:rPr lang="en-US" sz="1050" dirty="0">
                <a:solidFill>
                  <a:srgbClr val="475569"/>
                </a:solidFill>
                <a:latin typeface="Segoe UI" pitchFamily="34" charset="0"/>
                <a:ea typeface="Segoe UI" pitchFamily="34" charset="-122"/>
                <a:cs typeface="Segoe UI" pitchFamily="34" charset="-120"/>
              </a:rPr>
              <a:t>▸ Our mission: Shrink this window from months to real-time seconds with spatialized visualization.</a:t>
            </a:r>
            <a:endParaRPr lang="en-US" sz="1050" dirty="0"/>
          </a:p>
        </p:txBody>
      </p:sp>
      <p:sp>
        <p:nvSpPr>
          <p:cNvPr id="19" name="Shape 17"/>
          <p:cNvSpPr/>
          <p:nvPr/>
        </p:nvSpPr>
        <p:spPr>
          <a:xfrm>
            <a:off x="5943600" y="1417320"/>
            <a:ext cx="5577840" cy="4892040"/>
          </a:xfrm>
          <a:prstGeom prst="roundRect">
            <a:avLst>
              <a:gd name="adj" fmla="val 2804"/>
            </a:avLst>
          </a:prstGeom>
          <a:solidFill>
            <a:srgbClr val="FFFFFF"/>
          </a:solidFill>
          <a:ln w="7620">
            <a:solidFill>
              <a:srgbClr val="E2E8F0"/>
            </a:solidFill>
            <a:prstDash val="solid"/>
          </a:ln>
          <a:effectLst>
            <a:outerShdw blurRad="152400" dist="38100" dir="12000000" algn="bl" rotWithShape="0">
              <a:srgbClr val="94A3B8">
                <a:alpha val="20000"/>
              </a:srgbClr>
            </a:outerShdw>
          </a:effectLst>
        </p:spPr>
        <p:txBody>
          <a:bodyPr/>
          <a:lstStyle/>
          <a:p>
            <a:endParaRPr lang="fr-TN"/>
          </a:p>
        </p:txBody>
      </p:sp>
      <p:sp>
        <p:nvSpPr>
          <p:cNvPr id="20" name="Text 18"/>
          <p:cNvSpPr/>
          <p:nvPr/>
        </p:nvSpPr>
        <p:spPr>
          <a:xfrm>
            <a:off x="6126480" y="1554480"/>
            <a:ext cx="5212080" cy="274320"/>
          </a:xfrm>
          <a:prstGeom prst="rect">
            <a:avLst/>
          </a:prstGeom>
          <a:noFill/>
          <a:ln/>
        </p:spPr>
        <p:txBody>
          <a:bodyPr wrap="square" rtlCol="0" anchor="ctr"/>
          <a:lstStyle/>
          <a:p>
            <a:pPr marL="0" indent="0">
              <a:buNone/>
            </a:pPr>
            <a:r>
              <a:rPr lang="en-US" sz="800" b="1" dirty="0">
                <a:solidFill>
                  <a:srgbClr val="2563EB"/>
                </a:solidFill>
                <a:latin typeface="Segoe UI" pitchFamily="34" charset="0"/>
                <a:ea typeface="Segoe UI" pitchFamily="34" charset="-122"/>
                <a:cs typeface="Segoe UI" pitchFamily="34" charset="-120"/>
              </a:rPr>
              <a:t>CORPORATE STRUCTURE</a:t>
            </a:r>
            <a:endParaRPr lang="en-US" sz="800" dirty="0"/>
          </a:p>
        </p:txBody>
      </p:sp>
      <p:graphicFrame>
        <p:nvGraphicFramePr>
          <p:cNvPr id="24" name="Diagramme 23">
            <a:extLst>
              <a:ext uri="{FF2B5EF4-FFF2-40B4-BE49-F238E27FC236}">
                <a16:creationId xmlns:a16="http://schemas.microsoft.com/office/drawing/2014/main" id="{DB83ACB9-0478-A7B3-46FC-46082E253D19}"/>
              </a:ext>
            </a:extLst>
          </p:cNvPr>
          <p:cNvGraphicFramePr/>
          <p:nvPr>
            <p:extLst>
              <p:ext uri="{D42A27DB-BD31-4B8C-83A1-F6EECF244321}">
                <p14:modId xmlns:p14="http://schemas.microsoft.com/office/powerpoint/2010/main" val="429622689"/>
              </p:ext>
            </p:extLst>
          </p:nvPr>
        </p:nvGraphicFramePr>
        <p:xfrm>
          <a:off x="6025568" y="1920218"/>
          <a:ext cx="5413904" cy="429054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88952" cy="45720"/>
          </a:xfrm>
          <a:prstGeom prst="rect">
            <a:avLst/>
          </a:prstGeom>
          <a:solidFill>
            <a:srgbClr val="2563EB"/>
          </a:solidFill>
          <a:ln/>
        </p:spPr>
        <p:txBody>
          <a:bodyPr/>
          <a:lstStyle/>
          <a:p>
            <a:endParaRPr lang="fr-TN"/>
          </a:p>
        </p:txBody>
      </p:sp>
      <p:sp>
        <p:nvSpPr>
          <p:cNvPr id="3" name="Shape 1"/>
          <p:cNvSpPr/>
          <p:nvPr/>
        </p:nvSpPr>
        <p:spPr>
          <a:xfrm>
            <a:off x="10972800" y="274320"/>
            <a:ext cx="914400" cy="1829"/>
          </a:xfrm>
          <a:prstGeom prst="rect">
            <a:avLst/>
          </a:prstGeom>
          <a:solidFill>
            <a:srgbClr val="E2E8F0"/>
          </a:solidFill>
          <a:ln/>
        </p:spPr>
        <p:txBody>
          <a:bodyPr/>
          <a:lstStyle/>
          <a:p>
            <a:endParaRPr lang="fr-TN"/>
          </a:p>
        </p:txBody>
      </p:sp>
      <p:sp>
        <p:nvSpPr>
          <p:cNvPr id="4" name="Shape 2"/>
          <p:cNvSpPr/>
          <p:nvPr/>
        </p:nvSpPr>
        <p:spPr>
          <a:xfrm>
            <a:off x="11868912" y="274320"/>
            <a:ext cx="1829" cy="640080"/>
          </a:xfrm>
          <a:prstGeom prst="rect">
            <a:avLst/>
          </a:prstGeom>
          <a:solidFill>
            <a:srgbClr val="E2E8F0"/>
          </a:solidFill>
          <a:ln/>
        </p:spPr>
        <p:txBody>
          <a:bodyPr/>
          <a:lstStyle/>
          <a:p>
            <a:endParaRPr lang="fr-TN"/>
          </a:p>
        </p:txBody>
      </p:sp>
      <p:sp>
        <p:nvSpPr>
          <p:cNvPr id="5" name="Shape 3"/>
          <p:cNvSpPr/>
          <p:nvPr/>
        </p:nvSpPr>
        <p:spPr>
          <a:xfrm>
            <a:off x="320040" y="6537960"/>
            <a:ext cx="1829" cy="274320"/>
          </a:xfrm>
          <a:prstGeom prst="rect">
            <a:avLst/>
          </a:prstGeom>
          <a:solidFill>
            <a:srgbClr val="E2E8F0"/>
          </a:solidFill>
          <a:ln/>
        </p:spPr>
        <p:txBody>
          <a:bodyPr/>
          <a:lstStyle/>
          <a:p>
            <a:endParaRPr lang="fr-TN"/>
          </a:p>
        </p:txBody>
      </p:sp>
      <p:sp>
        <p:nvSpPr>
          <p:cNvPr id="6" name="Shape 4"/>
          <p:cNvSpPr/>
          <p:nvPr/>
        </p:nvSpPr>
        <p:spPr>
          <a:xfrm>
            <a:off x="320040" y="6537960"/>
            <a:ext cx="640080" cy="1829"/>
          </a:xfrm>
          <a:prstGeom prst="rect">
            <a:avLst/>
          </a:prstGeom>
          <a:solidFill>
            <a:srgbClr val="E2E8F0"/>
          </a:solidFill>
          <a:ln/>
        </p:spPr>
        <p:txBody>
          <a:bodyPr/>
          <a:lstStyle/>
          <a:p>
            <a:endParaRPr lang="fr-TN"/>
          </a:p>
        </p:txBody>
      </p:sp>
      <p:sp>
        <p:nvSpPr>
          <p:cNvPr id="7" name="Text 5"/>
          <p:cNvSpPr/>
          <p:nvPr/>
        </p:nvSpPr>
        <p:spPr>
          <a:xfrm>
            <a:off x="731520" y="274320"/>
            <a:ext cx="10515600" cy="256032"/>
          </a:xfrm>
          <a:prstGeom prst="rect">
            <a:avLst/>
          </a:prstGeom>
          <a:noFill/>
          <a:ln/>
        </p:spPr>
        <p:txBody>
          <a:bodyPr wrap="square" rtlCol="0" anchor="ctr"/>
          <a:lstStyle/>
          <a:p>
            <a:pPr marL="0" indent="0">
              <a:buNone/>
            </a:pPr>
            <a:r>
              <a:rPr lang="en-US" sz="900" b="1" dirty="0">
                <a:solidFill>
                  <a:srgbClr val="2563EB"/>
                </a:solidFill>
                <a:latin typeface="Segoe UI" pitchFamily="34" charset="0"/>
                <a:ea typeface="Segoe UI" pitchFamily="34" charset="-122"/>
                <a:cs typeface="Segoe UI" pitchFamily="34" charset="-120"/>
              </a:rPr>
              <a:t>CHAPTER 1 — PRE-STUDY</a:t>
            </a:r>
            <a:endParaRPr lang="en-US" sz="900" dirty="0"/>
          </a:p>
        </p:txBody>
      </p:sp>
      <p:sp>
        <p:nvSpPr>
          <p:cNvPr id="8" name="Text 6"/>
          <p:cNvSpPr/>
          <p:nvPr/>
        </p:nvSpPr>
        <p:spPr>
          <a:xfrm>
            <a:off x="731520" y="548640"/>
            <a:ext cx="10515600" cy="502920"/>
          </a:xfrm>
          <a:prstGeom prst="rect">
            <a:avLst/>
          </a:prstGeom>
          <a:noFill/>
          <a:ln/>
        </p:spPr>
        <p:txBody>
          <a:bodyPr wrap="square" rtlCol="0" anchor="ctr"/>
          <a:lstStyle/>
          <a:p>
            <a:pPr marL="0" indent="0">
              <a:buNone/>
            </a:pPr>
            <a:r>
              <a:rPr lang="en-US" sz="3000" b="1" dirty="0">
                <a:solidFill>
                  <a:srgbClr val="0F172A"/>
                </a:solidFill>
                <a:latin typeface="Segoe UI" pitchFamily="34" charset="0"/>
                <a:ea typeface="Segoe UI" pitchFamily="34" charset="-122"/>
                <a:cs typeface="Segoe UI" pitchFamily="34" charset="-120"/>
              </a:rPr>
              <a:t>The Critical Problematic</a:t>
            </a:r>
            <a:endParaRPr lang="en-US" sz="3000" dirty="0"/>
          </a:p>
        </p:txBody>
      </p:sp>
      <p:sp>
        <p:nvSpPr>
          <p:cNvPr id="9" name="Shape 7"/>
          <p:cNvSpPr/>
          <p:nvPr/>
        </p:nvSpPr>
        <p:spPr>
          <a:xfrm>
            <a:off x="731520" y="1115568"/>
            <a:ext cx="1828800" cy="32004"/>
          </a:xfrm>
          <a:prstGeom prst="rect">
            <a:avLst/>
          </a:prstGeom>
          <a:solidFill>
            <a:srgbClr val="2563EB"/>
          </a:solidFill>
          <a:ln/>
        </p:spPr>
        <p:txBody>
          <a:bodyPr/>
          <a:lstStyle/>
          <a:p>
            <a:endParaRPr lang="fr-TN"/>
          </a:p>
        </p:txBody>
      </p:sp>
      <p:sp>
        <p:nvSpPr>
          <p:cNvPr id="10" name="Shape 8"/>
          <p:cNvSpPr/>
          <p:nvPr/>
        </p:nvSpPr>
        <p:spPr>
          <a:xfrm>
            <a:off x="2651760" y="1124712"/>
            <a:ext cx="8778240" cy="10973"/>
          </a:xfrm>
          <a:prstGeom prst="rect">
            <a:avLst/>
          </a:prstGeom>
          <a:solidFill>
            <a:srgbClr val="E2E8F0"/>
          </a:solidFill>
          <a:ln/>
        </p:spPr>
        <p:txBody>
          <a:bodyPr/>
          <a:lstStyle/>
          <a:p>
            <a:endParaRPr lang="fr-TN"/>
          </a:p>
        </p:txBody>
      </p:sp>
      <p:sp>
        <p:nvSpPr>
          <p:cNvPr id="11" name="Shape 9"/>
          <p:cNvSpPr/>
          <p:nvPr/>
        </p:nvSpPr>
        <p:spPr>
          <a:xfrm>
            <a:off x="685800" y="1417320"/>
            <a:ext cx="3429000" cy="4892040"/>
          </a:xfrm>
          <a:prstGeom prst="roundRect">
            <a:avLst>
              <a:gd name="adj" fmla="val 3200"/>
            </a:avLst>
          </a:prstGeom>
          <a:solidFill>
            <a:srgbClr val="FFFFFF"/>
          </a:solidFill>
          <a:ln w="7620">
            <a:solidFill>
              <a:srgbClr val="E2E8F0"/>
            </a:solidFill>
            <a:prstDash val="solid"/>
          </a:ln>
          <a:effectLst>
            <a:outerShdw blurRad="152400" dist="38100" dir="12000000" algn="bl" rotWithShape="0">
              <a:srgbClr val="94A3B8">
                <a:alpha val="20000"/>
              </a:srgbClr>
            </a:outerShdw>
          </a:effectLst>
        </p:spPr>
        <p:txBody>
          <a:bodyPr/>
          <a:lstStyle/>
          <a:p>
            <a:endParaRPr lang="fr-TN"/>
          </a:p>
        </p:txBody>
      </p:sp>
      <p:sp>
        <p:nvSpPr>
          <p:cNvPr id="12" name="Shape 10"/>
          <p:cNvSpPr/>
          <p:nvPr/>
        </p:nvSpPr>
        <p:spPr>
          <a:xfrm>
            <a:off x="777240" y="1435608"/>
            <a:ext cx="3246120" cy="36576"/>
          </a:xfrm>
          <a:prstGeom prst="rect">
            <a:avLst/>
          </a:prstGeom>
          <a:solidFill>
            <a:srgbClr val="E11D48"/>
          </a:solidFill>
          <a:ln/>
        </p:spPr>
        <p:txBody>
          <a:bodyPr/>
          <a:lstStyle/>
          <a:p>
            <a:endParaRPr lang="fr-TN"/>
          </a:p>
        </p:txBody>
      </p:sp>
      <p:sp>
        <p:nvSpPr>
          <p:cNvPr id="13" name="Shape 11"/>
          <p:cNvSpPr/>
          <p:nvPr/>
        </p:nvSpPr>
        <p:spPr>
          <a:xfrm>
            <a:off x="868680" y="1691640"/>
            <a:ext cx="384048" cy="384048"/>
          </a:xfrm>
          <a:prstGeom prst="ellipse">
            <a:avLst/>
          </a:prstGeom>
          <a:solidFill>
            <a:srgbClr val="E11D48">
              <a:alpha val="10000"/>
            </a:srgbClr>
          </a:solidFill>
          <a:ln w="19050">
            <a:solidFill>
              <a:srgbClr val="E11D48"/>
            </a:solidFill>
            <a:prstDash val="solid"/>
          </a:ln>
        </p:spPr>
        <p:txBody>
          <a:bodyPr/>
          <a:lstStyle/>
          <a:p>
            <a:endParaRPr lang="fr-TN"/>
          </a:p>
        </p:txBody>
      </p:sp>
      <p:sp>
        <p:nvSpPr>
          <p:cNvPr id="14" name="Text 12"/>
          <p:cNvSpPr/>
          <p:nvPr/>
        </p:nvSpPr>
        <p:spPr>
          <a:xfrm>
            <a:off x="868680" y="1691640"/>
            <a:ext cx="384048" cy="384048"/>
          </a:xfrm>
          <a:prstGeom prst="rect">
            <a:avLst/>
          </a:prstGeom>
          <a:noFill/>
          <a:ln/>
        </p:spPr>
        <p:txBody>
          <a:bodyPr wrap="square" rtlCol="0" anchor="ctr"/>
          <a:lstStyle/>
          <a:p>
            <a:pPr marL="0" indent="0" algn="ctr">
              <a:buNone/>
            </a:pPr>
            <a:r>
              <a:rPr lang="en-US" sz="1500" b="1" dirty="0">
                <a:solidFill>
                  <a:srgbClr val="E11D48"/>
                </a:solidFill>
                <a:latin typeface="Segoe UI" pitchFamily="34" charset="0"/>
                <a:ea typeface="Segoe UI" pitchFamily="34" charset="-122"/>
                <a:cs typeface="Segoe UI" pitchFamily="34" charset="-120"/>
              </a:rPr>
              <a:t>1</a:t>
            </a:r>
            <a:endParaRPr lang="en-US" sz="1500" dirty="0"/>
          </a:p>
        </p:txBody>
      </p:sp>
      <p:sp>
        <p:nvSpPr>
          <p:cNvPr id="15" name="Text 13"/>
          <p:cNvSpPr/>
          <p:nvPr/>
        </p:nvSpPr>
        <p:spPr>
          <a:xfrm>
            <a:off x="1344168" y="1691640"/>
            <a:ext cx="2560320" cy="411480"/>
          </a:xfrm>
          <a:prstGeom prst="rect">
            <a:avLst/>
          </a:prstGeom>
          <a:noFill/>
          <a:ln/>
        </p:spPr>
        <p:txBody>
          <a:bodyPr wrap="square" rtlCol="0" anchor="ctr"/>
          <a:lstStyle/>
          <a:p>
            <a:pPr marL="0" indent="0">
              <a:buNone/>
            </a:pPr>
            <a:r>
              <a:rPr lang="en-US" sz="1500" b="1" dirty="0">
                <a:solidFill>
                  <a:srgbClr val="0F172A"/>
                </a:solidFill>
                <a:latin typeface="Segoe UI" pitchFamily="34" charset="0"/>
                <a:ea typeface="Segoe UI" pitchFamily="34" charset="-122"/>
                <a:cs typeface="Segoe UI" pitchFamily="34" charset="-120"/>
              </a:rPr>
              <a:t>Spreadsheet Overload</a:t>
            </a:r>
            <a:endParaRPr lang="en-US" sz="1500" dirty="0"/>
          </a:p>
        </p:txBody>
      </p:sp>
      <p:sp>
        <p:nvSpPr>
          <p:cNvPr id="16" name="Shape 14"/>
          <p:cNvSpPr/>
          <p:nvPr/>
        </p:nvSpPr>
        <p:spPr>
          <a:xfrm>
            <a:off x="868680" y="2286000"/>
            <a:ext cx="3063240" cy="10973"/>
          </a:xfrm>
          <a:prstGeom prst="rect">
            <a:avLst/>
          </a:prstGeom>
          <a:solidFill>
            <a:srgbClr val="E11D48">
              <a:alpha val="35000"/>
            </a:srgbClr>
          </a:solidFill>
          <a:ln/>
        </p:spPr>
        <p:txBody>
          <a:bodyPr/>
          <a:lstStyle/>
          <a:p>
            <a:endParaRPr lang="fr-TN"/>
          </a:p>
        </p:txBody>
      </p:sp>
      <p:sp>
        <p:nvSpPr>
          <p:cNvPr id="17" name="Text 15"/>
          <p:cNvSpPr/>
          <p:nvPr/>
        </p:nvSpPr>
        <p:spPr>
          <a:xfrm>
            <a:off x="868680" y="2514600"/>
            <a:ext cx="3063240" cy="3474720"/>
          </a:xfrm>
          <a:prstGeom prst="rect">
            <a:avLst/>
          </a:prstGeom>
          <a:noFill/>
          <a:ln/>
        </p:spPr>
        <p:txBody>
          <a:bodyPr wrap="square" rtlCol="0" anchor="t"/>
          <a:lstStyle/>
          <a:p>
            <a:pPr marL="0" indent="0">
              <a:lnSpc>
                <a:spcPct val="140000"/>
              </a:lnSpc>
              <a:buNone/>
            </a:pPr>
            <a:r>
              <a:rPr lang="en-US" sz="1100" dirty="0">
                <a:solidFill>
                  <a:srgbClr val="475569"/>
                </a:solidFill>
                <a:latin typeface="Segoe UI" pitchFamily="34" charset="0"/>
                <a:ea typeface="Segoe UI" pitchFamily="34" charset="-122"/>
                <a:cs typeface="Segoe UI" pitchFamily="34" charset="-120"/>
              </a:rPr>
              <a:t>SOC analysts are overwhelmed by raw, static text logs.</a:t>
            </a:r>
            <a:endParaRPr lang="en-US" sz="1100" dirty="0"/>
          </a:p>
          <a:p>
            <a:pPr marL="0" indent="0">
              <a:lnSpc>
                <a:spcPct val="140000"/>
              </a:lnSpc>
              <a:buNone/>
            </a:pPr>
            <a:endParaRPr lang="en-US" sz="1100" dirty="0"/>
          </a:p>
          <a:p>
            <a:pPr marL="0" indent="0">
              <a:lnSpc>
                <a:spcPct val="140000"/>
              </a:lnSpc>
              <a:buNone/>
            </a:pPr>
            <a:r>
              <a:rPr lang="en-US" sz="1100" dirty="0">
                <a:solidFill>
                  <a:srgbClr val="475569"/>
                </a:solidFill>
                <a:latin typeface="Segoe UI" pitchFamily="34" charset="0"/>
                <a:ea typeface="Segoe UI" pitchFamily="34" charset="-122"/>
                <a:cs typeface="Segoe UI" pitchFamily="34" charset="-120"/>
              </a:rPr>
              <a:t>Staring at thousands of text rows causes fatigue and delays detection of critical anomalies.</a:t>
            </a:r>
            <a:endParaRPr lang="en-US" sz="1100" dirty="0"/>
          </a:p>
        </p:txBody>
      </p:sp>
      <p:sp>
        <p:nvSpPr>
          <p:cNvPr id="18" name="Shape 16"/>
          <p:cNvSpPr/>
          <p:nvPr/>
        </p:nvSpPr>
        <p:spPr>
          <a:xfrm>
            <a:off x="4343400" y="1417320"/>
            <a:ext cx="3429000" cy="4892040"/>
          </a:xfrm>
          <a:prstGeom prst="roundRect">
            <a:avLst>
              <a:gd name="adj" fmla="val 3200"/>
            </a:avLst>
          </a:prstGeom>
          <a:solidFill>
            <a:srgbClr val="FFFFFF"/>
          </a:solidFill>
          <a:ln w="7620">
            <a:solidFill>
              <a:srgbClr val="E2E8F0"/>
            </a:solidFill>
            <a:prstDash val="solid"/>
          </a:ln>
          <a:effectLst>
            <a:outerShdw blurRad="152400" dist="38100" dir="12000000" algn="bl" rotWithShape="0">
              <a:srgbClr val="94A3B8">
                <a:alpha val="20000"/>
              </a:srgbClr>
            </a:outerShdw>
          </a:effectLst>
        </p:spPr>
        <p:txBody>
          <a:bodyPr/>
          <a:lstStyle/>
          <a:p>
            <a:endParaRPr lang="fr-TN"/>
          </a:p>
        </p:txBody>
      </p:sp>
      <p:sp>
        <p:nvSpPr>
          <p:cNvPr id="19" name="Shape 17"/>
          <p:cNvSpPr/>
          <p:nvPr/>
        </p:nvSpPr>
        <p:spPr>
          <a:xfrm>
            <a:off x="4434840" y="1435608"/>
            <a:ext cx="3246120" cy="36576"/>
          </a:xfrm>
          <a:prstGeom prst="rect">
            <a:avLst/>
          </a:prstGeom>
          <a:solidFill>
            <a:srgbClr val="D97706"/>
          </a:solidFill>
          <a:ln/>
        </p:spPr>
        <p:txBody>
          <a:bodyPr/>
          <a:lstStyle/>
          <a:p>
            <a:endParaRPr lang="fr-TN"/>
          </a:p>
        </p:txBody>
      </p:sp>
      <p:sp>
        <p:nvSpPr>
          <p:cNvPr id="20" name="Shape 18"/>
          <p:cNvSpPr/>
          <p:nvPr/>
        </p:nvSpPr>
        <p:spPr>
          <a:xfrm>
            <a:off x="4526280" y="1691640"/>
            <a:ext cx="384048" cy="384048"/>
          </a:xfrm>
          <a:prstGeom prst="ellipse">
            <a:avLst/>
          </a:prstGeom>
          <a:solidFill>
            <a:srgbClr val="D97706">
              <a:alpha val="10000"/>
            </a:srgbClr>
          </a:solidFill>
          <a:ln w="19050">
            <a:solidFill>
              <a:srgbClr val="D97706"/>
            </a:solidFill>
            <a:prstDash val="solid"/>
          </a:ln>
        </p:spPr>
        <p:txBody>
          <a:bodyPr/>
          <a:lstStyle/>
          <a:p>
            <a:endParaRPr lang="fr-TN"/>
          </a:p>
        </p:txBody>
      </p:sp>
      <p:sp>
        <p:nvSpPr>
          <p:cNvPr id="21" name="Text 19"/>
          <p:cNvSpPr/>
          <p:nvPr/>
        </p:nvSpPr>
        <p:spPr>
          <a:xfrm>
            <a:off x="4526280" y="1691640"/>
            <a:ext cx="384048" cy="384048"/>
          </a:xfrm>
          <a:prstGeom prst="rect">
            <a:avLst/>
          </a:prstGeom>
          <a:noFill/>
          <a:ln/>
        </p:spPr>
        <p:txBody>
          <a:bodyPr wrap="square" rtlCol="0" anchor="ctr"/>
          <a:lstStyle/>
          <a:p>
            <a:pPr marL="0" indent="0" algn="ctr">
              <a:buNone/>
            </a:pPr>
            <a:r>
              <a:rPr lang="en-US" sz="1500" b="1" dirty="0">
                <a:solidFill>
                  <a:srgbClr val="D97706"/>
                </a:solidFill>
                <a:latin typeface="Segoe UI" pitchFamily="34" charset="0"/>
                <a:ea typeface="Segoe UI" pitchFamily="34" charset="-122"/>
                <a:cs typeface="Segoe UI" pitchFamily="34" charset="-120"/>
              </a:rPr>
              <a:t>2</a:t>
            </a:r>
            <a:endParaRPr lang="en-US" sz="1500" dirty="0"/>
          </a:p>
        </p:txBody>
      </p:sp>
      <p:sp>
        <p:nvSpPr>
          <p:cNvPr id="22" name="Text 20"/>
          <p:cNvSpPr/>
          <p:nvPr/>
        </p:nvSpPr>
        <p:spPr>
          <a:xfrm>
            <a:off x="5001768" y="1691640"/>
            <a:ext cx="2560320" cy="411480"/>
          </a:xfrm>
          <a:prstGeom prst="rect">
            <a:avLst/>
          </a:prstGeom>
          <a:noFill/>
          <a:ln/>
        </p:spPr>
        <p:txBody>
          <a:bodyPr wrap="square" rtlCol="0" anchor="ctr"/>
          <a:lstStyle/>
          <a:p>
            <a:pPr marL="0" indent="0">
              <a:buNone/>
            </a:pPr>
            <a:r>
              <a:rPr lang="en-US" sz="1500" b="1" dirty="0">
                <a:solidFill>
                  <a:srgbClr val="0F172A"/>
                </a:solidFill>
                <a:latin typeface="Segoe UI" pitchFamily="34" charset="0"/>
                <a:ea typeface="Segoe UI" pitchFamily="34" charset="-122"/>
                <a:cs typeface="Segoe UI" pitchFamily="34" charset="-120"/>
              </a:rPr>
              <a:t>Lack of Spatial Context</a:t>
            </a:r>
            <a:endParaRPr lang="en-US" sz="1500" dirty="0"/>
          </a:p>
        </p:txBody>
      </p:sp>
      <p:sp>
        <p:nvSpPr>
          <p:cNvPr id="23" name="Shape 21"/>
          <p:cNvSpPr/>
          <p:nvPr/>
        </p:nvSpPr>
        <p:spPr>
          <a:xfrm>
            <a:off x="4526280" y="2286000"/>
            <a:ext cx="3063240" cy="10973"/>
          </a:xfrm>
          <a:prstGeom prst="rect">
            <a:avLst/>
          </a:prstGeom>
          <a:solidFill>
            <a:srgbClr val="D97706">
              <a:alpha val="35000"/>
            </a:srgbClr>
          </a:solidFill>
          <a:ln/>
        </p:spPr>
        <p:txBody>
          <a:bodyPr/>
          <a:lstStyle/>
          <a:p>
            <a:endParaRPr lang="fr-TN"/>
          </a:p>
        </p:txBody>
      </p:sp>
      <p:sp>
        <p:nvSpPr>
          <p:cNvPr id="24" name="Text 22"/>
          <p:cNvSpPr/>
          <p:nvPr/>
        </p:nvSpPr>
        <p:spPr>
          <a:xfrm>
            <a:off x="4526280" y="2514600"/>
            <a:ext cx="3063240" cy="3474720"/>
          </a:xfrm>
          <a:prstGeom prst="rect">
            <a:avLst/>
          </a:prstGeom>
          <a:noFill/>
          <a:ln/>
        </p:spPr>
        <p:txBody>
          <a:bodyPr wrap="square" rtlCol="0" anchor="t"/>
          <a:lstStyle/>
          <a:p>
            <a:pPr marL="0" indent="0">
              <a:lnSpc>
                <a:spcPct val="140000"/>
              </a:lnSpc>
              <a:buNone/>
            </a:pPr>
            <a:r>
              <a:rPr lang="en-US" sz="1100" dirty="0">
                <a:solidFill>
                  <a:srgbClr val="475569"/>
                </a:solidFill>
                <a:latin typeface="Segoe UI" pitchFamily="34" charset="0"/>
                <a:ea typeface="Segoe UI" pitchFamily="34" charset="-122"/>
                <a:cs typeface="Segoe UI" pitchFamily="34" charset="-120"/>
              </a:rPr>
              <a:t>Traditional grids omit geography.</a:t>
            </a:r>
            <a:endParaRPr lang="en-US" sz="1100" dirty="0"/>
          </a:p>
          <a:p>
            <a:pPr marL="0" indent="0">
              <a:lnSpc>
                <a:spcPct val="140000"/>
              </a:lnSpc>
              <a:buNone/>
            </a:pPr>
            <a:endParaRPr lang="en-US" sz="1100" dirty="0"/>
          </a:p>
          <a:p>
            <a:pPr marL="0" indent="0">
              <a:lnSpc>
                <a:spcPct val="140000"/>
              </a:lnSpc>
              <a:buNone/>
            </a:pPr>
            <a:r>
              <a:rPr lang="en-US" sz="1100" dirty="0">
                <a:solidFill>
                  <a:srgbClr val="475569"/>
                </a:solidFill>
                <a:latin typeface="Segoe UI" pitchFamily="34" charset="0"/>
                <a:ea typeface="Segoe UI" pitchFamily="34" charset="-122"/>
                <a:cs typeface="Segoe UI" pitchFamily="34" charset="-120"/>
              </a:rPr>
              <a:t>Security teams cannot visualize where attacks originate, which sectors are targeted, or global campaign vectors.</a:t>
            </a:r>
            <a:endParaRPr lang="en-US" sz="1100" dirty="0"/>
          </a:p>
        </p:txBody>
      </p:sp>
      <p:sp>
        <p:nvSpPr>
          <p:cNvPr id="25" name="Shape 23"/>
          <p:cNvSpPr/>
          <p:nvPr/>
        </p:nvSpPr>
        <p:spPr>
          <a:xfrm>
            <a:off x="8001000" y="1417320"/>
            <a:ext cx="3429000" cy="4892040"/>
          </a:xfrm>
          <a:prstGeom prst="roundRect">
            <a:avLst>
              <a:gd name="adj" fmla="val 3200"/>
            </a:avLst>
          </a:prstGeom>
          <a:solidFill>
            <a:srgbClr val="FFFFFF"/>
          </a:solidFill>
          <a:ln w="7620">
            <a:solidFill>
              <a:srgbClr val="E2E8F0"/>
            </a:solidFill>
            <a:prstDash val="solid"/>
          </a:ln>
          <a:effectLst>
            <a:outerShdw blurRad="152400" dist="38100" dir="12000000" algn="bl" rotWithShape="0">
              <a:srgbClr val="94A3B8">
                <a:alpha val="20000"/>
              </a:srgbClr>
            </a:outerShdw>
          </a:effectLst>
        </p:spPr>
        <p:txBody>
          <a:bodyPr/>
          <a:lstStyle/>
          <a:p>
            <a:endParaRPr lang="fr-TN"/>
          </a:p>
        </p:txBody>
      </p:sp>
      <p:sp>
        <p:nvSpPr>
          <p:cNvPr id="26" name="Shape 24"/>
          <p:cNvSpPr/>
          <p:nvPr/>
        </p:nvSpPr>
        <p:spPr>
          <a:xfrm>
            <a:off x="8092440" y="1435608"/>
            <a:ext cx="3246120" cy="36576"/>
          </a:xfrm>
          <a:prstGeom prst="rect">
            <a:avLst/>
          </a:prstGeom>
          <a:solidFill>
            <a:srgbClr val="7C3AED"/>
          </a:solidFill>
          <a:ln/>
        </p:spPr>
        <p:txBody>
          <a:bodyPr/>
          <a:lstStyle/>
          <a:p>
            <a:endParaRPr lang="fr-TN"/>
          </a:p>
        </p:txBody>
      </p:sp>
      <p:sp>
        <p:nvSpPr>
          <p:cNvPr id="27" name="Shape 25"/>
          <p:cNvSpPr/>
          <p:nvPr/>
        </p:nvSpPr>
        <p:spPr>
          <a:xfrm>
            <a:off x="8183880" y="1691640"/>
            <a:ext cx="384048" cy="384048"/>
          </a:xfrm>
          <a:prstGeom prst="ellipse">
            <a:avLst/>
          </a:prstGeom>
          <a:solidFill>
            <a:srgbClr val="7C3AED">
              <a:alpha val="10000"/>
            </a:srgbClr>
          </a:solidFill>
          <a:ln w="19050">
            <a:solidFill>
              <a:srgbClr val="7C3AED"/>
            </a:solidFill>
            <a:prstDash val="solid"/>
          </a:ln>
        </p:spPr>
        <p:txBody>
          <a:bodyPr/>
          <a:lstStyle/>
          <a:p>
            <a:endParaRPr lang="fr-TN"/>
          </a:p>
        </p:txBody>
      </p:sp>
      <p:sp>
        <p:nvSpPr>
          <p:cNvPr id="28" name="Text 26"/>
          <p:cNvSpPr/>
          <p:nvPr/>
        </p:nvSpPr>
        <p:spPr>
          <a:xfrm>
            <a:off x="8183880" y="1691640"/>
            <a:ext cx="384048" cy="384048"/>
          </a:xfrm>
          <a:prstGeom prst="rect">
            <a:avLst/>
          </a:prstGeom>
          <a:noFill/>
          <a:ln/>
        </p:spPr>
        <p:txBody>
          <a:bodyPr wrap="square" rtlCol="0" anchor="ctr"/>
          <a:lstStyle/>
          <a:p>
            <a:pPr marL="0" indent="0" algn="ctr">
              <a:buNone/>
            </a:pPr>
            <a:r>
              <a:rPr lang="en-US" sz="1500" b="1" dirty="0">
                <a:solidFill>
                  <a:srgbClr val="7C3AED"/>
                </a:solidFill>
                <a:latin typeface="Segoe UI" pitchFamily="34" charset="0"/>
                <a:ea typeface="Segoe UI" pitchFamily="34" charset="-122"/>
                <a:cs typeface="Segoe UI" pitchFamily="34" charset="-120"/>
              </a:rPr>
              <a:t>3</a:t>
            </a:r>
            <a:endParaRPr lang="en-US" sz="1500" dirty="0"/>
          </a:p>
        </p:txBody>
      </p:sp>
      <p:sp>
        <p:nvSpPr>
          <p:cNvPr id="29" name="Text 27"/>
          <p:cNvSpPr/>
          <p:nvPr/>
        </p:nvSpPr>
        <p:spPr>
          <a:xfrm>
            <a:off x="8659368" y="1691640"/>
            <a:ext cx="2560320" cy="411480"/>
          </a:xfrm>
          <a:prstGeom prst="rect">
            <a:avLst/>
          </a:prstGeom>
          <a:noFill/>
          <a:ln/>
        </p:spPr>
        <p:txBody>
          <a:bodyPr wrap="square" rtlCol="0" anchor="ctr"/>
          <a:lstStyle/>
          <a:p>
            <a:pPr marL="0" indent="0">
              <a:buNone/>
            </a:pPr>
            <a:r>
              <a:rPr lang="en-US" sz="1500" b="1" dirty="0">
                <a:solidFill>
                  <a:srgbClr val="0F172A"/>
                </a:solidFill>
                <a:latin typeface="Segoe UI" pitchFamily="34" charset="0"/>
                <a:ea typeface="Segoe UI" pitchFamily="34" charset="-122"/>
                <a:cs typeface="Segoe UI" pitchFamily="34" charset="-120"/>
              </a:rPr>
              <a:t>Data Heterogeneity</a:t>
            </a:r>
            <a:endParaRPr lang="en-US" sz="1500" dirty="0"/>
          </a:p>
        </p:txBody>
      </p:sp>
      <p:sp>
        <p:nvSpPr>
          <p:cNvPr id="30" name="Shape 28"/>
          <p:cNvSpPr/>
          <p:nvPr/>
        </p:nvSpPr>
        <p:spPr>
          <a:xfrm>
            <a:off x="8183880" y="2286000"/>
            <a:ext cx="3063240" cy="10973"/>
          </a:xfrm>
          <a:prstGeom prst="rect">
            <a:avLst/>
          </a:prstGeom>
          <a:solidFill>
            <a:srgbClr val="7C3AED">
              <a:alpha val="35000"/>
            </a:srgbClr>
          </a:solidFill>
          <a:ln/>
        </p:spPr>
        <p:txBody>
          <a:bodyPr/>
          <a:lstStyle/>
          <a:p>
            <a:endParaRPr lang="fr-TN"/>
          </a:p>
        </p:txBody>
      </p:sp>
      <p:sp>
        <p:nvSpPr>
          <p:cNvPr id="31" name="Text 29"/>
          <p:cNvSpPr/>
          <p:nvPr/>
        </p:nvSpPr>
        <p:spPr>
          <a:xfrm>
            <a:off x="8183880" y="2514600"/>
            <a:ext cx="3063240" cy="3474720"/>
          </a:xfrm>
          <a:prstGeom prst="rect">
            <a:avLst/>
          </a:prstGeom>
          <a:noFill/>
          <a:ln/>
        </p:spPr>
        <p:txBody>
          <a:bodyPr wrap="square" rtlCol="0" anchor="t"/>
          <a:lstStyle/>
          <a:p>
            <a:pPr marL="0" indent="0">
              <a:lnSpc>
                <a:spcPct val="140000"/>
              </a:lnSpc>
              <a:buNone/>
            </a:pPr>
            <a:r>
              <a:rPr lang="en-US" sz="1100" dirty="0">
                <a:solidFill>
                  <a:srgbClr val="475569"/>
                </a:solidFill>
                <a:latin typeface="Segoe UI" pitchFamily="34" charset="0"/>
                <a:ea typeface="Segoe UI" pitchFamily="34" charset="-122"/>
                <a:cs typeface="Segoe UI" pitchFamily="34" charset="-120"/>
              </a:rPr>
              <a:t>Threat feeds are scattered across separate APIs, WebSocket channels, and raw CSV files.</a:t>
            </a:r>
            <a:endParaRPr lang="en-US" sz="1100" dirty="0"/>
          </a:p>
          <a:p>
            <a:pPr marL="0" indent="0">
              <a:lnSpc>
                <a:spcPct val="140000"/>
              </a:lnSpc>
              <a:buNone/>
            </a:pPr>
            <a:endParaRPr lang="en-US" sz="1100" dirty="0"/>
          </a:p>
          <a:p>
            <a:pPr marL="0" indent="0">
              <a:lnSpc>
                <a:spcPct val="140000"/>
              </a:lnSpc>
              <a:buNone/>
            </a:pPr>
            <a:r>
              <a:rPr lang="en-US" sz="1100" dirty="0">
                <a:solidFill>
                  <a:srgbClr val="475569"/>
                </a:solidFill>
                <a:latin typeface="Segoe UI" pitchFamily="34" charset="0"/>
                <a:ea typeface="Segoe UI" pitchFamily="34" charset="-122"/>
                <a:cs typeface="Segoe UI" pitchFamily="34" charset="-120"/>
              </a:rPr>
              <a:t>Formats, schemas, and protocols are incompatible, blocking immediate analysis.</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88952" cy="45720"/>
          </a:xfrm>
          <a:prstGeom prst="rect">
            <a:avLst/>
          </a:prstGeom>
          <a:solidFill>
            <a:srgbClr val="2563EB"/>
          </a:solidFill>
          <a:ln/>
        </p:spPr>
        <p:txBody>
          <a:bodyPr/>
          <a:lstStyle/>
          <a:p>
            <a:endParaRPr lang="fr-TN"/>
          </a:p>
        </p:txBody>
      </p:sp>
      <p:sp>
        <p:nvSpPr>
          <p:cNvPr id="3" name="Shape 1"/>
          <p:cNvSpPr/>
          <p:nvPr/>
        </p:nvSpPr>
        <p:spPr>
          <a:xfrm>
            <a:off x="10972800" y="274320"/>
            <a:ext cx="914400" cy="1829"/>
          </a:xfrm>
          <a:prstGeom prst="rect">
            <a:avLst/>
          </a:prstGeom>
          <a:solidFill>
            <a:srgbClr val="E2E8F0"/>
          </a:solidFill>
          <a:ln/>
        </p:spPr>
        <p:txBody>
          <a:bodyPr/>
          <a:lstStyle/>
          <a:p>
            <a:endParaRPr lang="fr-TN"/>
          </a:p>
        </p:txBody>
      </p:sp>
      <p:sp>
        <p:nvSpPr>
          <p:cNvPr id="4" name="Shape 2"/>
          <p:cNvSpPr/>
          <p:nvPr/>
        </p:nvSpPr>
        <p:spPr>
          <a:xfrm>
            <a:off x="11868912" y="274320"/>
            <a:ext cx="1829" cy="640080"/>
          </a:xfrm>
          <a:prstGeom prst="rect">
            <a:avLst/>
          </a:prstGeom>
          <a:solidFill>
            <a:srgbClr val="E2E8F0"/>
          </a:solidFill>
          <a:ln/>
        </p:spPr>
        <p:txBody>
          <a:bodyPr/>
          <a:lstStyle/>
          <a:p>
            <a:endParaRPr lang="fr-TN"/>
          </a:p>
        </p:txBody>
      </p:sp>
      <p:sp>
        <p:nvSpPr>
          <p:cNvPr id="5" name="Shape 3"/>
          <p:cNvSpPr/>
          <p:nvPr/>
        </p:nvSpPr>
        <p:spPr>
          <a:xfrm>
            <a:off x="320040" y="6537960"/>
            <a:ext cx="1829" cy="274320"/>
          </a:xfrm>
          <a:prstGeom prst="rect">
            <a:avLst/>
          </a:prstGeom>
          <a:solidFill>
            <a:srgbClr val="E2E8F0"/>
          </a:solidFill>
          <a:ln/>
        </p:spPr>
        <p:txBody>
          <a:bodyPr/>
          <a:lstStyle/>
          <a:p>
            <a:endParaRPr lang="fr-TN"/>
          </a:p>
        </p:txBody>
      </p:sp>
      <p:sp>
        <p:nvSpPr>
          <p:cNvPr id="6" name="Shape 4"/>
          <p:cNvSpPr/>
          <p:nvPr/>
        </p:nvSpPr>
        <p:spPr>
          <a:xfrm>
            <a:off x="320040" y="6537960"/>
            <a:ext cx="640080" cy="1829"/>
          </a:xfrm>
          <a:prstGeom prst="rect">
            <a:avLst/>
          </a:prstGeom>
          <a:solidFill>
            <a:srgbClr val="E2E8F0"/>
          </a:solidFill>
          <a:ln/>
        </p:spPr>
        <p:txBody>
          <a:bodyPr/>
          <a:lstStyle/>
          <a:p>
            <a:endParaRPr lang="fr-TN"/>
          </a:p>
        </p:txBody>
      </p:sp>
      <p:sp>
        <p:nvSpPr>
          <p:cNvPr id="7" name="Text 5"/>
          <p:cNvSpPr/>
          <p:nvPr/>
        </p:nvSpPr>
        <p:spPr>
          <a:xfrm>
            <a:off x="731520" y="274320"/>
            <a:ext cx="10515600" cy="256032"/>
          </a:xfrm>
          <a:prstGeom prst="rect">
            <a:avLst/>
          </a:prstGeom>
          <a:noFill/>
          <a:ln/>
        </p:spPr>
        <p:txBody>
          <a:bodyPr wrap="square" rtlCol="0" anchor="ctr"/>
          <a:lstStyle/>
          <a:p>
            <a:pPr marL="0" indent="0">
              <a:buNone/>
            </a:pPr>
            <a:r>
              <a:rPr lang="en-US" sz="900" b="1" dirty="0">
                <a:solidFill>
                  <a:srgbClr val="2563EB"/>
                </a:solidFill>
                <a:latin typeface="Segoe UI" pitchFamily="34" charset="0"/>
                <a:ea typeface="Segoe UI" pitchFamily="34" charset="-122"/>
                <a:cs typeface="Segoe UI" pitchFamily="34" charset="-120"/>
              </a:rPr>
              <a:t>CHAPTER 1 — PRE-STUDY</a:t>
            </a:r>
            <a:endParaRPr lang="en-US" sz="900" dirty="0"/>
          </a:p>
        </p:txBody>
      </p:sp>
      <p:sp>
        <p:nvSpPr>
          <p:cNvPr id="8" name="Text 6"/>
          <p:cNvSpPr/>
          <p:nvPr/>
        </p:nvSpPr>
        <p:spPr>
          <a:xfrm>
            <a:off x="731520" y="548640"/>
            <a:ext cx="10515600" cy="502920"/>
          </a:xfrm>
          <a:prstGeom prst="rect">
            <a:avLst/>
          </a:prstGeom>
          <a:noFill/>
          <a:ln/>
        </p:spPr>
        <p:txBody>
          <a:bodyPr wrap="square" rtlCol="0" anchor="ctr"/>
          <a:lstStyle/>
          <a:p>
            <a:pPr marL="0" indent="0">
              <a:buNone/>
            </a:pPr>
            <a:r>
              <a:rPr lang="en-US" sz="3000" b="1" dirty="0">
                <a:solidFill>
                  <a:srgbClr val="0F172A"/>
                </a:solidFill>
                <a:latin typeface="Segoe UI" pitchFamily="34" charset="0"/>
                <a:ea typeface="Segoe UI" pitchFamily="34" charset="-122"/>
                <a:cs typeface="Segoe UI" pitchFamily="34" charset="-120"/>
              </a:rPr>
              <a:t>The Proposed Solution: 4-Layer Architecture</a:t>
            </a:r>
            <a:endParaRPr lang="en-US" sz="3000" dirty="0"/>
          </a:p>
        </p:txBody>
      </p:sp>
      <p:sp>
        <p:nvSpPr>
          <p:cNvPr id="9" name="Shape 7"/>
          <p:cNvSpPr/>
          <p:nvPr/>
        </p:nvSpPr>
        <p:spPr>
          <a:xfrm>
            <a:off x="731520" y="1115568"/>
            <a:ext cx="1828800" cy="32004"/>
          </a:xfrm>
          <a:prstGeom prst="rect">
            <a:avLst/>
          </a:prstGeom>
          <a:solidFill>
            <a:srgbClr val="2563EB"/>
          </a:solidFill>
          <a:ln/>
        </p:spPr>
        <p:txBody>
          <a:bodyPr/>
          <a:lstStyle/>
          <a:p>
            <a:endParaRPr lang="fr-TN"/>
          </a:p>
        </p:txBody>
      </p:sp>
      <p:sp>
        <p:nvSpPr>
          <p:cNvPr id="10" name="Shape 8"/>
          <p:cNvSpPr/>
          <p:nvPr/>
        </p:nvSpPr>
        <p:spPr>
          <a:xfrm>
            <a:off x="2651760" y="1124712"/>
            <a:ext cx="8778240" cy="10973"/>
          </a:xfrm>
          <a:prstGeom prst="rect">
            <a:avLst/>
          </a:prstGeom>
          <a:solidFill>
            <a:srgbClr val="E2E8F0"/>
          </a:solidFill>
          <a:ln/>
        </p:spPr>
        <p:txBody>
          <a:bodyPr/>
          <a:lstStyle/>
          <a:p>
            <a:endParaRPr lang="fr-TN"/>
          </a:p>
        </p:txBody>
      </p:sp>
      <p:sp>
        <p:nvSpPr>
          <p:cNvPr id="11" name="Shape 9"/>
          <p:cNvSpPr/>
          <p:nvPr/>
        </p:nvSpPr>
        <p:spPr>
          <a:xfrm>
            <a:off x="594360" y="1417320"/>
            <a:ext cx="2606040" cy="4892040"/>
          </a:xfrm>
          <a:prstGeom prst="roundRect">
            <a:avLst>
              <a:gd name="adj" fmla="val 4211"/>
            </a:avLst>
          </a:prstGeom>
          <a:solidFill>
            <a:srgbClr val="FFFFFF"/>
          </a:solidFill>
          <a:ln w="7620">
            <a:solidFill>
              <a:srgbClr val="E2E8F0"/>
            </a:solidFill>
            <a:prstDash val="solid"/>
          </a:ln>
          <a:effectLst>
            <a:outerShdw blurRad="152400" dist="38100" dir="12000000" algn="bl" rotWithShape="0">
              <a:srgbClr val="94A3B8">
                <a:alpha val="20000"/>
              </a:srgbClr>
            </a:outerShdw>
          </a:effectLst>
        </p:spPr>
        <p:txBody>
          <a:bodyPr/>
          <a:lstStyle/>
          <a:p>
            <a:endParaRPr lang="fr-TN"/>
          </a:p>
        </p:txBody>
      </p:sp>
      <p:sp>
        <p:nvSpPr>
          <p:cNvPr id="12" name="Shape 10"/>
          <p:cNvSpPr/>
          <p:nvPr/>
        </p:nvSpPr>
        <p:spPr>
          <a:xfrm>
            <a:off x="685800" y="1435608"/>
            <a:ext cx="2423160" cy="36576"/>
          </a:xfrm>
          <a:prstGeom prst="rect">
            <a:avLst/>
          </a:prstGeom>
          <a:solidFill>
            <a:srgbClr val="2563EB"/>
          </a:solidFill>
          <a:ln/>
        </p:spPr>
        <p:txBody>
          <a:bodyPr/>
          <a:lstStyle/>
          <a:p>
            <a:endParaRPr lang="fr-TN"/>
          </a:p>
        </p:txBody>
      </p:sp>
      <p:sp>
        <p:nvSpPr>
          <p:cNvPr id="13" name="Text 11"/>
          <p:cNvSpPr/>
          <p:nvPr/>
        </p:nvSpPr>
        <p:spPr>
          <a:xfrm>
            <a:off x="731520" y="1691640"/>
            <a:ext cx="548640" cy="640080"/>
          </a:xfrm>
          <a:prstGeom prst="rect">
            <a:avLst/>
          </a:prstGeom>
          <a:noFill/>
          <a:ln/>
        </p:spPr>
        <p:txBody>
          <a:bodyPr wrap="square" rtlCol="0" anchor="ctr"/>
          <a:lstStyle/>
          <a:p>
            <a:pPr marL="0" indent="0">
              <a:buNone/>
            </a:pPr>
            <a:r>
              <a:rPr lang="en-US" sz="3200" b="1" dirty="0">
                <a:solidFill>
                  <a:srgbClr val="2563EB"/>
                </a:solidFill>
                <a:latin typeface="Segoe UI" pitchFamily="34" charset="0"/>
                <a:ea typeface="Segoe UI" pitchFamily="34" charset="-122"/>
                <a:cs typeface="Segoe UI" pitchFamily="34" charset="-120"/>
              </a:rPr>
              <a:t>1</a:t>
            </a:r>
            <a:endParaRPr lang="en-US" sz="3200" dirty="0"/>
          </a:p>
        </p:txBody>
      </p:sp>
      <p:sp>
        <p:nvSpPr>
          <p:cNvPr id="14" name="Text 12"/>
          <p:cNvSpPr/>
          <p:nvPr/>
        </p:nvSpPr>
        <p:spPr>
          <a:xfrm>
            <a:off x="731520" y="2377440"/>
            <a:ext cx="2331720" cy="457200"/>
          </a:xfrm>
          <a:prstGeom prst="rect">
            <a:avLst/>
          </a:prstGeom>
          <a:noFill/>
          <a:ln/>
        </p:spPr>
        <p:txBody>
          <a:bodyPr wrap="square" rtlCol="0" anchor="ctr"/>
          <a:lstStyle/>
          <a:p>
            <a:pPr marL="0" indent="0">
              <a:buNone/>
            </a:pPr>
            <a:r>
              <a:rPr lang="en-US" sz="1400" b="1" dirty="0">
                <a:solidFill>
                  <a:srgbClr val="0F172A"/>
                </a:solidFill>
                <a:latin typeface="Segoe UI" pitchFamily="34" charset="0"/>
                <a:ea typeface="Segoe UI" pitchFamily="34" charset="-122"/>
                <a:cs typeface="Segoe UI" pitchFamily="34" charset="-120"/>
              </a:rPr>
              <a:t>Ingestion Layer</a:t>
            </a:r>
            <a:endParaRPr lang="en-US" sz="1400" dirty="0"/>
          </a:p>
        </p:txBody>
      </p:sp>
      <p:sp>
        <p:nvSpPr>
          <p:cNvPr id="15" name="Shape 13"/>
          <p:cNvSpPr/>
          <p:nvPr/>
        </p:nvSpPr>
        <p:spPr>
          <a:xfrm>
            <a:off x="731520" y="2880360"/>
            <a:ext cx="2331720" cy="10973"/>
          </a:xfrm>
          <a:prstGeom prst="rect">
            <a:avLst/>
          </a:prstGeom>
          <a:solidFill>
            <a:srgbClr val="2563EB">
              <a:alpha val="40000"/>
            </a:srgbClr>
          </a:solidFill>
          <a:ln/>
        </p:spPr>
        <p:txBody>
          <a:bodyPr/>
          <a:lstStyle/>
          <a:p>
            <a:endParaRPr lang="fr-TN"/>
          </a:p>
        </p:txBody>
      </p:sp>
      <p:sp>
        <p:nvSpPr>
          <p:cNvPr id="16" name="Text 14"/>
          <p:cNvSpPr/>
          <p:nvPr/>
        </p:nvSpPr>
        <p:spPr>
          <a:xfrm>
            <a:off x="731520" y="3063240"/>
            <a:ext cx="2331720" cy="3017520"/>
          </a:xfrm>
          <a:prstGeom prst="rect">
            <a:avLst/>
          </a:prstGeom>
          <a:noFill/>
          <a:ln/>
        </p:spPr>
        <p:txBody>
          <a:bodyPr wrap="square" rtlCol="0" anchor="t"/>
          <a:lstStyle/>
          <a:p>
            <a:pPr marL="0" indent="0">
              <a:lnSpc>
                <a:spcPct val="140000"/>
              </a:lnSpc>
              <a:buNone/>
            </a:pPr>
            <a:r>
              <a:rPr lang="en-US" sz="1050" dirty="0">
                <a:solidFill>
                  <a:srgbClr val="475569"/>
                </a:solidFill>
                <a:latin typeface="Segoe UI" pitchFamily="34" charset="0"/>
                <a:ea typeface="Segoe UI" pitchFamily="34" charset="-122"/>
                <a:cs typeface="Segoe UI" pitchFamily="34" charset="-120"/>
              </a:rPr>
              <a:t>9 asynchronous, non-blocking scrapers harvest threat data from Checkpoint SSE, Bitdefender WebSocket, FortiGuard REST, URLhaus, AlienVault OTX, Kaspersky, RansomWatch, C2 Tracker, and MISP Galaxy.</a:t>
            </a:r>
            <a:endParaRPr lang="en-US" sz="1050" dirty="0"/>
          </a:p>
        </p:txBody>
      </p:sp>
      <p:sp>
        <p:nvSpPr>
          <p:cNvPr id="17" name="Text 15"/>
          <p:cNvSpPr/>
          <p:nvPr/>
        </p:nvSpPr>
        <p:spPr>
          <a:xfrm>
            <a:off x="3209544" y="3657600"/>
            <a:ext cx="182880" cy="365760"/>
          </a:xfrm>
          <a:prstGeom prst="rect">
            <a:avLst/>
          </a:prstGeom>
          <a:noFill/>
          <a:ln/>
        </p:spPr>
        <p:txBody>
          <a:bodyPr wrap="square" rtlCol="0" anchor="ctr"/>
          <a:lstStyle/>
          <a:p>
            <a:pPr marL="0" indent="0" algn="ctr">
              <a:buNone/>
            </a:pPr>
            <a:r>
              <a:rPr lang="en-US" sz="1200" dirty="0">
                <a:solidFill>
                  <a:srgbClr val="2563EB"/>
                </a:solidFill>
                <a:latin typeface="Segoe UI" pitchFamily="34" charset="0"/>
                <a:ea typeface="Segoe UI" pitchFamily="34" charset="-122"/>
                <a:cs typeface="Segoe UI" pitchFamily="34" charset="-120"/>
              </a:rPr>
              <a:t>▶</a:t>
            </a:r>
            <a:endParaRPr lang="en-US" sz="1200" dirty="0"/>
          </a:p>
        </p:txBody>
      </p:sp>
      <p:sp>
        <p:nvSpPr>
          <p:cNvPr id="18" name="Shape 16"/>
          <p:cNvSpPr/>
          <p:nvPr/>
        </p:nvSpPr>
        <p:spPr>
          <a:xfrm>
            <a:off x="3383280" y="1417320"/>
            <a:ext cx="2606040" cy="4892040"/>
          </a:xfrm>
          <a:prstGeom prst="roundRect">
            <a:avLst>
              <a:gd name="adj" fmla="val 4211"/>
            </a:avLst>
          </a:prstGeom>
          <a:solidFill>
            <a:srgbClr val="FFFFFF"/>
          </a:solidFill>
          <a:ln w="7620">
            <a:solidFill>
              <a:srgbClr val="E2E8F0"/>
            </a:solidFill>
            <a:prstDash val="solid"/>
          </a:ln>
          <a:effectLst>
            <a:outerShdw blurRad="152400" dist="38100" dir="12000000" algn="bl" rotWithShape="0">
              <a:srgbClr val="94A3B8">
                <a:alpha val="20000"/>
              </a:srgbClr>
            </a:outerShdw>
          </a:effectLst>
        </p:spPr>
        <p:txBody>
          <a:bodyPr/>
          <a:lstStyle/>
          <a:p>
            <a:endParaRPr lang="fr-TN"/>
          </a:p>
        </p:txBody>
      </p:sp>
      <p:sp>
        <p:nvSpPr>
          <p:cNvPr id="19" name="Shape 17"/>
          <p:cNvSpPr/>
          <p:nvPr/>
        </p:nvSpPr>
        <p:spPr>
          <a:xfrm>
            <a:off x="3474720" y="1435608"/>
            <a:ext cx="2423160" cy="36576"/>
          </a:xfrm>
          <a:prstGeom prst="rect">
            <a:avLst/>
          </a:prstGeom>
          <a:solidFill>
            <a:srgbClr val="4F46E5"/>
          </a:solidFill>
          <a:ln/>
        </p:spPr>
        <p:txBody>
          <a:bodyPr/>
          <a:lstStyle/>
          <a:p>
            <a:endParaRPr lang="fr-TN"/>
          </a:p>
        </p:txBody>
      </p:sp>
      <p:sp>
        <p:nvSpPr>
          <p:cNvPr id="20" name="Text 18"/>
          <p:cNvSpPr/>
          <p:nvPr/>
        </p:nvSpPr>
        <p:spPr>
          <a:xfrm>
            <a:off x="3520440" y="1691640"/>
            <a:ext cx="548640" cy="640080"/>
          </a:xfrm>
          <a:prstGeom prst="rect">
            <a:avLst/>
          </a:prstGeom>
          <a:noFill/>
          <a:ln/>
        </p:spPr>
        <p:txBody>
          <a:bodyPr wrap="square" rtlCol="0" anchor="ctr"/>
          <a:lstStyle/>
          <a:p>
            <a:pPr marL="0" indent="0">
              <a:buNone/>
            </a:pPr>
            <a:r>
              <a:rPr lang="en-US" sz="3200" b="1" dirty="0">
                <a:solidFill>
                  <a:srgbClr val="4F46E5"/>
                </a:solidFill>
                <a:latin typeface="Segoe UI" pitchFamily="34" charset="0"/>
                <a:ea typeface="Segoe UI" pitchFamily="34" charset="-122"/>
                <a:cs typeface="Segoe UI" pitchFamily="34" charset="-120"/>
              </a:rPr>
              <a:t>2</a:t>
            </a:r>
            <a:endParaRPr lang="en-US" sz="3200" dirty="0"/>
          </a:p>
        </p:txBody>
      </p:sp>
      <p:sp>
        <p:nvSpPr>
          <p:cNvPr id="21" name="Text 19"/>
          <p:cNvSpPr/>
          <p:nvPr/>
        </p:nvSpPr>
        <p:spPr>
          <a:xfrm>
            <a:off x="3520440" y="2377440"/>
            <a:ext cx="2331720" cy="457200"/>
          </a:xfrm>
          <a:prstGeom prst="rect">
            <a:avLst/>
          </a:prstGeom>
          <a:noFill/>
          <a:ln/>
        </p:spPr>
        <p:txBody>
          <a:bodyPr wrap="square" rtlCol="0" anchor="ctr"/>
          <a:lstStyle/>
          <a:p>
            <a:pPr marL="0" indent="0">
              <a:buNone/>
            </a:pPr>
            <a:r>
              <a:rPr lang="en-US" sz="1400" b="1" dirty="0">
                <a:solidFill>
                  <a:srgbClr val="0F172A"/>
                </a:solidFill>
                <a:latin typeface="Segoe UI" pitchFamily="34" charset="0"/>
                <a:ea typeface="Segoe UI" pitchFamily="34" charset="-122"/>
                <a:cs typeface="Segoe UI" pitchFamily="34" charset="-120"/>
              </a:rPr>
              <a:t>Enrichment Layer</a:t>
            </a:r>
            <a:endParaRPr lang="en-US" sz="1400" dirty="0"/>
          </a:p>
        </p:txBody>
      </p:sp>
      <p:sp>
        <p:nvSpPr>
          <p:cNvPr id="22" name="Shape 20"/>
          <p:cNvSpPr/>
          <p:nvPr/>
        </p:nvSpPr>
        <p:spPr>
          <a:xfrm>
            <a:off x="3520440" y="2880360"/>
            <a:ext cx="2331720" cy="10973"/>
          </a:xfrm>
          <a:prstGeom prst="rect">
            <a:avLst/>
          </a:prstGeom>
          <a:solidFill>
            <a:srgbClr val="4F46E5">
              <a:alpha val="40000"/>
            </a:srgbClr>
          </a:solidFill>
          <a:ln/>
        </p:spPr>
        <p:txBody>
          <a:bodyPr/>
          <a:lstStyle/>
          <a:p>
            <a:endParaRPr lang="fr-TN"/>
          </a:p>
        </p:txBody>
      </p:sp>
      <p:sp>
        <p:nvSpPr>
          <p:cNvPr id="23" name="Text 21"/>
          <p:cNvSpPr/>
          <p:nvPr/>
        </p:nvSpPr>
        <p:spPr>
          <a:xfrm>
            <a:off x="3520440" y="3063240"/>
            <a:ext cx="2331720" cy="3017520"/>
          </a:xfrm>
          <a:prstGeom prst="rect">
            <a:avLst/>
          </a:prstGeom>
          <a:noFill/>
          <a:ln/>
        </p:spPr>
        <p:txBody>
          <a:bodyPr wrap="square" rtlCol="0" anchor="t"/>
          <a:lstStyle/>
          <a:p>
            <a:pPr marL="0" indent="0">
              <a:lnSpc>
                <a:spcPct val="140000"/>
              </a:lnSpc>
              <a:buNone/>
            </a:pPr>
            <a:r>
              <a:rPr lang="en-US" sz="1050" dirty="0">
                <a:solidFill>
                  <a:srgbClr val="475569"/>
                </a:solidFill>
                <a:latin typeface="Segoe UI" pitchFamily="34" charset="0"/>
                <a:ea typeface="Segoe UI" pitchFamily="34" charset="-122"/>
                <a:cs typeface="Segoe UI" pitchFamily="34" charset="-120"/>
              </a:rPr>
              <a:t>5-layer classification engine: keyword matching, RDAP organization lookup, port-based inference, MISP Galaxy sectors, and feed-source defaults — tagging targets into 9 critical industries.</a:t>
            </a:r>
            <a:endParaRPr lang="en-US" sz="1050" dirty="0"/>
          </a:p>
        </p:txBody>
      </p:sp>
      <p:sp>
        <p:nvSpPr>
          <p:cNvPr id="24" name="Text 22"/>
          <p:cNvSpPr/>
          <p:nvPr/>
        </p:nvSpPr>
        <p:spPr>
          <a:xfrm>
            <a:off x="5998464" y="3657600"/>
            <a:ext cx="182880" cy="365760"/>
          </a:xfrm>
          <a:prstGeom prst="rect">
            <a:avLst/>
          </a:prstGeom>
          <a:noFill/>
          <a:ln/>
        </p:spPr>
        <p:txBody>
          <a:bodyPr wrap="square" rtlCol="0" anchor="ctr"/>
          <a:lstStyle/>
          <a:p>
            <a:pPr marL="0" indent="0" algn="ctr">
              <a:buNone/>
            </a:pPr>
            <a:r>
              <a:rPr lang="en-US" sz="1200" dirty="0">
                <a:solidFill>
                  <a:srgbClr val="4F46E5"/>
                </a:solidFill>
                <a:latin typeface="Segoe UI" pitchFamily="34" charset="0"/>
                <a:ea typeface="Segoe UI" pitchFamily="34" charset="-122"/>
                <a:cs typeface="Segoe UI" pitchFamily="34" charset="-120"/>
              </a:rPr>
              <a:t>▶</a:t>
            </a:r>
            <a:endParaRPr lang="en-US" sz="1200" dirty="0"/>
          </a:p>
        </p:txBody>
      </p:sp>
      <p:sp>
        <p:nvSpPr>
          <p:cNvPr id="25" name="Shape 23"/>
          <p:cNvSpPr/>
          <p:nvPr/>
        </p:nvSpPr>
        <p:spPr>
          <a:xfrm>
            <a:off x="6172200" y="1417320"/>
            <a:ext cx="2606040" cy="4892040"/>
          </a:xfrm>
          <a:prstGeom prst="roundRect">
            <a:avLst>
              <a:gd name="adj" fmla="val 4211"/>
            </a:avLst>
          </a:prstGeom>
          <a:solidFill>
            <a:srgbClr val="FFFFFF"/>
          </a:solidFill>
          <a:ln w="7620">
            <a:solidFill>
              <a:srgbClr val="E2E8F0"/>
            </a:solidFill>
            <a:prstDash val="solid"/>
          </a:ln>
          <a:effectLst>
            <a:outerShdw blurRad="152400" dist="38100" dir="12000000" algn="bl" rotWithShape="0">
              <a:srgbClr val="94A3B8">
                <a:alpha val="20000"/>
              </a:srgbClr>
            </a:outerShdw>
          </a:effectLst>
        </p:spPr>
        <p:txBody>
          <a:bodyPr/>
          <a:lstStyle/>
          <a:p>
            <a:endParaRPr lang="fr-TN"/>
          </a:p>
        </p:txBody>
      </p:sp>
      <p:sp>
        <p:nvSpPr>
          <p:cNvPr id="26" name="Shape 24"/>
          <p:cNvSpPr/>
          <p:nvPr/>
        </p:nvSpPr>
        <p:spPr>
          <a:xfrm>
            <a:off x="6263640" y="1435608"/>
            <a:ext cx="2423160" cy="36576"/>
          </a:xfrm>
          <a:prstGeom prst="rect">
            <a:avLst/>
          </a:prstGeom>
          <a:solidFill>
            <a:srgbClr val="7C3AED"/>
          </a:solidFill>
          <a:ln/>
        </p:spPr>
        <p:txBody>
          <a:bodyPr/>
          <a:lstStyle/>
          <a:p>
            <a:endParaRPr lang="fr-TN"/>
          </a:p>
        </p:txBody>
      </p:sp>
      <p:sp>
        <p:nvSpPr>
          <p:cNvPr id="27" name="Text 25"/>
          <p:cNvSpPr/>
          <p:nvPr/>
        </p:nvSpPr>
        <p:spPr>
          <a:xfrm>
            <a:off x="6309360" y="1691640"/>
            <a:ext cx="548640" cy="640080"/>
          </a:xfrm>
          <a:prstGeom prst="rect">
            <a:avLst/>
          </a:prstGeom>
          <a:noFill/>
          <a:ln/>
        </p:spPr>
        <p:txBody>
          <a:bodyPr wrap="square" rtlCol="0" anchor="ctr"/>
          <a:lstStyle/>
          <a:p>
            <a:pPr marL="0" indent="0">
              <a:buNone/>
            </a:pPr>
            <a:r>
              <a:rPr lang="en-US" sz="3200" b="1" dirty="0">
                <a:solidFill>
                  <a:srgbClr val="7C3AED"/>
                </a:solidFill>
                <a:latin typeface="Segoe UI" pitchFamily="34" charset="0"/>
                <a:ea typeface="Segoe UI" pitchFamily="34" charset="-122"/>
                <a:cs typeface="Segoe UI" pitchFamily="34" charset="-120"/>
              </a:rPr>
              <a:t>3</a:t>
            </a:r>
            <a:endParaRPr lang="en-US" sz="3200" dirty="0"/>
          </a:p>
        </p:txBody>
      </p:sp>
      <p:sp>
        <p:nvSpPr>
          <p:cNvPr id="28" name="Text 26"/>
          <p:cNvSpPr/>
          <p:nvPr/>
        </p:nvSpPr>
        <p:spPr>
          <a:xfrm>
            <a:off x="6309360" y="2377440"/>
            <a:ext cx="2331720" cy="457200"/>
          </a:xfrm>
          <a:prstGeom prst="rect">
            <a:avLst/>
          </a:prstGeom>
          <a:noFill/>
          <a:ln/>
        </p:spPr>
        <p:txBody>
          <a:bodyPr wrap="square" rtlCol="0" anchor="ctr"/>
          <a:lstStyle/>
          <a:p>
            <a:pPr marL="0" indent="0">
              <a:buNone/>
            </a:pPr>
            <a:r>
              <a:rPr lang="en-US" sz="1400" b="1" dirty="0">
                <a:solidFill>
                  <a:srgbClr val="0F172A"/>
                </a:solidFill>
                <a:latin typeface="Segoe UI" pitchFamily="34" charset="0"/>
                <a:ea typeface="Segoe UI" pitchFamily="34" charset="-122"/>
                <a:cs typeface="Segoe UI" pitchFamily="34" charset="-120"/>
              </a:rPr>
              <a:t>Streaming Layer</a:t>
            </a:r>
            <a:endParaRPr lang="en-US" sz="1400" dirty="0"/>
          </a:p>
        </p:txBody>
      </p:sp>
      <p:sp>
        <p:nvSpPr>
          <p:cNvPr id="29" name="Shape 27"/>
          <p:cNvSpPr/>
          <p:nvPr/>
        </p:nvSpPr>
        <p:spPr>
          <a:xfrm>
            <a:off x="6309360" y="2880360"/>
            <a:ext cx="2331720" cy="10973"/>
          </a:xfrm>
          <a:prstGeom prst="rect">
            <a:avLst/>
          </a:prstGeom>
          <a:solidFill>
            <a:srgbClr val="7C3AED">
              <a:alpha val="40000"/>
            </a:srgbClr>
          </a:solidFill>
          <a:ln/>
        </p:spPr>
        <p:txBody>
          <a:bodyPr/>
          <a:lstStyle/>
          <a:p>
            <a:endParaRPr lang="fr-TN"/>
          </a:p>
        </p:txBody>
      </p:sp>
      <p:sp>
        <p:nvSpPr>
          <p:cNvPr id="30" name="Text 28"/>
          <p:cNvSpPr/>
          <p:nvPr/>
        </p:nvSpPr>
        <p:spPr>
          <a:xfrm>
            <a:off x="6309360" y="3063240"/>
            <a:ext cx="2331720" cy="3017520"/>
          </a:xfrm>
          <a:prstGeom prst="rect">
            <a:avLst/>
          </a:prstGeom>
          <a:noFill/>
          <a:ln/>
        </p:spPr>
        <p:txBody>
          <a:bodyPr wrap="square" rtlCol="0" anchor="t"/>
          <a:lstStyle/>
          <a:p>
            <a:pPr marL="0" indent="0">
              <a:lnSpc>
                <a:spcPct val="140000"/>
              </a:lnSpc>
              <a:buNone/>
            </a:pPr>
            <a:r>
              <a:rPr lang="en-US" sz="1050" dirty="0">
                <a:solidFill>
                  <a:srgbClr val="475569"/>
                </a:solidFill>
                <a:latin typeface="Segoe UI" pitchFamily="34" charset="0"/>
                <a:ea typeface="Segoe UI" pitchFamily="34" charset="-122"/>
                <a:cs typeface="Segoe UI" pitchFamily="34" charset="-120"/>
              </a:rPr>
              <a:t>Server-Sent Events (SSE) broadcasting queue with 300ms batch flush and 500-event staging cap. Bulk MongoDB inserts every 25 documents.</a:t>
            </a:r>
            <a:endParaRPr lang="en-US" sz="1050" dirty="0"/>
          </a:p>
        </p:txBody>
      </p:sp>
      <p:sp>
        <p:nvSpPr>
          <p:cNvPr id="31" name="Text 29"/>
          <p:cNvSpPr/>
          <p:nvPr/>
        </p:nvSpPr>
        <p:spPr>
          <a:xfrm>
            <a:off x="8787384" y="3657600"/>
            <a:ext cx="182880" cy="365760"/>
          </a:xfrm>
          <a:prstGeom prst="rect">
            <a:avLst/>
          </a:prstGeom>
          <a:noFill/>
          <a:ln/>
        </p:spPr>
        <p:txBody>
          <a:bodyPr wrap="square" rtlCol="0" anchor="ctr"/>
          <a:lstStyle/>
          <a:p>
            <a:pPr marL="0" indent="0" algn="ctr">
              <a:buNone/>
            </a:pPr>
            <a:r>
              <a:rPr lang="en-US" sz="1200" dirty="0">
                <a:solidFill>
                  <a:srgbClr val="7C3AED"/>
                </a:solidFill>
                <a:latin typeface="Segoe UI" pitchFamily="34" charset="0"/>
                <a:ea typeface="Segoe UI" pitchFamily="34" charset="-122"/>
                <a:cs typeface="Segoe UI" pitchFamily="34" charset="-120"/>
              </a:rPr>
              <a:t>▶</a:t>
            </a:r>
            <a:endParaRPr lang="en-US" sz="1200" dirty="0"/>
          </a:p>
        </p:txBody>
      </p:sp>
      <p:sp>
        <p:nvSpPr>
          <p:cNvPr id="32" name="Shape 30"/>
          <p:cNvSpPr/>
          <p:nvPr/>
        </p:nvSpPr>
        <p:spPr>
          <a:xfrm>
            <a:off x="8961120" y="1417320"/>
            <a:ext cx="2606040" cy="4892040"/>
          </a:xfrm>
          <a:prstGeom prst="roundRect">
            <a:avLst>
              <a:gd name="adj" fmla="val 4211"/>
            </a:avLst>
          </a:prstGeom>
          <a:solidFill>
            <a:srgbClr val="FFFFFF"/>
          </a:solidFill>
          <a:ln w="7620">
            <a:solidFill>
              <a:srgbClr val="E2E8F0"/>
            </a:solidFill>
            <a:prstDash val="solid"/>
          </a:ln>
          <a:effectLst>
            <a:outerShdw blurRad="152400" dist="38100" dir="12000000" algn="bl" rotWithShape="0">
              <a:srgbClr val="94A3B8">
                <a:alpha val="20000"/>
              </a:srgbClr>
            </a:outerShdw>
          </a:effectLst>
        </p:spPr>
        <p:txBody>
          <a:bodyPr/>
          <a:lstStyle/>
          <a:p>
            <a:endParaRPr lang="fr-TN"/>
          </a:p>
        </p:txBody>
      </p:sp>
      <p:sp>
        <p:nvSpPr>
          <p:cNvPr id="33" name="Shape 31"/>
          <p:cNvSpPr/>
          <p:nvPr/>
        </p:nvSpPr>
        <p:spPr>
          <a:xfrm>
            <a:off x="9052560" y="1435608"/>
            <a:ext cx="2423160" cy="36576"/>
          </a:xfrm>
          <a:prstGeom prst="rect">
            <a:avLst/>
          </a:prstGeom>
          <a:solidFill>
            <a:srgbClr val="059669"/>
          </a:solidFill>
          <a:ln/>
        </p:spPr>
        <p:txBody>
          <a:bodyPr/>
          <a:lstStyle/>
          <a:p>
            <a:endParaRPr lang="fr-TN"/>
          </a:p>
        </p:txBody>
      </p:sp>
      <p:sp>
        <p:nvSpPr>
          <p:cNvPr id="34" name="Text 32"/>
          <p:cNvSpPr/>
          <p:nvPr/>
        </p:nvSpPr>
        <p:spPr>
          <a:xfrm>
            <a:off x="9098280" y="1691640"/>
            <a:ext cx="548640" cy="640080"/>
          </a:xfrm>
          <a:prstGeom prst="rect">
            <a:avLst/>
          </a:prstGeom>
          <a:noFill/>
          <a:ln/>
        </p:spPr>
        <p:txBody>
          <a:bodyPr wrap="square" rtlCol="0" anchor="ctr"/>
          <a:lstStyle/>
          <a:p>
            <a:pPr marL="0" indent="0">
              <a:buNone/>
            </a:pPr>
            <a:r>
              <a:rPr lang="en-US" sz="3200" b="1" dirty="0">
                <a:solidFill>
                  <a:srgbClr val="059669"/>
                </a:solidFill>
                <a:latin typeface="Segoe UI" pitchFamily="34" charset="0"/>
                <a:ea typeface="Segoe UI" pitchFamily="34" charset="-122"/>
                <a:cs typeface="Segoe UI" pitchFamily="34" charset="-120"/>
              </a:rPr>
              <a:t>4</a:t>
            </a:r>
            <a:endParaRPr lang="en-US" sz="3200" dirty="0"/>
          </a:p>
        </p:txBody>
      </p:sp>
      <p:sp>
        <p:nvSpPr>
          <p:cNvPr id="35" name="Text 33"/>
          <p:cNvSpPr/>
          <p:nvPr/>
        </p:nvSpPr>
        <p:spPr>
          <a:xfrm>
            <a:off x="9098280" y="2377440"/>
            <a:ext cx="2331720" cy="457200"/>
          </a:xfrm>
          <a:prstGeom prst="rect">
            <a:avLst/>
          </a:prstGeom>
          <a:noFill/>
          <a:ln/>
        </p:spPr>
        <p:txBody>
          <a:bodyPr wrap="square" rtlCol="0" anchor="ctr"/>
          <a:lstStyle/>
          <a:p>
            <a:pPr marL="0" indent="0">
              <a:buNone/>
            </a:pPr>
            <a:r>
              <a:rPr lang="en-US" sz="1400" b="1" dirty="0">
                <a:solidFill>
                  <a:srgbClr val="0F172A"/>
                </a:solidFill>
                <a:latin typeface="Segoe UI" pitchFamily="34" charset="0"/>
                <a:ea typeface="Segoe UI" pitchFamily="34" charset="-122"/>
                <a:cs typeface="Segoe UI" pitchFamily="34" charset="-120"/>
              </a:rPr>
              <a:t>Visualization Layer</a:t>
            </a:r>
            <a:endParaRPr lang="en-US" sz="1400" dirty="0"/>
          </a:p>
        </p:txBody>
      </p:sp>
      <p:sp>
        <p:nvSpPr>
          <p:cNvPr id="36" name="Shape 34"/>
          <p:cNvSpPr/>
          <p:nvPr/>
        </p:nvSpPr>
        <p:spPr>
          <a:xfrm>
            <a:off x="9098280" y="2880360"/>
            <a:ext cx="2331720" cy="10973"/>
          </a:xfrm>
          <a:prstGeom prst="rect">
            <a:avLst/>
          </a:prstGeom>
          <a:solidFill>
            <a:srgbClr val="059669">
              <a:alpha val="40000"/>
            </a:srgbClr>
          </a:solidFill>
          <a:ln/>
        </p:spPr>
        <p:txBody>
          <a:bodyPr/>
          <a:lstStyle/>
          <a:p>
            <a:endParaRPr lang="fr-TN"/>
          </a:p>
        </p:txBody>
      </p:sp>
      <p:sp>
        <p:nvSpPr>
          <p:cNvPr id="37" name="Text 35"/>
          <p:cNvSpPr/>
          <p:nvPr/>
        </p:nvSpPr>
        <p:spPr>
          <a:xfrm>
            <a:off x="9098280" y="3063240"/>
            <a:ext cx="2331720" cy="3017520"/>
          </a:xfrm>
          <a:prstGeom prst="rect">
            <a:avLst/>
          </a:prstGeom>
          <a:noFill/>
          <a:ln/>
        </p:spPr>
        <p:txBody>
          <a:bodyPr wrap="square" rtlCol="0" anchor="t"/>
          <a:lstStyle/>
          <a:p>
            <a:pPr marL="0" indent="0">
              <a:lnSpc>
                <a:spcPct val="140000"/>
              </a:lnSpc>
              <a:buNone/>
            </a:pPr>
            <a:r>
              <a:rPr lang="en-US" sz="1050" dirty="0">
                <a:solidFill>
                  <a:srgbClr val="475569"/>
                </a:solidFill>
                <a:latin typeface="Segoe UI" pitchFamily="34" charset="0"/>
                <a:ea typeface="Segoe UI" pitchFamily="34" charset="-122"/>
                <a:cs typeface="Segoe UI" pitchFamily="34" charset="-120"/>
              </a:rPr>
              <a:t>Interactive 3D WebGL Earth at 60fps with curved attack arcs, D3 force graph for STIX relationships, and MITRE ATT&amp;CK kill chain grid.</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88952" cy="45720"/>
          </a:xfrm>
          <a:prstGeom prst="rect">
            <a:avLst/>
          </a:prstGeom>
          <a:solidFill>
            <a:srgbClr val="2563EB"/>
          </a:solidFill>
          <a:ln/>
        </p:spPr>
        <p:txBody>
          <a:bodyPr/>
          <a:lstStyle/>
          <a:p>
            <a:endParaRPr lang="fr-TN"/>
          </a:p>
        </p:txBody>
      </p:sp>
      <p:sp>
        <p:nvSpPr>
          <p:cNvPr id="3" name="Shape 1"/>
          <p:cNvSpPr/>
          <p:nvPr/>
        </p:nvSpPr>
        <p:spPr>
          <a:xfrm>
            <a:off x="10972800" y="274320"/>
            <a:ext cx="914400" cy="1829"/>
          </a:xfrm>
          <a:prstGeom prst="rect">
            <a:avLst/>
          </a:prstGeom>
          <a:solidFill>
            <a:srgbClr val="E2E8F0"/>
          </a:solidFill>
          <a:ln/>
        </p:spPr>
        <p:txBody>
          <a:bodyPr/>
          <a:lstStyle/>
          <a:p>
            <a:endParaRPr lang="fr-TN"/>
          </a:p>
        </p:txBody>
      </p:sp>
      <p:sp>
        <p:nvSpPr>
          <p:cNvPr id="4" name="Shape 2"/>
          <p:cNvSpPr/>
          <p:nvPr/>
        </p:nvSpPr>
        <p:spPr>
          <a:xfrm>
            <a:off x="11868912" y="274320"/>
            <a:ext cx="1829" cy="640080"/>
          </a:xfrm>
          <a:prstGeom prst="rect">
            <a:avLst/>
          </a:prstGeom>
          <a:solidFill>
            <a:srgbClr val="E2E8F0"/>
          </a:solidFill>
          <a:ln/>
        </p:spPr>
        <p:txBody>
          <a:bodyPr/>
          <a:lstStyle/>
          <a:p>
            <a:endParaRPr lang="fr-TN"/>
          </a:p>
        </p:txBody>
      </p:sp>
      <p:sp>
        <p:nvSpPr>
          <p:cNvPr id="5" name="Shape 3"/>
          <p:cNvSpPr/>
          <p:nvPr/>
        </p:nvSpPr>
        <p:spPr>
          <a:xfrm>
            <a:off x="320040" y="6537960"/>
            <a:ext cx="1829" cy="274320"/>
          </a:xfrm>
          <a:prstGeom prst="rect">
            <a:avLst/>
          </a:prstGeom>
          <a:solidFill>
            <a:srgbClr val="E2E8F0"/>
          </a:solidFill>
          <a:ln/>
        </p:spPr>
        <p:txBody>
          <a:bodyPr/>
          <a:lstStyle/>
          <a:p>
            <a:endParaRPr lang="fr-TN"/>
          </a:p>
        </p:txBody>
      </p:sp>
      <p:sp>
        <p:nvSpPr>
          <p:cNvPr id="6" name="Shape 4"/>
          <p:cNvSpPr/>
          <p:nvPr/>
        </p:nvSpPr>
        <p:spPr>
          <a:xfrm>
            <a:off x="320040" y="6537960"/>
            <a:ext cx="640080" cy="1829"/>
          </a:xfrm>
          <a:prstGeom prst="rect">
            <a:avLst/>
          </a:prstGeom>
          <a:solidFill>
            <a:srgbClr val="E2E8F0"/>
          </a:solidFill>
          <a:ln/>
        </p:spPr>
        <p:txBody>
          <a:bodyPr/>
          <a:lstStyle/>
          <a:p>
            <a:endParaRPr lang="fr-TN"/>
          </a:p>
        </p:txBody>
      </p:sp>
      <p:sp>
        <p:nvSpPr>
          <p:cNvPr id="7" name="Text 5"/>
          <p:cNvSpPr/>
          <p:nvPr/>
        </p:nvSpPr>
        <p:spPr>
          <a:xfrm>
            <a:off x="731520" y="274320"/>
            <a:ext cx="10515600" cy="256032"/>
          </a:xfrm>
          <a:prstGeom prst="rect">
            <a:avLst/>
          </a:prstGeom>
          <a:noFill/>
          <a:ln/>
        </p:spPr>
        <p:txBody>
          <a:bodyPr wrap="square" rtlCol="0" anchor="ctr"/>
          <a:lstStyle/>
          <a:p>
            <a:pPr marL="0" indent="0">
              <a:buNone/>
            </a:pPr>
            <a:r>
              <a:rPr lang="en-US" sz="900" b="1" dirty="0">
                <a:solidFill>
                  <a:srgbClr val="2563EB"/>
                </a:solidFill>
                <a:latin typeface="Segoe UI" pitchFamily="34" charset="0"/>
                <a:ea typeface="Segoe UI" pitchFamily="34" charset="-122"/>
                <a:cs typeface="Segoe UI" pitchFamily="34" charset="-120"/>
              </a:rPr>
              <a:t>CHAPTER 1 — PRE-STUDY</a:t>
            </a:r>
            <a:endParaRPr lang="en-US" sz="900" dirty="0"/>
          </a:p>
        </p:txBody>
      </p:sp>
      <p:sp>
        <p:nvSpPr>
          <p:cNvPr id="8" name="Text 6"/>
          <p:cNvSpPr/>
          <p:nvPr/>
        </p:nvSpPr>
        <p:spPr>
          <a:xfrm>
            <a:off x="731520" y="548640"/>
            <a:ext cx="10515600" cy="502920"/>
          </a:xfrm>
          <a:prstGeom prst="rect">
            <a:avLst/>
          </a:prstGeom>
          <a:noFill/>
          <a:ln/>
        </p:spPr>
        <p:txBody>
          <a:bodyPr wrap="square" rtlCol="0" anchor="ctr"/>
          <a:lstStyle/>
          <a:p>
            <a:pPr marL="0" indent="0">
              <a:buNone/>
            </a:pPr>
            <a:r>
              <a:rPr lang="en-US" sz="3000" b="1" dirty="0">
                <a:solidFill>
                  <a:srgbClr val="0F172A"/>
                </a:solidFill>
                <a:latin typeface="Segoe UI" pitchFamily="34" charset="0"/>
                <a:ea typeface="Segoe UI" pitchFamily="34" charset="-122"/>
                <a:cs typeface="Segoe UI" pitchFamily="34" charset="-120"/>
              </a:rPr>
              <a:t>Agile Scrum Methodology</a:t>
            </a:r>
            <a:endParaRPr lang="en-US" sz="3000" dirty="0"/>
          </a:p>
        </p:txBody>
      </p:sp>
      <p:sp>
        <p:nvSpPr>
          <p:cNvPr id="9" name="Shape 7"/>
          <p:cNvSpPr/>
          <p:nvPr/>
        </p:nvSpPr>
        <p:spPr>
          <a:xfrm>
            <a:off x="731520" y="1115568"/>
            <a:ext cx="1828800" cy="32004"/>
          </a:xfrm>
          <a:prstGeom prst="rect">
            <a:avLst/>
          </a:prstGeom>
          <a:solidFill>
            <a:srgbClr val="2563EB"/>
          </a:solidFill>
          <a:ln/>
        </p:spPr>
        <p:txBody>
          <a:bodyPr/>
          <a:lstStyle/>
          <a:p>
            <a:endParaRPr lang="fr-TN"/>
          </a:p>
        </p:txBody>
      </p:sp>
      <p:sp>
        <p:nvSpPr>
          <p:cNvPr id="10" name="Shape 8"/>
          <p:cNvSpPr/>
          <p:nvPr/>
        </p:nvSpPr>
        <p:spPr>
          <a:xfrm>
            <a:off x="2651760" y="1124712"/>
            <a:ext cx="8778240" cy="10973"/>
          </a:xfrm>
          <a:prstGeom prst="rect">
            <a:avLst/>
          </a:prstGeom>
          <a:solidFill>
            <a:srgbClr val="E2E8F0"/>
          </a:solidFill>
          <a:ln/>
        </p:spPr>
        <p:txBody>
          <a:bodyPr/>
          <a:lstStyle/>
          <a:p>
            <a:endParaRPr lang="fr-TN"/>
          </a:p>
        </p:txBody>
      </p:sp>
      <p:sp>
        <p:nvSpPr>
          <p:cNvPr id="11" name="Shape 9"/>
          <p:cNvSpPr/>
          <p:nvPr/>
        </p:nvSpPr>
        <p:spPr>
          <a:xfrm>
            <a:off x="685800" y="1417320"/>
            <a:ext cx="5212080" cy="4892040"/>
          </a:xfrm>
          <a:prstGeom prst="roundRect">
            <a:avLst>
              <a:gd name="adj" fmla="val 2243"/>
            </a:avLst>
          </a:prstGeom>
          <a:solidFill>
            <a:srgbClr val="FFFFFF"/>
          </a:solidFill>
          <a:ln w="8890">
            <a:solidFill>
              <a:srgbClr val="E2E8F0"/>
            </a:solidFill>
            <a:prstDash val="solid"/>
          </a:ln>
          <a:effectLst>
            <a:outerShdw blurRad="152400" dist="38100" dir="12000000" algn="bl" rotWithShape="0">
              <a:srgbClr val="94A3B8">
                <a:alpha val="25000"/>
              </a:srgbClr>
            </a:outerShdw>
          </a:effectLst>
        </p:spPr>
        <p:txBody>
          <a:bodyPr/>
          <a:lstStyle/>
          <a:p>
            <a:endParaRPr lang="fr-TN"/>
          </a:p>
        </p:txBody>
      </p:sp>
      <p:sp>
        <p:nvSpPr>
          <p:cNvPr id="12" name="Shape 10"/>
          <p:cNvSpPr/>
          <p:nvPr/>
        </p:nvSpPr>
        <p:spPr>
          <a:xfrm>
            <a:off x="795528" y="1435608"/>
            <a:ext cx="4992624" cy="36576"/>
          </a:xfrm>
          <a:prstGeom prst="rect">
            <a:avLst/>
          </a:prstGeom>
          <a:solidFill>
            <a:srgbClr val="2563EB"/>
          </a:solidFill>
          <a:ln/>
        </p:spPr>
        <p:txBody>
          <a:bodyPr/>
          <a:lstStyle/>
          <a:p>
            <a:endParaRPr lang="fr-TN"/>
          </a:p>
        </p:txBody>
      </p:sp>
      <p:sp>
        <p:nvSpPr>
          <p:cNvPr id="13" name="Text 11"/>
          <p:cNvSpPr/>
          <p:nvPr/>
        </p:nvSpPr>
        <p:spPr>
          <a:xfrm>
            <a:off x="886968" y="1581912"/>
            <a:ext cx="4809744" cy="365760"/>
          </a:xfrm>
          <a:prstGeom prst="rect">
            <a:avLst/>
          </a:prstGeom>
          <a:noFill/>
          <a:ln/>
        </p:spPr>
        <p:txBody>
          <a:bodyPr wrap="square" rtlCol="0" anchor="ctr"/>
          <a:lstStyle/>
          <a:p>
            <a:pPr marL="0" indent="0">
              <a:buNone/>
            </a:pPr>
            <a:r>
              <a:rPr lang="en-US" sz="1400" b="1" dirty="0">
                <a:solidFill>
                  <a:srgbClr val="0F172A"/>
                </a:solidFill>
                <a:latin typeface="Segoe UI" pitchFamily="34" charset="0"/>
                <a:ea typeface="Segoe UI" pitchFamily="34" charset="-122"/>
                <a:cs typeface="Segoe UI" pitchFamily="34" charset="-120"/>
              </a:rPr>
              <a:t>4 Sprints &amp; Agile Rituals</a:t>
            </a:r>
            <a:endParaRPr lang="en-US" sz="1400" dirty="0"/>
          </a:p>
        </p:txBody>
      </p:sp>
      <p:sp>
        <p:nvSpPr>
          <p:cNvPr id="14" name="Text 12"/>
          <p:cNvSpPr/>
          <p:nvPr/>
        </p:nvSpPr>
        <p:spPr>
          <a:xfrm>
            <a:off x="886968" y="1984248"/>
            <a:ext cx="4809744" cy="4114800"/>
          </a:xfrm>
          <a:prstGeom prst="rect">
            <a:avLst/>
          </a:prstGeom>
          <a:noFill/>
          <a:ln/>
        </p:spPr>
        <p:txBody>
          <a:bodyPr wrap="square" rtlCol="0" anchor="t"/>
          <a:lstStyle/>
          <a:p>
            <a:pPr marL="0" indent="0">
              <a:lnSpc>
                <a:spcPct val="135000"/>
              </a:lnSpc>
              <a:buNone/>
            </a:pPr>
            <a:r>
              <a:rPr lang="en-US" sz="1050" dirty="0">
                <a:solidFill>
                  <a:srgbClr val="475569"/>
                </a:solidFill>
                <a:latin typeface="Segoe UI" pitchFamily="34" charset="0"/>
                <a:ea typeface="Segoe UI" pitchFamily="34" charset="-122"/>
                <a:cs typeface="Segoe UI" pitchFamily="34" charset="-120"/>
              </a:rPr>
              <a:t>We ran a 12-week development cycle with clear team velocity metrics (25-30 SP/sprint).</a:t>
            </a:r>
            <a:endParaRPr lang="en-US" sz="1050" dirty="0"/>
          </a:p>
          <a:p>
            <a:pPr marL="0" indent="0">
              <a:lnSpc>
                <a:spcPct val="135000"/>
              </a:lnSpc>
              <a:buNone/>
            </a:pPr>
            <a:endParaRPr lang="en-US" sz="1050" dirty="0"/>
          </a:p>
          <a:p>
            <a:pPr marL="0" indent="0">
              <a:lnSpc>
                <a:spcPct val="135000"/>
              </a:lnSpc>
              <a:buNone/>
            </a:pPr>
            <a:r>
              <a:rPr lang="en-US" sz="1050" dirty="0">
                <a:solidFill>
                  <a:srgbClr val="475569"/>
                </a:solidFill>
                <a:latin typeface="Segoe UI" pitchFamily="34" charset="0"/>
                <a:ea typeface="Segoe UI" pitchFamily="34" charset="-122"/>
                <a:cs typeface="Segoe UI" pitchFamily="34" charset="-120"/>
              </a:rPr>
              <a:t>Twice-Weekly Rituals:</a:t>
            </a:r>
            <a:endParaRPr lang="en-US" sz="1050" dirty="0"/>
          </a:p>
          <a:p>
            <a:pPr marL="0" indent="0">
              <a:lnSpc>
                <a:spcPct val="135000"/>
              </a:lnSpc>
              <a:buNone/>
            </a:pPr>
            <a:r>
              <a:rPr lang="en-US" sz="1050" dirty="0">
                <a:solidFill>
                  <a:srgbClr val="475569"/>
                </a:solidFill>
                <a:latin typeface="Segoe UI" pitchFamily="34" charset="0"/>
                <a:ea typeface="Segoe UI" pitchFamily="34" charset="-122"/>
                <a:cs typeface="Segoe UI" pitchFamily="34" charset="-120"/>
              </a:rPr>
              <a:t>▸ Thursdays: Code integrations, feed scraper testing, performance checks.</a:t>
            </a:r>
            <a:endParaRPr lang="en-US" sz="1050" dirty="0"/>
          </a:p>
          <a:p>
            <a:pPr marL="0" indent="0">
              <a:lnSpc>
                <a:spcPct val="135000"/>
              </a:lnSpc>
              <a:buNone/>
            </a:pPr>
            <a:r>
              <a:rPr lang="en-US" sz="1050" dirty="0">
                <a:solidFill>
                  <a:srgbClr val="475569"/>
                </a:solidFill>
                <a:latin typeface="Segoe UI" pitchFamily="34" charset="0"/>
                <a:ea typeface="Segoe UI" pitchFamily="34" charset="-122"/>
                <a:cs typeface="Segoe UI" pitchFamily="34" charset="-120"/>
              </a:rPr>
              <a:t>▸ Sundays: Architectural consolidations, LaTeX report reviews.</a:t>
            </a:r>
            <a:endParaRPr lang="en-US" sz="1050" dirty="0"/>
          </a:p>
          <a:p>
            <a:pPr marL="0" indent="0">
              <a:lnSpc>
                <a:spcPct val="135000"/>
              </a:lnSpc>
              <a:buNone/>
            </a:pPr>
            <a:endParaRPr lang="en-US" sz="1050" dirty="0"/>
          </a:p>
          <a:p>
            <a:pPr marL="0" indent="0">
              <a:lnSpc>
                <a:spcPct val="135000"/>
              </a:lnSpc>
              <a:buNone/>
            </a:pPr>
            <a:r>
              <a:rPr lang="en-US" sz="1050" dirty="0">
                <a:solidFill>
                  <a:srgbClr val="475569"/>
                </a:solidFill>
                <a:latin typeface="Segoe UI" pitchFamily="34" charset="0"/>
                <a:ea typeface="Segoe UI" pitchFamily="34" charset="-122"/>
                <a:cs typeface="Segoe UI" pitchFamily="34" charset="-120"/>
              </a:rPr>
              <a:t>Result: 48+ collaborative sessions delivering a fully testable, production-ready release increment at each review.</a:t>
            </a:r>
            <a:endParaRPr lang="en-US" sz="1050" dirty="0"/>
          </a:p>
        </p:txBody>
      </p:sp>
      <p:sp>
        <p:nvSpPr>
          <p:cNvPr id="15" name="Shape 13"/>
          <p:cNvSpPr/>
          <p:nvPr/>
        </p:nvSpPr>
        <p:spPr>
          <a:xfrm>
            <a:off x="6217920" y="1417320"/>
            <a:ext cx="5303520" cy="1051560"/>
          </a:xfrm>
          <a:prstGeom prst="roundRect">
            <a:avLst>
              <a:gd name="adj" fmla="val 8696"/>
            </a:avLst>
          </a:prstGeom>
          <a:solidFill>
            <a:srgbClr val="FFFFFF"/>
          </a:solidFill>
          <a:ln w="6350">
            <a:solidFill>
              <a:srgbClr val="E2E8F0"/>
            </a:solidFill>
            <a:prstDash val="solid"/>
          </a:ln>
          <a:effectLst>
            <a:outerShdw blurRad="127000" dist="25400" dir="12000000" algn="bl" rotWithShape="0">
              <a:srgbClr val="94A3B8">
                <a:alpha val="18000"/>
              </a:srgbClr>
            </a:outerShdw>
          </a:effectLst>
        </p:spPr>
        <p:txBody>
          <a:bodyPr/>
          <a:lstStyle/>
          <a:p>
            <a:endParaRPr lang="fr-TN"/>
          </a:p>
        </p:txBody>
      </p:sp>
      <p:sp>
        <p:nvSpPr>
          <p:cNvPr id="16" name="Shape 14"/>
          <p:cNvSpPr/>
          <p:nvPr/>
        </p:nvSpPr>
        <p:spPr>
          <a:xfrm>
            <a:off x="6236208" y="1527048"/>
            <a:ext cx="45720" cy="822960"/>
          </a:xfrm>
          <a:prstGeom prst="rect">
            <a:avLst/>
          </a:prstGeom>
          <a:solidFill>
            <a:srgbClr val="2563EB"/>
          </a:solidFill>
          <a:ln/>
        </p:spPr>
        <p:txBody>
          <a:bodyPr/>
          <a:lstStyle/>
          <a:p>
            <a:endParaRPr lang="fr-TN"/>
          </a:p>
        </p:txBody>
      </p:sp>
      <p:sp>
        <p:nvSpPr>
          <p:cNvPr id="17" name="Text 15"/>
          <p:cNvSpPr/>
          <p:nvPr/>
        </p:nvSpPr>
        <p:spPr>
          <a:xfrm>
            <a:off x="6446520" y="1490472"/>
            <a:ext cx="4846320" cy="320040"/>
          </a:xfrm>
          <a:prstGeom prst="rect">
            <a:avLst/>
          </a:prstGeom>
          <a:noFill/>
          <a:ln/>
        </p:spPr>
        <p:txBody>
          <a:bodyPr wrap="square" rtlCol="0" anchor="ctr"/>
          <a:lstStyle/>
          <a:p>
            <a:pPr marL="0" indent="0">
              <a:buNone/>
            </a:pPr>
            <a:r>
              <a:rPr lang="en-US" sz="1200" b="1" dirty="0">
                <a:solidFill>
                  <a:srgbClr val="0F172A"/>
                </a:solidFill>
                <a:latin typeface="Segoe UI" pitchFamily="34" charset="0"/>
                <a:ea typeface="Segoe UI" pitchFamily="34" charset="-122"/>
                <a:cs typeface="Segoe UI" pitchFamily="34" charset="-120"/>
              </a:rPr>
              <a:t>Sprint 1: Ingestion Infrastructure</a:t>
            </a:r>
            <a:endParaRPr lang="en-US" sz="1200" dirty="0"/>
          </a:p>
        </p:txBody>
      </p:sp>
      <p:sp>
        <p:nvSpPr>
          <p:cNvPr id="18" name="Text 16"/>
          <p:cNvSpPr/>
          <p:nvPr/>
        </p:nvSpPr>
        <p:spPr>
          <a:xfrm>
            <a:off x="6446520" y="1828800"/>
            <a:ext cx="4846320" cy="548640"/>
          </a:xfrm>
          <a:prstGeom prst="rect">
            <a:avLst/>
          </a:prstGeom>
          <a:noFill/>
          <a:ln/>
        </p:spPr>
        <p:txBody>
          <a:bodyPr wrap="square" rtlCol="0" anchor="ctr"/>
          <a:lstStyle/>
          <a:p>
            <a:pPr marL="0" indent="0">
              <a:lnSpc>
                <a:spcPct val="120000"/>
              </a:lnSpc>
              <a:buNone/>
            </a:pPr>
            <a:r>
              <a:rPr lang="en-US" sz="900" dirty="0">
                <a:solidFill>
                  <a:srgbClr val="475569"/>
                </a:solidFill>
                <a:latin typeface="Segoe UI" pitchFamily="34" charset="0"/>
                <a:ea typeface="Segoe UI" pitchFamily="34" charset="-122"/>
                <a:cs typeface="Segoe UI" pitchFamily="34" charset="-120"/>
              </a:rPr>
              <a:t>9 feed scrapers (Checkpoint SSE, Bitdefender WS, FortiGuard REST, URLhaus, AlienVault, Kaspersky, RansomWatch, C2 Tracker, MISP Galaxy), MongoDB schema, BSON compression.</a:t>
            </a:r>
            <a:endParaRPr lang="en-US" sz="900" dirty="0"/>
          </a:p>
        </p:txBody>
      </p:sp>
      <p:sp>
        <p:nvSpPr>
          <p:cNvPr id="19" name="Shape 17"/>
          <p:cNvSpPr/>
          <p:nvPr/>
        </p:nvSpPr>
        <p:spPr>
          <a:xfrm>
            <a:off x="6217920" y="2651760"/>
            <a:ext cx="5303520" cy="1051560"/>
          </a:xfrm>
          <a:prstGeom prst="roundRect">
            <a:avLst>
              <a:gd name="adj" fmla="val 8696"/>
            </a:avLst>
          </a:prstGeom>
          <a:solidFill>
            <a:srgbClr val="FFFFFF"/>
          </a:solidFill>
          <a:ln w="6350">
            <a:solidFill>
              <a:srgbClr val="E2E8F0"/>
            </a:solidFill>
            <a:prstDash val="solid"/>
          </a:ln>
          <a:effectLst>
            <a:outerShdw blurRad="127000" dist="25400" dir="12000000" algn="bl" rotWithShape="0">
              <a:srgbClr val="94A3B8">
                <a:alpha val="18000"/>
              </a:srgbClr>
            </a:outerShdw>
          </a:effectLst>
        </p:spPr>
        <p:txBody>
          <a:bodyPr/>
          <a:lstStyle/>
          <a:p>
            <a:endParaRPr lang="fr-TN"/>
          </a:p>
        </p:txBody>
      </p:sp>
      <p:sp>
        <p:nvSpPr>
          <p:cNvPr id="20" name="Shape 18"/>
          <p:cNvSpPr/>
          <p:nvPr/>
        </p:nvSpPr>
        <p:spPr>
          <a:xfrm>
            <a:off x="6236208" y="2761488"/>
            <a:ext cx="45720" cy="822960"/>
          </a:xfrm>
          <a:prstGeom prst="rect">
            <a:avLst/>
          </a:prstGeom>
          <a:solidFill>
            <a:srgbClr val="4F46E5"/>
          </a:solidFill>
          <a:ln/>
        </p:spPr>
        <p:txBody>
          <a:bodyPr/>
          <a:lstStyle/>
          <a:p>
            <a:endParaRPr lang="fr-TN"/>
          </a:p>
        </p:txBody>
      </p:sp>
      <p:sp>
        <p:nvSpPr>
          <p:cNvPr id="21" name="Text 19"/>
          <p:cNvSpPr/>
          <p:nvPr/>
        </p:nvSpPr>
        <p:spPr>
          <a:xfrm>
            <a:off x="6446520" y="2724912"/>
            <a:ext cx="4846320" cy="320040"/>
          </a:xfrm>
          <a:prstGeom prst="rect">
            <a:avLst/>
          </a:prstGeom>
          <a:noFill/>
          <a:ln/>
        </p:spPr>
        <p:txBody>
          <a:bodyPr wrap="square" rtlCol="0" anchor="ctr"/>
          <a:lstStyle/>
          <a:p>
            <a:pPr marL="0" indent="0">
              <a:buNone/>
            </a:pPr>
            <a:r>
              <a:rPr lang="en-US" sz="1200" b="1" dirty="0">
                <a:solidFill>
                  <a:srgbClr val="0F172A"/>
                </a:solidFill>
                <a:latin typeface="Segoe UI" pitchFamily="34" charset="0"/>
                <a:ea typeface="Segoe UI" pitchFamily="34" charset="-122"/>
                <a:cs typeface="Segoe UI" pitchFamily="34" charset="-120"/>
              </a:rPr>
              <a:t>Sprint 2: Streaming &amp; Visualization</a:t>
            </a:r>
            <a:endParaRPr lang="en-US" sz="1200" dirty="0"/>
          </a:p>
        </p:txBody>
      </p:sp>
      <p:sp>
        <p:nvSpPr>
          <p:cNvPr id="22" name="Text 20"/>
          <p:cNvSpPr/>
          <p:nvPr/>
        </p:nvSpPr>
        <p:spPr>
          <a:xfrm>
            <a:off x="6446520" y="3063240"/>
            <a:ext cx="4846320" cy="548640"/>
          </a:xfrm>
          <a:prstGeom prst="rect">
            <a:avLst/>
          </a:prstGeom>
          <a:noFill/>
          <a:ln/>
        </p:spPr>
        <p:txBody>
          <a:bodyPr wrap="square" rtlCol="0" anchor="ctr"/>
          <a:lstStyle/>
          <a:p>
            <a:pPr marL="0" indent="0">
              <a:lnSpc>
                <a:spcPct val="120000"/>
              </a:lnSpc>
              <a:buNone/>
            </a:pPr>
            <a:r>
              <a:rPr lang="en-US" sz="900" dirty="0">
                <a:solidFill>
                  <a:srgbClr val="475569"/>
                </a:solidFill>
                <a:latin typeface="Segoe UI" pitchFamily="34" charset="0"/>
                <a:ea typeface="Segoe UI" pitchFamily="34" charset="-122"/>
                <a:cs typeface="Segoe UI" pitchFamily="34" charset="-120"/>
              </a:rPr>
              <a:t>SSE /api/feed endpoint, 300ms batch flush, Zustand state store, 3D Globe with attack arcs.</a:t>
            </a:r>
            <a:endParaRPr lang="en-US" sz="900" dirty="0"/>
          </a:p>
        </p:txBody>
      </p:sp>
      <p:sp>
        <p:nvSpPr>
          <p:cNvPr id="23" name="Shape 21"/>
          <p:cNvSpPr/>
          <p:nvPr/>
        </p:nvSpPr>
        <p:spPr>
          <a:xfrm>
            <a:off x="6217920" y="3886200"/>
            <a:ext cx="5303520" cy="1051560"/>
          </a:xfrm>
          <a:prstGeom prst="roundRect">
            <a:avLst>
              <a:gd name="adj" fmla="val 8696"/>
            </a:avLst>
          </a:prstGeom>
          <a:solidFill>
            <a:srgbClr val="FFFFFF"/>
          </a:solidFill>
          <a:ln w="6350">
            <a:solidFill>
              <a:srgbClr val="E2E8F0"/>
            </a:solidFill>
            <a:prstDash val="solid"/>
          </a:ln>
          <a:effectLst>
            <a:outerShdw blurRad="127000" dist="25400" dir="12000000" algn="bl" rotWithShape="0">
              <a:srgbClr val="94A3B8">
                <a:alpha val="18000"/>
              </a:srgbClr>
            </a:outerShdw>
          </a:effectLst>
        </p:spPr>
        <p:txBody>
          <a:bodyPr/>
          <a:lstStyle/>
          <a:p>
            <a:endParaRPr lang="fr-TN"/>
          </a:p>
        </p:txBody>
      </p:sp>
      <p:sp>
        <p:nvSpPr>
          <p:cNvPr id="24" name="Shape 22"/>
          <p:cNvSpPr/>
          <p:nvPr/>
        </p:nvSpPr>
        <p:spPr>
          <a:xfrm>
            <a:off x="6236208" y="3995928"/>
            <a:ext cx="45720" cy="822960"/>
          </a:xfrm>
          <a:prstGeom prst="rect">
            <a:avLst/>
          </a:prstGeom>
          <a:solidFill>
            <a:srgbClr val="7C3AED"/>
          </a:solidFill>
          <a:ln/>
        </p:spPr>
        <p:txBody>
          <a:bodyPr/>
          <a:lstStyle/>
          <a:p>
            <a:endParaRPr lang="fr-TN"/>
          </a:p>
        </p:txBody>
      </p:sp>
      <p:sp>
        <p:nvSpPr>
          <p:cNvPr id="25" name="Text 23"/>
          <p:cNvSpPr/>
          <p:nvPr/>
        </p:nvSpPr>
        <p:spPr>
          <a:xfrm>
            <a:off x="6446520" y="3959352"/>
            <a:ext cx="4846320" cy="320040"/>
          </a:xfrm>
          <a:prstGeom prst="rect">
            <a:avLst/>
          </a:prstGeom>
          <a:noFill/>
          <a:ln/>
        </p:spPr>
        <p:txBody>
          <a:bodyPr wrap="square" rtlCol="0" anchor="ctr"/>
          <a:lstStyle/>
          <a:p>
            <a:pPr marL="0" indent="0">
              <a:buNone/>
            </a:pPr>
            <a:r>
              <a:rPr lang="en-US" sz="1200" b="1" dirty="0">
                <a:solidFill>
                  <a:srgbClr val="0F172A"/>
                </a:solidFill>
                <a:latin typeface="Segoe UI" pitchFamily="34" charset="0"/>
                <a:ea typeface="Segoe UI" pitchFamily="34" charset="-122"/>
                <a:cs typeface="Segoe UI" pitchFamily="34" charset="-120"/>
              </a:rPr>
              <a:t>Sprint 3: STIX Intelligence Workspace</a:t>
            </a:r>
            <a:endParaRPr lang="en-US" sz="1200" dirty="0"/>
          </a:p>
        </p:txBody>
      </p:sp>
      <p:sp>
        <p:nvSpPr>
          <p:cNvPr id="26" name="Text 24"/>
          <p:cNvSpPr/>
          <p:nvPr/>
        </p:nvSpPr>
        <p:spPr>
          <a:xfrm>
            <a:off x="6446520" y="4297680"/>
            <a:ext cx="4846320" cy="548640"/>
          </a:xfrm>
          <a:prstGeom prst="rect">
            <a:avLst/>
          </a:prstGeom>
          <a:noFill/>
          <a:ln/>
        </p:spPr>
        <p:txBody>
          <a:bodyPr wrap="square" rtlCol="0" anchor="ctr"/>
          <a:lstStyle/>
          <a:p>
            <a:pPr marL="0" indent="0">
              <a:lnSpc>
                <a:spcPct val="120000"/>
              </a:lnSpc>
              <a:buNone/>
            </a:pPr>
            <a:r>
              <a:rPr lang="en-US" sz="900" dirty="0">
                <a:solidFill>
                  <a:srgbClr val="475569"/>
                </a:solidFill>
                <a:latin typeface="Segoe UI" pitchFamily="34" charset="0"/>
                <a:ea typeface="Segoe UI" pitchFamily="34" charset="-122"/>
                <a:cs typeface="Segoe UI" pitchFamily="34" charset="-120"/>
              </a:rPr>
              <a:t>Client-side STIX 2.1 parser, D3 relationship force graph, MITRE ATT&amp;CK matrix.</a:t>
            </a:r>
            <a:endParaRPr lang="en-US" sz="900" dirty="0"/>
          </a:p>
        </p:txBody>
      </p:sp>
      <p:sp>
        <p:nvSpPr>
          <p:cNvPr id="27" name="Shape 25"/>
          <p:cNvSpPr/>
          <p:nvPr/>
        </p:nvSpPr>
        <p:spPr>
          <a:xfrm>
            <a:off x="6217920" y="5120640"/>
            <a:ext cx="5303520" cy="1051560"/>
          </a:xfrm>
          <a:prstGeom prst="roundRect">
            <a:avLst>
              <a:gd name="adj" fmla="val 8696"/>
            </a:avLst>
          </a:prstGeom>
          <a:solidFill>
            <a:srgbClr val="FFFFFF"/>
          </a:solidFill>
          <a:ln w="6350">
            <a:solidFill>
              <a:srgbClr val="E2E8F0"/>
            </a:solidFill>
            <a:prstDash val="solid"/>
          </a:ln>
          <a:effectLst>
            <a:outerShdw blurRad="127000" dist="25400" dir="12000000" algn="bl" rotWithShape="0">
              <a:srgbClr val="94A3B8">
                <a:alpha val="18000"/>
              </a:srgbClr>
            </a:outerShdw>
          </a:effectLst>
        </p:spPr>
        <p:txBody>
          <a:bodyPr/>
          <a:lstStyle/>
          <a:p>
            <a:endParaRPr lang="fr-TN"/>
          </a:p>
        </p:txBody>
      </p:sp>
      <p:sp>
        <p:nvSpPr>
          <p:cNvPr id="28" name="Shape 26"/>
          <p:cNvSpPr/>
          <p:nvPr/>
        </p:nvSpPr>
        <p:spPr>
          <a:xfrm>
            <a:off x="6236208" y="5230368"/>
            <a:ext cx="45720" cy="822960"/>
          </a:xfrm>
          <a:prstGeom prst="rect">
            <a:avLst/>
          </a:prstGeom>
          <a:solidFill>
            <a:srgbClr val="059669"/>
          </a:solidFill>
          <a:ln/>
        </p:spPr>
        <p:txBody>
          <a:bodyPr/>
          <a:lstStyle/>
          <a:p>
            <a:endParaRPr lang="fr-TN"/>
          </a:p>
        </p:txBody>
      </p:sp>
      <p:sp>
        <p:nvSpPr>
          <p:cNvPr id="29" name="Text 27"/>
          <p:cNvSpPr/>
          <p:nvPr/>
        </p:nvSpPr>
        <p:spPr>
          <a:xfrm>
            <a:off x="6446520" y="5193792"/>
            <a:ext cx="4846320" cy="320040"/>
          </a:xfrm>
          <a:prstGeom prst="rect">
            <a:avLst/>
          </a:prstGeom>
          <a:noFill/>
          <a:ln/>
        </p:spPr>
        <p:txBody>
          <a:bodyPr wrap="square" rtlCol="0" anchor="ctr"/>
          <a:lstStyle/>
          <a:p>
            <a:pPr marL="0" indent="0">
              <a:buNone/>
            </a:pPr>
            <a:r>
              <a:rPr lang="en-US" sz="1200" b="1" dirty="0">
                <a:solidFill>
                  <a:srgbClr val="0F172A"/>
                </a:solidFill>
                <a:latin typeface="Segoe UI" pitchFamily="34" charset="0"/>
                <a:ea typeface="Segoe UI" pitchFamily="34" charset="-122"/>
                <a:cs typeface="Segoe UI" pitchFamily="34" charset="-120"/>
              </a:rPr>
              <a:t>Sprint 4: Analytics &amp; Guardrails</a:t>
            </a:r>
            <a:endParaRPr lang="en-US" sz="1200" dirty="0"/>
          </a:p>
        </p:txBody>
      </p:sp>
      <p:sp>
        <p:nvSpPr>
          <p:cNvPr id="30" name="Text 28"/>
          <p:cNvSpPr/>
          <p:nvPr/>
        </p:nvSpPr>
        <p:spPr>
          <a:xfrm>
            <a:off x="6446520" y="5532120"/>
            <a:ext cx="4846320" cy="548640"/>
          </a:xfrm>
          <a:prstGeom prst="rect">
            <a:avLst/>
          </a:prstGeom>
          <a:noFill/>
          <a:ln/>
        </p:spPr>
        <p:txBody>
          <a:bodyPr wrap="square" rtlCol="0" anchor="ctr"/>
          <a:lstStyle/>
          <a:p>
            <a:pPr marL="0" indent="0">
              <a:lnSpc>
                <a:spcPct val="120000"/>
              </a:lnSpc>
              <a:buNone/>
            </a:pPr>
            <a:r>
              <a:rPr lang="en-US" sz="900" dirty="0">
                <a:solidFill>
                  <a:srgbClr val="475569"/>
                </a:solidFill>
                <a:latin typeface="Segoe UI" pitchFamily="34" charset="0"/>
                <a:ea typeface="Segoe UI" pitchFamily="34" charset="-122"/>
                <a:cs typeface="Segoe UI" pitchFamily="34" charset="-120"/>
              </a:rPr>
              <a:t>Paginated log browser, Target My IP, Excel export, Adaptive FPS sampling, 500MB quota guard.</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88952" cy="45720"/>
          </a:xfrm>
          <a:prstGeom prst="rect">
            <a:avLst/>
          </a:prstGeom>
          <a:solidFill>
            <a:srgbClr val="2563EB"/>
          </a:solidFill>
          <a:ln/>
        </p:spPr>
        <p:txBody>
          <a:bodyPr/>
          <a:lstStyle/>
          <a:p>
            <a:endParaRPr lang="fr-TN"/>
          </a:p>
        </p:txBody>
      </p:sp>
      <p:sp>
        <p:nvSpPr>
          <p:cNvPr id="3" name="Shape 1"/>
          <p:cNvSpPr/>
          <p:nvPr/>
        </p:nvSpPr>
        <p:spPr>
          <a:xfrm>
            <a:off x="10972800" y="274320"/>
            <a:ext cx="914400" cy="1829"/>
          </a:xfrm>
          <a:prstGeom prst="rect">
            <a:avLst/>
          </a:prstGeom>
          <a:solidFill>
            <a:srgbClr val="E2E8F0"/>
          </a:solidFill>
          <a:ln/>
        </p:spPr>
        <p:txBody>
          <a:bodyPr/>
          <a:lstStyle/>
          <a:p>
            <a:endParaRPr lang="fr-TN"/>
          </a:p>
        </p:txBody>
      </p:sp>
      <p:sp>
        <p:nvSpPr>
          <p:cNvPr id="4" name="Shape 2"/>
          <p:cNvSpPr/>
          <p:nvPr/>
        </p:nvSpPr>
        <p:spPr>
          <a:xfrm>
            <a:off x="11868912" y="274320"/>
            <a:ext cx="1829" cy="640080"/>
          </a:xfrm>
          <a:prstGeom prst="rect">
            <a:avLst/>
          </a:prstGeom>
          <a:solidFill>
            <a:srgbClr val="E2E8F0"/>
          </a:solidFill>
          <a:ln/>
        </p:spPr>
        <p:txBody>
          <a:bodyPr/>
          <a:lstStyle/>
          <a:p>
            <a:endParaRPr lang="fr-TN"/>
          </a:p>
        </p:txBody>
      </p:sp>
      <p:sp>
        <p:nvSpPr>
          <p:cNvPr id="5" name="Shape 3"/>
          <p:cNvSpPr/>
          <p:nvPr/>
        </p:nvSpPr>
        <p:spPr>
          <a:xfrm>
            <a:off x="320040" y="6537960"/>
            <a:ext cx="1829" cy="274320"/>
          </a:xfrm>
          <a:prstGeom prst="rect">
            <a:avLst/>
          </a:prstGeom>
          <a:solidFill>
            <a:srgbClr val="E2E8F0"/>
          </a:solidFill>
          <a:ln/>
        </p:spPr>
        <p:txBody>
          <a:bodyPr/>
          <a:lstStyle/>
          <a:p>
            <a:endParaRPr lang="fr-TN"/>
          </a:p>
        </p:txBody>
      </p:sp>
      <p:sp>
        <p:nvSpPr>
          <p:cNvPr id="6" name="Shape 4"/>
          <p:cNvSpPr/>
          <p:nvPr/>
        </p:nvSpPr>
        <p:spPr>
          <a:xfrm>
            <a:off x="320040" y="6537960"/>
            <a:ext cx="640080" cy="1829"/>
          </a:xfrm>
          <a:prstGeom prst="rect">
            <a:avLst/>
          </a:prstGeom>
          <a:solidFill>
            <a:srgbClr val="E2E8F0"/>
          </a:solidFill>
          <a:ln/>
        </p:spPr>
        <p:txBody>
          <a:bodyPr/>
          <a:lstStyle/>
          <a:p>
            <a:endParaRPr lang="fr-TN"/>
          </a:p>
        </p:txBody>
      </p:sp>
      <p:sp>
        <p:nvSpPr>
          <p:cNvPr id="7" name="Text 5"/>
          <p:cNvSpPr/>
          <p:nvPr/>
        </p:nvSpPr>
        <p:spPr>
          <a:xfrm>
            <a:off x="731520" y="274320"/>
            <a:ext cx="10515600" cy="256032"/>
          </a:xfrm>
          <a:prstGeom prst="rect">
            <a:avLst/>
          </a:prstGeom>
          <a:noFill/>
          <a:ln/>
        </p:spPr>
        <p:txBody>
          <a:bodyPr wrap="square" rtlCol="0" anchor="ctr"/>
          <a:lstStyle/>
          <a:p>
            <a:pPr marL="0" indent="0">
              <a:buNone/>
            </a:pPr>
            <a:r>
              <a:rPr lang="en-US" sz="900" b="1" dirty="0">
                <a:solidFill>
                  <a:srgbClr val="2563EB"/>
                </a:solidFill>
                <a:latin typeface="Segoe UI" pitchFamily="34" charset="0"/>
                <a:ea typeface="Segoe UI" pitchFamily="34" charset="-122"/>
                <a:cs typeface="Segoe UI" pitchFamily="34" charset="-120"/>
              </a:rPr>
              <a:t>CHAPTER 2 — CONCEPTUAL STUDY</a:t>
            </a:r>
            <a:endParaRPr lang="en-US" sz="900" dirty="0"/>
          </a:p>
        </p:txBody>
      </p:sp>
      <p:sp>
        <p:nvSpPr>
          <p:cNvPr id="8" name="Text 6"/>
          <p:cNvSpPr/>
          <p:nvPr/>
        </p:nvSpPr>
        <p:spPr>
          <a:xfrm>
            <a:off x="731520" y="548640"/>
            <a:ext cx="10515600" cy="502920"/>
          </a:xfrm>
          <a:prstGeom prst="rect">
            <a:avLst/>
          </a:prstGeom>
          <a:noFill/>
          <a:ln/>
        </p:spPr>
        <p:txBody>
          <a:bodyPr wrap="square" rtlCol="0" anchor="ctr"/>
          <a:lstStyle/>
          <a:p>
            <a:pPr marL="0" indent="0">
              <a:buNone/>
            </a:pPr>
            <a:r>
              <a:rPr lang="en-US" sz="3000" b="1" dirty="0">
                <a:solidFill>
                  <a:srgbClr val="0F172A"/>
                </a:solidFill>
                <a:latin typeface="Segoe UI" pitchFamily="34" charset="0"/>
                <a:ea typeface="Segoe UI" pitchFamily="34" charset="-122"/>
                <a:cs typeface="Segoe UI" pitchFamily="34" charset="-120"/>
              </a:rPr>
              <a:t>System Boundaries &amp; Global Use Case</a:t>
            </a:r>
            <a:endParaRPr lang="en-US" sz="3000" dirty="0"/>
          </a:p>
        </p:txBody>
      </p:sp>
      <p:sp>
        <p:nvSpPr>
          <p:cNvPr id="9" name="Shape 7"/>
          <p:cNvSpPr/>
          <p:nvPr/>
        </p:nvSpPr>
        <p:spPr>
          <a:xfrm>
            <a:off x="731520" y="1115568"/>
            <a:ext cx="1828800" cy="32004"/>
          </a:xfrm>
          <a:prstGeom prst="rect">
            <a:avLst/>
          </a:prstGeom>
          <a:solidFill>
            <a:srgbClr val="2563EB"/>
          </a:solidFill>
          <a:ln/>
        </p:spPr>
        <p:txBody>
          <a:bodyPr/>
          <a:lstStyle/>
          <a:p>
            <a:endParaRPr lang="fr-TN"/>
          </a:p>
        </p:txBody>
      </p:sp>
      <p:sp>
        <p:nvSpPr>
          <p:cNvPr id="10" name="Shape 8"/>
          <p:cNvSpPr/>
          <p:nvPr/>
        </p:nvSpPr>
        <p:spPr>
          <a:xfrm>
            <a:off x="2651760" y="1124712"/>
            <a:ext cx="8778240" cy="10973"/>
          </a:xfrm>
          <a:prstGeom prst="rect">
            <a:avLst/>
          </a:prstGeom>
          <a:solidFill>
            <a:srgbClr val="E2E8F0"/>
          </a:solidFill>
          <a:ln/>
        </p:spPr>
        <p:txBody>
          <a:bodyPr/>
          <a:lstStyle/>
          <a:p>
            <a:endParaRPr lang="fr-TN"/>
          </a:p>
        </p:txBody>
      </p:sp>
      <p:sp>
        <p:nvSpPr>
          <p:cNvPr id="11" name="Shape 9"/>
          <p:cNvSpPr/>
          <p:nvPr/>
        </p:nvSpPr>
        <p:spPr>
          <a:xfrm>
            <a:off x="685800" y="1417320"/>
            <a:ext cx="4572000" cy="4892040"/>
          </a:xfrm>
          <a:prstGeom prst="roundRect">
            <a:avLst>
              <a:gd name="adj" fmla="val 2400"/>
            </a:avLst>
          </a:prstGeom>
          <a:solidFill>
            <a:srgbClr val="FFFFFF"/>
          </a:solidFill>
          <a:ln w="8890">
            <a:solidFill>
              <a:srgbClr val="E2E8F0"/>
            </a:solidFill>
            <a:prstDash val="solid"/>
          </a:ln>
          <a:effectLst>
            <a:outerShdw blurRad="152400" dist="38100" dir="12000000" algn="bl" rotWithShape="0">
              <a:srgbClr val="94A3B8">
                <a:alpha val="25000"/>
              </a:srgbClr>
            </a:outerShdw>
          </a:effectLst>
        </p:spPr>
        <p:txBody>
          <a:bodyPr/>
          <a:lstStyle/>
          <a:p>
            <a:endParaRPr lang="fr-TN"/>
          </a:p>
        </p:txBody>
      </p:sp>
      <p:sp>
        <p:nvSpPr>
          <p:cNvPr id="12" name="Shape 10"/>
          <p:cNvSpPr/>
          <p:nvPr/>
        </p:nvSpPr>
        <p:spPr>
          <a:xfrm>
            <a:off x="795528" y="1435608"/>
            <a:ext cx="4352544" cy="36576"/>
          </a:xfrm>
          <a:prstGeom prst="rect">
            <a:avLst/>
          </a:prstGeom>
          <a:solidFill>
            <a:srgbClr val="2563EB"/>
          </a:solidFill>
          <a:ln/>
        </p:spPr>
        <p:txBody>
          <a:bodyPr/>
          <a:lstStyle/>
          <a:p>
            <a:endParaRPr lang="fr-TN"/>
          </a:p>
        </p:txBody>
      </p:sp>
      <p:sp>
        <p:nvSpPr>
          <p:cNvPr id="13" name="Text 11"/>
          <p:cNvSpPr/>
          <p:nvPr/>
        </p:nvSpPr>
        <p:spPr>
          <a:xfrm>
            <a:off x="886968" y="1581912"/>
            <a:ext cx="4169664" cy="365760"/>
          </a:xfrm>
          <a:prstGeom prst="rect">
            <a:avLst/>
          </a:prstGeom>
          <a:noFill/>
          <a:ln/>
        </p:spPr>
        <p:txBody>
          <a:bodyPr wrap="square" rtlCol="0" anchor="ctr"/>
          <a:lstStyle/>
          <a:p>
            <a:pPr marL="0" indent="0">
              <a:buNone/>
            </a:pPr>
            <a:r>
              <a:rPr lang="en-US" sz="1400" b="1" dirty="0">
                <a:solidFill>
                  <a:srgbClr val="0F172A"/>
                </a:solidFill>
                <a:latin typeface="Segoe UI" pitchFamily="34" charset="0"/>
                <a:ea typeface="Segoe UI" pitchFamily="34" charset="-122"/>
                <a:cs typeface="Segoe UI" pitchFamily="34" charset="-120"/>
              </a:rPr>
              <a:t>Actors &amp; Use Case Boundaries</a:t>
            </a:r>
            <a:endParaRPr lang="en-US" sz="1400" dirty="0"/>
          </a:p>
        </p:txBody>
      </p:sp>
      <p:sp>
        <p:nvSpPr>
          <p:cNvPr id="14" name="Text 12"/>
          <p:cNvSpPr/>
          <p:nvPr/>
        </p:nvSpPr>
        <p:spPr>
          <a:xfrm>
            <a:off x="886968" y="1984248"/>
            <a:ext cx="4169664" cy="4114800"/>
          </a:xfrm>
          <a:prstGeom prst="rect">
            <a:avLst/>
          </a:prstGeom>
          <a:noFill/>
          <a:ln/>
        </p:spPr>
        <p:txBody>
          <a:bodyPr wrap="square" rtlCol="0" anchor="t"/>
          <a:lstStyle/>
          <a:p>
            <a:pPr marL="0" indent="0">
              <a:lnSpc>
                <a:spcPct val="135000"/>
              </a:lnSpc>
              <a:buNone/>
            </a:pPr>
            <a:r>
              <a:rPr lang="en-US" sz="1050" dirty="0">
                <a:solidFill>
                  <a:srgbClr val="475569"/>
                </a:solidFill>
                <a:latin typeface="Segoe UI" pitchFamily="34" charset="0"/>
                <a:ea typeface="Segoe UI" pitchFamily="34" charset="-122"/>
                <a:cs typeface="Segoe UI" pitchFamily="34" charset="-120"/>
              </a:rPr>
              <a:t>This model structures system actors and boundaries:</a:t>
            </a:r>
            <a:endParaRPr lang="en-US" sz="1050" dirty="0"/>
          </a:p>
          <a:p>
            <a:pPr marL="0" indent="0">
              <a:lnSpc>
                <a:spcPct val="135000"/>
              </a:lnSpc>
              <a:buNone/>
            </a:pPr>
            <a:endParaRPr lang="en-US" sz="1050" dirty="0"/>
          </a:p>
          <a:p>
            <a:pPr marL="0" indent="0">
              <a:lnSpc>
                <a:spcPct val="135000"/>
              </a:lnSpc>
              <a:buNone/>
            </a:pPr>
            <a:r>
              <a:rPr lang="en-US" sz="1050" dirty="0">
                <a:solidFill>
                  <a:srgbClr val="475569"/>
                </a:solidFill>
                <a:latin typeface="Segoe UI" pitchFamily="34" charset="0"/>
                <a:ea typeface="Segoe UI" pitchFamily="34" charset="-122"/>
                <a:cs typeface="Segoe UI" pitchFamily="34" charset="-120"/>
              </a:rPr>
              <a:t>▸ System Actor: External Threat Feeds</a:t>
            </a:r>
            <a:endParaRPr lang="en-US" sz="1050" dirty="0"/>
          </a:p>
          <a:p>
            <a:pPr marL="0" indent="0">
              <a:lnSpc>
                <a:spcPct val="135000"/>
              </a:lnSpc>
              <a:buNone/>
            </a:pPr>
            <a:r>
              <a:rPr lang="en-US" sz="1050" dirty="0">
                <a:solidFill>
                  <a:srgbClr val="475569"/>
                </a:solidFill>
                <a:latin typeface="Segoe UI" pitchFamily="34" charset="0"/>
                <a:ea typeface="Segoe UI" pitchFamily="34" charset="-122"/>
                <a:cs typeface="Segoe UI" pitchFamily="34" charset="-120"/>
              </a:rPr>
              <a:t>9 parallel scrapers continuously push Indicators of Compromise (IOCs) into the ingestion pipeline.</a:t>
            </a:r>
            <a:endParaRPr lang="en-US" sz="1050" dirty="0"/>
          </a:p>
          <a:p>
            <a:pPr marL="0" indent="0">
              <a:lnSpc>
                <a:spcPct val="135000"/>
              </a:lnSpc>
              <a:buNone/>
            </a:pPr>
            <a:endParaRPr lang="en-US" sz="1050" dirty="0"/>
          </a:p>
          <a:p>
            <a:pPr marL="0" indent="0">
              <a:lnSpc>
                <a:spcPct val="135000"/>
              </a:lnSpc>
              <a:buNone/>
            </a:pPr>
            <a:r>
              <a:rPr lang="en-US" sz="1050" dirty="0">
                <a:solidFill>
                  <a:srgbClr val="475569"/>
                </a:solidFill>
                <a:latin typeface="Segoe UI" pitchFamily="34" charset="0"/>
                <a:ea typeface="Segoe UI" pitchFamily="34" charset="-122"/>
                <a:cs typeface="Segoe UI" pitchFamily="34" charset="-120"/>
              </a:rPr>
              <a:t>▸ Human Actor: Security Analyst</a:t>
            </a:r>
            <a:endParaRPr lang="en-US" sz="1050" dirty="0"/>
          </a:p>
          <a:p>
            <a:pPr marL="0" indent="0">
              <a:lnSpc>
                <a:spcPct val="135000"/>
              </a:lnSpc>
              <a:buNone/>
            </a:pPr>
            <a:r>
              <a:rPr lang="en-US" sz="1050" dirty="0">
                <a:solidFill>
                  <a:srgbClr val="475569"/>
                </a:solidFill>
                <a:latin typeface="Segoe UI" pitchFamily="34" charset="0"/>
                <a:ea typeface="Segoe UI" pitchFamily="34" charset="-122"/>
                <a:cs typeface="Segoe UI" pitchFamily="34" charset="-120"/>
              </a:rPr>
              <a:t>Interacts with the Web UI to monitor live feeds, search history, upload STIX bundles, and export reports.</a:t>
            </a:r>
            <a:endParaRPr lang="en-US" sz="1050" dirty="0"/>
          </a:p>
        </p:txBody>
      </p:sp>
      <p:sp>
        <p:nvSpPr>
          <p:cNvPr id="15" name="Shape 13"/>
          <p:cNvSpPr/>
          <p:nvPr/>
        </p:nvSpPr>
        <p:spPr>
          <a:xfrm>
            <a:off x="5577840" y="1417320"/>
            <a:ext cx="5943600" cy="4892040"/>
          </a:xfrm>
          <a:prstGeom prst="roundRect">
            <a:avLst>
              <a:gd name="adj" fmla="val 2804"/>
            </a:avLst>
          </a:prstGeom>
          <a:solidFill>
            <a:srgbClr val="FFFFFF"/>
          </a:solidFill>
          <a:ln w="7620">
            <a:solidFill>
              <a:srgbClr val="E2E8F0"/>
            </a:solidFill>
            <a:prstDash val="solid"/>
          </a:ln>
          <a:effectLst>
            <a:outerShdw blurRad="152400" dist="38100" dir="12000000" algn="bl" rotWithShape="0">
              <a:srgbClr val="94A3B8">
                <a:alpha val="20000"/>
              </a:srgbClr>
            </a:outerShdw>
          </a:effectLst>
        </p:spPr>
        <p:txBody>
          <a:bodyPr/>
          <a:lstStyle/>
          <a:p>
            <a:endParaRPr lang="fr-TN"/>
          </a:p>
        </p:txBody>
      </p:sp>
      <p:sp>
        <p:nvSpPr>
          <p:cNvPr id="16" name="Text 14"/>
          <p:cNvSpPr/>
          <p:nvPr/>
        </p:nvSpPr>
        <p:spPr>
          <a:xfrm>
            <a:off x="5760720" y="1554480"/>
            <a:ext cx="5577840" cy="274320"/>
          </a:xfrm>
          <a:prstGeom prst="rect">
            <a:avLst/>
          </a:prstGeom>
          <a:noFill/>
          <a:ln/>
        </p:spPr>
        <p:txBody>
          <a:bodyPr wrap="square" rtlCol="0" anchor="ctr"/>
          <a:lstStyle/>
          <a:p>
            <a:pPr marL="0" indent="0">
              <a:buNone/>
            </a:pPr>
            <a:r>
              <a:rPr lang="en-US" sz="800" b="1" dirty="0">
                <a:solidFill>
                  <a:srgbClr val="2563EB"/>
                </a:solidFill>
                <a:latin typeface="Segoe UI" pitchFamily="34" charset="0"/>
                <a:ea typeface="Segoe UI" pitchFamily="34" charset="-122"/>
                <a:cs typeface="Segoe UI" pitchFamily="34" charset="-120"/>
              </a:rPr>
              <a:t>GLOBAL USE CASE DIAGRAM</a:t>
            </a:r>
            <a:endParaRPr lang="en-US" sz="800" dirty="0"/>
          </a:p>
        </p:txBody>
      </p:sp>
      <p:pic>
        <p:nvPicPr>
          <p:cNvPr id="17" name="Image 0" descr="C:\Users\shihe\Desktop\Final-Year-Project\predictra-threat-map\rapport-pfe\assets\global_usecase.png"/>
          <p:cNvPicPr>
            <a:picLocks noChangeAspect="1"/>
          </p:cNvPicPr>
          <p:nvPr/>
        </p:nvPicPr>
        <p:blipFill>
          <a:blip r:embed="rId3"/>
          <a:stretch>
            <a:fillRect/>
          </a:stretch>
        </p:blipFill>
        <p:spPr>
          <a:xfrm>
            <a:off x="6858000" y="1920240"/>
            <a:ext cx="3474720" cy="416052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88952" cy="45720"/>
          </a:xfrm>
          <a:prstGeom prst="rect">
            <a:avLst/>
          </a:prstGeom>
          <a:solidFill>
            <a:srgbClr val="2563EB"/>
          </a:solidFill>
          <a:ln/>
        </p:spPr>
        <p:txBody>
          <a:bodyPr/>
          <a:lstStyle/>
          <a:p>
            <a:endParaRPr lang="fr-TN"/>
          </a:p>
        </p:txBody>
      </p:sp>
      <p:sp>
        <p:nvSpPr>
          <p:cNvPr id="3" name="Shape 1"/>
          <p:cNvSpPr/>
          <p:nvPr/>
        </p:nvSpPr>
        <p:spPr>
          <a:xfrm>
            <a:off x="10972800" y="274320"/>
            <a:ext cx="914400" cy="1829"/>
          </a:xfrm>
          <a:prstGeom prst="rect">
            <a:avLst/>
          </a:prstGeom>
          <a:solidFill>
            <a:srgbClr val="E2E8F0"/>
          </a:solidFill>
          <a:ln/>
        </p:spPr>
        <p:txBody>
          <a:bodyPr/>
          <a:lstStyle/>
          <a:p>
            <a:endParaRPr lang="fr-TN"/>
          </a:p>
        </p:txBody>
      </p:sp>
      <p:sp>
        <p:nvSpPr>
          <p:cNvPr id="4" name="Shape 2"/>
          <p:cNvSpPr/>
          <p:nvPr/>
        </p:nvSpPr>
        <p:spPr>
          <a:xfrm>
            <a:off x="11868912" y="274320"/>
            <a:ext cx="1829" cy="640080"/>
          </a:xfrm>
          <a:prstGeom prst="rect">
            <a:avLst/>
          </a:prstGeom>
          <a:solidFill>
            <a:srgbClr val="E2E8F0"/>
          </a:solidFill>
          <a:ln/>
        </p:spPr>
        <p:txBody>
          <a:bodyPr/>
          <a:lstStyle/>
          <a:p>
            <a:endParaRPr lang="fr-TN"/>
          </a:p>
        </p:txBody>
      </p:sp>
      <p:sp>
        <p:nvSpPr>
          <p:cNvPr id="5" name="Shape 3"/>
          <p:cNvSpPr/>
          <p:nvPr/>
        </p:nvSpPr>
        <p:spPr>
          <a:xfrm>
            <a:off x="320040" y="6537960"/>
            <a:ext cx="1829" cy="274320"/>
          </a:xfrm>
          <a:prstGeom prst="rect">
            <a:avLst/>
          </a:prstGeom>
          <a:solidFill>
            <a:srgbClr val="E2E8F0"/>
          </a:solidFill>
          <a:ln/>
        </p:spPr>
        <p:txBody>
          <a:bodyPr/>
          <a:lstStyle/>
          <a:p>
            <a:endParaRPr lang="fr-TN"/>
          </a:p>
        </p:txBody>
      </p:sp>
      <p:sp>
        <p:nvSpPr>
          <p:cNvPr id="6" name="Shape 4"/>
          <p:cNvSpPr/>
          <p:nvPr/>
        </p:nvSpPr>
        <p:spPr>
          <a:xfrm>
            <a:off x="320040" y="6537960"/>
            <a:ext cx="640080" cy="1829"/>
          </a:xfrm>
          <a:prstGeom prst="rect">
            <a:avLst/>
          </a:prstGeom>
          <a:solidFill>
            <a:srgbClr val="E2E8F0"/>
          </a:solidFill>
          <a:ln/>
        </p:spPr>
        <p:txBody>
          <a:bodyPr/>
          <a:lstStyle/>
          <a:p>
            <a:endParaRPr lang="fr-TN"/>
          </a:p>
        </p:txBody>
      </p:sp>
      <p:sp>
        <p:nvSpPr>
          <p:cNvPr id="7" name="Text 5"/>
          <p:cNvSpPr/>
          <p:nvPr/>
        </p:nvSpPr>
        <p:spPr>
          <a:xfrm>
            <a:off x="731520" y="274320"/>
            <a:ext cx="10515600" cy="256032"/>
          </a:xfrm>
          <a:prstGeom prst="rect">
            <a:avLst/>
          </a:prstGeom>
          <a:noFill/>
          <a:ln/>
        </p:spPr>
        <p:txBody>
          <a:bodyPr wrap="square" rtlCol="0" anchor="ctr"/>
          <a:lstStyle/>
          <a:p>
            <a:pPr marL="0" indent="0">
              <a:buNone/>
            </a:pPr>
            <a:r>
              <a:rPr lang="en-US" sz="900" b="1" dirty="0">
                <a:solidFill>
                  <a:srgbClr val="2563EB"/>
                </a:solidFill>
                <a:latin typeface="Segoe UI" pitchFamily="34" charset="0"/>
                <a:ea typeface="Segoe UI" pitchFamily="34" charset="-122"/>
                <a:cs typeface="Segoe UI" pitchFamily="34" charset="-120"/>
              </a:rPr>
              <a:t>CHAPTER 2 — CONCEPTUAL STUDY</a:t>
            </a:r>
            <a:endParaRPr lang="en-US" sz="900" dirty="0"/>
          </a:p>
        </p:txBody>
      </p:sp>
      <p:sp>
        <p:nvSpPr>
          <p:cNvPr id="8" name="Text 6"/>
          <p:cNvSpPr/>
          <p:nvPr/>
        </p:nvSpPr>
        <p:spPr>
          <a:xfrm>
            <a:off x="731520" y="548640"/>
            <a:ext cx="10515600" cy="502920"/>
          </a:xfrm>
          <a:prstGeom prst="rect">
            <a:avLst/>
          </a:prstGeom>
          <a:noFill/>
          <a:ln/>
        </p:spPr>
        <p:txBody>
          <a:bodyPr wrap="square" rtlCol="0" anchor="ctr"/>
          <a:lstStyle/>
          <a:p>
            <a:pPr marL="0" indent="0">
              <a:buNone/>
            </a:pPr>
            <a:r>
              <a:rPr lang="en-US" sz="3000" b="1" dirty="0">
                <a:solidFill>
                  <a:srgbClr val="0F172A"/>
                </a:solidFill>
                <a:latin typeface="Segoe UI" pitchFamily="34" charset="0"/>
                <a:ea typeface="Segoe UI" pitchFamily="34" charset="-122"/>
                <a:cs typeface="Segoe UI" pitchFamily="34" charset="-120"/>
              </a:rPr>
              <a:t>System Requirements</a:t>
            </a:r>
            <a:endParaRPr lang="en-US" sz="3000" dirty="0"/>
          </a:p>
        </p:txBody>
      </p:sp>
      <p:sp>
        <p:nvSpPr>
          <p:cNvPr id="9" name="Shape 7"/>
          <p:cNvSpPr/>
          <p:nvPr/>
        </p:nvSpPr>
        <p:spPr>
          <a:xfrm>
            <a:off x="731520" y="1115568"/>
            <a:ext cx="1828800" cy="32004"/>
          </a:xfrm>
          <a:prstGeom prst="rect">
            <a:avLst/>
          </a:prstGeom>
          <a:solidFill>
            <a:srgbClr val="2563EB"/>
          </a:solidFill>
          <a:ln/>
        </p:spPr>
        <p:txBody>
          <a:bodyPr/>
          <a:lstStyle/>
          <a:p>
            <a:endParaRPr lang="fr-TN"/>
          </a:p>
        </p:txBody>
      </p:sp>
      <p:sp>
        <p:nvSpPr>
          <p:cNvPr id="10" name="Shape 8"/>
          <p:cNvSpPr/>
          <p:nvPr/>
        </p:nvSpPr>
        <p:spPr>
          <a:xfrm>
            <a:off x="2651760" y="1124712"/>
            <a:ext cx="8778240" cy="10973"/>
          </a:xfrm>
          <a:prstGeom prst="rect">
            <a:avLst/>
          </a:prstGeom>
          <a:solidFill>
            <a:srgbClr val="E2E8F0"/>
          </a:solidFill>
          <a:ln/>
        </p:spPr>
        <p:txBody>
          <a:bodyPr/>
          <a:lstStyle/>
          <a:p>
            <a:endParaRPr lang="fr-TN"/>
          </a:p>
        </p:txBody>
      </p:sp>
      <p:sp>
        <p:nvSpPr>
          <p:cNvPr id="11" name="Shape 9"/>
          <p:cNvSpPr/>
          <p:nvPr/>
        </p:nvSpPr>
        <p:spPr>
          <a:xfrm>
            <a:off x="685800" y="1417320"/>
            <a:ext cx="5212080" cy="4892040"/>
          </a:xfrm>
          <a:prstGeom prst="roundRect">
            <a:avLst>
              <a:gd name="adj" fmla="val 2243"/>
            </a:avLst>
          </a:prstGeom>
          <a:solidFill>
            <a:srgbClr val="FFFFFF"/>
          </a:solidFill>
          <a:ln w="8890">
            <a:solidFill>
              <a:srgbClr val="E2E8F0"/>
            </a:solidFill>
            <a:prstDash val="solid"/>
          </a:ln>
          <a:effectLst>
            <a:outerShdw blurRad="152400" dist="38100" dir="12000000" algn="bl" rotWithShape="0">
              <a:srgbClr val="94A3B8">
                <a:alpha val="25000"/>
              </a:srgbClr>
            </a:outerShdw>
          </a:effectLst>
        </p:spPr>
        <p:txBody>
          <a:bodyPr/>
          <a:lstStyle/>
          <a:p>
            <a:endParaRPr lang="fr-TN"/>
          </a:p>
        </p:txBody>
      </p:sp>
      <p:sp>
        <p:nvSpPr>
          <p:cNvPr id="12" name="Shape 10"/>
          <p:cNvSpPr/>
          <p:nvPr/>
        </p:nvSpPr>
        <p:spPr>
          <a:xfrm>
            <a:off x="795528" y="1435608"/>
            <a:ext cx="4992624" cy="36576"/>
          </a:xfrm>
          <a:prstGeom prst="rect">
            <a:avLst/>
          </a:prstGeom>
          <a:solidFill>
            <a:srgbClr val="2563EB"/>
          </a:solidFill>
          <a:ln/>
        </p:spPr>
        <p:txBody>
          <a:bodyPr/>
          <a:lstStyle/>
          <a:p>
            <a:endParaRPr lang="fr-TN"/>
          </a:p>
        </p:txBody>
      </p:sp>
      <p:sp>
        <p:nvSpPr>
          <p:cNvPr id="13" name="Text 11"/>
          <p:cNvSpPr/>
          <p:nvPr/>
        </p:nvSpPr>
        <p:spPr>
          <a:xfrm>
            <a:off x="886968" y="1581912"/>
            <a:ext cx="4809744" cy="365760"/>
          </a:xfrm>
          <a:prstGeom prst="rect">
            <a:avLst/>
          </a:prstGeom>
          <a:noFill/>
          <a:ln/>
        </p:spPr>
        <p:txBody>
          <a:bodyPr wrap="square" rtlCol="0" anchor="ctr"/>
          <a:lstStyle/>
          <a:p>
            <a:pPr marL="0" indent="0">
              <a:buNone/>
            </a:pPr>
            <a:r>
              <a:rPr lang="en-US" sz="1400" b="1" dirty="0">
                <a:solidFill>
                  <a:srgbClr val="0F172A"/>
                </a:solidFill>
                <a:latin typeface="Segoe UI" pitchFamily="34" charset="0"/>
                <a:ea typeface="Segoe UI" pitchFamily="34" charset="-122"/>
                <a:cs typeface="Segoe UI" pitchFamily="34" charset="-120"/>
              </a:rPr>
              <a:t>Functional Requirements (RF-1 to RF-9)</a:t>
            </a:r>
            <a:endParaRPr lang="en-US" sz="1400" dirty="0"/>
          </a:p>
        </p:txBody>
      </p:sp>
      <p:sp>
        <p:nvSpPr>
          <p:cNvPr id="14" name="Text 12"/>
          <p:cNvSpPr/>
          <p:nvPr/>
        </p:nvSpPr>
        <p:spPr>
          <a:xfrm>
            <a:off x="886968" y="1984248"/>
            <a:ext cx="4809744" cy="4114800"/>
          </a:xfrm>
          <a:prstGeom prst="rect">
            <a:avLst/>
          </a:prstGeom>
          <a:noFill/>
          <a:ln/>
        </p:spPr>
        <p:txBody>
          <a:bodyPr wrap="square" rtlCol="0" anchor="t"/>
          <a:lstStyle/>
          <a:p>
            <a:pPr marL="0" indent="0">
              <a:lnSpc>
                <a:spcPct val="135000"/>
              </a:lnSpc>
              <a:buNone/>
            </a:pPr>
            <a:r>
              <a:rPr lang="en-US" sz="1050" dirty="0">
                <a:solidFill>
                  <a:srgbClr val="475569"/>
                </a:solidFill>
                <a:latin typeface="Segoe UI" pitchFamily="34" charset="0"/>
                <a:ea typeface="Segoe UI" pitchFamily="34" charset="-122"/>
                <a:cs typeface="Segoe UI" pitchFamily="34" charset="-120"/>
              </a:rPr>
              <a:t>▸ RF-1: Ingest from 9+ feeds asynchronously (SSE, WebSocket, REST).</a:t>
            </a:r>
            <a:endParaRPr lang="en-US" sz="1050" dirty="0"/>
          </a:p>
          <a:p>
            <a:pPr marL="0" indent="0">
              <a:lnSpc>
                <a:spcPct val="135000"/>
              </a:lnSpc>
              <a:buNone/>
            </a:pPr>
            <a:r>
              <a:rPr lang="en-US" sz="1050" dirty="0">
                <a:solidFill>
                  <a:srgbClr val="475569"/>
                </a:solidFill>
                <a:latin typeface="Segoe UI" pitchFamily="34" charset="0"/>
                <a:ea typeface="Segoe UI" pitchFamily="34" charset="-122"/>
                <a:cs typeface="Segoe UI" pitchFamily="34" charset="-120"/>
              </a:rPr>
              <a:t>▸ RF-2: Resolve IP geolocation via geoip-lite dictionary.</a:t>
            </a:r>
            <a:endParaRPr lang="en-US" sz="1050" dirty="0"/>
          </a:p>
          <a:p>
            <a:pPr marL="0" indent="0">
              <a:lnSpc>
                <a:spcPct val="135000"/>
              </a:lnSpc>
              <a:buNone/>
            </a:pPr>
            <a:r>
              <a:rPr lang="en-US" sz="1050" dirty="0">
                <a:solidFill>
                  <a:srgbClr val="475569"/>
                </a:solidFill>
                <a:latin typeface="Segoe UI" pitchFamily="34" charset="0"/>
                <a:ea typeface="Segoe UI" pitchFamily="34" charset="-122"/>
                <a:cs typeface="Segoe UI" pitchFamily="34" charset="-120"/>
              </a:rPr>
              <a:t>▸ RF-3: Classify victim sectors using 5-layer enrichment engine.</a:t>
            </a:r>
            <a:endParaRPr lang="en-US" sz="1050" dirty="0"/>
          </a:p>
          <a:p>
            <a:pPr marL="0" indent="0">
              <a:lnSpc>
                <a:spcPct val="135000"/>
              </a:lnSpc>
              <a:buNone/>
            </a:pPr>
            <a:r>
              <a:rPr lang="en-US" sz="1050" dirty="0">
                <a:solidFill>
                  <a:srgbClr val="475569"/>
                </a:solidFill>
                <a:latin typeface="Segoe UI" pitchFamily="34" charset="0"/>
                <a:ea typeface="Segoe UI" pitchFamily="34" charset="-122"/>
                <a:cs typeface="Segoe UI" pitchFamily="34" charset="-120"/>
              </a:rPr>
              <a:t>▸ RF-4: Stream events via SSE with 300ms batch flush.</a:t>
            </a:r>
            <a:endParaRPr lang="en-US" sz="1050" dirty="0"/>
          </a:p>
          <a:p>
            <a:pPr marL="0" indent="0">
              <a:lnSpc>
                <a:spcPct val="135000"/>
              </a:lnSpc>
              <a:buNone/>
            </a:pPr>
            <a:r>
              <a:rPr lang="en-US" sz="1050" dirty="0">
                <a:solidFill>
                  <a:srgbClr val="475569"/>
                </a:solidFill>
                <a:latin typeface="Segoe UI" pitchFamily="34" charset="0"/>
                <a:ea typeface="Segoe UI" pitchFamily="34" charset="-122"/>
                <a:cs typeface="Segoe UI" pitchFamily="34" charset="-120"/>
              </a:rPr>
              <a:t>▸ RF-5: Render interactive 3D Globe with attack arcs.</a:t>
            </a:r>
            <a:endParaRPr lang="en-US" sz="1050" dirty="0"/>
          </a:p>
          <a:p>
            <a:pPr marL="0" indent="0">
              <a:lnSpc>
                <a:spcPct val="135000"/>
              </a:lnSpc>
              <a:buNone/>
            </a:pPr>
            <a:r>
              <a:rPr lang="en-US" sz="1050" dirty="0">
                <a:solidFill>
                  <a:srgbClr val="475569"/>
                </a:solidFill>
                <a:latin typeface="Segoe UI" pitchFamily="34" charset="0"/>
                <a:ea typeface="Segoe UI" pitchFamily="34" charset="-122"/>
                <a:cs typeface="Segoe UI" pitchFamily="34" charset="-120"/>
              </a:rPr>
              <a:t>▸ RF-6: Client-side STIX 2.1 parsing &amp; MITRE ATT&amp;CK map.</a:t>
            </a:r>
            <a:endParaRPr lang="en-US" sz="1050" dirty="0"/>
          </a:p>
          <a:p>
            <a:pPr marL="0" indent="0">
              <a:lnSpc>
                <a:spcPct val="135000"/>
              </a:lnSpc>
              <a:buNone/>
            </a:pPr>
            <a:r>
              <a:rPr lang="en-US" sz="1050" dirty="0">
                <a:solidFill>
                  <a:srgbClr val="475569"/>
                </a:solidFill>
                <a:latin typeface="Segoe UI" pitchFamily="34" charset="0"/>
                <a:ea typeface="Segoe UI" pitchFamily="34" charset="-122"/>
                <a:cs typeface="Segoe UI" pitchFamily="34" charset="-120"/>
              </a:rPr>
              <a:t>▸ RF-7: Searchable log browser with pagination &amp; filters.</a:t>
            </a:r>
            <a:endParaRPr lang="en-US" sz="1050" dirty="0"/>
          </a:p>
          <a:p>
            <a:pPr marL="0" indent="0">
              <a:lnSpc>
                <a:spcPct val="135000"/>
              </a:lnSpc>
              <a:buNone/>
            </a:pPr>
            <a:r>
              <a:rPr lang="en-US" sz="1050" dirty="0">
                <a:solidFill>
                  <a:srgbClr val="475569"/>
                </a:solidFill>
                <a:latin typeface="Segoe UI" pitchFamily="34" charset="0"/>
                <a:ea typeface="Segoe UI" pitchFamily="34" charset="-122"/>
                <a:cs typeface="Segoe UI" pitchFamily="34" charset="-120"/>
              </a:rPr>
              <a:t>▸ RF-8: "Target My IP" geolocation feature.</a:t>
            </a:r>
            <a:endParaRPr lang="en-US" sz="1050" dirty="0"/>
          </a:p>
          <a:p>
            <a:pPr marL="0" indent="0">
              <a:lnSpc>
                <a:spcPct val="135000"/>
              </a:lnSpc>
              <a:buNone/>
            </a:pPr>
            <a:r>
              <a:rPr lang="en-US" sz="1050" dirty="0">
                <a:solidFill>
                  <a:srgbClr val="475569"/>
                </a:solidFill>
                <a:latin typeface="Segoe UI" pitchFamily="34" charset="0"/>
                <a:ea typeface="Segoe UI" pitchFamily="34" charset="-122"/>
                <a:cs typeface="Segoe UI" pitchFamily="34" charset="-120"/>
              </a:rPr>
              <a:t>▸ RF-9: Excel export for threat data.</a:t>
            </a:r>
            <a:endParaRPr lang="en-US" sz="1050" dirty="0"/>
          </a:p>
        </p:txBody>
      </p:sp>
      <p:sp>
        <p:nvSpPr>
          <p:cNvPr id="15" name="Shape 13"/>
          <p:cNvSpPr/>
          <p:nvPr/>
        </p:nvSpPr>
        <p:spPr>
          <a:xfrm>
            <a:off x="6263640" y="1417320"/>
            <a:ext cx="5257800" cy="4892040"/>
          </a:xfrm>
          <a:prstGeom prst="roundRect">
            <a:avLst>
              <a:gd name="adj" fmla="val 2243"/>
            </a:avLst>
          </a:prstGeom>
          <a:solidFill>
            <a:srgbClr val="FFFFFF"/>
          </a:solidFill>
          <a:ln w="8890">
            <a:solidFill>
              <a:srgbClr val="E2E8F0"/>
            </a:solidFill>
            <a:prstDash val="solid"/>
          </a:ln>
          <a:effectLst>
            <a:outerShdw blurRad="152400" dist="38100" dir="12000000" algn="bl" rotWithShape="0">
              <a:srgbClr val="94A3B8">
                <a:alpha val="25000"/>
              </a:srgbClr>
            </a:outerShdw>
          </a:effectLst>
        </p:spPr>
        <p:txBody>
          <a:bodyPr/>
          <a:lstStyle/>
          <a:p>
            <a:endParaRPr lang="fr-TN"/>
          </a:p>
        </p:txBody>
      </p:sp>
      <p:sp>
        <p:nvSpPr>
          <p:cNvPr id="16" name="Shape 14"/>
          <p:cNvSpPr/>
          <p:nvPr/>
        </p:nvSpPr>
        <p:spPr>
          <a:xfrm>
            <a:off x="6373368" y="1435608"/>
            <a:ext cx="5038344" cy="36576"/>
          </a:xfrm>
          <a:prstGeom prst="rect">
            <a:avLst/>
          </a:prstGeom>
          <a:solidFill>
            <a:srgbClr val="7C3AED"/>
          </a:solidFill>
          <a:ln/>
        </p:spPr>
        <p:txBody>
          <a:bodyPr/>
          <a:lstStyle/>
          <a:p>
            <a:endParaRPr lang="fr-TN"/>
          </a:p>
        </p:txBody>
      </p:sp>
      <p:sp>
        <p:nvSpPr>
          <p:cNvPr id="17" name="Text 15"/>
          <p:cNvSpPr/>
          <p:nvPr/>
        </p:nvSpPr>
        <p:spPr>
          <a:xfrm>
            <a:off x="6464808" y="1581912"/>
            <a:ext cx="4855464" cy="365760"/>
          </a:xfrm>
          <a:prstGeom prst="rect">
            <a:avLst/>
          </a:prstGeom>
          <a:noFill/>
          <a:ln/>
        </p:spPr>
        <p:txBody>
          <a:bodyPr wrap="square" rtlCol="0" anchor="ctr"/>
          <a:lstStyle/>
          <a:p>
            <a:pPr marL="0" indent="0">
              <a:buNone/>
            </a:pPr>
            <a:r>
              <a:rPr lang="en-US" sz="1400" b="1" dirty="0">
                <a:solidFill>
                  <a:srgbClr val="0F172A"/>
                </a:solidFill>
                <a:latin typeface="Segoe UI" pitchFamily="34" charset="0"/>
                <a:ea typeface="Segoe UI" pitchFamily="34" charset="-122"/>
                <a:cs typeface="Segoe UI" pitchFamily="34" charset="-120"/>
              </a:rPr>
              <a:t>Non-Functional Requirements (RNF-1 to RNF-5)</a:t>
            </a:r>
            <a:endParaRPr lang="en-US" sz="1400" dirty="0"/>
          </a:p>
        </p:txBody>
      </p:sp>
      <p:sp>
        <p:nvSpPr>
          <p:cNvPr id="18" name="Text 16"/>
          <p:cNvSpPr/>
          <p:nvPr/>
        </p:nvSpPr>
        <p:spPr>
          <a:xfrm>
            <a:off x="6464808" y="1984248"/>
            <a:ext cx="4855464" cy="4114800"/>
          </a:xfrm>
          <a:prstGeom prst="rect">
            <a:avLst/>
          </a:prstGeom>
          <a:noFill/>
          <a:ln/>
        </p:spPr>
        <p:txBody>
          <a:bodyPr wrap="square" rtlCol="0" anchor="t"/>
          <a:lstStyle/>
          <a:p>
            <a:pPr marL="0" indent="0">
              <a:lnSpc>
                <a:spcPct val="135000"/>
              </a:lnSpc>
              <a:buNone/>
            </a:pPr>
            <a:r>
              <a:rPr lang="en-US" sz="1050" dirty="0">
                <a:solidFill>
                  <a:srgbClr val="475569"/>
                </a:solidFill>
                <a:latin typeface="Segoe UI" pitchFamily="34" charset="0"/>
                <a:ea typeface="Segoe UI" pitchFamily="34" charset="-122"/>
                <a:cs typeface="Segoe UI" pitchFamily="34" charset="-120"/>
              </a:rPr>
              <a:t>▸ RNF-1 (Fluidity): Maintain 60fps rendering.</a:t>
            </a:r>
            <a:endParaRPr lang="en-US" sz="1050" dirty="0"/>
          </a:p>
          <a:p>
            <a:pPr marL="0" indent="0">
              <a:lnSpc>
                <a:spcPct val="135000"/>
              </a:lnSpc>
              <a:buNone/>
            </a:pPr>
            <a:r>
              <a:rPr lang="en-US" sz="1050" dirty="0">
                <a:solidFill>
                  <a:srgbClr val="475569"/>
                </a:solidFill>
                <a:latin typeface="Segoe UI" pitchFamily="34" charset="0"/>
                <a:ea typeface="Segoe UI" pitchFamily="34" charset="-122"/>
                <a:cs typeface="Segoe UI" pitchFamily="34" charset="-120"/>
              </a:rPr>
              <a:t>▸ RNF-2 (Memory): 10,000-event circular RingBuffer.</a:t>
            </a:r>
            <a:endParaRPr lang="en-US" sz="1050" dirty="0"/>
          </a:p>
          <a:p>
            <a:pPr marL="0" indent="0">
              <a:lnSpc>
                <a:spcPct val="135000"/>
              </a:lnSpc>
              <a:buNone/>
            </a:pPr>
            <a:r>
              <a:rPr lang="en-US" sz="1050" dirty="0">
                <a:solidFill>
                  <a:srgbClr val="475569"/>
                </a:solidFill>
                <a:latin typeface="Segoe UI" pitchFamily="34" charset="0"/>
                <a:ea typeface="Segoe UI" pitchFamily="34" charset="-122"/>
                <a:cs typeface="Segoe UI" pitchFamily="34" charset="-120"/>
              </a:rPr>
              <a:t>▸ RNF-3 (Database): MongoDB 30-day TTL auto-expire.</a:t>
            </a:r>
            <a:endParaRPr lang="en-US" sz="1050" dirty="0"/>
          </a:p>
          <a:p>
            <a:pPr marL="0" indent="0">
              <a:lnSpc>
                <a:spcPct val="135000"/>
              </a:lnSpc>
              <a:buNone/>
            </a:pPr>
            <a:r>
              <a:rPr lang="en-US" sz="1050" dirty="0">
                <a:solidFill>
                  <a:srgbClr val="475569"/>
                </a:solidFill>
                <a:latin typeface="Segoe UI" pitchFamily="34" charset="0"/>
                <a:ea typeface="Segoe UI" pitchFamily="34" charset="-122"/>
                <a:cs typeface="Segoe UI" pitchFamily="34" charset="-120"/>
              </a:rPr>
              <a:t>▸ RNF-4 (Limit Guard): Switch to in-memory streaming if MongoDB exceeds 500MB.</a:t>
            </a:r>
            <a:endParaRPr lang="en-US" sz="1050" dirty="0"/>
          </a:p>
          <a:p>
            <a:pPr marL="0" indent="0">
              <a:lnSpc>
                <a:spcPct val="135000"/>
              </a:lnSpc>
              <a:buNone/>
            </a:pPr>
            <a:r>
              <a:rPr lang="en-US" sz="1050" dirty="0">
                <a:solidFill>
                  <a:srgbClr val="475569"/>
                </a:solidFill>
                <a:latin typeface="Segoe UI" pitchFamily="34" charset="0"/>
                <a:ea typeface="Segoe UI" pitchFamily="34" charset="-122"/>
                <a:cs typeface="Segoe UI" pitchFamily="34" charset="-120"/>
              </a:rPr>
              <a:t>▸ RNF-5 (Design): Premium glassmorphism interface to prevent analyst strain.</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88952" cy="45720"/>
          </a:xfrm>
          <a:prstGeom prst="rect">
            <a:avLst/>
          </a:prstGeom>
          <a:solidFill>
            <a:srgbClr val="2563EB"/>
          </a:solidFill>
          <a:ln/>
        </p:spPr>
        <p:txBody>
          <a:bodyPr/>
          <a:lstStyle/>
          <a:p>
            <a:endParaRPr lang="fr-TN"/>
          </a:p>
        </p:txBody>
      </p:sp>
      <p:sp>
        <p:nvSpPr>
          <p:cNvPr id="3" name="Shape 1"/>
          <p:cNvSpPr/>
          <p:nvPr/>
        </p:nvSpPr>
        <p:spPr>
          <a:xfrm>
            <a:off x="10972800" y="274320"/>
            <a:ext cx="914400" cy="1829"/>
          </a:xfrm>
          <a:prstGeom prst="rect">
            <a:avLst/>
          </a:prstGeom>
          <a:solidFill>
            <a:srgbClr val="E2E8F0"/>
          </a:solidFill>
          <a:ln/>
        </p:spPr>
        <p:txBody>
          <a:bodyPr/>
          <a:lstStyle/>
          <a:p>
            <a:endParaRPr lang="fr-TN"/>
          </a:p>
        </p:txBody>
      </p:sp>
      <p:sp>
        <p:nvSpPr>
          <p:cNvPr id="4" name="Shape 2"/>
          <p:cNvSpPr/>
          <p:nvPr/>
        </p:nvSpPr>
        <p:spPr>
          <a:xfrm>
            <a:off x="11868912" y="274320"/>
            <a:ext cx="1829" cy="640080"/>
          </a:xfrm>
          <a:prstGeom prst="rect">
            <a:avLst/>
          </a:prstGeom>
          <a:solidFill>
            <a:srgbClr val="E2E8F0"/>
          </a:solidFill>
          <a:ln/>
        </p:spPr>
        <p:txBody>
          <a:bodyPr/>
          <a:lstStyle/>
          <a:p>
            <a:endParaRPr lang="fr-TN"/>
          </a:p>
        </p:txBody>
      </p:sp>
      <p:sp>
        <p:nvSpPr>
          <p:cNvPr id="5" name="Shape 3"/>
          <p:cNvSpPr/>
          <p:nvPr/>
        </p:nvSpPr>
        <p:spPr>
          <a:xfrm>
            <a:off x="320040" y="6537960"/>
            <a:ext cx="1829" cy="274320"/>
          </a:xfrm>
          <a:prstGeom prst="rect">
            <a:avLst/>
          </a:prstGeom>
          <a:solidFill>
            <a:srgbClr val="E2E8F0"/>
          </a:solidFill>
          <a:ln/>
        </p:spPr>
        <p:txBody>
          <a:bodyPr/>
          <a:lstStyle/>
          <a:p>
            <a:endParaRPr lang="fr-TN"/>
          </a:p>
        </p:txBody>
      </p:sp>
      <p:sp>
        <p:nvSpPr>
          <p:cNvPr id="6" name="Shape 4"/>
          <p:cNvSpPr/>
          <p:nvPr/>
        </p:nvSpPr>
        <p:spPr>
          <a:xfrm>
            <a:off x="320040" y="6537960"/>
            <a:ext cx="640080" cy="1829"/>
          </a:xfrm>
          <a:prstGeom prst="rect">
            <a:avLst/>
          </a:prstGeom>
          <a:solidFill>
            <a:srgbClr val="E2E8F0"/>
          </a:solidFill>
          <a:ln/>
        </p:spPr>
        <p:txBody>
          <a:bodyPr/>
          <a:lstStyle/>
          <a:p>
            <a:endParaRPr lang="fr-TN"/>
          </a:p>
        </p:txBody>
      </p:sp>
      <p:sp>
        <p:nvSpPr>
          <p:cNvPr id="7" name="Text 5"/>
          <p:cNvSpPr/>
          <p:nvPr/>
        </p:nvSpPr>
        <p:spPr>
          <a:xfrm>
            <a:off x="731520" y="274320"/>
            <a:ext cx="10515600" cy="256032"/>
          </a:xfrm>
          <a:prstGeom prst="rect">
            <a:avLst/>
          </a:prstGeom>
          <a:noFill/>
          <a:ln/>
        </p:spPr>
        <p:txBody>
          <a:bodyPr wrap="square" rtlCol="0" anchor="ctr"/>
          <a:lstStyle/>
          <a:p>
            <a:pPr marL="0" indent="0">
              <a:buNone/>
            </a:pPr>
            <a:r>
              <a:rPr lang="en-US" sz="900" b="1" dirty="0">
                <a:solidFill>
                  <a:srgbClr val="2563EB"/>
                </a:solidFill>
                <a:latin typeface="Segoe UI" pitchFamily="34" charset="0"/>
                <a:ea typeface="Segoe UI" pitchFamily="34" charset="-122"/>
                <a:cs typeface="Segoe UI" pitchFamily="34" charset="-120"/>
              </a:rPr>
              <a:t>CHAPTER 2 — CONCEPTUAL STUDY</a:t>
            </a:r>
            <a:endParaRPr lang="en-US" sz="900" dirty="0"/>
          </a:p>
        </p:txBody>
      </p:sp>
      <p:sp>
        <p:nvSpPr>
          <p:cNvPr id="8" name="Text 6"/>
          <p:cNvSpPr/>
          <p:nvPr/>
        </p:nvSpPr>
        <p:spPr>
          <a:xfrm>
            <a:off x="731520" y="548640"/>
            <a:ext cx="10515600" cy="502920"/>
          </a:xfrm>
          <a:prstGeom prst="rect">
            <a:avLst/>
          </a:prstGeom>
          <a:noFill/>
          <a:ln/>
        </p:spPr>
        <p:txBody>
          <a:bodyPr wrap="square" rtlCol="0" anchor="ctr"/>
          <a:lstStyle/>
          <a:p>
            <a:pPr marL="0" indent="0">
              <a:buNone/>
            </a:pPr>
            <a:r>
              <a:rPr lang="en-US" sz="3000" b="1" dirty="0">
                <a:solidFill>
                  <a:srgbClr val="0F172A"/>
                </a:solidFill>
                <a:latin typeface="Segoe UI" pitchFamily="34" charset="0"/>
                <a:ea typeface="Segoe UI" pitchFamily="34" charset="-122"/>
                <a:cs typeface="Segoe UI" pitchFamily="34" charset="-120"/>
              </a:rPr>
              <a:t>Structural Modeling: Global Class Diagram</a:t>
            </a:r>
            <a:endParaRPr lang="en-US" sz="3000" dirty="0"/>
          </a:p>
        </p:txBody>
      </p:sp>
      <p:sp>
        <p:nvSpPr>
          <p:cNvPr id="9" name="Shape 7"/>
          <p:cNvSpPr/>
          <p:nvPr/>
        </p:nvSpPr>
        <p:spPr>
          <a:xfrm>
            <a:off x="731520" y="1115568"/>
            <a:ext cx="1828800" cy="32004"/>
          </a:xfrm>
          <a:prstGeom prst="rect">
            <a:avLst/>
          </a:prstGeom>
          <a:solidFill>
            <a:srgbClr val="2563EB"/>
          </a:solidFill>
          <a:ln/>
        </p:spPr>
        <p:txBody>
          <a:bodyPr/>
          <a:lstStyle/>
          <a:p>
            <a:endParaRPr lang="fr-TN"/>
          </a:p>
        </p:txBody>
      </p:sp>
      <p:sp>
        <p:nvSpPr>
          <p:cNvPr id="10" name="Shape 8"/>
          <p:cNvSpPr/>
          <p:nvPr/>
        </p:nvSpPr>
        <p:spPr>
          <a:xfrm>
            <a:off x="2651760" y="1124712"/>
            <a:ext cx="8778240" cy="10973"/>
          </a:xfrm>
          <a:prstGeom prst="rect">
            <a:avLst/>
          </a:prstGeom>
          <a:solidFill>
            <a:srgbClr val="E2E8F0"/>
          </a:solidFill>
          <a:ln/>
        </p:spPr>
        <p:txBody>
          <a:bodyPr/>
          <a:lstStyle/>
          <a:p>
            <a:endParaRPr lang="fr-TN"/>
          </a:p>
        </p:txBody>
      </p:sp>
      <p:sp>
        <p:nvSpPr>
          <p:cNvPr id="11" name="Shape 9"/>
          <p:cNvSpPr/>
          <p:nvPr/>
        </p:nvSpPr>
        <p:spPr>
          <a:xfrm>
            <a:off x="685800" y="1417320"/>
            <a:ext cx="4572000" cy="4892040"/>
          </a:xfrm>
          <a:prstGeom prst="roundRect">
            <a:avLst>
              <a:gd name="adj" fmla="val 2400"/>
            </a:avLst>
          </a:prstGeom>
          <a:solidFill>
            <a:srgbClr val="FFFFFF"/>
          </a:solidFill>
          <a:ln w="8890">
            <a:solidFill>
              <a:srgbClr val="E2E8F0"/>
            </a:solidFill>
            <a:prstDash val="solid"/>
          </a:ln>
          <a:effectLst>
            <a:outerShdw blurRad="152400" dist="38100" dir="12000000" algn="bl" rotWithShape="0">
              <a:srgbClr val="94A3B8">
                <a:alpha val="25000"/>
              </a:srgbClr>
            </a:outerShdw>
          </a:effectLst>
        </p:spPr>
        <p:txBody>
          <a:bodyPr/>
          <a:lstStyle/>
          <a:p>
            <a:endParaRPr lang="fr-TN"/>
          </a:p>
        </p:txBody>
      </p:sp>
      <p:sp>
        <p:nvSpPr>
          <p:cNvPr id="12" name="Shape 10"/>
          <p:cNvSpPr/>
          <p:nvPr/>
        </p:nvSpPr>
        <p:spPr>
          <a:xfrm>
            <a:off x="795528" y="1435608"/>
            <a:ext cx="4352544" cy="36576"/>
          </a:xfrm>
          <a:prstGeom prst="rect">
            <a:avLst/>
          </a:prstGeom>
          <a:solidFill>
            <a:srgbClr val="7C3AED"/>
          </a:solidFill>
          <a:ln/>
        </p:spPr>
        <p:txBody>
          <a:bodyPr/>
          <a:lstStyle/>
          <a:p>
            <a:endParaRPr lang="fr-TN"/>
          </a:p>
        </p:txBody>
      </p:sp>
      <p:sp>
        <p:nvSpPr>
          <p:cNvPr id="13" name="Text 11"/>
          <p:cNvSpPr/>
          <p:nvPr/>
        </p:nvSpPr>
        <p:spPr>
          <a:xfrm>
            <a:off x="886968" y="1581912"/>
            <a:ext cx="4169664" cy="365760"/>
          </a:xfrm>
          <a:prstGeom prst="rect">
            <a:avLst/>
          </a:prstGeom>
          <a:noFill/>
          <a:ln/>
        </p:spPr>
        <p:txBody>
          <a:bodyPr wrap="square" rtlCol="0" anchor="ctr"/>
          <a:lstStyle/>
          <a:p>
            <a:pPr marL="0" indent="0">
              <a:buNone/>
            </a:pPr>
            <a:r>
              <a:rPr lang="en-US" sz="1400" b="1" dirty="0">
                <a:solidFill>
                  <a:srgbClr val="0F172A"/>
                </a:solidFill>
                <a:latin typeface="Segoe UI" pitchFamily="34" charset="0"/>
                <a:ea typeface="Segoe UI" pitchFamily="34" charset="-122"/>
                <a:cs typeface="Segoe UI" pitchFamily="34" charset="-120"/>
              </a:rPr>
              <a:t>System Object Architecture</a:t>
            </a:r>
            <a:endParaRPr lang="en-US" sz="1400" dirty="0"/>
          </a:p>
        </p:txBody>
      </p:sp>
      <p:sp>
        <p:nvSpPr>
          <p:cNvPr id="14" name="Text 12"/>
          <p:cNvSpPr/>
          <p:nvPr/>
        </p:nvSpPr>
        <p:spPr>
          <a:xfrm>
            <a:off x="886968" y="1984248"/>
            <a:ext cx="4169664" cy="4114800"/>
          </a:xfrm>
          <a:prstGeom prst="rect">
            <a:avLst/>
          </a:prstGeom>
          <a:noFill/>
          <a:ln/>
        </p:spPr>
        <p:txBody>
          <a:bodyPr wrap="square" rtlCol="0" anchor="t"/>
          <a:lstStyle/>
          <a:p>
            <a:pPr marL="0" indent="0">
              <a:lnSpc>
                <a:spcPct val="135000"/>
              </a:lnSpc>
              <a:buNone/>
            </a:pPr>
            <a:r>
              <a:rPr lang="en-US" sz="1050" dirty="0">
                <a:solidFill>
                  <a:srgbClr val="475569"/>
                </a:solidFill>
                <a:latin typeface="Segoe UI" pitchFamily="34" charset="0"/>
                <a:ea typeface="Segoe UI" pitchFamily="34" charset="-122"/>
                <a:cs typeface="Segoe UI" pitchFamily="34" charset="-120"/>
              </a:rPr>
              <a:t>The static structure has three tiers:</a:t>
            </a:r>
            <a:endParaRPr lang="en-US" sz="1050" dirty="0"/>
          </a:p>
          <a:p>
            <a:pPr marL="0" indent="0">
              <a:lnSpc>
                <a:spcPct val="135000"/>
              </a:lnSpc>
              <a:buNone/>
            </a:pPr>
            <a:endParaRPr lang="en-US" sz="1050" dirty="0"/>
          </a:p>
          <a:p>
            <a:pPr marL="0" indent="0">
              <a:lnSpc>
                <a:spcPct val="135000"/>
              </a:lnSpc>
              <a:buNone/>
            </a:pPr>
            <a:r>
              <a:rPr lang="en-US" sz="1050" dirty="0">
                <a:solidFill>
                  <a:srgbClr val="475569"/>
                </a:solidFill>
                <a:latin typeface="Segoe UI" pitchFamily="34" charset="0"/>
                <a:ea typeface="Segoe UI" pitchFamily="34" charset="-122"/>
                <a:cs typeface="Segoe UI" pitchFamily="34" charset="-120"/>
              </a:rPr>
              <a:t>1. Ingestion &amp; Service Tier (Backend):</a:t>
            </a:r>
            <a:endParaRPr lang="en-US" sz="1050" dirty="0"/>
          </a:p>
          <a:p>
            <a:pPr marL="0" indent="0">
              <a:lnSpc>
                <a:spcPct val="135000"/>
              </a:lnSpc>
              <a:buNone/>
            </a:pPr>
            <a:r>
              <a:rPr lang="en-US" sz="1050" dirty="0">
                <a:solidFill>
                  <a:srgbClr val="475569"/>
                </a:solidFill>
                <a:latin typeface="Segoe UI" pitchFamily="34" charset="0"/>
                <a:ea typeface="Segoe UI" pitchFamily="34" charset="-122"/>
                <a:cs typeface="Segoe UI" pitchFamily="34" charset="-120"/>
              </a:rPr>
              <a:t>ExpressServer orchestrates 9 ScraperService subclasses. Each scraper maps vendor-specific formats to a unified ThreatEvent BSON schema. EnrichmentService resolves sectors.</a:t>
            </a:r>
            <a:endParaRPr lang="en-US" sz="1050" dirty="0"/>
          </a:p>
          <a:p>
            <a:pPr marL="0" indent="0">
              <a:lnSpc>
                <a:spcPct val="135000"/>
              </a:lnSpc>
              <a:buNone/>
            </a:pPr>
            <a:endParaRPr lang="en-US" sz="1050" dirty="0"/>
          </a:p>
          <a:p>
            <a:pPr marL="0" indent="0">
              <a:lnSpc>
                <a:spcPct val="135000"/>
              </a:lnSpc>
              <a:buNone/>
            </a:pPr>
            <a:r>
              <a:rPr lang="en-US" sz="1050" dirty="0">
                <a:solidFill>
                  <a:srgbClr val="475569"/>
                </a:solidFill>
                <a:latin typeface="Segoe UI" pitchFamily="34" charset="0"/>
                <a:ea typeface="Segoe UI" pitchFamily="34" charset="-122"/>
                <a:cs typeface="Segoe UI" pitchFamily="34" charset="-120"/>
              </a:rPr>
              <a:t>2. State Store Tier (Frontend):</a:t>
            </a:r>
            <a:endParaRPr lang="en-US" sz="1050" dirty="0"/>
          </a:p>
          <a:p>
            <a:pPr marL="0" indent="0">
              <a:lnSpc>
                <a:spcPct val="135000"/>
              </a:lnSpc>
              <a:buNone/>
            </a:pPr>
            <a:r>
              <a:rPr lang="en-US" sz="1050" dirty="0">
                <a:solidFill>
                  <a:srgbClr val="475569"/>
                </a:solidFill>
                <a:latin typeface="Segoe UI" pitchFamily="34" charset="0"/>
                <a:ea typeface="Segoe UI" pitchFamily="34" charset="-122"/>
                <a:cs typeface="Segoe UI" pitchFamily="34" charset="-120"/>
              </a:rPr>
              <a:t>Zustand useStreamStore with circular RingBuffer and perfTelemetry loop.</a:t>
            </a:r>
            <a:endParaRPr lang="en-US" sz="1050" dirty="0"/>
          </a:p>
          <a:p>
            <a:pPr marL="0" indent="0">
              <a:lnSpc>
                <a:spcPct val="135000"/>
              </a:lnSpc>
              <a:buNone/>
            </a:pPr>
            <a:endParaRPr lang="en-US" sz="1050" dirty="0"/>
          </a:p>
          <a:p>
            <a:pPr marL="0" indent="0">
              <a:lnSpc>
                <a:spcPct val="135000"/>
              </a:lnSpc>
              <a:buNone/>
            </a:pPr>
            <a:r>
              <a:rPr lang="en-US" sz="1050" dirty="0">
                <a:solidFill>
                  <a:srgbClr val="475569"/>
                </a:solidFill>
                <a:latin typeface="Segoe UI" pitchFamily="34" charset="0"/>
                <a:ea typeface="Segoe UI" pitchFamily="34" charset="-122"/>
                <a:cs typeface="Segoe UI" pitchFamily="34" charset="-120"/>
              </a:rPr>
              <a:t>3. React Views Layer:</a:t>
            </a:r>
            <a:endParaRPr lang="en-US" sz="1050" dirty="0"/>
          </a:p>
          <a:p>
            <a:pPr marL="0" indent="0">
              <a:lnSpc>
                <a:spcPct val="135000"/>
              </a:lnSpc>
              <a:buNone/>
            </a:pPr>
            <a:r>
              <a:rPr lang="en-US" sz="1050" dirty="0">
                <a:solidFill>
                  <a:srgbClr val="475569"/>
                </a:solidFill>
                <a:latin typeface="Segoe UI" pitchFamily="34" charset="0"/>
                <a:ea typeface="Segoe UI" pitchFamily="34" charset="-122"/>
                <a:cs typeface="Segoe UI" pitchFamily="34" charset="-120"/>
              </a:rPr>
              <a:t>Dashboard, STIXWorkspace, AnalyticsPage subscribe to store slices.</a:t>
            </a:r>
            <a:endParaRPr lang="en-US" sz="1050" dirty="0"/>
          </a:p>
        </p:txBody>
      </p:sp>
      <p:sp>
        <p:nvSpPr>
          <p:cNvPr id="15" name="Shape 13"/>
          <p:cNvSpPr/>
          <p:nvPr/>
        </p:nvSpPr>
        <p:spPr>
          <a:xfrm>
            <a:off x="5577840" y="1417320"/>
            <a:ext cx="5943600" cy="4892040"/>
          </a:xfrm>
          <a:prstGeom prst="roundRect">
            <a:avLst>
              <a:gd name="adj" fmla="val 2804"/>
            </a:avLst>
          </a:prstGeom>
          <a:solidFill>
            <a:srgbClr val="FFFFFF"/>
          </a:solidFill>
          <a:ln w="7620">
            <a:solidFill>
              <a:srgbClr val="E2E8F0"/>
            </a:solidFill>
            <a:prstDash val="solid"/>
          </a:ln>
          <a:effectLst>
            <a:outerShdw blurRad="152400" dist="38100" dir="12000000" algn="bl" rotWithShape="0">
              <a:srgbClr val="94A3B8">
                <a:alpha val="20000"/>
              </a:srgbClr>
            </a:outerShdw>
          </a:effectLst>
        </p:spPr>
        <p:txBody>
          <a:bodyPr/>
          <a:lstStyle/>
          <a:p>
            <a:endParaRPr lang="fr-TN"/>
          </a:p>
        </p:txBody>
      </p:sp>
      <p:sp>
        <p:nvSpPr>
          <p:cNvPr id="16" name="Text 14"/>
          <p:cNvSpPr/>
          <p:nvPr/>
        </p:nvSpPr>
        <p:spPr>
          <a:xfrm>
            <a:off x="5760720" y="1554480"/>
            <a:ext cx="5577840" cy="274320"/>
          </a:xfrm>
          <a:prstGeom prst="rect">
            <a:avLst/>
          </a:prstGeom>
          <a:noFill/>
          <a:ln/>
        </p:spPr>
        <p:txBody>
          <a:bodyPr wrap="square" rtlCol="0" anchor="ctr"/>
          <a:lstStyle/>
          <a:p>
            <a:pPr marL="0" indent="0">
              <a:buNone/>
            </a:pPr>
            <a:r>
              <a:rPr lang="en-US" sz="800" b="1" dirty="0">
                <a:solidFill>
                  <a:srgbClr val="7C3AED"/>
                </a:solidFill>
                <a:latin typeface="Segoe UI" pitchFamily="34" charset="0"/>
                <a:ea typeface="Segoe UI" pitchFamily="34" charset="-122"/>
                <a:cs typeface="Segoe UI" pitchFamily="34" charset="-120"/>
              </a:rPr>
              <a:t>GLOBAL CLASS DIAGRAM</a:t>
            </a:r>
            <a:endParaRPr lang="en-US" sz="800" dirty="0"/>
          </a:p>
        </p:txBody>
      </p:sp>
      <p:pic>
        <p:nvPicPr>
          <p:cNvPr id="17" name="Image 0" descr="C:\Users\shihe\Desktop\Final-Year-Project\predictra-threat-map\rapport-pfe\assets\global_class_diagram.png"/>
          <p:cNvPicPr>
            <a:picLocks noChangeAspect="1"/>
          </p:cNvPicPr>
          <p:nvPr/>
        </p:nvPicPr>
        <p:blipFill>
          <a:blip r:embed="rId3"/>
          <a:stretch>
            <a:fillRect/>
          </a:stretch>
        </p:blipFill>
        <p:spPr>
          <a:xfrm>
            <a:off x="5760720" y="1920240"/>
            <a:ext cx="5577840" cy="416052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88952" cy="45720"/>
          </a:xfrm>
          <a:prstGeom prst="rect">
            <a:avLst/>
          </a:prstGeom>
          <a:solidFill>
            <a:srgbClr val="2563EB"/>
          </a:solidFill>
          <a:ln/>
        </p:spPr>
        <p:txBody>
          <a:bodyPr/>
          <a:lstStyle/>
          <a:p>
            <a:endParaRPr lang="fr-TN"/>
          </a:p>
        </p:txBody>
      </p:sp>
      <p:sp>
        <p:nvSpPr>
          <p:cNvPr id="3" name="Shape 1"/>
          <p:cNvSpPr/>
          <p:nvPr/>
        </p:nvSpPr>
        <p:spPr>
          <a:xfrm>
            <a:off x="10972800" y="274320"/>
            <a:ext cx="914400" cy="1829"/>
          </a:xfrm>
          <a:prstGeom prst="rect">
            <a:avLst/>
          </a:prstGeom>
          <a:solidFill>
            <a:srgbClr val="E2E8F0"/>
          </a:solidFill>
          <a:ln/>
        </p:spPr>
        <p:txBody>
          <a:bodyPr/>
          <a:lstStyle/>
          <a:p>
            <a:endParaRPr lang="fr-TN"/>
          </a:p>
        </p:txBody>
      </p:sp>
      <p:sp>
        <p:nvSpPr>
          <p:cNvPr id="4" name="Shape 2"/>
          <p:cNvSpPr/>
          <p:nvPr/>
        </p:nvSpPr>
        <p:spPr>
          <a:xfrm>
            <a:off x="11868912" y="274320"/>
            <a:ext cx="1829" cy="640080"/>
          </a:xfrm>
          <a:prstGeom prst="rect">
            <a:avLst/>
          </a:prstGeom>
          <a:solidFill>
            <a:srgbClr val="E2E8F0"/>
          </a:solidFill>
          <a:ln/>
        </p:spPr>
        <p:txBody>
          <a:bodyPr/>
          <a:lstStyle/>
          <a:p>
            <a:endParaRPr lang="fr-TN"/>
          </a:p>
        </p:txBody>
      </p:sp>
      <p:sp>
        <p:nvSpPr>
          <p:cNvPr id="5" name="Shape 3"/>
          <p:cNvSpPr/>
          <p:nvPr/>
        </p:nvSpPr>
        <p:spPr>
          <a:xfrm>
            <a:off x="320040" y="6537960"/>
            <a:ext cx="1829" cy="274320"/>
          </a:xfrm>
          <a:prstGeom prst="rect">
            <a:avLst/>
          </a:prstGeom>
          <a:solidFill>
            <a:srgbClr val="E2E8F0"/>
          </a:solidFill>
          <a:ln/>
        </p:spPr>
        <p:txBody>
          <a:bodyPr/>
          <a:lstStyle/>
          <a:p>
            <a:endParaRPr lang="fr-TN"/>
          </a:p>
        </p:txBody>
      </p:sp>
      <p:sp>
        <p:nvSpPr>
          <p:cNvPr id="6" name="Shape 4"/>
          <p:cNvSpPr/>
          <p:nvPr/>
        </p:nvSpPr>
        <p:spPr>
          <a:xfrm>
            <a:off x="320040" y="6537960"/>
            <a:ext cx="640080" cy="1829"/>
          </a:xfrm>
          <a:prstGeom prst="rect">
            <a:avLst/>
          </a:prstGeom>
          <a:solidFill>
            <a:srgbClr val="E2E8F0"/>
          </a:solidFill>
          <a:ln/>
        </p:spPr>
        <p:txBody>
          <a:bodyPr/>
          <a:lstStyle/>
          <a:p>
            <a:endParaRPr lang="fr-TN"/>
          </a:p>
        </p:txBody>
      </p:sp>
      <p:sp>
        <p:nvSpPr>
          <p:cNvPr id="7" name="Text 5"/>
          <p:cNvSpPr/>
          <p:nvPr/>
        </p:nvSpPr>
        <p:spPr>
          <a:xfrm>
            <a:off x="731520" y="274320"/>
            <a:ext cx="10515600" cy="256032"/>
          </a:xfrm>
          <a:prstGeom prst="rect">
            <a:avLst/>
          </a:prstGeom>
          <a:noFill/>
          <a:ln/>
        </p:spPr>
        <p:txBody>
          <a:bodyPr wrap="square" rtlCol="0" anchor="ctr"/>
          <a:lstStyle/>
          <a:p>
            <a:pPr marL="0" indent="0">
              <a:buNone/>
            </a:pPr>
            <a:r>
              <a:rPr lang="en-US" sz="900" b="1" dirty="0">
                <a:solidFill>
                  <a:srgbClr val="2563EB"/>
                </a:solidFill>
                <a:latin typeface="Segoe UI" pitchFamily="34" charset="0"/>
                <a:ea typeface="Segoe UI" pitchFamily="34" charset="-122"/>
                <a:cs typeface="Segoe UI" pitchFamily="34" charset="-120"/>
              </a:rPr>
              <a:t>CHAPTER 2 — CONCEPTUAL STUDY</a:t>
            </a:r>
            <a:endParaRPr lang="en-US" sz="900" dirty="0"/>
          </a:p>
        </p:txBody>
      </p:sp>
      <p:sp>
        <p:nvSpPr>
          <p:cNvPr id="8" name="Text 6"/>
          <p:cNvSpPr/>
          <p:nvPr/>
        </p:nvSpPr>
        <p:spPr>
          <a:xfrm>
            <a:off x="731520" y="548640"/>
            <a:ext cx="10515600" cy="502920"/>
          </a:xfrm>
          <a:prstGeom prst="rect">
            <a:avLst/>
          </a:prstGeom>
          <a:noFill/>
          <a:ln/>
        </p:spPr>
        <p:txBody>
          <a:bodyPr wrap="square" rtlCol="0" anchor="ctr"/>
          <a:lstStyle/>
          <a:p>
            <a:pPr marL="0" indent="0">
              <a:buNone/>
            </a:pPr>
            <a:r>
              <a:rPr lang="en-US" sz="3000" b="1" dirty="0">
                <a:solidFill>
                  <a:srgbClr val="0F172A"/>
                </a:solidFill>
                <a:latin typeface="Segoe UI" pitchFamily="34" charset="0"/>
                <a:ea typeface="Segoe UI" pitchFamily="34" charset="-122"/>
                <a:cs typeface="Segoe UI" pitchFamily="34" charset="-120"/>
              </a:rPr>
              <a:t>Technology Stack Comparative Analysis</a:t>
            </a:r>
            <a:endParaRPr lang="en-US" sz="3000" dirty="0"/>
          </a:p>
        </p:txBody>
      </p:sp>
      <p:sp>
        <p:nvSpPr>
          <p:cNvPr id="9" name="Shape 7"/>
          <p:cNvSpPr/>
          <p:nvPr/>
        </p:nvSpPr>
        <p:spPr>
          <a:xfrm>
            <a:off x="731520" y="1115568"/>
            <a:ext cx="1828800" cy="32004"/>
          </a:xfrm>
          <a:prstGeom prst="rect">
            <a:avLst/>
          </a:prstGeom>
          <a:solidFill>
            <a:srgbClr val="2563EB"/>
          </a:solidFill>
          <a:ln/>
        </p:spPr>
        <p:txBody>
          <a:bodyPr/>
          <a:lstStyle/>
          <a:p>
            <a:endParaRPr lang="fr-TN"/>
          </a:p>
        </p:txBody>
      </p:sp>
      <p:sp>
        <p:nvSpPr>
          <p:cNvPr id="10" name="Shape 8"/>
          <p:cNvSpPr/>
          <p:nvPr/>
        </p:nvSpPr>
        <p:spPr>
          <a:xfrm>
            <a:off x="2651760" y="1124712"/>
            <a:ext cx="8778240" cy="10973"/>
          </a:xfrm>
          <a:prstGeom prst="rect">
            <a:avLst/>
          </a:prstGeom>
          <a:solidFill>
            <a:srgbClr val="E2E8F0"/>
          </a:solidFill>
          <a:ln/>
        </p:spPr>
        <p:txBody>
          <a:bodyPr/>
          <a:lstStyle/>
          <a:p>
            <a:endParaRPr lang="fr-TN"/>
          </a:p>
        </p:txBody>
      </p:sp>
      <p:sp>
        <p:nvSpPr>
          <p:cNvPr id="11" name="Shape 9"/>
          <p:cNvSpPr/>
          <p:nvPr/>
        </p:nvSpPr>
        <p:spPr>
          <a:xfrm>
            <a:off x="685800" y="1417320"/>
            <a:ext cx="2011680" cy="502920"/>
          </a:xfrm>
          <a:prstGeom prst="roundRect">
            <a:avLst>
              <a:gd name="adj" fmla="val 10909"/>
            </a:avLst>
          </a:prstGeom>
          <a:solidFill>
            <a:srgbClr val="2563EB">
              <a:alpha val="8000"/>
            </a:srgbClr>
          </a:solidFill>
          <a:ln w="7620">
            <a:solidFill>
              <a:srgbClr val="2563EB"/>
            </a:solidFill>
            <a:prstDash val="solid"/>
          </a:ln>
        </p:spPr>
        <p:txBody>
          <a:bodyPr/>
          <a:lstStyle/>
          <a:p>
            <a:endParaRPr lang="fr-TN"/>
          </a:p>
        </p:txBody>
      </p:sp>
      <p:sp>
        <p:nvSpPr>
          <p:cNvPr id="12" name="Text 10"/>
          <p:cNvSpPr/>
          <p:nvPr/>
        </p:nvSpPr>
        <p:spPr>
          <a:xfrm>
            <a:off x="685800" y="1417320"/>
            <a:ext cx="2011680" cy="502920"/>
          </a:xfrm>
          <a:prstGeom prst="rect">
            <a:avLst/>
          </a:prstGeom>
          <a:noFill/>
          <a:ln/>
        </p:spPr>
        <p:txBody>
          <a:bodyPr wrap="square" rtlCol="0" anchor="ctr"/>
          <a:lstStyle/>
          <a:p>
            <a:pPr marL="0" indent="0" algn="ctr">
              <a:buNone/>
            </a:pPr>
            <a:r>
              <a:rPr lang="en-US" sz="800" b="1" dirty="0">
                <a:solidFill>
                  <a:srgbClr val="2563EB"/>
                </a:solidFill>
                <a:latin typeface="Segoe UI" pitchFamily="34" charset="0"/>
                <a:ea typeface="Segoe UI" pitchFamily="34" charset="-122"/>
                <a:cs typeface="Segoe UI" pitchFamily="34" charset="-120"/>
              </a:rPr>
              <a:t>LAYER</a:t>
            </a:r>
            <a:endParaRPr lang="en-US" sz="800" dirty="0"/>
          </a:p>
        </p:txBody>
      </p:sp>
      <p:sp>
        <p:nvSpPr>
          <p:cNvPr id="13" name="Shape 11"/>
          <p:cNvSpPr/>
          <p:nvPr/>
        </p:nvSpPr>
        <p:spPr>
          <a:xfrm>
            <a:off x="2880360" y="1417320"/>
            <a:ext cx="2240280" cy="502920"/>
          </a:xfrm>
          <a:prstGeom prst="roundRect">
            <a:avLst>
              <a:gd name="adj" fmla="val 10909"/>
            </a:avLst>
          </a:prstGeom>
          <a:solidFill>
            <a:srgbClr val="2563EB">
              <a:alpha val="8000"/>
            </a:srgbClr>
          </a:solidFill>
          <a:ln w="7620">
            <a:solidFill>
              <a:srgbClr val="2563EB"/>
            </a:solidFill>
            <a:prstDash val="solid"/>
          </a:ln>
        </p:spPr>
        <p:txBody>
          <a:bodyPr/>
          <a:lstStyle/>
          <a:p>
            <a:endParaRPr lang="fr-TN"/>
          </a:p>
        </p:txBody>
      </p:sp>
      <p:sp>
        <p:nvSpPr>
          <p:cNvPr id="14" name="Text 12"/>
          <p:cNvSpPr/>
          <p:nvPr/>
        </p:nvSpPr>
        <p:spPr>
          <a:xfrm>
            <a:off x="2880360" y="1417320"/>
            <a:ext cx="2240280" cy="502920"/>
          </a:xfrm>
          <a:prstGeom prst="rect">
            <a:avLst/>
          </a:prstGeom>
          <a:noFill/>
          <a:ln/>
        </p:spPr>
        <p:txBody>
          <a:bodyPr wrap="square" rtlCol="0" anchor="ctr"/>
          <a:lstStyle/>
          <a:p>
            <a:pPr marL="0" indent="0" algn="ctr">
              <a:buNone/>
            </a:pPr>
            <a:r>
              <a:rPr lang="en-US" sz="800" b="1" dirty="0">
                <a:solidFill>
                  <a:srgbClr val="2563EB"/>
                </a:solidFill>
                <a:latin typeface="Segoe UI" pitchFamily="34" charset="0"/>
                <a:ea typeface="Segoe UI" pitchFamily="34" charset="-122"/>
                <a:cs typeface="Segoe UI" pitchFamily="34" charset="-120"/>
              </a:rPr>
              <a:t>SELECTED STACK</a:t>
            </a:r>
            <a:endParaRPr lang="en-US" sz="800" dirty="0"/>
          </a:p>
        </p:txBody>
      </p:sp>
      <p:sp>
        <p:nvSpPr>
          <p:cNvPr id="15" name="Shape 13"/>
          <p:cNvSpPr/>
          <p:nvPr/>
        </p:nvSpPr>
        <p:spPr>
          <a:xfrm>
            <a:off x="5303520" y="1417320"/>
            <a:ext cx="2057400" cy="502920"/>
          </a:xfrm>
          <a:prstGeom prst="roundRect">
            <a:avLst>
              <a:gd name="adj" fmla="val 10909"/>
            </a:avLst>
          </a:prstGeom>
          <a:solidFill>
            <a:srgbClr val="2563EB">
              <a:alpha val="8000"/>
            </a:srgbClr>
          </a:solidFill>
          <a:ln w="7620">
            <a:solidFill>
              <a:srgbClr val="2563EB"/>
            </a:solidFill>
            <a:prstDash val="solid"/>
          </a:ln>
        </p:spPr>
        <p:txBody>
          <a:bodyPr/>
          <a:lstStyle/>
          <a:p>
            <a:endParaRPr lang="fr-TN"/>
          </a:p>
        </p:txBody>
      </p:sp>
      <p:sp>
        <p:nvSpPr>
          <p:cNvPr id="16" name="Text 14"/>
          <p:cNvSpPr/>
          <p:nvPr/>
        </p:nvSpPr>
        <p:spPr>
          <a:xfrm>
            <a:off x="5303520" y="1417320"/>
            <a:ext cx="2057400" cy="502920"/>
          </a:xfrm>
          <a:prstGeom prst="rect">
            <a:avLst/>
          </a:prstGeom>
          <a:noFill/>
          <a:ln/>
        </p:spPr>
        <p:txBody>
          <a:bodyPr wrap="square" rtlCol="0" anchor="ctr"/>
          <a:lstStyle/>
          <a:p>
            <a:pPr marL="0" indent="0" algn="ctr">
              <a:buNone/>
            </a:pPr>
            <a:r>
              <a:rPr lang="en-US" sz="800" b="1" dirty="0">
                <a:solidFill>
                  <a:srgbClr val="2563EB"/>
                </a:solidFill>
                <a:latin typeface="Segoe UI" pitchFamily="34" charset="0"/>
                <a:ea typeface="Segoe UI" pitchFamily="34" charset="-122"/>
                <a:cs typeface="Segoe UI" pitchFamily="34" charset="-120"/>
              </a:rPr>
              <a:t>ALTERNATIVE</a:t>
            </a:r>
            <a:endParaRPr lang="en-US" sz="800" dirty="0"/>
          </a:p>
        </p:txBody>
      </p:sp>
      <p:sp>
        <p:nvSpPr>
          <p:cNvPr id="17" name="Shape 15"/>
          <p:cNvSpPr/>
          <p:nvPr/>
        </p:nvSpPr>
        <p:spPr>
          <a:xfrm>
            <a:off x="7543800" y="1417320"/>
            <a:ext cx="3977640" cy="502920"/>
          </a:xfrm>
          <a:prstGeom prst="roundRect">
            <a:avLst>
              <a:gd name="adj" fmla="val 10909"/>
            </a:avLst>
          </a:prstGeom>
          <a:solidFill>
            <a:srgbClr val="2563EB">
              <a:alpha val="8000"/>
            </a:srgbClr>
          </a:solidFill>
          <a:ln w="7620">
            <a:solidFill>
              <a:srgbClr val="2563EB"/>
            </a:solidFill>
            <a:prstDash val="solid"/>
          </a:ln>
        </p:spPr>
        <p:txBody>
          <a:bodyPr/>
          <a:lstStyle/>
          <a:p>
            <a:endParaRPr lang="fr-TN"/>
          </a:p>
        </p:txBody>
      </p:sp>
      <p:sp>
        <p:nvSpPr>
          <p:cNvPr id="18" name="Text 16"/>
          <p:cNvSpPr/>
          <p:nvPr/>
        </p:nvSpPr>
        <p:spPr>
          <a:xfrm>
            <a:off x="7543800" y="1417320"/>
            <a:ext cx="3977640" cy="502920"/>
          </a:xfrm>
          <a:prstGeom prst="rect">
            <a:avLst/>
          </a:prstGeom>
          <a:noFill/>
          <a:ln/>
        </p:spPr>
        <p:txBody>
          <a:bodyPr wrap="square" rtlCol="0" anchor="ctr"/>
          <a:lstStyle/>
          <a:p>
            <a:pPr marL="0" indent="0" algn="ctr">
              <a:buNone/>
            </a:pPr>
            <a:r>
              <a:rPr lang="en-US" sz="800" b="1" dirty="0">
                <a:solidFill>
                  <a:srgbClr val="2563EB"/>
                </a:solidFill>
                <a:latin typeface="Segoe UI" pitchFamily="34" charset="0"/>
                <a:ea typeface="Segoe UI" pitchFamily="34" charset="-122"/>
                <a:cs typeface="Segoe UI" pitchFamily="34" charset="-120"/>
              </a:rPr>
              <a:t>ARCHITECTURAL RATIONALE</a:t>
            </a:r>
            <a:endParaRPr lang="en-US" sz="800" dirty="0"/>
          </a:p>
        </p:txBody>
      </p:sp>
      <p:sp>
        <p:nvSpPr>
          <p:cNvPr id="19" name="Shape 17"/>
          <p:cNvSpPr/>
          <p:nvPr/>
        </p:nvSpPr>
        <p:spPr>
          <a:xfrm>
            <a:off x="685800" y="2057400"/>
            <a:ext cx="2011680" cy="749808"/>
          </a:xfrm>
          <a:prstGeom prst="roundRect">
            <a:avLst>
              <a:gd name="adj" fmla="val 7317"/>
            </a:avLst>
          </a:prstGeom>
          <a:solidFill>
            <a:srgbClr val="FFFFFF"/>
          </a:solidFill>
          <a:ln w="5080">
            <a:solidFill>
              <a:srgbClr val="E2E8F0"/>
            </a:solidFill>
            <a:prstDash val="solid"/>
          </a:ln>
        </p:spPr>
        <p:txBody>
          <a:bodyPr/>
          <a:lstStyle/>
          <a:p>
            <a:endParaRPr lang="fr-TN"/>
          </a:p>
        </p:txBody>
      </p:sp>
      <p:sp>
        <p:nvSpPr>
          <p:cNvPr id="20" name="Text 18"/>
          <p:cNvSpPr/>
          <p:nvPr/>
        </p:nvSpPr>
        <p:spPr>
          <a:xfrm>
            <a:off x="795528" y="2057400"/>
            <a:ext cx="1792224" cy="749808"/>
          </a:xfrm>
          <a:prstGeom prst="rect">
            <a:avLst/>
          </a:prstGeom>
          <a:noFill/>
          <a:ln/>
        </p:spPr>
        <p:txBody>
          <a:bodyPr wrap="square" rtlCol="0" anchor="ctr"/>
          <a:lstStyle/>
          <a:p>
            <a:pPr marL="0" indent="0">
              <a:buNone/>
            </a:pPr>
            <a:r>
              <a:rPr lang="en-US" sz="1000" b="1" dirty="0">
                <a:solidFill>
                  <a:srgbClr val="2563EB"/>
                </a:solidFill>
                <a:latin typeface="Segoe UI" pitchFamily="34" charset="0"/>
                <a:ea typeface="Segoe UI" pitchFamily="34" charset="-122"/>
                <a:cs typeface="Segoe UI" pitchFamily="34" charset="-120"/>
              </a:rPr>
              <a:t>Backend Runtime</a:t>
            </a:r>
            <a:endParaRPr lang="en-US" sz="1000" dirty="0"/>
          </a:p>
        </p:txBody>
      </p:sp>
      <p:sp>
        <p:nvSpPr>
          <p:cNvPr id="21" name="Shape 19"/>
          <p:cNvSpPr/>
          <p:nvPr/>
        </p:nvSpPr>
        <p:spPr>
          <a:xfrm>
            <a:off x="2880360" y="2057400"/>
            <a:ext cx="2240280" cy="749808"/>
          </a:xfrm>
          <a:prstGeom prst="roundRect">
            <a:avLst>
              <a:gd name="adj" fmla="val 7317"/>
            </a:avLst>
          </a:prstGeom>
          <a:solidFill>
            <a:srgbClr val="FFFFFF"/>
          </a:solidFill>
          <a:ln w="5080">
            <a:solidFill>
              <a:srgbClr val="E2E8F0"/>
            </a:solidFill>
            <a:prstDash val="solid"/>
          </a:ln>
        </p:spPr>
        <p:txBody>
          <a:bodyPr/>
          <a:lstStyle/>
          <a:p>
            <a:endParaRPr lang="fr-TN"/>
          </a:p>
        </p:txBody>
      </p:sp>
      <p:sp>
        <p:nvSpPr>
          <p:cNvPr id="22" name="Text 20"/>
          <p:cNvSpPr/>
          <p:nvPr/>
        </p:nvSpPr>
        <p:spPr>
          <a:xfrm>
            <a:off x="2990088" y="2057400"/>
            <a:ext cx="2020824" cy="749808"/>
          </a:xfrm>
          <a:prstGeom prst="rect">
            <a:avLst/>
          </a:prstGeom>
          <a:noFill/>
          <a:ln/>
        </p:spPr>
        <p:txBody>
          <a:bodyPr wrap="square" rtlCol="0" anchor="ctr"/>
          <a:lstStyle/>
          <a:p>
            <a:pPr marL="0" indent="0">
              <a:buNone/>
            </a:pPr>
            <a:r>
              <a:rPr lang="en-US" sz="950" b="1" dirty="0">
                <a:solidFill>
                  <a:srgbClr val="0F172A"/>
                </a:solidFill>
                <a:latin typeface="Segoe UI" pitchFamily="34" charset="0"/>
                <a:ea typeface="Segoe UI" pitchFamily="34" charset="-122"/>
                <a:cs typeface="Segoe UI" pitchFamily="34" charset="-120"/>
              </a:rPr>
              <a:t>Node.js / Express 5</a:t>
            </a:r>
            <a:endParaRPr lang="en-US" sz="950" dirty="0"/>
          </a:p>
        </p:txBody>
      </p:sp>
      <p:sp>
        <p:nvSpPr>
          <p:cNvPr id="23" name="Shape 21"/>
          <p:cNvSpPr/>
          <p:nvPr/>
        </p:nvSpPr>
        <p:spPr>
          <a:xfrm>
            <a:off x="5303520" y="2057400"/>
            <a:ext cx="2057400" cy="749808"/>
          </a:xfrm>
          <a:prstGeom prst="roundRect">
            <a:avLst>
              <a:gd name="adj" fmla="val 7317"/>
            </a:avLst>
          </a:prstGeom>
          <a:solidFill>
            <a:srgbClr val="FFFFFF"/>
          </a:solidFill>
          <a:ln w="5080">
            <a:solidFill>
              <a:srgbClr val="E2E8F0"/>
            </a:solidFill>
            <a:prstDash val="solid"/>
          </a:ln>
        </p:spPr>
        <p:txBody>
          <a:bodyPr/>
          <a:lstStyle/>
          <a:p>
            <a:endParaRPr lang="fr-TN"/>
          </a:p>
        </p:txBody>
      </p:sp>
      <p:sp>
        <p:nvSpPr>
          <p:cNvPr id="24" name="Text 22"/>
          <p:cNvSpPr/>
          <p:nvPr/>
        </p:nvSpPr>
        <p:spPr>
          <a:xfrm>
            <a:off x="5413248" y="2057400"/>
            <a:ext cx="1837944" cy="749808"/>
          </a:xfrm>
          <a:prstGeom prst="rect">
            <a:avLst/>
          </a:prstGeom>
          <a:noFill/>
          <a:ln/>
        </p:spPr>
        <p:txBody>
          <a:bodyPr wrap="square" rtlCol="0" anchor="ctr"/>
          <a:lstStyle/>
          <a:p>
            <a:pPr marL="0" indent="0">
              <a:buNone/>
            </a:pPr>
            <a:r>
              <a:rPr lang="en-US" sz="950" dirty="0">
                <a:solidFill>
                  <a:srgbClr val="475569"/>
                </a:solidFill>
                <a:latin typeface="Segoe UI" pitchFamily="34" charset="0"/>
                <a:ea typeface="Segoe UI" pitchFamily="34" charset="-122"/>
                <a:cs typeface="Segoe UI" pitchFamily="34" charset="-120"/>
              </a:rPr>
              <a:t>Java Spring Boot</a:t>
            </a:r>
            <a:endParaRPr lang="en-US" sz="950" dirty="0"/>
          </a:p>
        </p:txBody>
      </p:sp>
      <p:sp>
        <p:nvSpPr>
          <p:cNvPr id="25" name="Shape 23"/>
          <p:cNvSpPr/>
          <p:nvPr/>
        </p:nvSpPr>
        <p:spPr>
          <a:xfrm>
            <a:off x="7543800" y="2057400"/>
            <a:ext cx="3977640" cy="749808"/>
          </a:xfrm>
          <a:prstGeom prst="roundRect">
            <a:avLst>
              <a:gd name="adj" fmla="val 7317"/>
            </a:avLst>
          </a:prstGeom>
          <a:solidFill>
            <a:srgbClr val="FFFFFF"/>
          </a:solidFill>
          <a:ln w="5080">
            <a:solidFill>
              <a:srgbClr val="E2E8F0"/>
            </a:solidFill>
            <a:prstDash val="solid"/>
          </a:ln>
        </p:spPr>
        <p:txBody>
          <a:bodyPr/>
          <a:lstStyle/>
          <a:p>
            <a:endParaRPr lang="fr-TN"/>
          </a:p>
        </p:txBody>
      </p:sp>
      <p:sp>
        <p:nvSpPr>
          <p:cNvPr id="26" name="Text 24"/>
          <p:cNvSpPr/>
          <p:nvPr/>
        </p:nvSpPr>
        <p:spPr>
          <a:xfrm>
            <a:off x="7653528" y="2057400"/>
            <a:ext cx="3758184" cy="749808"/>
          </a:xfrm>
          <a:prstGeom prst="rect">
            <a:avLst/>
          </a:prstGeom>
          <a:noFill/>
          <a:ln/>
        </p:spPr>
        <p:txBody>
          <a:bodyPr wrap="square" rtlCol="0" anchor="ctr"/>
          <a:lstStyle/>
          <a:p>
            <a:pPr marL="0" indent="0">
              <a:buNone/>
            </a:pPr>
            <a:r>
              <a:rPr lang="en-US" sz="950" dirty="0">
                <a:solidFill>
                  <a:srgbClr val="475569"/>
                </a:solidFill>
                <a:latin typeface="Segoe UI" pitchFamily="34" charset="0"/>
                <a:ea typeface="Segoe UI" pitchFamily="34" charset="-122"/>
                <a:cs typeface="Segoe UI" pitchFamily="34" charset="-120"/>
              </a:rPr>
              <a:t>Async event loop; native SSE/WS concurrency</a:t>
            </a:r>
            <a:endParaRPr lang="en-US" sz="950" dirty="0"/>
          </a:p>
        </p:txBody>
      </p:sp>
      <p:sp>
        <p:nvSpPr>
          <p:cNvPr id="27" name="Shape 25"/>
          <p:cNvSpPr/>
          <p:nvPr/>
        </p:nvSpPr>
        <p:spPr>
          <a:xfrm>
            <a:off x="713232" y="2167128"/>
            <a:ext cx="41148" cy="530352"/>
          </a:xfrm>
          <a:prstGeom prst="rect">
            <a:avLst/>
          </a:prstGeom>
          <a:solidFill>
            <a:srgbClr val="2563EB"/>
          </a:solidFill>
          <a:ln/>
        </p:spPr>
        <p:txBody>
          <a:bodyPr/>
          <a:lstStyle/>
          <a:p>
            <a:endParaRPr lang="fr-TN"/>
          </a:p>
        </p:txBody>
      </p:sp>
      <p:sp>
        <p:nvSpPr>
          <p:cNvPr id="28" name="Shape 26"/>
          <p:cNvSpPr/>
          <p:nvPr/>
        </p:nvSpPr>
        <p:spPr>
          <a:xfrm>
            <a:off x="685800" y="2953512"/>
            <a:ext cx="2011680" cy="749808"/>
          </a:xfrm>
          <a:prstGeom prst="roundRect">
            <a:avLst>
              <a:gd name="adj" fmla="val 7317"/>
            </a:avLst>
          </a:prstGeom>
          <a:solidFill>
            <a:srgbClr val="F1F5F9"/>
          </a:solidFill>
          <a:ln w="5080">
            <a:solidFill>
              <a:srgbClr val="E2E8F0"/>
            </a:solidFill>
            <a:prstDash val="solid"/>
          </a:ln>
        </p:spPr>
        <p:txBody>
          <a:bodyPr/>
          <a:lstStyle/>
          <a:p>
            <a:endParaRPr lang="fr-TN"/>
          </a:p>
        </p:txBody>
      </p:sp>
      <p:sp>
        <p:nvSpPr>
          <p:cNvPr id="29" name="Text 27"/>
          <p:cNvSpPr/>
          <p:nvPr/>
        </p:nvSpPr>
        <p:spPr>
          <a:xfrm>
            <a:off x="795528" y="2953512"/>
            <a:ext cx="1792224" cy="749808"/>
          </a:xfrm>
          <a:prstGeom prst="rect">
            <a:avLst/>
          </a:prstGeom>
          <a:noFill/>
          <a:ln/>
        </p:spPr>
        <p:txBody>
          <a:bodyPr wrap="square" rtlCol="0" anchor="ctr"/>
          <a:lstStyle/>
          <a:p>
            <a:pPr marL="0" indent="0">
              <a:buNone/>
            </a:pPr>
            <a:r>
              <a:rPr lang="en-US" sz="1000" b="1" dirty="0">
                <a:solidFill>
                  <a:srgbClr val="4F46E5"/>
                </a:solidFill>
                <a:latin typeface="Segoe UI" pitchFamily="34" charset="0"/>
                <a:ea typeface="Segoe UI" pitchFamily="34" charset="-122"/>
                <a:cs typeface="Segoe UI" pitchFamily="34" charset="-120"/>
              </a:rPr>
              <a:t>State Management</a:t>
            </a:r>
            <a:endParaRPr lang="en-US" sz="1000" dirty="0"/>
          </a:p>
        </p:txBody>
      </p:sp>
      <p:sp>
        <p:nvSpPr>
          <p:cNvPr id="30" name="Shape 28"/>
          <p:cNvSpPr/>
          <p:nvPr/>
        </p:nvSpPr>
        <p:spPr>
          <a:xfrm>
            <a:off x="2880360" y="2953512"/>
            <a:ext cx="2240280" cy="749808"/>
          </a:xfrm>
          <a:prstGeom prst="roundRect">
            <a:avLst>
              <a:gd name="adj" fmla="val 7317"/>
            </a:avLst>
          </a:prstGeom>
          <a:solidFill>
            <a:srgbClr val="F1F5F9"/>
          </a:solidFill>
          <a:ln w="5080">
            <a:solidFill>
              <a:srgbClr val="E2E8F0"/>
            </a:solidFill>
            <a:prstDash val="solid"/>
          </a:ln>
        </p:spPr>
        <p:txBody>
          <a:bodyPr/>
          <a:lstStyle/>
          <a:p>
            <a:endParaRPr lang="fr-TN"/>
          </a:p>
        </p:txBody>
      </p:sp>
      <p:sp>
        <p:nvSpPr>
          <p:cNvPr id="31" name="Text 29"/>
          <p:cNvSpPr/>
          <p:nvPr/>
        </p:nvSpPr>
        <p:spPr>
          <a:xfrm>
            <a:off x="2990088" y="2953512"/>
            <a:ext cx="2020824" cy="749808"/>
          </a:xfrm>
          <a:prstGeom prst="rect">
            <a:avLst/>
          </a:prstGeom>
          <a:noFill/>
          <a:ln/>
        </p:spPr>
        <p:txBody>
          <a:bodyPr wrap="square" rtlCol="0" anchor="ctr"/>
          <a:lstStyle/>
          <a:p>
            <a:pPr marL="0" indent="0">
              <a:buNone/>
            </a:pPr>
            <a:r>
              <a:rPr lang="en-US" sz="950" b="1" dirty="0">
                <a:solidFill>
                  <a:srgbClr val="0F172A"/>
                </a:solidFill>
                <a:latin typeface="Segoe UI" pitchFamily="34" charset="0"/>
                <a:ea typeface="Segoe UI" pitchFamily="34" charset="-122"/>
                <a:cs typeface="Segoe UI" pitchFamily="34" charset="-120"/>
              </a:rPr>
              <a:t>Zustand 5</a:t>
            </a:r>
            <a:endParaRPr lang="en-US" sz="950" dirty="0"/>
          </a:p>
        </p:txBody>
      </p:sp>
      <p:sp>
        <p:nvSpPr>
          <p:cNvPr id="32" name="Shape 30"/>
          <p:cNvSpPr/>
          <p:nvPr/>
        </p:nvSpPr>
        <p:spPr>
          <a:xfrm>
            <a:off x="5303520" y="2953512"/>
            <a:ext cx="2057400" cy="749808"/>
          </a:xfrm>
          <a:prstGeom prst="roundRect">
            <a:avLst>
              <a:gd name="adj" fmla="val 7317"/>
            </a:avLst>
          </a:prstGeom>
          <a:solidFill>
            <a:srgbClr val="F1F5F9"/>
          </a:solidFill>
          <a:ln w="5080">
            <a:solidFill>
              <a:srgbClr val="E2E8F0"/>
            </a:solidFill>
            <a:prstDash val="solid"/>
          </a:ln>
        </p:spPr>
        <p:txBody>
          <a:bodyPr/>
          <a:lstStyle/>
          <a:p>
            <a:endParaRPr lang="fr-TN"/>
          </a:p>
        </p:txBody>
      </p:sp>
      <p:sp>
        <p:nvSpPr>
          <p:cNvPr id="33" name="Text 31"/>
          <p:cNvSpPr/>
          <p:nvPr/>
        </p:nvSpPr>
        <p:spPr>
          <a:xfrm>
            <a:off x="5413248" y="2953512"/>
            <a:ext cx="1837944" cy="749808"/>
          </a:xfrm>
          <a:prstGeom prst="rect">
            <a:avLst/>
          </a:prstGeom>
          <a:noFill/>
          <a:ln/>
        </p:spPr>
        <p:txBody>
          <a:bodyPr wrap="square" rtlCol="0" anchor="ctr"/>
          <a:lstStyle/>
          <a:p>
            <a:pPr marL="0" indent="0">
              <a:buNone/>
            </a:pPr>
            <a:r>
              <a:rPr lang="en-US" sz="950" dirty="0">
                <a:solidFill>
                  <a:srgbClr val="475569"/>
                </a:solidFill>
                <a:latin typeface="Segoe UI" pitchFamily="34" charset="0"/>
                <a:ea typeface="Segoe UI" pitchFamily="34" charset="-122"/>
                <a:cs typeface="Segoe UI" pitchFamily="34" charset="-120"/>
              </a:rPr>
              <a:t>Redux Toolkit</a:t>
            </a:r>
            <a:endParaRPr lang="en-US" sz="950" dirty="0"/>
          </a:p>
        </p:txBody>
      </p:sp>
      <p:sp>
        <p:nvSpPr>
          <p:cNvPr id="34" name="Shape 32"/>
          <p:cNvSpPr/>
          <p:nvPr/>
        </p:nvSpPr>
        <p:spPr>
          <a:xfrm>
            <a:off x="7543800" y="2953512"/>
            <a:ext cx="3977640" cy="749808"/>
          </a:xfrm>
          <a:prstGeom prst="roundRect">
            <a:avLst>
              <a:gd name="adj" fmla="val 7317"/>
            </a:avLst>
          </a:prstGeom>
          <a:solidFill>
            <a:srgbClr val="F1F5F9"/>
          </a:solidFill>
          <a:ln w="5080">
            <a:solidFill>
              <a:srgbClr val="E2E8F0"/>
            </a:solidFill>
            <a:prstDash val="solid"/>
          </a:ln>
        </p:spPr>
        <p:txBody>
          <a:bodyPr/>
          <a:lstStyle/>
          <a:p>
            <a:endParaRPr lang="fr-TN"/>
          </a:p>
        </p:txBody>
      </p:sp>
      <p:sp>
        <p:nvSpPr>
          <p:cNvPr id="35" name="Text 33"/>
          <p:cNvSpPr/>
          <p:nvPr/>
        </p:nvSpPr>
        <p:spPr>
          <a:xfrm>
            <a:off x="7653528" y="2953512"/>
            <a:ext cx="3758184" cy="749808"/>
          </a:xfrm>
          <a:prstGeom prst="rect">
            <a:avLst/>
          </a:prstGeom>
          <a:noFill/>
          <a:ln/>
        </p:spPr>
        <p:txBody>
          <a:bodyPr wrap="square" rtlCol="0" anchor="ctr"/>
          <a:lstStyle/>
          <a:p>
            <a:pPr marL="0" indent="0">
              <a:buNone/>
            </a:pPr>
            <a:r>
              <a:rPr lang="en-US" sz="950" dirty="0">
                <a:solidFill>
                  <a:srgbClr val="475569"/>
                </a:solidFill>
                <a:latin typeface="Segoe UI" pitchFamily="34" charset="0"/>
                <a:ea typeface="Segoe UI" pitchFamily="34" charset="-122"/>
                <a:cs typeface="Segoe UI" pitchFamily="34" charset="-120"/>
              </a:rPr>
              <a:t>Reactive store outside React render loop</a:t>
            </a:r>
            <a:endParaRPr lang="en-US" sz="950" dirty="0"/>
          </a:p>
        </p:txBody>
      </p:sp>
      <p:sp>
        <p:nvSpPr>
          <p:cNvPr id="36" name="Shape 34"/>
          <p:cNvSpPr/>
          <p:nvPr/>
        </p:nvSpPr>
        <p:spPr>
          <a:xfrm>
            <a:off x="713232" y="3063240"/>
            <a:ext cx="41148" cy="530352"/>
          </a:xfrm>
          <a:prstGeom prst="rect">
            <a:avLst/>
          </a:prstGeom>
          <a:solidFill>
            <a:srgbClr val="4F46E5"/>
          </a:solidFill>
          <a:ln/>
        </p:spPr>
        <p:txBody>
          <a:bodyPr/>
          <a:lstStyle/>
          <a:p>
            <a:endParaRPr lang="fr-TN"/>
          </a:p>
        </p:txBody>
      </p:sp>
      <p:sp>
        <p:nvSpPr>
          <p:cNvPr id="37" name="Shape 35"/>
          <p:cNvSpPr/>
          <p:nvPr/>
        </p:nvSpPr>
        <p:spPr>
          <a:xfrm>
            <a:off x="685800" y="3849624"/>
            <a:ext cx="2011680" cy="749808"/>
          </a:xfrm>
          <a:prstGeom prst="roundRect">
            <a:avLst>
              <a:gd name="adj" fmla="val 7317"/>
            </a:avLst>
          </a:prstGeom>
          <a:solidFill>
            <a:srgbClr val="FFFFFF"/>
          </a:solidFill>
          <a:ln w="5080">
            <a:solidFill>
              <a:srgbClr val="E2E8F0"/>
            </a:solidFill>
            <a:prstDash val="solid"/>
          </a:ln>
        </p:spPr>
        <p:txBody>
          <a:bodyPr/>
          <a:lstStyle/>
          <a:p>
            <a:endParaRPr lang="fr-TN"/>
          </a:p>
        </p:txBody>
      </p:sp>
      <p:sp>
        <p:nvSpPr>
          <p:cNvPr id="38" name="Text 36"/>
          <p:cNvSpPr/>
          <p:nvPr/>
        </p:nvSpPr>
        <p:spPr>
          <a:xfrm>
            <a:off x="795528" y="3849624"/>
            <a:ext cx="1792224" cy="749808"/>
          </a:xfrm>
          <a:prstGeom prst="rect">
            <a:avLst/>
          </a:prstGeom>
          <a:noFill/>
          <a:ln/>
        </p:spPr>
        <p:txBody>
          <a:bodyPr wrap="square" rtlCol="0" anchor="ctr"/>
          <a:lstStyle/>
          <a:p>
            <a:pPr marL="0" indent="0">
              <a:buNone/>
            </a:pPr>
            <a:r>
              <a:rPr lang="en-US" sz="1000" b="1" dirty="0">
                <a:solidFill>
                  <a:srgbClr val="7C3AED"/>
                </a:solidFill>
                <a:latin typeface="Segoe UI" pitchFamily="34" charset="0"/>
                <a:ea typeface="Segoe UI" pitchFamily="34" charset="-122"/>
                <a:cs typeface="Segoe UI" pitchFamily="34" charset="-120"/>
              </a:rPr>
              <a:t>3D Graphics</a:t>
            </a:r>
            <a:endParaRPr lang="en-US" sz="1000" dirty="0"/>
          </a:p>
        </p:txBody>
      </p:sp>
      <p:sp>
        <p:nvSpPr>
          <p:cNvPr id="39" name="Shape 37"/>
          <p:cNvSpPr/>
          <p:nvPr/>
        </p:nvSpPr>
        <p:spPr>
          <a:xfrm>
            <a:off x="2880360" y="3849624"/>
            <a:ext cx="2240280" cy="749808"/>
          </a:xfrm>
          <a:prstGeom prst="roundRect">
            <a:avLst>
              <a:gd name="adj" fmla="val 7317"/>
            </a:avLst>
          </a:prstGeom>
          <a:solidFill>
            <a:srgbClr val="FFFFFF"/>
          </a:solidFill>
          <a:ln w="5080">
            <a:solidFill>
              <a:srgbClr val="E2E8F0"/>
            </a:solidFill>
            <a:prstDash val="solid"/>
          </a:ln>
        </p:spPr>
        <p:txBody>
          <a:bodyPr/>
          <a:lstStyle/>
          <a:p>
            <a:endParaRPr lang="fr-TN"/>
          </a:p>
        </p:txBody>
      </p:sp>
      <p:sp>
        <p:nvSpPr>
          <p:cNvPr id="40" name="Text 38"/>
          <p:cNvSpPr/>
          <p:nvPr/>
        </p:nvSpPr>
        <p:spPr>
          <a:xfrm>
            <a:off x="2990088" y="3849624"/>
            <a:ext cx="2020824" cy="749808"/>
          </a:xfrm>
          <a:prstGeom prst="rect">
            <a:avLst/>
          </a:prstGeom>
          <a:noFill/>
          <a:ln/>
        </p:spPr>
        <p:txBody>
          <a:bodyPr wrap="square" rtlCol="0" anchor="ctr"/>
          <a:lstStyle/>
          <a:p>
            <a:pPr marL="0" indent="0">
              <a:buNone/>
            </a:pPr>
            <a:r>
              <a:rPr lang="en-US" sz="950" b="1" dirty="0">
                <a:solidFill>
                  <a:srgbClr val="0F172A"/>
                </a:solidFill>
                <a:latin typeface="Segoe UI" pitchFamily="34" charset="0"/>
                <a:ea typeface="Segoe UI" pitchFamily="34" charset="-122"/>
                <a:cs typeface="Segoe UI" pitchFamily="34" charset="-120"/>
              </a:rPr>
              <a:t>Three.js / R3F</a:t>
            </a:r>
            <a:endParaRPr lang="en-US" sz="950" dirty="0"/>
          </a:p>
        </p:txBody>
      </p:sp>
      <p:sp>
        <p:nvSpPr>
          <p:cNvPr id="41" name="Shape 39"/>
          <p:cNvSpPr/>
          <p:nvPr/>
        </p:nvSpPr>
        <p:spPr>
          <a:xfrm>
            <a:off x="5303520" y="3849624"/>
            <a:ext cx="2057400" cy="749808"/>
          </a:xfrm>
          <a:prstGeom prst="roundRect">
            <a:avLst>
              <a:gd name="adj" fmla="val 7317"/>
            </a:avLst>
          </a:prstGeom>
          <a:solidFill>
            <a:srgbClr val="FFFFFF"/>
          </a:solidFill>
          <a:ln w="5080">
            <a:solidFill>
              <a:srgbClr val="E2E8F0"/>
            </a:solidFill>
            <a:prstDash val="solid"/>
          </a:ln>
        </p:spPr>
        <p:txBody>
          <a:bodyPr/>
          <a:lstStyle/>
          <a:p>
            <a:endParaRPr lang="fr-TN"/>
          </a:p>
        </p:txBody>
      </p:sp>
      <p:sp>
        <p:nvSpPr>
          <p:cNvPr id="42" name="Text 40"/>
          <p:cNvSpPr/>
          <p:nvPr/>
        </p:nvSpPr>
        <p:spPr>
          <a:xfrm>
            <a:off x="5413248" y="3849624"/>
            <a:ext cx="1837944" cy="749808"/>
          </a:xfrm>
          <a:prstGeom prst="rect">
            <a:avLst/>
          </a:prstGeom>
          <a:noFill/>
          <a:ln/>
        </p:spPr>
        <p:txBody>
          <a:bodyPr wrap="square" rtlCol="0" anchor="ctr"/>
          <a:lstStyle/>
          <a:p>
            <a:pPr marL="0" indent="0">
              <a:buNone/>
            </a:pPr>
            <a:r>
              <a:rPr lang="en-US" sz="950" dirty="0">
                <a:solidFill>
                  <a:srgbClr val="475569"/>
                </a:solidFill>
                <a:latin typeface="Segoe UI" pitchFamily="34" charset="0"/>
                <a:ea typeface="Segoe UI" pitchFamily="34" charset="-122"/>
                <a:cs typeface="Segoe UI" pitchFamily="34" charset="-120"/>
              </a:rPr>
              <a:t>Vanilla Canvas</a:t>
            </a:r>
            <a:endParaRPr lang="en-US" sz="950" dirty="0"/>
          </a:p>
        </p:txBody>
      </p:sp>
      <p:sp>
        <p:nvSpPr>
          <p:cNvPr id="43" name="Shape 41"/>
          <p:cNvSpPr/>
          <p:nvPr/>
        </p:nvSpPr>
        <p:spPr>
          <a:xfrm>
            <a:off x="7543800" y="3849624"/>
            <a:ext cx="3977640" cy="749808"/>
          </a:xfrm>
          <a:prstGeom prst="roundRect">
            <a:avLst>
              <a:gd name="adj" fmla="val 7317"/>
            </a:avLst>
          </a:prstGeom>
          <a:solidFill>
            <a:srgbClr val="FFFFFF"/>
          </a:solidFill>
          <a:ln w="5080">
            <a:solidFill>
              <a:srgbClr val="E2E8F0"/>
            </a:solidFill>
            <a:prstDash val="solid"/>
          </a:ln>
        </p:spPr>
        <p:txBody>
          <a:bodyPr/>
          <a:lstStyle/>
          <a:p>
            <a:endParaRPr lang="fr-TN"/>
          </a:p>
        </p:txBody>
      </p:sp>
      <p:sp>
        <p:nvSpPr>
          <p:cNvPr id="44" name="Text 42"/>
          <p:cNvSpPr/>
          <p:nvPr/>
        </p:nvSpPr>
        <p:spPr>
          <a:xfrm>
            <a:off x="7653528" y="3849624"/>
            <a:ext cx="3758184" cy="749808"/>
          </a:xfrm>
          <a:prstGeom prst="rect">
            <a:avLst/>
          </a:prstGeom>
          <a:noFill/>
          <a:ln/>
        </p:spPr>
        <p:txBody>
          <a:bodyPr wrap="square" rtlCol="0" anchor="ctr"/>
          <a:lstStyle/>
          <a:p>
            <a:pPr marL="0" indent="0">
              <a:buNone/>
            </a:pPr>
            <a:r>
              <a:rPr lang="en-US" sz="950" dirty="0">
                <a:solidFill>
                  <a:srgbClr val="475569"/>
                </a:solidFill>
                <a:latin typeface="Segoe UI" pitchFamily="34" charset="0"/>
                <a:ea typeface="Segoe UI" pitchFamily="34" charset="-122"/>
                <a:cs typeface="Segoe UI" pitchFamily="34" charset="-120"/>
              </a:rPr>
              <a:t>GPU acceleration, custom GLSL shaders</a:t>
            </a:r>
            <a:endParaRPr lang="en-US" sz="950" dirty="0"/>
          </a:p>
        </p:txBody>
      </p:sp>
      <p:sp>
        <p:nvSpPr>
          <p:cNvPr id="45" name="Shape 43"/>
          <p:cNvSpPr/>
          <p:nvPr/>
        </p:nvSpPr>
        <p:spPr>
          <a:xfrm>
            <a:off x="713232" y="3959352"/>
            <a:ext cx="41148" cy="530352"/>
          </a:xfrm>
          <a:prstGeom prst="rect">
            <a:avLst/>
          </a:prstGeom>
          <a:solidFill>
            <a:srgbClr val="7C3AED"/>
          </a:solidFill>
          <a:ln/>
        </p:spPr>
        <p:txBody>
          <a:bodyPr/>
          <a:lstStyle/>
          <a:p>
            <a:endParaRPr lang="fr-TN"/>
          </a:p>
        </p:txBody>
      </p:sp>
      <p:sp>
        <p:nvSpPr>
          <p:cNvPr id="46" name="Shape 44"/>
          <p:cNvSpPr/>
          <p:nvPr/>
        </p:nvSpPr>
        <p:spPr>
          <a:xfrm>
            <a:off x="685800" y="4745736"/>
            <a:ext cx="2011680" cy="749808"/>
          </a:xfrm>
          <a:prstGeom prst="roundRect">
            <a:avLst>
              <a:gd name="adj" fmla="val 7317"/>
            </a:avLst>
          </a:prstGeom>
          <a:solidFill>
            <a:srgbClr val="F1F5F9"/>
          </a:solidFill>
          <a:ln w="5080">
            <a:solidFill>
              <a:srgbClr val="E2E8F0"/>
            </a:solidFill>
            <a:prstDash val="solid"/>
          </a:ln>
        </p:spPr>
        <p:txBody>
          <a:bodyPr/>
          <a:lstStyle/>
          <a:p>
            <a:endParaRPr lang="fr-TN"/>
          </a:p>
        </p:txBody>
      </p:sp>
      <p:sp>
        <p:nvSpPr>
          <p:cNvPr id="47" name="Text 45"/>
          <p:cNvSpPr/>
          <p:nvPr/>
        </p:nvSpPr>
        <p:spPr>
          <a:xfrm>
            <a:off x="795528" y="4745736"/>
            <a:ext cx="1792224" cy="749808"/>
          </a:xfrm>
          <a:prstGeom prst="rect">
            <a:avLst/>
          </a:prstGeom>
          <a:noFill/>
          <a:ln/>
        </p:spPr>
        <p:txBody>
          <a:bodyPr wrap="square" rtlCol="0" anchor="ctr"/>
          <a:lstStyle/>
          <a:p>
            <a:pPr marL="0" indent="0">
              <a:buNone/>
            </a:pPr>
            <a:r>
              <a:rPr lang="en-US" sz="1000" b="1" dirty="0">
                <a:solidFill>
                  <a:srgbClr val="059669"/>
                </a:solidFill>
                <a:latin typeface="Segoe UI" pitchFamily="34" charset="0"/>
                <a:ea typeface="Segoe UI" pitchFamily="34" charset="-122"/>
                <a:cs typeface="Segoe UI" pitchFamily="34" charset="-120"/>
              </a:rPr>
              <a:t>Database</a:t>
            </a:r>
            <a:endParaRPr lang="en-US" sz="1000" dirty="0"/>
          </a:p>
        </p:txBody>
      </p:sp>
      <p:sp>
        <p:nvSpPr>
          <p:cNvPr id="48" name="Shape 46"/>
          <p:cNvSpPr/>
          <p:nvPr/>
        </p:nvSpPr>
        <p:spPr>
          <a:xfrm>
            <a:off x="2880360" y="4745736"/>
            <a:ext cx="2240280" cy="749808"/>
          </a:xfrm>
          <a:prstGeom prst="roundRect">
            <a:avLst>
              <a:gd name="adj" fmla="val 7317"/>
            </a:avLst>
          </a:prstGeom>
          <a:solidFill>
            <a:srgbClr val="F1F5F9"/>
          </a:solidFill>
          <a:ln w="5080">
            <a:solidFill>
              <a:srgbClr val="E2E8F0"/>
            </a:solidFill>
            <a:prstDash val="solid"/>
          </a:ln>
        </p:spPr>
        <p:txBody>
          <a:bodyPr/>
          <a:lstStyle/>
          <a:p>
            <a:endParaRPr lang="fr-TN"/>
          </a:p>
        </p:txBody>
      </p:sp>
      <p:sp>
        <p:nvSpPr>
          <p:cNvPr id="49" name="Text 47"/>
          <p:cNvSpPr/>
          <p:nvPr/>
        </p:nvSpPr>
        <p:spPr>
          <a:xfrm>
            <a:off x="2990088" y="4745736"/>
            <a:ext cx="2020824" cy="749808"/>
          </a:xfrm>
          <a:prstGeom prst="rect">
            <a:avLst/>
          </a:prstGeom>
          <a:noFill/>
          <a:ln/>
        </p:spPr>
        <p:txBody>
          <a:bodyPr wrap="square" rtlCol="0" anchor="ctr"/>
          <a:lstStyle/>
          <a:p>
            <a:pPr marL="0" indent="0">
              <a:buNone/>
            </a:pPr>
            <a:r>
              <a:rPr lang="en-US" sz="950" b="1" dirty="0">
                <a:solidFill>
                  <a:srgbClr val="0F172A"/>
                </a:solidFill>
                <a:latin typeface="Segoe UI" pitchFamily="34" charset="0"/>
                <a:ea typeface="Segoe UI" pitchFamily="34" charset="-122"/>
                <a:cs typeface="Segoe UI" pitchFamily="34" charset="-120"/>
              </a:rPr>
              <a:t>MongoDB Atlas</a:t>
            </a:r>
            <a:endParaRPr lang="en-US" sz="950" dirty="0"/>
          </a:p>
        </p:txBody>
      </p:sp>
      <p:sp>
        <p:nvSpPr>
          <p:cNvPr id="50" name="Shape 48"/>
          <p:cNvSpPr/>
          <p:nvPr/>
        </p:nvSpPr>
        <p:spPr>
          <a:xfrm>
            <a:off x="5303520" y="4745736"/>
            <a:ext cx="2057400" cy="749808"/>
          </a:xfrm>
          <a:prstGeom prst="roundRect">
            <a:avLst>
              <a:gd name="adj" fmla="val 7317"/>
            </a:avLst>
          </a:prstGeom>
          <a:solidFill>
            <a:srgbClr val="F1F5F9"/>
          </a:solidFill>
          <a:ln w="5080">
            <a:solidFill>
              <a:srgbClr val="E2E8F0"/>
            </a:solidFill>
            <a:prstDash val="solid"/>
          </a:ln>
        </p:spPr>
        <p:txBody>
          <a:bodyPr/>
          <a:lstStyle/>
          <a:p>
            <a:endParaRPr lang="fr-TN"/>
          </a:p>
        </p:txBody>
      </p:sp>
      <p:sp>
        <p:nvSpPr>
          <p:cNvPr id="51" name="Text 49"/>
          <p:cNvSpPr/>
          <p:nvPr/>
        </p:nvSpPr>
        <p:spPr>
          <a:xfrm>
            <a:off x="5413248" y="4745736"/>
            <a:ext cx="1837944" cy="749808"/>
          </a:xfrm>
          <a:prstGeom prst="rect">
            <a:avLst/>
          </a:prstGeom>
          <a:noFill/>
          <a:ln/>
        </p:spPr>
        <p:txBody>
          <a:bodyPr wrap="square" rtlCol="0" anchor="ctr"/>
          <a:lstStyle/>
          <a:p>
            <a:pPr marL="0" indent="0">
              <a:buNone/>
            </a:pPr>
            <a:r>
              <a:rPr lang="en-US" sz="950" dirty="0">
                <a:solidFill>
                  <a:srgbClr val="475569"/>
                </a:solidFill>
                <a:latin typeface="Segoe UI" pitchFamily="34" charset="0"/>
                <a:ea typeface="Segoe UI" pitchFamily="34" charset="-122"/>
                <a:cs typeface="Segoe UI" pitchFamily="34" charset="-120"/>
              </a:rPr>
              <a:t>PostgreSQL</a:t>
            </a:r>
            <a:endParaRPr lang="en-US" sz="950" dirty="0"/>
          </a:p>
        </p:txBody>
      </p:sp>
      <p:sp>
        <p:nvSpPr>
          <p:cNvPr id="52" name="Shape 50"/>
          <p:cNvSpPr/>
          <p:nvPr/>
        </p:nvSpPr>
        <p:spPr>
          <a:xfrm>
            <a:off x="7543800" y="4745736"/>
            <a:ext cx="3977640" cy="749808"/>
          </a:xfrm>
          <a:prstGeom prst="roundRect">
            <a:avLst>
              <a:gd name="adj" fmla="val 7317"/>
            </a:avLst>
          </a:prstGeom>
          <a:solidFill>
            <a:srgbClr val="F1F5F9"/>
          </a:solidFill>
          <a:ln w="5080">
            <a:solidFill>
              <a:srgbClr val="E2E8F0"/>
            </a:solidFill>
            <a:prstDash val="solid"/>
          </a:ln>
        </p:spPr>
        <p:txBody>
          <a:bodyPr/>
          <a:lstStyle/>
          <a:p>
            <a:endParaRPr lang="fr-TN"/>
          </a:p>
        </p:txBody>
      </p:sp>
      <p:sp>
        <p:nvSpPr>
          <p:cNvPr id="53" name="Text 51"/>
          <p:cNvSpPr/>
          <p:nvPr/>
        </p:nvSpPr>
        <p:spPr>
          <a:xfrm>
            <a:off x="7653528" y="4745736"/>
            <a:ext cx="3758184" cy="749808"/>
          </a:xfrm>
          <a:prstGeom prst="rect">
            <a:avLst/>
          </a:prstGeom>
          <a:noFill/>
          <a:ln/>
        </p:spPr>
        <p:txBody>
          <a:bodyPr wrap="square" rtlCol="0" anchor="ctr"/>
          <a:lstStyle/>
          <a:p>
            <a:pPr marL="0" indent="0">
              <a:buNone/>
            </a:pPr>
            <a:r>
              <a:rPr lang="en-US" sz="950" dirty="0">
                <a:solidFill>
                  <a:srgbClr val="475569"/>
                </a:solidFill>
                <a:latin typeface="Segoe UI" pitchFamily="34" charset="0"/>
                <a:ea typeface="Segoe UI" pitchFamily="34" charset="-122"/>
                <a:cs typeface="Segoe UI" pitchFamily="34" charset="-120"/>
              </a:rPr>
              <a:t>Flexible schemaless BSON for raw feeds</a:t>
            </a:r>
            <a:endParaRPr lang="en-US" sz="950" dirty="0"/>
          </a:p>
        </p:txBody>
      </p:sp>
      <p:sp>
        <p:nvSpPr>
          <p:cNvPr id="54" name="Shape 52"/>
          <p:cNvSpPr/>
          <p:nvPr/>
        </p:nvSpPr>
        <p:spPr>
          <a:xfrm>
            <a:off x="713232" y="4855464"/>
            <a:ext cx="41148" cy="530352"/>
          </a:xfrm>
          <a:prstGeom prst="rect">
            <a:avLst/>
          </a:prstGeom>
          <a:solidFill>
            <a:srgbClr val="059669"/>
          </a:solidFill>
          <a:ln/>
        </p:spPr>
        <p:txBody>
          <a:bodyPr/>
          <a:lstStyle/>
          <a:p>
            <a:endParaRPr lang="fr-TN"/>
          </a:p>
        </p:txBody>
      </p:sp>
      <p:sp>
        <p:nvSpPr>
          <p:cNvPr id="55" name="Shape 53"/>
          <p:cNvSpPr/>
          <p:nvPr/>
        </p:nvSpPr>
        <p:spPr>
          <a:xfrm>
            <a:off x="685800" y="5641848"/>
            <a:ext cx="2011680" cy="749808"/>
          </a:xfrm>
          <a:prstGeom prst="roundRect">
            <a:avLst>
              <a:gd name="adj" fmla="val 7317"/>
            </a:avLst>
          </a:prstGeom>
          <a:solidFill>
            <a:srgbClr val="FFFFFF"/>
          </a:solidFill>
          <a:ln w="5080">
            <a:solidFill>
              <a:srgbClr val="E2E8F0"/>
            </a:solidFill>
            <a:prstDash val="solid"/>
          </a:ln>
        </p:spPr>
        <p:txBody>
          <a:bodyPr/>
          <a:lstStyle/>
          <a:p>
            <a:endParaRPr lang="fr-TN"/>
          </a:p>
        </p:txBody>
      </p:sp>
      <p:sp>
        <p:nvSpPr>
          <p:cNvPr id="56" name="Text 54"/>
          <p:cNvSpPr/>
          <p:nvPr/>
        </p:nvSpPr>
        <p:spPr>
          <a:xfrm>
            <a:off x="795528" y="5641848"/>
            <a:ext cx="1792224" cy="749808"/>
          </a:xfrm>
          <a:prstGeom prst="rect">
            <a:avLst/>
          </a:prstGeom>
          <a:noFill/>
          <a:ln/>
        </p:spPr>
        <p:txBody>
          <a:bodyPr wrap="square" rtlCol="0" anchor="ctr"/>
          <a:lstStyle/>
          <a:p>
            <a:pPr marL="0" indent="0">
              <a:buNone/>
            </a:pPr>
            <a:r>
              <a:rPr lang="en-US" sz="1000" b="1" dirty="0">
                <a:solidFill>
                  <a:srgbClr val="D97706"/>
                </a:solidFill>
                <a:latin typeface="Segoe UI" pitchFamily="34" charset="0"/>
                <a:ea typeface="Segoe UI" pitchFamily="34" charset="-122"/>
                <a:cs typeface="Segoe UI" pitchFamily="34" charset="-120"/>
              </a:rPr>
              <a:t>Deployment</a:t>
            </a:r>
            <a:endParaRPr lang="en-US" sz="1000" dirty="0"/>
          </a:p>
        </p:txBody>
      </p:sp>
      <p:sp>
        <p:nvSpPr>
          <p:cNvPr id="57" name="Shape 55"/>
          <p:cNvSpPr/>
          <p:nvPr/>
        </p:nvSpPr>
        <p:spPr>
          <a:xfrm>
            <a:off x="2880360" y="5641848"/>
            <a:ext cx="2240280" cy="749808"/>
          </a:xfrm>
          <a:prstGeom prst="roundRect">
            <a:avLst>
              <a:gd name="adj" fmla="val 7317"/>
            </a:avLst>
          </a:prstGeom>
          <a:solidFill>
            <a:srgbClr val="FFFFFF"/>
          </a:solidFill>
          <a:ln w="5080">
            <a:solidFill>
              <a:srgbClr val="E2E8F0"/>
            </a:solidFill>
            <a:prstDash val="solid"/>
          </a:ln>
        </p:spPr>
        <p:txBody>
          <a:bodyPr/>
          <a:lstStyle/>
          <a:p>
            <a:endParaRPr lang="fr-TN"/>
          </a:p>
        </p:txBody>
      </p:sp>
      <p:sp>
        <p:nvSpPr>
          <p:cNvPr id="58" name="Text 56"/>
          <p:cNvSpPr/>
          <p:nvPr/>
        </p:nvSpPr>
        <p:spPr>
          <a:xfrm>
            <a:off x="2990088" y="5641848"/>
            <a:ext cx="2020824" cy="749808"/>
          </a:xfrm>
          <a:prstGeom prst="rect">
            <a:avLst/>
          </a:prstGeom>
          <a:noFill/>
          <a:ln/>
        </p:spPr>
        <p:txBody>
          <a:bodyPr wrap="square" rtlCol="0" anchor="ctr"/>
          <a:lstStyle/>
          <a:p>
            <a:pPr marL="0" indent="0">
              <a:buNone/>
            </a:pPr>
            <a:r>
              <a:rPr lang="en-US" sz="950" b="1" dirty="0">
                <a:solidFill>
                  <a:srgbClr val="0F172A"/>
                </a:solidFill>
                <a:latin typeface="Segoe UI" pitchFamily="34" charset="0"/>
                <a:ea typeface="Segoe UI" pitchFamily="34" charset="-122"/>
                <a:cs typeface="Segoe UI" pitchFamily="34" charset="-120"/>
              </a:rPr>
              <a:t>Vercel + Cloud VM</a:t>
            </a:r>
            <a:endParaRPr lang="en-US" sz="950" dirty="0"/>
          </a:p>
        </p:txBody>
      </p:sp>
      <p:sp>
        <p:nvSpPr>
          <p:cNvPr id="59" name="Shape 57"/>
          <p:cNvSpPr/>
          <p:nvPr/>
        </p:nvSpPr>
        <p:spPr>
          <a:xfrm>
            <a:off x="5303520" y="5641848"/>
            <a:ext cx="2057400" cy="749808"/>
          </a:xfrm>
          <a:prstGeom prst="roundRect">
            <a:avLst>
              <a:gd name="adj" fmla="val 7317"/>
            </a:avLst>
          </a:prstGeom>
          <a:solidFill>
            <a:srgbClr val="FFFFFF"/>
          </a:solidFill>
          <a:ln w="5080">
            <a:solidFill>
              <a:srgbClr val="E2E8F0"/>
            </a:solidFill>
            <a:prstDash val="solid"/>
          </a:ln>
        </p:spPr>
        <p:txBody>
          <a:bodyPr/>
          <a:lstStyle/>
          <a:p>
            <a:endParaRPr lang="fr-TN"/>
          </a:p>
        </p:txBody>
      </p:sp>
      <p:sp>
        <p:nvSpPr>
          <p:cNvPr id="60" name="Text 58"/>
          <p:cNvSpPr/>
          <p:nvPr/>
        </p:nvSpPr>
        <p:spPr>
          <a:xfrm>
            <a:off x="5413248" y="5641848"/>
            <a:ext cx="1837944" cy="749808"/>
          </a:xfrm>
          <a:prstGeom prst="rect">
            <a:avLst/>
          </a:prstGeom>
          <a:noFill/>
          <a:ln/>
        </p:spPr>
        <p:txBody>
          <a:bodyPr wrap="square" rtlCol="0" anchor="ctr"/>
          <a:lstStyle/>
          <a:p>
            <a:pPr marL="0" indent="0">
              <a:buNone/>
            </a:pPr>
            <a:r>
              <a:rPr lang="en-US" sz="950" dirty="0">
                <a:solidFill>
                  <a:srgbClr val="475569"/>
                </a:solidFill>
                <a:latin typeface="Segoe UI" pitchFamily="34" charset="0"/>
                <a:ea typeface="Segoe UI" pitchFamily="34" charset="-122"/>
                <a:cs typeface="Segoe UI" pitchFamily="34" charset="-120"/>
              </a:rPr>
              <a:t>AWS EC2 + S3</a:t>
            </a:r>
            <a:endParaRPr lang="en-US" sz="950" dirty="0"/>
          </a:p>
        </p:txBody>
      </p:sp>
      <p:sp>
        <p:nvSpPr>
          <p:cNvPr id="61" name="Shape 59"/>
          <p:cNvSpPr/>
          <p:nvPr/>
        </p:nvSpPr>
        <p:spPr>
          <a:xfrm>
            <a:off x="7543800" y="5641848"/>
            <a:ext cx="3977640" cy="749808"/>
          </a:xfrm>
          <a:prstGeom prst="roundRect">
            <a:avLst>
              <a:gd name="adj" fmla="val 7317"/>
            </a:avLst>
          </a:prstGeom>
          <a:solidFill>
            <a:srgbClr val="FFFFFF"/>
          </a:solidFill>
          <a:ln w="5080">
            <a:solidFill>
              <a:srgbClr val="E2E8F0"/>
            </a:solidFill>
            <a:prstDash val="solid"/>
          </a:ln>
        </p:spPr>
        <p:txBody>
          <a:bodyPr/>
          <a:lstStyle/>
          <a:p>
            <a:endParaRPr lang="fr-TN"/>
          </a:p>
        </p:txBody>
      </p:sp>
      <p:sp>
        <p:nvSpPr>
          <p:cNvPr id="62" name="Text 60"/>
          <p:cNvSpPr/>
          <p:nvPr/>
        </p:nvSpPr>
        <p:spPr>
          <a:xfrm>
            <a:off x="7653528" y="5641848"/>
            <a:ext cx="3758184" cy="749808"/>
          </a:xfrm>
          <a:prstGeom prst="rect">
            <a:avLst/>
          </a:prstGeom>
          <a:noFill/>
          <a:ln/>
        </p:spPr>
        <p:txBody>
          <a:bodyPr wrap="square" rtlCol="0" anchor="ctr"/>
          <a:lstStyle/>
          <a:p>
            <a:pPr marL="0" indent="0">
              <a:buNone/>
            </a:pPr>
            <a:r>
              <a:rPr lang="en-US" sz="950" dirty="0">
                <a:solidFill>
                  <a:srgbClr val="475569"/>
                </a:solidFill>
                <a:latin typeface="Segoe UI" pitchFamily="34" charset="0"/>
                <a:ea typeface="Segoe UI" pitchFamily="34" charset="-122"/>
                <a:cs typeface="Segoe UI" pitchFamily="34" charset="-120"/>
              </a:rPr>
              <a:t>CDN edge, zero-config CI/CD</a:t>
            </a:r>
            <a:endParaRPr lang="en-US" sz="950" dirty="0"/>
          </a:p>
        </p:txBody>
      </p:sp>
      <p:sp>
        <p:nvSpPr>
          <p:cNvPr id="63" name="Shape 61"/>
          <p:cNvSpPr/>
          <p:nvPr/>
        </p:nvSpPr>
        <p:spPr>
          <a:xfrm>
            <a:off x="713232" y="5751576"/>
            <a:ext cx="41148" cy="530352"/>
          </a:xfrm>
          <a:prstGeom prst="rect">
            <a:avLst/>
          </a:prstGeom>
          <a:solidFill>
            <a:srgbClr val="D97706"/>
          </a:solidFill>
          <a:ln/>
        </p:spPr>
        <p:txBody>
          <a:bodyPr/>
          <a:lstStyle/>
          <a:p>
            <a:endParaRPr lang="fr-TN"/>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88952" cy="45720"/>
          </a:xfrm>
          <a:prstGeom prst="rect">
            <a:avLst/>
          </a:prstGeom>
          <a:solidFill>
            <a:srgbClr val="2563EB"/>
          </a:solidFill>
          <a:ln/>
        </p:spPr>
        <p:txBody>
          <a:bodyPr/>
          <a:lstStyle/>
          <a:p>
            <a:endParaRPr lang="fr-TN"/>
          </a:p>
        </p:txBody>
      </p:sp>
      <p:sp>
        <p:nvSpPr>
          <p:cNvPr id="3" name="Shape 1"/>
          <p:cNvSpPr/>
          <p:nvPr/>
        </p:nvSpPr>
        <p:spPr>
          <a:xfrm>
            <a:off x="10972800" y="274320"/>
            <a:ext cx="914400" cy="1829"/>
          </a:xfrm>
          <a:prstGeom prst="rect">
            <a:avLst/>
          </a:prstGeom>
          <a:solidFill>
            <a:srgbClr val="E2E8F0"/>
          </a:solidFill>
          <a:ln/>
        </p:spPr>
        <p:txBody>
          <a:bodyPr/>
          <a:lstStyle/>
          <a:p>
            <a:endParaRPr lang="fr-TN"/>
          </a:p>
        </p:txBody>
      </p:sp>
      <p:sp>
        <p:nvSpPr>
          <p:cNvPr id="4" name="Shape 2"/>
          <p:cNvSpPr/>
          <p:nvPr/>
        </p:nvSpPr>
        <p:spPr>
          <a:xfrm>
            <a:off x="11868912" y="274320"/>
            <a:ext cx="1829" cy="640080"/>
          </a:xfrm>
          <a:prstGeom prst="rect">
            <a:avLst/>
          </a:prstGeom>
          <a:solidFill>
            <a:srgbClr val="E2E8F0"/>
          </a:solidFill>
          <a:ln/>
        </p:spPr>
        <p:txBody>
          <a:bodyPr/>
          <a:lstStyle/>
          <a:p>
            <a:endParaRPr lang="fr-TN"/>
          </a:p>
        </p:txBody>
      </p:sp>
      <p:sp>
        <p:nvSpPr>
          <p:cNvPr id="5" name="Shape 3"/>
          <p:cNvSpPr/>
          <p:nvPr/>
        </p:nvSpPr>
        <p:spPr>
          <a:xfrm>
            <a:off x="320040" y="6537960"/>
            <a:ext cx="1829" cy="274320"/>
          </a:xfrm>
          <a:prstGeom prst="rect">
            <a:avLst/>
          </a:prstGeom>
          <a:solidFill>
            <a:srgbClr val="E2E8F0"/>
          </a:solidFill>
          <a:ln/>
        </p:spPr>
        <p:txBody>
          <a:bodyPr/>
          <a:lstStyle/>
          <a:p>
            <a:endParaRPr lang="fr-TN"/>
          </a:p>
        </p:txBody>
      </p:sp>
      <p:sp>
        <p:nvSpPr>
          <p:cNvPr id="6" name="Shape 4"/>
          <p:cNvSpPr/>
          <p:nvPr/>
        </p:nvSpPr>
        <p:spPr>
          <a:xfrm>
            <a:off x="320040" y="6537960"/>
            <a:ext cx="640080" cy="1829"/>
          </a:xfrm>
          <a:prstGeom prst="rect">
            <a:avLst/>
          </a:prstGeom>
          <a:solidFill>
            <a:srgbClr val="E2E8F0"/>
          </a:solidFill>
          <a:ln/>
        </p:spPr>
        <p:txBody>
          <a:bodyPr/>
          <a:lstStyle/>
          <a:p>
            <a:endParaRPr lang="fr-TN"/>
          </a:p>
        </p:txBody>
      </p:sp>
      <p:sp>
        <p:nvSpPr>
          <p:cNvPr id="7" name="Text 5"/>
          <p:cNvSpPr/>
          <p:nvPr/>
        </p:nvSpPr>
        <p:spPr>
          <a:xfrm>
            <a:off x="731520" y="274320"/>
            <a:ext cx="10515600" cy="256032"/>
          </a:xfrm>
          <a:prstGeom prst="rect">
            <a:avLst/>
          </a:prstGeom>
          <a:noFill/>
          <a:ln/>
        </p:spPr>
        <p:txBody>
          <a:bodyPr wrap="square" rtlCol="0" anchor="ctr"/>
          <a:lstStyle/>
          <a:p>
            <a:pPr marL="0" indent="0">
              <a:buNone/>
            </a:pPr>
            <a:r>
              <a:rPr lang="en-US" sz="900" b="1" dirty="0">
                <a:solidFill>
                  <a:srgbClr val="2563EB"/>
                </a:solidFill>
                <a:latin typeface="Segoe UI" pitchFamily="34" charset="0"/>
                <a:ea typeface="Segoe UI" pitchFamily="34" charset="-122"/>
                <a:cs typeface="Segoe UI" pitchFamily="34" charset="-120"/>
              </a:rPr>
              <a:t>CHAPTER 2 — CONCEPTUAL STUDY</a:t>
            </a:r>
            <a:endParaRPr lang="en-US" sz="900" dirty="0"/>
          </a:p>
        </p:txBody>
      </p:sp>
      <p:sp>
        <p:nvSpPr>
          <p:cNvPr id="8" name="Text 6"/>
          <p:cNvSpPr/>
          <p:nvPr/>
        </p:nvSpPr>
        <p:spPr>
          <a:xfrm>
            <a:off x="731520" y="548640"/>
            <a:ext cx="10515600" cy="502920"/>
          </a:xfrm>
          <a:prstGeom prst="rect">
            <a:avLst/>
          </a:prstGeom>
          <a:noFill/>
          <a:ln/>
        </p:spPr>
        <p:txBody>
          <a:bodyPr wrap="square" rtlCol="0" anchor="ctr"/>
          <a:lstStyle/>
          <a:p>
            <a:pPr marL="0" indent="0">
              <a:buNone/>
            </a:pPr>
            <a:r>
              <a:rPr lang="en-US" sz="3000" b="1" dirty="0">
                <a:solidFill>
                  <a:srgbClr val="0F172A"/>
                </a:solidFill>
                <a:latin typeface="Segoe UI" pitchFamily="34" charset="0"/>
                <a:ea typeface="Segoe UI" pitchFamily="34" charset="-122"/>
                <a:cs typeface="Segoe UI" pitchFamily="34" charset="-120"/>
              </a:rPr>
              <a:t>System Architecture</a:t>
            </a:r>
            <a:endParaRPr lang="en-US" sz="3000" dirty="0"/>
          </a:p>
        </p:txBody>
      </p:sp>
      <p:sp>
        <p:nvSpPr>
          <p:cNvPr id="9" name="Shape 7"/>
          <p:cNvSpPr/>
          <p:nvPr/>
        </p:nvSpPr>
        <p:spPr>
          <a:xfrm>
            <a:off x="731520" y="1115568"/>
            <a:ext cx="1828800" cy="32004"/>
          </a:xfrm>
          <a:prstGeom prst="rect">
            <a:avLst/>
          </a:prstGeom>
          <a:solidFill>
            <a:srgbClr val="2563EB"/>
          </a:solidFill>
          <a:ln/>
        </p:spPr>
        <p:txBody>
          <a:bodyPr/>
          <a:lstStyle/>
          <a:p>
            <a:endParaRPr lang="fr-TN"/>
          </a:p>
        </p:txBody>
      </p:sp>
      <p:sp>
        <p:nvSpPr>
          <p:cNvPr id="10" name="Shape 8"/>
          <p:cNvSpPr/>
          <p:nvPr/>
        </p:nvSpPr>
        <p:spPr>
          <a:xfrm>
            <a:off x="2651760" y="1124712"/>
            <a:ext cx="8778240" cy="10973"/>
          </a:xfrm>
          <a:prstGeom prst="rect">
            <a:avLst/>
          </a:prstGeom>
          <a:solidFill>
            <a:srgbClr val="E2E8F0"/>
          </a:solidFill>
          <a:ln/>
        </p:spPr>
        <p:txBody>
          <a:bodyPr/>
          <a:lstStyle/>
          <a:p>
            <a:endParaRPr lang="fr-TN"/>
          </a:p>
        </p:txBody>
      </p:sp>
      <p:sp>
        <p:nvSpPr>
          <p:cNvPr id="11" name="Shape 9"/>
          <p:cNvSpPr/>
          <p:nvPr/>
        </p:nvSpPr>
        <p:spPr>
          <a:xfrm>
            <a:off x="685800" y="1417320"/>
            <a:ext cx="3520440" cy="4892040"/>
          </a:xfrm>
          <a:prstGeom prst="roundRect">
            <a:avLst>
              <a:gd name="adj" fmla="val 3896"/>
            </a:avLst>
          </a:prstGeom>
          <a:solidFill>
            <a:srgbClr val="FFFFFF"/>
          </a:solidFill>
          <a:ln w="7620">
            <a:solidFill>
              <a:srgbClr val="E2E8F0"/>
            </a:solidFill>
            <a:prstDash val="solid"/>
          </a:ln>
          <a:effectLst>
            <a:outerShdw blurRad="152400" dist="38100" dir="12000000" algn="bl" rotWithShape="0">
              <a:srgbClr val="94A3B8">
                <a:alpha val="20000"/>
              </a:srgbClr>
            </a:outerShdw>
          </a:effectLst>
        </p:spPr>
        <p:txBody>
          <a:bodyPr/>
          <a:lstStyle/>
          <a:p>
            <a:endParaRPr lang="fr-TN"/>
          </a:p>
        </p:txBody>
      </p:sp>
      <p:sp>
        <p:nvSpPr>
          <p:cNvPr id="12" name="Shape 10"/>
          <p:cNvSpPr/>
          <p:nvPr/>
        </p:nvSpPr>
        <p:spPr>
          <a:xfrm>
            <a:off x="777240" y="1435608"/>
            <a:ext cx="3337560" cy="36576"/>
          </a:xfrm>
          <a:prstGeom prst="rect">
            <a:avLst/>
          </a:prstGeom>
          <a:solidFill>
            <a:srgbClr val="2563EB"/>
          </a:solidFill>
          <a:ln/>
        </p:spPr>
        <p:txBody>
          <a:bodyPr/>
          <a:lstStyle/>
          <a:p>
            <a:endParaRPr lang="fr-TN"/>
          </a:p>
        </p:txBody>
      </p:sp>
      <p:sp>
        <p:nvSpPr>
          <p:cNvPr id="13" name="Text 11"/>
          <p:cNvSpPr/>
          <p:nvPr/>
        </p:nvSpPr>
        <p:spPr>
          <a:xfrm>
            <a:off x="868680" y="1691640"/>
            <a:ext cx="3154680" cy="457200"/>
          </a:xfrm>
          <a:prstGeom prst="rect">
            <a:avLst/>
          </a:prstGeom>
          <a:noFill/>
          <a:ln/>
        </p:spPr>
        <p:txBody>
          <a:bodyPr wrap="square" rtlCol="0" anchor="ctr"/>
          <a:lstStyle/>
          <a:p>
            <a:pPr marL="0" indent="0">
              <a:buNone/>
            </a:pPr>
            <a:r>
              <a:rPr lang="en-US" sz="1500" b="1" dirty="0">
                <a:solidFill>
                  <a:srgbClr val="0F172A"/>
                </a:solidFill>
                <a:latin typeface="Segoe UI" pitchFamily="34" charset="0"/>
                <a:ea typeface="Segoe UI" pitchFamily="34" charset="-122"/>
                <a:cs typeface="Segoe UI" pitchFamily="34" charset="-120"/>
              </a:rPr>
              <a:t>Frontend (Vercel CDN)</a:t>
            </a:r>
            <a:endParaRPr lang="en-US" sz="1500" dirty="0"/>
          </a:p>
        </p:txBody>
      </p:sp>
      <p:sp>
        <p:nvSpPr>
          <p:cNvPr id="14" name="Shape 12"/>
          <p:cNvSpPr/>
          <p:nvPr/>
        </p:nvSpPr>
        <p:spPr>
          <a:xfrm>
            <a:off x="868680" y="2240280"/>
            <a:ext cx="3154680" cy="10973"/>
          </a:xfrm>
          <a:prstGeom prst="rect">
            <a:avLst/>
          </a:prstGeom>
          <a:solidFill>
            <a:srgbClr val="2563EB">
              <a:alpha val="40000"/>
            </a:srgbClr>
          </a:solidFill>
          <a:ln/>
        </p:spPr>
        <p:txBody>
          <a:bodyPr/>
          <a:lstStyle/>
          <a:p>
            <a:endParaRPr lang="fr-TN"/>
          </a:p>
        </p:txBody>
      </p:sp>
      <p:sp>
        <p:nvSpPr>
          <p:cNvPr id="15" name="Text 13"/>
          <p:cNvSpPr/>
          <p:nvPr/>
        </p:nvSpPr>
        <p:spPr>
          <a:xfrm>
            <a:off x="868680" y="2468880"/>
            <a:ext cx="3154680" cy="3474720"/>
          </a:xfrm>
          <a:prstGeom prst="rect">
            <a:avLst/>
          </a:prstGeom>
          <a:noFill/>
          <a:ln/>
        </p:spPr>
        <p:txBody>
          <a:bodyPr wrap="square" rtlCol="0" anchor="t"/>
          <a:lstStyle/>
          <a:p>
            <a:pPr marL="0" indent="0">
              <a:lnSpc>
                <a:spcPct val="140000"/>
              </a:lnSpc>
              <a:buNone/>
            </a:pPr>
            <a:r>
              <a:rPr lang="en-US" sz="1100" dirty="0">
                <a:solidFill>
                  <a:srgbClr val="475569"/>
                </a:solidFill>
                <a:latin typeface="Segoe UI" pitchFamily="34" charset="0"/>
                <a:ea typeface="Segoe UI" pitchFamily="34" charset="-122"/>
                <a:cs typeface="Segoe UI" pitchFamily="34" charset="-120"/>
              </a:rPr>
              <a:t>▸ React SPA served via global Edge networks.</a:t>
            </a:r>
            <a:endParaRPr lang="en-US" sz="1100" dirty="0"/>
          </a:p>
          <a:p>
            <a:pPr marL="0" indent="0">
              <a:lnSpc>
                <a:spcPct val="140000"/>
              </a:lnSpc>
              <a:buNone/>
            </a:pPr>
            <a:endParaRPr lang="en-US" sz="1100" dirty="0"/>
          </a:p>
          <a:p>
            <a:pPr marL="0" indent="0">
              <a:lnSpc>
                <a:spcPct val="140000"/>
              </a:lnSpc>
              <a:buNone/>
            </a:pPr>
            <a:r>
              <a:rPr lang="en-US" sz="1100" dirty="0">
                <a:solidFill>
                  <a:srgbClr val="475569"/>
                </a:solidFill>
                <a:latin typeface="Segoe UI" pitchFamily="34" charset="0"/>
                <a:ea typeface="Segoe UI" pitchFamily="34" charset="-122"/>
                <a:cs typeface="Segoe UI" pitchFamily="34" charset="-120"/>
              </a:rPr>
              <a:t>▸ Zustand state-store for real-time reactivity.</a:t>
            </a:r>
            <a:endParaRPr lang="en-US" sz="1100" dirty="0"/>
          </a:p>
          <a:p>
            <a:pPr marL="0" indent="0">
              <a:lnSpc>
                <a:spcPct val="140000"/>
              </a:lnSpc>
              <a:buNone/>
            </a:pPr>
            <a:endParaRPr lang="en-US" sz="1100" dirty="0"/>
          </a:p>
          <a:p>
            <a:pPr marL="0" indent="0">
              <a:lnSpc>
                <a:spcPct val="140000"/>
              </a:lnSpc>
              <a:buNone/>
            </a:pPr>
            <a:r>
              <a:rPr lang="en-US" sz="1100" dirty="0">
                <a:solidFill>
                  <a:srgbClr val="475569"/>
                </a:solidFill>
                <a:latin typeface="Segoe UI" pitchFamily="34" charset="0"/>
                <a:ea typeface="Segoe UI" pitchFamily="34" charset="-122"/>
                <a:cs typeface="Segoe UI" pitchFamily="34" charset="-120"/>
              </a:rPr>
              <a:t>▸ Vercel proxy routing to prevent CORS blocks.</a:t>
            </a:r>
            <a:endParaRPr lang="en-US" sz="1100" dirty="0"/>
          </a:p>
        </p:txBody>
      </p:sp>
      <p:sp>
        <p:nvSpPr>
          <p:cNvPr id="16" name="Text 14"/>
          <p:cNvSpPr/>
          <p:nvPr/>
        </p:nvSpPr>
        <p:spPr>
          <a:xfrm>
            <a:off x="4233672" y="3657600"/>
            <a:ext cx="228600" cy="365760"/>
          </a:xfrm>
          <a:prstGeom prst="rect">
            <a:avLst/>
          </a:prstGeom>
          <a:noFill/>
          <a:ln/>
        </p:spPr>
        <p:txBody>
          <a:bodyPr wrap="square" rtlCol="0" anchor="ctr"/>
          <a:lstStyle/>
          <a:p>
            <a:pPr marL="0" indent="0" algn="ctr">
              <a:buNone/>
            </a:pPr>
            <a:r>
              <a:rPr lang="en-US" sz="1400" dirty="0">
                <a:solidFill>
                  <a:srgbClr val="2563EB"/>
                </a:solidFill>
                <a:latin typeface="Segoe UI" pitchFamily="34" charset="0"/>
                <a:ea typeface="Segoe UI" pitchFamily="34" charset="-122"/>
                <a:cs typeface="Segoe UI" pitchFamily="34" charset="-120"/>
              </a:rPr>
              <a:t>▶</a:t>
            </a:r>
            <a:endParaRPr lang="en-US" sz="1400" dirty="0"/>
          </a:p>
        </p:txBody>
      </p:sp>
      <p:sp>
        <p:nvSpPr>
          <p:cNvPr id="17" name="Shape 15"/>
          <p:cNvSpPr/>
          <p:nvPr/>
        </p:nvSpPr>
        <p:spPr>
          <a:xfrm>
            <a:off x="4434840" y="1417320"/>
            <a:ext cx="3520440" cy="4892040"/>
          </a:xfrm>
          <a:prstGeom prst="roundRect">
            <a:avLst>
              <a:gd name="adj" fmla="val 3896"/>
            </a:avLst>
          </a:prstGeom>
          <a:solidFill>
            <a:srgbClr val="FFFFFF"/>
          </a:solidFill>
          <a:ln w="7620">
            <a:solidFill>
              <a:srgbClr val="E2E8F0"/>
            </a:solidFill>
            <a:prstDash val="solid"/>
          </a:ln>
          <a:effectLst>
            <a:outerShdw blurRad="152400" dist="38100" dir="12000000" algn="bl" rotWithShape="0">
              <a:srgbClr val="94A3B8">
                <a:alpha val="20000"/>
              </a:srgbClr>
            </a:outerShdw>
          </a:effectLst>
        </p:spPr>
        <p:txBody>
          <a:bodyPr/>
          <a:lstStyle/>
          <a:p>
            <a:endParaRPr lang="fr-TN"/>
          </a:p>
        </p:txBody>
      </p:sp>
      <p:sp>
        <p:nvSpPr>
          <p:cNvPr id="18" name="Shape 16"/>
          <p:cNvSpPr/>
          <p:nvPr/>
        </p:nvSpPr>
        <p:spPr>
          <a:xfrm>
            <a:off x="4526280" y="1435608"/>
            <a:ext cx="3337560" cy="36576"/>
          </a:xfrm>
          <a:prstGeom prst="rect">
            <a:avLst/>
          </a:prstGeom>
          <a:solidFill>
            <a:srgbClr val="4F46E5"/>
          </a:solidFill>
          <a:ln/>
        </p:spPr>
        <p:txBody>
          <a:bodyPr/>
          <a:lstStyle/>
          <a:p>
            <a:endParaRPr lang="fr-TN"/>
          </a:p>
        </p:txBody>
      </p:sp>
      <p:sp>
        <p:nvSpPr>
          <p:cNvPr id="19" name="Text 17"/>
          <p:cNvSpPr/>
          <p:nvPr/>
        </p:nvSpPr>
        <p:spPr>
          <a:xfrm>
            <a:off x="4617720" y="1691640"/>
            <a:ext cx="3154680" cy="457200"/>
          </a:xfrm>
          <a:prstGeom prst="rect">
            <a:avLst/>
          </a:prstGeom>
          <a:noFill/>
          <a:ln/>
        </p:spPr>
        <p:txBody>
          <a:bodyPr wrap="square" rtlCol="0" anchor="ctr"/>
          <a:lstStyle/>
          <a:p>
            <a:pPr marL="0" indent="0">
              <a:buNone/>
            </a:pPr>
            <a:r>
              <a:rPr lang="en-US" sz="1500" b="1" dirty="0">
                <a:solidFill>
                  <a:srgbClr val="0F172A"/>
                </a:solidFill>
                <a:latin typeface="Segoe UI" pitchFamily="34" charset="0"/>
                <a:ea typeface="Segoe UI" pitchFamily="34" charset="-122"/>
                <a:cs typeface="Segoe UI" pitchFamily="34" charset="-120"/>
              </a:rPr>
              <a:t>Backend (Cloud VM)</a:t>
            </a:r>
            <a:endParaRPr lang="en-US" sz="1500" dirty="0"/>
          </a:p>
        </p:txBody>
      </p:sp>
      <p:sp>
        <p:nvSpPr>
          <p:cNvPr id="20" name="Shape 18"/>
          <p:cNvSpPr/>
          <p:nvPr/>
        </p:nvSpPr>
        <p:spPr>
          <a:xfrm>
            <a:off x="4617720" y="2240280"/>
            <a:ext cx="3154680" cy="10973"/>
          </a:xfrm>
          <a:prstGeom prst="rect">
            <a:avLst/>
          </a:prstGeom>
          <a:solidFill>
            <a:srgbClr val="4F46E5">
              <a:alpha val="40000"/>
            </a:srgbClr>
          </a:solidFill>
          <a:ln/>
        </p:spPr>
        <p:txBody>
          <a:bodyPr/>
          <a:lstStyle/>
          <a:p>
            <a:endParaRPr lang="fr-TN"/>
          </a:p>
        </p:txBody>
      </p:sp>
      <p:sp>
        <p:nvSpPr>
          <p:cNvPr id="21" name="Text 19"/>
          <p:cNvSpPr/>
          <p:nvPr/>
        </p:nvSpPr>
        <p:spPr>
          <a:xfrm>
            <a:off x="4617720" y="2468880"/>
            <a:ext cx="3154680" cy="3474720"/>
          </a:xfrm>
          <a:prstGeom prst="rect">
            <a:avLst/>
          </a:prstGeom>
          <a:noFill/>
          <a:ln/>
        </p:spPr>
        <p:txBody>
          <a:bodyPr wrap="square" rtlCol="0" anchor="t"/>
          <a:lstStyle/>
          <a:p>
            <a:pPr marL="0" indent="0">
              <a:lnSpc>
                <a:spcPct val="140000"/>
              </a:lnSpc>
              <a:buNone/>
            </a:pPr>
            <a:r>
              <a:rPr lang="en-US" sz="1100" dirty="0">
                <a:solidFill>
                  <a:srgbClr val="475569"/>
                </a:solidFill>
                <a:latin typeface="Segoe UI" pitchFamily="34" charset="0"/>
                <a:ea typeface="Segoe UI" pitchFamily="34" charset="-122"/>
                <a:cs typeface="Segoe UI" pitchFamily="34" charset="-120"/>
              </a:rPr>
              <a:t>▸ Express REST APIs + SSE event broadcast.</a:t>
            </a:r>
            <a:endParaRPr lang="en-US" sz="1100" dirty="0"/>
          </a:p>
          <a:p>
            <a:pPr marL="0" indent="0">
              <a:lnSpc>
                <a:spcPct val="140000"/>
              </a:lnSpc>
              <a:buNone/>
            </a:pPr>
            <a:endParaRPr lang="en-US" sz="1100" dirty="0"/>
          </a:p>
          <a:p>
            <a:pPr marL="0" indent="0">
              <a:lnSpc>
                <a:spcPct val="140000"/>
              </a:lnSpc>
              <a:buNone/>
            </a:pPr>
            <a:r>
              <a:rPr lang="en-US" sz="1100" dirty="0">
                <a:solidFill>
                  <a:srgbClr val="475569"/>
                </a:solidFill>
                <a:latin typeface="Segoe UI" pitchFamily="34" charset="0"/>
                <a:ea typeface="Segoe UI" pitchFamily="34" charset="-122"/>
                <a:cs typeface="Segoe UI" pitchFamily="34" charset="-120"/>
              </a:rPr>
              <a:t>▸ PM2 Clustering across CPU cores.</a:t>
            </a:r>
            <a:endParaRPr lang="en-US" sz="1100" dirty="0"/>
          </a:p>
          <a:p>
            <a:pPr marL="0" indent="0">
              <a:lnSpc>
                <a:spcPct val="140000"/>
              </a:lnSpc>
              <a:buNone/>
            </a:pPr>
            <a:endParaRPr lang="en-US" sz="1100" dirty="0"/>
          </a:p>
          <a:p>
            <a:pPr marL="0" indent="0">
              <a:lnSpc>
                <a:spcPct val="140000"/>
              </a:lnSpc>
              <a:buNone/>
            </a:pPr>
            <a:r>
              <a:rPr lang="en-US" sz="1100" dirty="0">
                <a:solidFill>
                  <a:srgbClr val="475569"/>
                </a:solidFill>
                <a:latin typeface="Segoe UI" pitchFamily="34" charset="0"/>
                <a:ea typeface="Segoe UI" pitchFamily="34" charset="-122"/>
                <a:cs typeface="Segoe UI" pitchFamily="34" charset="-120"/>
              </a:rPr>
              <a:t>▸ 9 parallel ingestion scrapers.</a:t>
            </a:r>
            <a:endParaRPr lang="en-US" sz="1100" dirty="0"/>
          </a:p>
        </p:txBody>
      </p:sp>
      <p:sp>
        <p:nvSpPr>
          <p:cNvPr id="22" name="Text 20"/>
          <p:cNvSpPr/>
          <p:nvPr/>
        </p:nvSpPr>
        <p:spPr>
          <a:xfrm>
            <a:off x="7982712" y="3657600"/>
            <a:ext cx="228600" cy="365760"/>
          </a:xfrm>
          <a:prstGeom prst="rect">
            <a:avLst/>
          </a:prstGeom>
          <a:noFill/>
          <a:ln/>
        </p:spPr>
        <p:txBody>
          <a:bodyPr wrap="square" rtlCol="0" anchor="ctr"/>
          <a:lstStyle/>
          <a:p>
            <a:pPr marL="0" indent="0" algn="ctr">
              <a:buNone/>
            </a:pPr>
            <a:r>
              <a:rPr lang="en-US" sz="1400" dirty="0">
                <a:solidFill>
                  <a:srgbClr val="4F46E5"/>
                </a:solidFill>
                <a:latin typeface="Segoe UI" pitchFamily="34" charset="0"/>
                <a:ea typeface="Segoe UI" pitchFamily="34" charset="-122"/>
                <a:cs typeface="Segoe UI" pitchFamily="34" charset="-120"/>
              </a:rPr>
              <a:t>▶</a:t>
            </a:r>
            <a:endParaRPr lang="en-US" sz="1400" dirty="0"/>
          </a:p>
        </p:txBody>
      </p:sp>
      <p:sp>
        <p:nvSpPr>
          <p:cNvPr id="23" name="Shape 21"/>
          <p:cNvSpPr/>
          <p:nvPr/>
        </p:nvSpPr>
        <p:spPr>
          <a:xfrm>
            <a:off x="8183880" y="1417320"/>
            <a:ext cx="3520440" cy="4892040"/>
          </a:xfrm>
          <a:prstGeom prst="roundRect">
            <a:avLst>
              <a:gd name="adj" fmla="val 3896"/>
            </a:avLst>
          </a:prstGeom>
          <a:solidFill>
            <a:srgbClr val="FFFFFF"/>
          </a:solidFill>
          <a:ln w="7620">
            <a:solidFill>
              <a:srgbClr val="E2E8F0"/>
            </a:solidFill>
            <a:prstDash val="solid"/>
          </a:ln>
          <a:effectLst>
            <a:outerShdw blurRad="152400" dist="38100" dir="12000000" algn="bl" rotWithShape="0">
              <a:srgbClr val="94A3B8">
                <a:alpha val="20000"/>
              </a:srgbClr>
            </a:outerShdw>
          </a:effectLst>
        </p:spPr>
        <p:txBody>
          <a:bodyPr/>
          <a:lstStyle/>
          <a:p>
            <a:endParaRPr lang="fr-TN"/>
          </a:p>
        </p:txBody>
      </p:sp>
      <p:sp>
        <p:nvSpPr>
          <p:cNvPr id="24" name="Shape 22"/>
          <p:cNvSpPr/>
          <p:nvPr/>
        </p:nvSpPr>
        <p:spPr>
          <a:xfrm>
            <a:off x="8275320" y="1435608"/>
            <a:ext cx="3337560" cy="36576"/>
          </a:xfrm>
          <a:prstGeom prst="rect">
            <a:avLst/>
          </a:prstGeom>
          <a:solidFill>
            <a:srgbClr val="7C3AED"/>
          </a:solidFill>
          <a:ln/>
        </p:spPr>
        <p:txBody>
          <a:bodyPr/>
          <a:lstStyle/>
          <a:p>
            <a:endParaRPr lang="fr-TN"/>
          </a:p>
        </p:txBody>
      </p:sp>
      <p:sp>
        <p:nvSpPr>
          <p:cNvPr id="25" name="Text 23"/>
          <p:cNvSpPr/>
          <p:nvPr/>
        </p:nvSpPr>
        <p:spPr>
          <a:xfrm>
            <a:off x="8366760" y="1691640"/>
            <a:ext cx="3154680" cy="457200"/>
          </a:xfrm>
          <a:prstGeom prst="rect">
            <a:avLst/>
          </a:prstGeom>
          <a:noFill/>
          <a:ln/>
        </p:spPr>
        <p:txBody>
          <a:bodyPr wrap="square" rtlCol="0" anchor="ctr"/>
          <a:lstStyle/>
          <a:p>
            <a:pPr marL="0" indent="0">
              <a:buNone/>
            </a:pPr>
            <a:r>
              <a:rPr lang="en-US" sz="1500" b="1" dirty="0">
                <a:solidFill>
                  <a:srgbClr val="0F172A"/>
                </a:solidFill>
                <a:latin typeface="Segoe UI" pitchFamily="34" charset="0"/>
                <a:ea typeface="Segoe UI" pitchFamily="34" charset="-122"/>
                <a:cs typeface="Segoe UI" pitchFamily="34" charset="-120"/>
              </a:rPr>
              <a:t>Database (MongoDB)</a:t>
            </a:r>
            <a:endParaRPr lang="en-US" sz="1500" dirty="0"/>
          </a:p>
        </p:txBody>
      </p:sp>
      <p:sp>
        <p:nvSpPr>
          <p:cNvPr id="26" name="Shape 24"/>
          <p:cNvSpPr/>
          <p:nvPr/>
        </p:nvSpPr>
        <p:spPr>
          <a:xfrm>
            <a:off x="8366760" y="2240280"/>
            <a:ext cx="3154680" cy="10973"/>
          </a:xfrm>
          <a:prstGeom prst="rect">
            <a:avLst/>
          </a:prstGeom>
          <a:solidFill>
            <a:srgbClr val="7C3AED">
              <a:alpha val="40000"/>
            </a:srgbClr>
          </a:solidFill>
          <a:ln/>
        </p:spPr>
        <p:txBody>
          <a:bodyPr/>
          <a:lstStyle/>
          <a:p>
            <a:endParaRPr lang="fr-TN"/>
          </a:p>
        </p:txBody>
      </p:sp>
      <p:sp>
        <p:nvSpPr>
          <p:cNvPr id="27" name="Text 25"/>
          <p:cNvSpPr/>
          <p:nvPr/>
        </p:nvSpPr>
        <p:spPr>
          <a:xfrm>
            <a:off x="8366760" y="2468880"/>
            <a:ext cx="3154680" cy="3474720"/>
          </a:xfrm>
          <a:prstGeom prst="rect">
            <a:avLst/>
          </a:prstGeom>
          <a:noFill/>
          <a:ln/>
        </p:spPr>
        <p:txBody>
          <a:bodyPr wrap="square" rtlCol="0" anchor="t"/>
          <a:lstStyle/>
          <a:p>
            <a:pPr marL="0" indent="0">
              <a:lnSpc>
                <a:spcPct val="140000"/>
              </a:lnSpc>
              <a:buNone/>
            </a:pPr>
            <a:r>
              <a:rPr lang="en-US" sz="1100" dirty="0">
                <a:solidFill>
                  <a:srgbClr val="475569"/>
                </a:solidFill>
                <a:latin typeface="Segoe UI" pitchFamily="34" charset="0"/>
                <a:ea typeface="Segoe UI" pitchFamily="34" charset="-122"/>
                <a:cs typeface="Segoe UI" pitchFamily="34" charset="-120"/>
              </a:rPr>
              <a:t>▸ Cloud-hosted replicated BSON cluster.</a:t>
            </a:r>
            <a:endParaRPr lang="en-US" sz="1100" dirty="0"/>
          </a:p>
          <a:p>
            <a:pPr marL="0" indent="0">
              <a:lnSpc>
                <a:spcPct val="140000"/>
              </a:lnSpc>
              <a:buNone/>
            </a:pPr>
            <a:endParaRPr lang="en-US" sz="1100" dirty="0"/>
          </a:p>
          <a:p>
            <a:pPr marL="0" indent="0">
              <a:lnSpc>
                <a:spcPct val="140000"/>
              </a:lnSpc>
              <a:buNone/>
            </a:pPr>
            <a:r>
              <a:rPr lang="en-US" sz="1100" dirty="0">
                <a:solidFill>
                  <a:srgbClr val="475569"/>
                </a:solidFill>
                <a:latin typeface="Segoe UI" pitchFamily="34" charset="0"/>
                <a:ea typeface="Segoe UI" pitchFamily="34" charset="-122"/>
                <a:cs typeface="Segoe UI" pitchFamily="34" charset="-120"/>
              </a:rPr>
              <a:t>▸ Automated 30-day TTL storage pruning.</a:t>
            </a:r>
            <a:endParaRPr lang="en-US" sz="1100" dirty="0"/>
          </a:p>
          <a:p>
            <a:pPr marL="0" indent="0">
              <a:lnSpc>
                <a:spcPct val="140000"/>
              </a:lnSpc>
              <a:buNone/>
            </a:pPr>
            <a:endParaRPr lang="en-US" sz="1100" dirty="0"/>
          </a:p>
          <a:p>
            <a:pPr marL="0" indent="0">
              <a:lnSpc>
                <a:spcPct val="140000"/>
              </a:lnSpc>
              <a:buNone/>
            </a:pPr>
            <a:r>
              <a:rPr lang="en-US" sz="1100" dirty="0">
                <a:solidFill>
                  <a:srgbClr val="475569"/>
                </a:solidFill>
                <a:latin typeface="Segoe UI" pitchFamily="34" charset="0"/>
                <a:ea typeface="Segoe UI" pitchFamily="34" charset="-122"/>
                <a:cs typeface="Segoe UI" pitchFamily="34" charset="-120"/>
              </a:rPr>
              <a:t>▸ 500MB quota guard for in-memory fallback.</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88952" cy="45720"/>
          </a:xfrm>
          <a:prstGeom prst="rect">
            <a:avLst/>
          </a:prstGeom>
          <a:solidFill>
            <a:srgbClr val="2563EB"/>
          </a:solidFill>
          <a:ln/>
        </p:spPr>
        <p:txBody>
          <a:bodyPr/>
          <a:lstStyle/>
          <a:p>
            <a:endParaRPr lang="fr-TN"/>
          </a:p>
        </p:txBody>
      </p:sp>
      <p:sp>
        <p:nvSpPr>
          <p:cNvPr id="3" name="Shape 1"/>
          <p:cNvSpPr/>
          <p:nvPr/>
        </p:nvSpPr>
        <p:spPr>
          <a:xfrm>
            <a:off x="10972800" y="274320"/>
            <a:ext cx="914400" cy="1829"/>
          </a:xfrm>
          <a:prstGeom prst="rect">
            <a:avLst/>
          </a:prstGeom>
          <a:solidFill>
            <a:srgbClr val="E2E8F0"/>
          </a:solidFill>
          <a:ln/>
        </p:spPr>
        <p:txBody>
          <a:bodyPr/>
          <a:lstStyle/>
          <a:p>
            <a:endParaRPr lang="fr-TN"/>
          </a:p>
        </p:txBody>
      </p:sp>
      <p:sp>
        <p:nvSpPr>
          <p:cNvPr id="4" name="Shape 2"/>
          <p:cNvSpPr/>
          <p:nvPr/>
        </p:nvSpPr>
        <p:spPr>
          <a:xfrm>
            <a:off x="11868912" y="274320"/>
            <a:ext cx="1829" cy="640080"/>
          </a:xfrm>
          <a:prstGeom prst="rect">
            <a:avLst/>
          </a:prstGeom>
          <a:solidFill>
            <a:srgbClr val="E2E8F0"/>
          </a:solidFill>
          <a:ln/>
        </p:spPr>
        <p:txBody>
          <a:bodyPr/>
          <a:lstStyle/>
          <a:p>
            <a:endParaRPr lang="fr-TN"/>
          </a:p>
        </p:txBody>
      </p:sp>
      <p:sp>
        <p:nvSpPr>
          <p:cNvPr id="5" name="Shape 3"/>
          <p:cNvSpPr/>
          <p:nvPr/>
        </p:nvSpPr>
        <p:spPr>
          <a:xfrm>
            <a:off x="320040" y="6537960"/>
            <a:ext cx="1829" cy="274320"/>
          </a:xfrm>
          <a:prstGeom prst="rect">
            <a:avLst/>
          </a:prstGeom>
          <a:solidFill>
            <a:srgbClr val="E2E8F0"/>
          </a:solidFill>
          <a:ln/>
        </p:spPr>
        <p:txBody>
          <a:bodyPr/>
          <a:lstStyle/>
          <a:p>
            <a:endParaRPr lang="fr-TN"/>
          </a:p>
        </p:txBody>
      </p:sp>
      <p:sp>
        <p:nvSpPr>
          <p:cNvPr id="6" name="Shape 4"/>
          <p:cNvSpPr/>
          <p:nvPr/>
        </p:nvSpPr>
        <p:spPr>
          <a:xfrm>
            <a:off x="320040" y="6537960"/>
            <a:ext cx="640080" cy="1829"/>
          </a:xfrm>
          <a:prstGeom prst="rect">
            <a:avLst/>
          </a:prstGeom>
          <a:solidFill>
            <a:srgbClr val="E2E8F0"/>
          </a:solidFill>
          <a:ln/>
        </p:spPr>
        <p:txBody>
          <a:bodyPr/>
          <a:lstStyle/>
          <a:p>
            <a:endParaRPr lang="fr-TN"/>
          </a:p>
        </p:txBody>
      </p:sp>
      <p:sp>
        <p:nvSpPr>
          <p:cNvPr id="7" name="Text 5"/>
          <p:cNvSpPr/>
          <p:nvPr/>
        </p:nvSpPr>
        <p:spPr>
          <a:xfrm>
            <a:off x="731520" y="274320"/>
            <a:ext cx="10515600" cy="256032"/>
          </a:xfrm>
          <a:prstGeom prst="rect">
            <a:avLst/>
          </a:prstGeom>
          <a:noFill/>
          <a:ln/>
        </p:spPr>
        <p:txBody>
          <a:bodyPr wrap="square" rtlCol="0" anchor="ctr"/>
          <a:lstStyle/>
          <a:p>
            <a:pPr marL="0" indent="0">
              <a:buNone/>
            </a:pPr>
            <a:r>
              <a:rPr lang="en-US" sz="900" b="1" dirty="0">
                <a:solidFill>
                  <a:srgbClr val="2563EB"/>
                </a:solidFill>
                <a:latin typeface="Segoe UI" pitchFamily="34" charset="0"/>
                <a:ea typeface="Segoe UI" pitchFamily="34" charset="-122"/>
                <a:cs typeface="Segoe UI" pitchFamily="34" charset="-120"/>
              </a:rPr>
              <a:t>CHAPTER 3 — SPRINT 1</a:t>
            </a:r>
            <a:endParaRPr lang="en-US" sz="900" dirty="0"/>
          </a:p>
        </p:txBody>
      </p:sp>
      <p:sp>
        <p:nvSpPr>
          <p:cNvPr id="8" name="Text 6"/>
          <p:cNvSpPr/>
          <p:nvPr/>
        </p:nvSpPr>
        <p:spPr>
          <a:xfrm>
            <a:off x="731520" y="548640"/>
            <a:ext cx="10515600" cy="502920"/>
          </a:xfrm>
          <a:prstGeom prst="rect">
            <a:avLst/>
          </a:prstGeom>
          <a:noFill/>
          <a:ln/>
        </p:spPr>
        <p:txBody>
          <a:bodyPr wrap="square" rtlCol="0" anchor="ctr"/>
          <a:lstStyle/>
          <a:p>
            <a:pPr marL="0" indent="0">
              <a:buNone/>
            </a:pPr>
            <a:r>
              <a:rPr lang="en-US" sz="3000" b="1" dirty="0">
                <a:solidFill>
                  <a:srgbClr val="0F172A"/>
                </a:solidFill>
                <a:latin typeface="Segoe UI" pitchFamily="34" charset="0"/>
                <a:ea typeface="Segoe UI" pitchFamily="34" charset="-122"/>
                <a:cs typeface="Segoe UI" pitchFamily="34" charset="-120"/>
              </a:rPr>
              <a:t>Threat Feed Scrapers: 9 Parallel Sources</a:t>
            </a:r>
            <a:endParaRPr lang="en-US" sz="3000" dirty="0"/>
          </a:p>
        </p:txBody>
      </p:sp>
      <p:sp>
        <p:nvSpPr>
          <p:cNvPr id="9" name="Shape 7"/>
          <p:cNvSpPr/>
          <p:nvPr/>
        </p:nvSpPr>
        <p:spPr>
          <a:xfrm>
            <a:off x="731520" y="1115568"/>
            <a:ext cx="1828800" cy="32004"/>
          </a:xfrm>
          <a:prstGeom prst="rect">
            <a:avLst/>
          </a:prstGeom>
          <a:solidFill>
            <a:srgbClr val="2563EB"/>
          </a:solidFill>
          <a:ln/>
        </p:spPr>
        <p:txBody>
          <a:bodyPr/>
          <a:lstStyle/>
          <a:p>
            <a:endParaRPr lang="fr-TN"/>
          </a:p>
        </p:txBody>
      </p:sp>
      <p:sp>
        <p:nvSpPr>
          <p:cNvPr id="10" name="Shape 8"/>
          <p:cNvSpPr/>
          <p:nvPr/>
        </p:nvSpPr>
        <p:spPr>
          <a:xfrm>
            <a:off x="2651760" y="1124712"/>
            <a:ext cx="8778240" cy="10973"/>
          </a:xfrm>
          <a:prstGeom prst="rect">
            <a:avLst/>
          </a:prstGeom>
          <a:solidFill>
            <a:srgbClr val="E2E8F0"/>
          </a:solidFill>
          <a:ln/>
        </p:spPr>
        <p:txBody>
          <a:bodyPr/>
          <a:lstStyle/>
          <a:p>
            <a:endParaRPr lang="fr-TN"/>
          </a:p>
        </p:txBody>
      </p:sp>
      <p:sp>
        <p:nvSpPr>
          <p:cNvPr id="11" name="Shape 9"/>
          <p:cNvSpPr/>
          <p:nvPr/>
        </p:nvSpPr>
        <p:spPr>
          <a:xfrm>
            <a:off x="594360" y="1371600"/>
            <a:ext cx="3566160" cy="1691640"/>
          </a:xfrm>
          <a:prstGeom prst="roundRect">
            <a:avLst>
              <a:gd name="adj" fmla="val 5405"/>
            </a:avLst>
          </a:prstGeom>
          <a:solidFill>
            <a:srgbClr val="FFFFFF"/>
          </a:solidFill>
          <a:ln w="6350">
            <a:solidFill>
              <a:srgbClr val="E2E8F0"/>
            </a:solidFill>
            <a:prstDash val="solid"/>
          </a:ln>
          <a:effectLst>
            <a:outerShdw blurRad="101600" dist="25400" dir="12000000" algn="bl" rotWithShape="0">
              <a:srgbClr val="94A3B8">
                <a:alpha val="15000"/>
              </a:srgbClr>
            </a:outerShdw>
          </a:effectLst>
        </p:spPr>
        <p:txBody>
          <a:bodyPr/>
          <a:lstStyle/>
          <a:p>
            <a:endParaRPr lang="fr-TN"/>
          </a:p>
        </p:txBody>
      </p:sp>
      <p:sp>
        <p:nvSpPr>
          <p:cNvPr id="12" name="Shape 10"/>
          <p:cNvSpPr/>
          <p:nvPr/>
        </p:nvSpPr>
        <p:spPr>
          <a:xfrm>
            <a:off x="667512" y="1389888"/>
            <a:ext cx="3419856" cy="27432"/>
          </a:xfrm>
          <a:prstGeom prst="rect">
            <a:avLst/>
          </a:prstGeom>
          <a:solidFill>
            <a:srgbClr val="2563EB"/>
          </a:solidFill>
          <a:ln/>
        </p:spPr>
        <p:txBody>
          <a:bodyPr/>
          <a:lstStyle/>
          <a:p>
            <a:endParaRPr lang="fr-TN"/>
          </a:p>
        </p:txBody>
      </p:sp>
      <p:sp>
        <p:nvSpPr>
          <p:cNvPr id="13" name="Text 11"/>
          <p:cNvSpPr/>
          <p:nvPr/>
        </p:nvSpPr>
        <p:spPr>
          <a:xfrm>
            <a:off x="731520" y="1481328"/>
            <a:ext cx="1645920" cy="274320"/>
          </a:xfrm>
          <a:prstGeom prst="rect">
            <a:avLst/>
          </a:prstGeom>
          <a:noFill/>
          <a:ln/>
        </p:spPr>
        <p:txBody>
          <a:bodyPr wrap="square" rtlCol="0" anchor="ctr"/>
          <a:lstStyle/>
          <a:p>
            <a:pPr marL="0" indent="0">
              <a:buNone/>
            </a:pPr>
            <a:r>
              <a:rPr lang="en-US" sz="1100" b="1" dirty="0">
                <a:solidFill>
                  <a:srgbClr val="0F172A"/>
                </a:solidFill>
                <a:latin typeface="Segoe UI" pitchFamily="34" charset="0"/>
                <a:ea typeface="Segoe UI" pitchFamily="34" charset="-122"/>
                <a:cs typeface="Segoe UI" pitchFamily="34" charset="-120"/>
              </a:rPr>
              <a:t>Checkpoint</a:t>
            </a:r>
            <a:endParaRPr lang="en-US" sz="1100" dirty="0"/>
          </a:p>
        </p:txBody>
      </p:sp>
      <p:sp>
        <p:nvSpPr>
          <p:cNvPr id="14" name="Shape 12"/>
          <p:cNvSpPr/>
          <p:nvPr/>
        </p:nvSpPr>
        <p:spPr>
          <a:xfrm>
            <a:off x="2423160" y="1508760"/>
            <a:ext cx="452628" cy="256032"/>
          </a:xfrm>
          <a:prstGeom prst="roundRect">
            <a:avLst>
              <a:gd name="adj" fmla="val 17857"/>
            </a:avLst>
          </a:prstGeom>
          <a:solidFill>
            <a:srgbClr val="2563EB">
              <a:alpha val="10000"/>
            </a:srgbClr>
          </a:solidFill>
          <a:ln w="6350">
            <a:solidFill>
              <a:srgbClr val="2563EB"/>
            </a:solidFill>
            <a:prstDash val="solid"/>
          </a:ln>
        </p:spPr>
        <p:txBody>
          <a:bodyPr/>
          <a:lstStyle/>
          <a:p>
            <a:endParaRPr lang="fr-TN"/>
          </a:p>
        </p:txBody>
      </p:sp>
      <p:sp>
        <p:nvSpPr>
          <p:cNvPr id="15" name="Text 13"/>
          <p:cNvSpPr/>
          <p:nvPr/>
        </p:nvSpPr>
        <p:spPr>
          <a:xfrm>
            <a:off x="2423160" y="1508760"/>
            <a:ext cx="452628" cy="256032"/>
          </a:xfrm>
          <a:prstGeom prst="rect">
            <a:avLst/>
          </a:prstGeom>
          <a:noFill/>
          <a:ln/>
        </p:spPr>
        <p:txBody>
          <a:bodyPr wrap="square" rtlCol="0" anchor="ctr"/>
          <a:lstStyle/>
          <a:p>
            <a:pPr marL="0" indent="0" algn="ctr">
              <a:buNone/>
            </a:pPr>
            <a:r>
              <a:rPr lang="en-US" sz="700" b="1" dirty="0">
                <a:solidFill>
                  <a:srgbClr val="2563EB"/>
                </a:solidFill>
                <a:latin typeface="Segoe UI" pitchFamily="34" charset="0"/>
                <a:ea typeface="Segoe UI" pitchFamily="34" charset="-122"/>
                <a:cs typeface="Segoe UI" pitchFamily="34" charset="-120"/>
              </a:rPr>
              <a:t>SSE</a:t>
            </a:r>
            <a:endParaRPr lang="en-US" sz="700" dirty="0"/>
          </a:p>
        </p:txBody>
      </p:sp>
      <p:sp>
        <p:nvSpPr>
          <p:cNvPr id="16" name="Shape 14"/>
          <p:cNvSpPr/>
          <p:nvPr/>
        </p:nvSpPr>
        <p:spPr>
          <a:xfrm>
            <a:off x="2921508" y="1508760"/>
            <a:ext cx="809244" cy="256032"/>
          </a:xfrm>
          <a:prstGeom prst="roundRect">
            <a:avLst>
              <a:gd name="adj" fmla="val 17857"/>
            </a:avLst>
          </a:prstGeom>
          <a:solidFill>
            <a:srgbClr val="94A3B8">
              <a:alpha val="10000"/>
            </a:srgbClr>
          </a:solidFill>
          <a:ln w="6350">
            <a:solidFill>
              <a:srgbClr val="94A3B8"/>
            </a:solidFill>
            <a:prstDash val="solid"/>
          </a:ln>
        </p:spPr>
        <p:txBody>
          <a:bodyPr/>
          <a:lstStyle/>
          <a:p>
            <a:endParaRPr lang="fr-TN"/>
          </a:p>
        </p:txBody>
      </p:sp>
      <p:sp>
        <p:nvSpPr>
          <p:cNvPr id="17" name="Text 15"/>
          <p:cNvSpPr/>
          <p:nvPr/>
        </p:nvSpPr>
        <p:spPr>
          <a:xfrm>
            <a:off x="2921508" y="1508760"/>
            <a:ext cx="809244" cy="256032"/>
          </a:xfrm>
          <a:prstGeom prst="rect">
            <a:avLst/>
          </a:prstGeom>
          <a:noFill/>
          <a:ln/>
        </p:spPr>
        <p:txBody>
          <a:bodyPr wrap="square" rtlCol="0" anchor="ctr"/>
          <a:lstStyle/>
          <a:p>
            <a:pPr marL="0" indent="0" algn="ctr">
              <a:buNone/>
            </a:pPr>
            <a:r>
              <a:rPr lang="en-US" sz="700" b="1" dirty="0">
                <a:solidFill>
                  <a:srgbClr val="94A3B8"/>
                </a:solidFill>
                <a:latin typeface="Segoe UI" pitchFamily="34" charset="0"/>
                <a:ea typeface="Segoe UI" pitchFamily="34" charset="-122"/>
                <a:cs typeface="Segoe UI" pitchFamily="34" charset="-120"/>
              </a:rPr>
              <a:t>Real-time</a:t>
            </a:r>
            <a:endParaRPr lang="en-US" sz="700" dirty="0"/>
          </a:p>
        </p:txBody>
      </p:sp>
      <p:sp>
        <p:nvSpPr>
          <p:cNvPr id="18" name="Text 16"/>
          <p:cNvSpPr/>
          <p:nvPr/>
        </p:nvSpPr>
        <p:spPr>
          <a:xfrm>
            <a:off x="731520" y="1828800"/>
            <a:ext cx="3291840" cy="1097280"/>
          </a:xfrm>
          <a:prstGeom prst="rect">
            <a:avLst/>
          </a:prstGeom>
          <a:noFill/>
          <a:ln/>
        </p:spPr>
        <p:txBody>
          <a:bodyPr wrap="square" rtlCol="0" anchor="t"/>
          <a:lstStyle/>
          <a:p>
            <a:pPr marL="0" indent="0">
              <a:lnSpc>
                <a:spcPct val="130000"/>
              </a:lnSpc>
              <a:buNone/>
            </a:pPr>
            <a:r>
              <a:rPr lang="en-US" sz="850" dirty="0">
                <a:solidFill>
                  <a:srgbClr val="475569"/>
                </a:solidFill>
                <a:latin typeface="Segoe UI" pitchFamily="34" charset="0"/>
                <a:ea typeface="Segoe UI" pitchFamily="34" charset="-122"/>
                <a:cs typeface="Segoe UI" pitchFamily="34" charset="-120"/>
              </a:rPr>
              <a:t>Server-Sent Events stream from threatmap-api.checkpoint.com. Parses attack type, source/dest coords, country codes.</a:t>
            </a:r>
            <a:endParaRPr lang="en-US" sz="850" dirty="0"/>
          </a:p>
        </p:txBody>
      </p:sp>
      <p:sp>
        <p:nvSpPr>
          <p:cNvPr id="19" name="Shape 17"/>
          <p:cNvSpPr/>
          <p:nvPr/>
        </p:nvSpPr>
        <p:spPr>
          <a:xfrm>
            <a:off x="4343400" y="1371600"/>
            <a:ext cx="3566160" cy="1691640"/>
          </a:xfrm>
          <a:prstGeom prst="roundRect">
            <a:avLst>
              <a:gd name="adj" fmla="val 5405"/>
            </a:avLst>
          </a:prstGeom>
          <a:solidFill>
            <a:srgbClr val="FFFFFF"/>
          </a:solidFill>
          <a:ln w="6350">
            <a:solidFill>
              <a:srgbClr val="E2E8F0"/>
            </a:solidFill>
            <a:prstDash val="solid"/>
          </a:ln>
          <a:effectLst>
            <a:outerShdw blurRad="101600" dist="25400" dir="12000000" algn="bl" rotWithShape="0">
              <a:srgbClr val="94A3B8">
                <a:alpha val="15000"/>
              </a:srgbClr>
            </a:outerShdw>
          </a:effectLst>
        </p:spPr>
        <p:txBody>
          <a:bodyPr/>
          <a:lstStyle/>
          <a:p>
            <a:endParaRPr lang="fr-TN"/>
          </a:p>
        </p:txBody>
      </p:sp>
      <p:sp>
        <p:nvSpPr>
          <p:cNvPr id="20" name="Shape 18"/>
          <p:cNvSpPr/>
          <p:nvPr/>
        </p:nvSpPr>
        <p:spPr>
          <a:xfrm>
            <a:off x="4416552" y="1389888"/>
            <a:ext cx="3419856" cy="27432"/>
          </a:xfrm>
          <a:prstGeom prst="rect">
            <a:avLst/>
          </a:prstGeom>
          <a:solidFill>
            <a:srgbClr val="4F46E5"/>
          </a:solidFill>
          <a:ln/>
        </p:spPr>
        <p:txBody>
          <a:bodyPr/>
          <a:lstStyle/>
          <a:p>
            <a:endParaRPr lang="fr-TN"/>
          </a:p>
        </p:txBody>
      </p:sp>
      <p:sp>
        <p:nvSpPr>
          <p:cNvPr id="21" name="Text 19"/>
          <p:cNvSpPr/>
          <p:nvPr/>
        </p:nvSpPr>
        <p:spPr>
          <a:xfrm>
            <a:off x="4480560" y="1481328"/>
            <a:ext cx="1645920" cy="274320"/>
          </a:xfrm>
          <a:prstGeom prst="rect">
            <a:avLst/>
          </a:prstGeom>
          <a:noFill/>
          <a:ln/>
        </p:spPr>
        <p:txBody>
          <a:bodyPr wrap="square" rtlCol="0" anchor="ctr"/>
          <a:lstStyle/>
          <a:p>
            <a:pPr marL="0" indent="0">
              <a:buNone/>
            </a:pPr>
            <a:r>
              <a:rPr lang="en-US" sz="1100" b="1" dirty="0">
                <a:solidFill>
                  <a:srgbClr val="0F172A"/>
                </a:solidFill>
                <a:latin typeface="Segoe UI" pitchFamily="34" charset="0"/>
                <a:ea typeface="Segoe UI" pitchFamily="34" charset="-122"/>
                <a:cs typeface="Segoe UI" pitchFamily="34" charset="-120"/>
              </a:rPr>
              <a:t>Bitdefender</a:t>
            </a:r>
            <a:endParaRPr lang="en-US" sz="1100" dirty="0"/>
          </a:p>
        </p:txBody>
      </p:sp>
      <p:sp>
        <p:nvSpPr>
          <p:cNvPr id="22" name="Shape 20"/>
          <p:cNvSpPr/>
          <p:nvPr/>
        </p:nvSpPr>
        <p:spPr>
          <a:xfrm>
            <a:off x="6172200" y="1508760"/>
            <a:ext cx="809244" cy="256032"/>
          </a:xfrm>
          <a:prstGeom prst="roundRect">
            <a:avLst>
              <a:gd name="adj" fmla="val 17857"/>
            </a:avLst>
          </a:prstGeom>
          <a:solidFill>
            <a:srgbClr val="4F46E5">
              <a:alpha val="10000"/>
            </a:srgbClr>
          </a:solidFill>
          <a:ln w="6350">
            <a:solidFill>
              <a:srgbClr val="4F46E5"/>
            </a:solidFill>
            <a:prstDash val="solid"/>
          </a:ln>
        </p:spPr>
        <p:txBody>
          <a:bodyPr/>
          <a:lstStyle/>
          <a:p>
            <a:endParaRPr lang="fr-TN"/>
          </a:p>
        </p:txBody>
      </p:sp>
      <p:sp>
        <p:nvSpPr>
          <p:cNvPr id="23" name="Text 21"/>
          <p:cNvSpPr/>
          <p:nvPr/>
        </p:nvSpPr>
        <p:spPr>
          <a:xfrm>
            <a:off x="6172200" y="1508760"/>
            <a:ext cx="809244" cy="256032"/>
          </a:xfrm>
          <a:prstGeom prst="rect">
            <a:avLst/>
          </a:prstGeom>
          <a:noFill/>
          <a:ln/>
        </p:spPr>
        <p:txBody>
          <a:bodyPr wrap="square" rtlCol="0" anchor="ctr"/>
          <a:lstStyle/>
          <a:p>
            <a:pPr marL="0" indent="0" algn="ctr">
              <a:buNone/>
            </a:pPr>
            <a:r>
              <a:rPr lang="en-US" sz="700" b="1" dirty="0">
                <a:solidFill>
                  <a:srgbClr val="4F46E5"/>
                </a:solidFill>
                <a:latin typeface="Segoe UI" pitchFamily="34" charset="0"/>
                <a:ea typeface="Segoe UI" pitchFamily="34" charset="-122"/>
                <a:cs typeface="Segoe UI" pitchFamily="34" charset="-120"/>
              </a:rPr>
              <a:t>WebSocket</a:t>
            </a:r>
            <a:endParaRPr lang="en-US" sz="700" dirty="0"/>
          </a:p>
        </p:txBody>
      </p:sp>
      <p:sp>
        <p:nvSpPr>
          <p:cNvPr id="24" name="Shape 22"/>
          <p:cNvSpPr/>
          <p:nvPr/>
        </p:nvSpPr>
        <p:spPr>
          <a:xfrm>
            <a:off x="7027164" y="1508760"/>
            <a:ext cx="809244" cy="256032"/>
          </a:xfrm>
          <a:prstGeom prst="roundRect">
            <a:avLst>
              <a:gd name="adj" fmla="val 17857"/>
            </a:avLst>
          </a:prstGeom>
          <a:solidFill>
            <a:srgbClr val="94A3B8">
              <a:alpha val="10000"/>
            </a:srgbClr>
          </a:solidFill>
          <a:ln w="6350">
            <a:solidFill>
              <a:srgbClr val="94A3B8"/>
            </a:solidFill>
            <a:prstDash val="solid"/>
          </a:ln>
        </p:spPr>
        <p:txBody>
          <a:bodyPr/>
          <a:lstStyle/>
          <a:p>
            <a:endParaRPr lang="fr-TN"/>
          </a:p>
        </p:txBody>
      </p:sp>
      <p:sp>
        <p:nvSpPr>
          <p:cNvPr id="25" name="Text 23"/>
          <p:cNvSpPr/>
          <p:nvPr/>
        </p:nvSpPr>
        <p:spPr>
          <a:xfrm>
            <a:off x="7027164" y="1508760"/>
            <a:ext cx="809244" cy="256032"/>
          </a:xfrm>
          <a:prstGeom prst="rect">
            <a:avLst/>
          </a:prstGeom>
          <a:noFill/>
          <a:ln/>
        </p:spPr>
        <p:txBody>
          <a:bodyPr wrap="square" rtlCol="0" anchor="ctr"/>
          <a:lstStyle/>
          <a:p>
            <a:pPr marL="0" indent="0" algn="ctr">
              <a:buNone/>
            </a:pPr>
            <a:r>
              <a:rPr lang="en-US" sz="700" b="1" dirty="0">
                <a:solidFill>
                  <a:srgbClr val="94A3B8"/>
                </a:solidFill>
                <a:latin typeface="Segoe UI" pitchFamily="34" charset="0"/>
                <a:ea typeface="Segoe UI" pitchFamily="34" charset="-122"/>
                <a:cs typeface="Segoe UI" pitchFamily="34" charset="-120"/>
              </a:rPr>
              <a:t>Real-time</a:t>
            </a:r>
            <a:endParaRPr lang="en-US" sz="700" dirty="0"/>
          </a:p>
        </p:txBody>
      </p:sp>
      <p:sp>
        <p:nvSpPr>
          <p:cNvPr id="26" name="Text 24"/>
          <p:cNvSpPr/>
          <p:nvPr/>
        </p:nvSpPr>
        <p:spPr>
          <a:xfrm>
            <a:off x="4480560" y="1828800"/>
            <a:ext cx="3291840" cy="1097280"/>
          </a:xfrm>
          <a:prstGeom prst="rect">
            <a:avLst/>
          </a:prstGeom>
          <a:noFill/>
          <a:ln/>
        </p:spPr>
        <p:txBody>
          <a:bodyPr wrap="square" rtlCol="0" anchor="t"/>
          <a:lstStyle/>
          <a:p>
            <a:pPr marL="0" indent="0">
              <a:lnSpc>
                <a:spcPct val="130000"/>
              </a:lnSpc>
              <a:buNone/>
            </a:pPr>
            <a:r>
              <a:rPr lang="en-US" sz="850" dirty="0">
                <a:solidFill>
                  <a:srgbClr val="475569"/>
                </a:solidFill>
                <a:latin typeface="Segoe UI" pitchFamily="34" charset="0"/>
                <a:ea typeface="Segoe UI" pitchFamily="34" charset="-122"/>
                <a:cs typeface="Segoe UI" pitchFamily="34" charset="-120"/>
              </a:rPr>
              <a:t>Socket.io client subscribes to 13 channels (botnet, portscan, telnet, SSH, RDP, VNC, MySQL, HTTP, IoT, spam).</a:t>
            </a:r>
            <a:endParaRPr lang="en-US" sz="850" dirty="0"/>
          </a:p>
        </p:txBody>
      </p:sp>
      <p:sp>
        <p:nvSpPr>
          <p:cNvPr id="27" name="Shape 25"/>
          <p:cNvSpPr/>
          <p:nvPr/>
        </p:nvSpPr>
        <p:spPr>
          <a:xfrm>
            <a:off x="8092440" y="1371600"/>
            <a:ext cx="3566160" cy="1691640"/>
          </a:xfrm>
          <a:prstGeom prst="roundRect">
            <a:avLst>
              <a:gd name="adj" fmla="val 5405"/>
            </a:avLst>
          </a:prstGeom>
          <a:solidFill>
            <a:srgbClr val="FFFFFF"/>
          </a:solidFill>
          <a:ln w="6350">
            <a:solidFill>
              <a:srgbClr val="E2E8F0"/>
            </a:solidFill>
            <a:prstDash val="solid"/>
          </a:ln>
          <a:effectLst>
            <a:outerShdw blurRad="101600" dist="25400" dir="12000000" algn="bl" rotWithShape="0">
              <a:srgbClr val="94A3B8">
                <a:alpha val="15000"/>
              </a:srgbClr>
            </a:outerShdw>
          </a:effectLst>
        </p:spPr>
        <p:txBody>
          <a:bodyPr/>
          <a:lstStyle/>
          <a:p>
            <a:endParaRPr lang="fr-TN"/>
          </a:p>
        </p:txBody>
      </p:sp>
      <p:sp>
        <p:nvSpPr>
          <p:cNvPr id="28" name="Shape 26"/>
          <p:cNvSpPr/>
          <p:nvPr/>
        </p:nvSpPr>
        <p:spPr>
          <a:xfrm>
            <a:off x="8165592" y="1389888"/>
            <a:ext cx="3419856" cy="27432"/>
          </a:xfrm>
          <a:prstGeom prst="rect">
            <a:avLst/>
          </a:prstGeom>
          <a:solidFill>
            <a:srgbClr val="7C3AED"/>
          </a:solidFill>
          <a:ln/>
        </p:spPr>
        <p:txBody>
          <a:bodyPr/>
          <a:lstStyle/>
          <a:p>
            <a:endParaRPr lang="fr-TN"/>
          </a:p>
        </p:txBody>
      </p:sp>
      <p:sp>
        <p:nvSpPr>
          <p:cNvPr id="29" name="Text 27"/>
          <p:cNvSpPr/>
          <p:nvPr/>
        </p:nvSpPr>
        <p:spPr>
          <a:xfrm>
            <a:off x="8229600" y="1481328"/>
            <a:ext cx="1645920" cy="274320"/>
          </a:xfrm>
          <a:prstGeom prst="rect">
            <a:avLst/>
          </a:prstGeom>
          <a:noFill/>
          <a:ln/>
        </p:spPr>
        <p:txBody>
          <a:bodyPr wrap="square" rtlCol="0" anchor="ctr"/>
          <a:lstStyle/>
          <a:p>
            <a:pPr marL="0" indent="0">
              <a:buNone/>
            </a:pPr>
            <a:r>
              <a:rPr lang="en-US" sz="1100" b="1" dirty="0">
                <a:solidFill>
                  <a:srgbClr val="0F172A"/>
                </a:solidFill>
                <a:latin typeface="Segoe UI" pitchFamily="34" charset="0"/>
                <a:ea typeface="Segoe UI" pitchFamily="34" charset="-122"/>
                <a:cs typeface="Segoe UI" pitchFamily="34" charset="-120"/>
              </a:rPr>
              <a:t>FortiGuard</a:t>
            </a:r>
            <a:endParaRPr lang="en-US" sz="1100" dirty="0"/>
          </a:p>
        </p:txBody>
      </p:sp>
      <p:sp>
        <p:nvSpPr>
          <p:cNvPr id="30" name="Shape 28"/>
          <p:cNvSpPr/>
          <p:nvPr/>
        </p:nvSpPr>
        <p:spPr>
          <a:xfrm>
            <a:off x="9921240" y="1508760"/>
            <a:ext cx="512064" cy="256032"/>
          </a:xfrm>
          <a:prstGeom prst="roundRect">
            <a:avLst>
              <a:gd name="adj" fmla="val 17857"/>
            </a:avLst>
          </a:prstGeom>
          <a:solidFill>
            <a:srgbClr val="7C3AED">
              <a:alpha val="10000"/>
            </a:srgbClr>
          </a:solidFill>
          <a:ln w="6350">
            <a:solidFill>
              <a:srgbClr val="7C3AED"/>
            </a:solidFill>
            <a:prstDash val="solid"/>
          </a:ln>
        </p:spPr>
        <p:txBody>
          <a:bodyPr/>
          <a:lstStyle/>
          <a:p>
            <a:endParaRPr lang="fr-TN"/>
          </a:p>
        </p:txBody>
      </p:sp>
      <p:sp>
        <p:nvSpPr>
          <p:cNvPr id="31" name="Text 29"/>
          <p:cNvSpPr/>
          <p:nvPr/>
        </p:nvSpPr>
        <p:spPr>
          <a:xfrm>
            <a:off x="9921240" y="1508760"/>
            <a:ext cx="512064" cy="256032"/>
          </a:xfrm>
          <a:prstGeom prst="rect">
            <a:avLst/>
          </a:prstGeom>
          <a:noFill/>
          <a:ln/>
        </p:spPr>
        <p:txBody>
          <a:bodyPr wrap="square" rtlCol="0" anchor="ctr"/>
          <a:lstStyle/>
          <a:p>
            <a:pPr marL="0" indent="0" algn="ctr">
              <a:buNone/>
            </a:pPr>
            <a:r>
              <a:rPr lang="en-US" sz="700" b="1" dirty="0">
                <a:solidFill>
                  <a:srgbClr val="7C3AED"/>
                </a:solidFill>
                <a:latin typeface="Segoe UI" pitchFamily="34" charset="0"/>
                <a:ea typeface="Segoe UI" pitchFamily="34" charset="-122"/>
                <a:cs typeface="Segoe UI" pitchFamily="34" charset="-120"/>
              </a:rPr>
              <a:t>REST</a:t>
            </a:r>
            <a:endParaRPr lang="en-US" sz="700" dirty="0"/>
          </a:p>
        </p:txBody>
      </p:sp>
      <p:sp>
        <p:nvSpPr>
          <p:cNvPr id="32" name="Shape 30"/>
          <p:cNvSpPr/>
          <p:nvPr/>
        </p:nvSpPr>
        <p:spPr>
          <a:xfrm>
            <a:off x="10479024" y="1508760"/>
            <a:ext cx="690372" cy="256032"/>
          </a:xfrm>
          <a:prstGeom prst="roundRect">
            <a:avLst>
              <a:gd name="adj" fmla="val 17857"/>
            </a:avLst>
          </a:prstGeom>
          <a:solidFill>
            <a:srgbClr val="94A3B8">
              <a:alpha val="10000"/>
            </a:srgbClr>
          </a:solidFill>
          <a:ln w="6350">
            <a:solidFill>
              <a:srgbClr val="94A3B8"/>
            </a:solidFill>
            <a:prstDash val="solid"/>
          </a:ln>
        </p:spPr>
        <p:txBody>
          <a:bodyPr/>
          <a:lstStyle/>
          <a:p>
            <a:endParaRPr lang="fr-TN"/>
          </a:p>
        </p:txBody>
      </p:sp>
      <p:sp>
        <p:nvSpPr>
          <p:cNvPr id="33" name="Text 31"/>
          <p:cNvSpPr/>
          <p:nvPr/>
        </p:nvSpPr>
        <p:spPr>
          <a:xfrm>
            <a:off x="10479024" y="1508760"/>
            <a:ext cx="690372" cy="256032"/>
          </a:xfrm>
          <a:prstGeom prst="rect">
            <a:avLst/>
          </a:prstGeom>
          <a:noFill/>
          <a:ln/>
        </p:spPr>
        <p:txBody>
          <a:bodyPr wrap="square" rtlCol="0" anchor="ctr"/>
          <a:lstStyle/>
          <a:p>
            <a:pPr marL="0" indent="0" algn="ctr">
              <a:buNone/>
            </a:pPr>
            <a:r>
              <a:rPr lang="en-US" sz="700" b="1" dirty="0">
                <a:solidFill>
                  <a:srgbClr val="94A3B8"/>
                </a:solidFill>
                <a:latin typeface="Segoe UI" pitchFamily="34" charset="0"/>
                <a:ea typeface="Segoe UI" pitchFamily="34" charset="-122"/>
                <a:cs typeface="Segoe UI" pitchFamily="34" charset="-120"/>
              </a:rPr>
              <a:t>4s poll</a:t>
            </a:r>
            <a:endParaRPr lang="en-US" sz="700" dirty="0"/>
          </a:p>
        </p:txBody>
      </p:sp>
      <p:sp>
        <p:nvSpPr>
          <p:cNvPr id="34" name="Text 32"/>
          <p:cNvSpPr/>
          <p:nvPr/>
        </p:nvSpPr>
        <p:spPr>
          <a:xfrm>
            <a:off x="8229600" y="1828800"/>
            <a:ext cx="3291840" cy="1097280"/>
          </a:xfrm>
          <a:prstGeom prst="rect">
            <a:avLst/>
          </a:prstGeom>
          <a:noFill/>
          <a:ln/>
        </p:spPr>
        <p:txBody>
          <a:bodyPr wrap="square" rtlCol="0" anchor="t"/>
          <a:lstStyle/>
          <a:p>
            <a:pPr marL="0" indent="0">
              <a:lnSpc>
                <a:spcPct val="130000"/>
              </a:lnSpc>
              <a:buNone/>
            </a:pPr>
            <a:r>
              <a:rPr lang="en-US" sz="850" dirty="0">
                <a:solidFill>
                  <a:srgbClr val="475569"/>
                </a:solidFill>
                <a:latin typeface="Segoe UI" pitchFamily="34" charset="0"/>
                <a:ea typeface="Segoe UI" pitchFamily="34" charset="-122"/>
                <a:cs typeface="Segoe UI" pitchFamily="34" charset="-120"/>
              </a:rPr>
              <a:t>Polls /api/threatmap/live/outbreak endpoint with outbreak_id tracking. Extracts time-sliced attack events with severity.</a:t>
            </a:r>
            <a:endParaRPr lang="en-US" sz="850" dirty="0"/>
          </a:p>
        </p:txBody>
      </p:sp>
      <p:sp>
        <p:nvSpPr>
          <p:cNvPr id="35" name="Shape 33"/>
          <p:cNvSpPr/>
          <p:nvPr/>
        </p:nvSpPr>
        <p:spPr>
          <a:xfrm>
            <a:off x="594360" y="3200400"/>
            <a:ext cx="3566160" cy="1691640"/>
          </a:xfrm>
          <a:prstGeom prst="roundRect">
            <a:avLst>
              <a:gd name="adj" fmla="val 5405"/>
            </a:avLst>
          </a:prstGeom>
          <a:solidFill>
            <a:srgbClr val="FFFFFF"/>
          </a:solidFill>
          <a:ln w="6350">
            <a:solidFill>
              <a:srgbClr val="E2E8F0"/>
            </a:solidFill>
            <a:prstDash val="solid"/>
          </a:ln>
          <a:effectLst>
            <a:outerShdw blurRad="101600" dist="25400" dir="12000000" algn="bl" rotWithShape="0">
              <a:srgbClr val="94A3B8">
                <a:alpha val="15000"/>
              </a:srgbClr>
            </a:outerShdw>
          </a:effectLst>
        </p:spPr>
        <p:txBody>
          <a:bodyPr/>
          <a:lstStyle/>
          <a:p>
            <a:endParaRPr lang="fr-TN"/>
          </a:p>
        </p:txBody>
      </p:sp>
      <p:sp>
        <p:nvSpPr>
          <p:cNvPr id="36" name="Shape 34"/>
          <p:cNvSpPr/>
          <p:nvPr/>
        </p:nvSpPr>
        <p:spPr>
          <a:xfrm>
            <a:off x="667512" y="3218688"/>
            <a:ext cx="3419856" cy="27432"/>
          </a:xfrm>
          <a:prstGeom prst="rect">
            <a:avLst/>
          </a:prstGeom>
          <a:solidFill>
            <a:srgbClr val="E11D48"/>
          </a:solidFill>
          <a:ln/>
        </p:spPr>
        <p:txBody>
          <a:bodyPr/>
          <a:lstStyle/>
          <a:p>
            <a:endParaRPr lang="fr-TN"/>
          </a:p>
        </p:txBody>
      </p:sp>
      <p:sp>
        <p:nvSpPr>
          <p:cNvPr id="37" name="Text 35"/>
          <p:cNvSpPr/>
          <p:nvPr/>
        </p:nvSpPr>
        <p:spPr>
          <a:xfrm>
            <a:off x="731520" y="3310128"/>
            <a:ext cx="1645920" cy="274320"/>
          </a:xfrm>
          <a:prstGeom prst="rect">
            <a:avLst/>
          </a:prstGeom>
          <a:noFill/>
          <a:ln/>
        </p:spPr>
        <p:txBody>
          <a:bodyPr wrap="square" rtlCol="0" anchor="ctr"/>
          <a:lstStyle/>
          <a:p>
            <a:pPr marL="0" indent="0">
              <a:buNone/>
            </a:pPr>
            <a:r>
              <a:rPr lang="en-US" sz="1100" b="1" dirty="0">
                <a:solidFill>
                  <a:srgbClr val="0F172A"/>
                </a:solidFill>
                <a:latin typeface="Segoe UI" pitchFamily="34" charset="0"/>
                <a:ea typeface="Segoe UI" pitchFamily="34" charset="-122"/>
                <a:cs typeface="Segoe UI" pitchFamily="34" charset="-120"/>
              </a:rPr>
              <a:t>URLhaus</a:t>
            </a:r>
            <a:endParaRPr lang="en-US" sz="1100" dirty="0"/>
          </a:p>
        </p:txBody>
      </p:sp>
      <p:sp>
        <p:nvSpPr>
          <p:cNvPr id="38" name="Shape 36"/>
          <p:cNvSpPr/>
          <p:nvPr/>
        </p:nvSpPr>
        <p:spPr>
          <a:xfrm>
            <a:off x="2423160" y="3337560"/>
            <a:ext cx="512064" cy="256032"/>
          </a:xfrm>
          <a:prstGeom prst="roundRect">
            <a:avLst>
              <a:gd name="adj" fmla="val 17857"/>
            </a:avLst>
          </a:prstGeom>
          <a:solidFill>
            <a:srgbClr val="E11D48">
              <a:alpha val="10000"/>
            </a:srgbClr>
          </a:solidFill>
          <a:ln w="6350">
            <a:solidFill>
              <a:srgbClr val="E11D48"/>
            </a:solidFill>
            <a:prstDash val="solid"/>
          </a:ln>
        </p:spPr>
        <p:txBody>
          <a:bodyPr/>
          <a:lstStyle/>
          <a:p>
            <a:endParaRPr lang="fr-TN"/>
          </a:p>
        </p:txBody>
      </p:sp>
      <p:sp>
        <p:nvSpPr>
          <p:cNvPr id="39" name="Text 37"/>
          <p:cNvSpPr/>
          <p:nvPr/>
        </p:nvSpPr>
        <p:spPr>
          <a:xfrm>
            <a:off x="2423160" y="3337560"/>
            <a:ext cx="512064" cy="256032"/>
          </a:xfrm>
          <a:prstGeom prst="rect">
            <a:avLst/>
          </a:prstGeom>
          <a:noFill/>
          <a:ln/>
        </p:spPr>
        <p:txBody>
          <a:bodyPr wrap="square" rtlCol="0" anchor="ctr"/>
          <a:lstStyle/>
          <a:p>
            <a:pPr marL="0" indent="0" algn="ctr">
              <a:buNone/>
            </a:pPr>
            <a:r>
              <a:rPr lang="en-US" sz="700" b="1" dirty="0">
                <a:solidFill>
                  <a:srgbClr val="E11D48"/>
                </a:solidFill>
                <a:latin typeface="Segoe UI" pitchFamily="34" charset="0"/>
                <a:ea typeface="Segoe UI" pitchFamily="34" charset="-122"/>
                <a:cs typeface="Segoe UI" pitchFamily="34" charset="-120"/>
              </a:rPr>
              <a:t>REST</a:t>
            </a:r>
            <a:endParaRPr lang="en-US" sz="700" dirty="0"/>
          </a:p>
        </p:txBody>
      </p:sp>
      <p:sp>
        <p:nvSpPr>
          <p:cNvPr id="40" name="Shape 38"/>
          <p:cNvSpPr/>
          <p:nvPr/>
        </p:nvSpPr>
        <p:spPr>
          <a:xfrm>
            <a:off x="2980944" y="3337560"/>
            <a:ext cx="749808" cy="256032"/>
          </a:xfrm>
          <a:prstGeom prst="roundRect">
            <a:avLst>
              <a:gd name="adj" fmla="val 17857"/>
            </a:avLst>
          </a:prstGeom>
          <a:solidFill>
            <a:srgbClr val="94A3B8">
              <a:alpha val="10000"/>
            </a:srgbClr>
          </a:solidFill>
          <a:ln w="6350">
            <a:solidFill>
              <a:srgbClr val="94A3B8"/>
            </a:solidFill>
            <a:prstDash val="solid"/>
          </a:ln>
        </p:spPr>
        <p:txBody>
          <a:bodyPr/>
          <a:lstStyle/>
          <a:p>
            <a:endParaRPr lang="fr-TN"/>
          </a:p>
        </p:txBody>
      </p:sp>
      <p:sp>
        <p:nvSpPr>
          <p:cNvPr id="41" name="Text 39"/>
          <p:cNvSpPr/>
          <p:nvPr/>
        </p:nvSpPr>
        <p:spPr>
          <a:xfrm>
            <a:off x="2980944" y="3337560"/>
            <a:ext cx="749808" cy="256032"/>
          </a:xfrm>
          <a:prstGeom prst="rect">
            <a:avLst/>
          </a:prstGeom>
          <a:noFill/>
          <a:ln/>
        </p:spPr>
        <p:txBody>
          <a:bodyPr wrap="square" rtlCol="0" anchor="ctr"/>
          <a:lstStyle/>
          <a:p>
            <a:pPr marL="0" indent="0" algn="ctr">
              <a:buNone/>
            </a:pPr>
            <a:r>
              <a:rPr lang="en-US" sz="700" b="1" dirty="0">
                <a:solidFill>
                  <a:srgbClr val="94A3B8"/>
                </a:solidFill>
                <a:latin typeface="Segoe UI" pitchFamily="34" charset="0"/>
                <a:ea typeface="Segoe UI" pitchFamily="34" charset="-122"/>
                <a:cs typeface="Segoe UI" pitchFamily="34" charset="-120"/>
              </a:rPr>
              <a:t>90s poll</a:t>
            </a:r>
            <a:endParaRPr lang="en-US" sz="700" dirty="0"/>
          </a:p>
        </p:txBody>
      </p:sp>
      <p:sp>
        <p:nvSpPr>
          <p:cNvPr id="42" name="Text 40"/>
          <p:cNvSpPr/>
          <p:nvPr/>
        </p:nvSpPr>
        <p:spPr>
          <a:xfrm>
            <a:off x="731520" y="3657600"/>
            <a:ext cx="3291840" cy="1097280"/>
          </a:xfrm>
          <a:prstGeom prst="rect">
            <a:avLst/>
          </a:prstGeom>
          <a:noFill/>
          <a:ln/>
        </p:spPr>
        <p:txBody>
          <a:bodyPr wrap="square" rtlCol="0" anchor="t"/>
          <a:lstStyle/>
          <a:p>
            <a:pPr marL="0" indent="0">
              <a:lnSpc>
                <a:spcPct val="130000"/>
              </a:lnSpc>
              <a:buNone/>
            </a:pPr>
            <a:r>
              <a:rPr lang="en-US" sz="850" dirty="0">
                <a:solidFill>
                  <a:srgbClr val="475569"/>
                </a:solidFill>
                <a:latin typeface="Segoe UI" pitchFamily="34" charset="0"/>
                <a:ea typeface="Segoe UI" pitchFamily="34" charset="-122"/>
                <a:cs typeface="Segoe UI" pitchFamily="34" charset="-120"/>
              </a:rPr>
              <a:t>Fetches active malicious URLs from abuse.ch API. Resolves host IPs via geoip-lite for source coordinates.</a:t>
            </a:r>
            <a:endParaRPr lang="en-US" sz="850" dirty="0"/>
          </a:p>
        </p:txBody>
      </p:sp>
      <p:sp>
        <p:nvSpPr>
          <p:cNvPr id="43" name="Shape 41"/>
          <p:cNvSpPr/>
          <p:nvPr/>
        </p:nvSpPr>
        <p:spPr>
          <a:xfrm>
            <a:off x="4343400" y="3200400"/>
            <a:ext cx="3566160" cy="1691640"/>
          </a:xfrm>
          <a:prstGeom prst="roundRect">
            <a:avLst>
              <a:gd name="adj" fmla="val 5405"/>
            </a:avLst>
          </a:prstGeom>
          <a:solidFill>
            <a:srgbClr val="FFFFFF"/>
          </a:solidFill>
          <a:ln w="6350">
            <a:solidFill>
              <a:srgbClr val="E2E8F0"/>
            </a:solidFill>
            <a:prstDash val="solid"/>
          </a:ln>
          <a:effectLst>
            <a:outerShdw blurRad="101600" dist="25400" dir="12000000" algn="bl" rotWithShape="0">
              <a:srgbClr val="94A3B8">
                <a:alpha val="15000"/>
              </a:srgbClr>
            </a:outerShdw>
          </a:effectLst>
        </p:spPr>
        <p:txBody>
          <a:bodyPr/>
          <a:lstStyle/>
          <a:p>
            <a:endParaRPr lang="fr-TN"/>
          </a:p>
        </p:txBody>
      </p:sp>
      <p:sp>
        <p:nvSpPr>
          <p:cNvPr id="44" name="Shape 42"/>
          <p:cNvSpPr/>
          <p:nvPr/>
        </p:nvSpPr>
        <p:spPr>
          <a:xfrm>
            <a:off x="4416552" y="3218688"/>
            <a:ext cx="3419856" cy="27432"/>
          </a:xfrm>
          <a:prstGeom prst="rect">
            <a:avLst/>
          </a:prstGeom>
          <a:solidFill>
            <a:srgbClr val="0284C7"/>
          </a:solidFill>
          <a:ln/>
        </p:spPr>
        <p:txBody>
          <a:bodyPr/>
          <a:lstStyle/>
          <a:p>
            <a:endParaRPr lang="fr-TN"/>
          </a:p>
        </p:txBody>
      </p:sp>
      <p:sp>
        <p:nvSpPr>
          <p:cNvPr id="45" name="Text 43"/>
          <p:cNvSpPr/>
          <p:nvPr/>
        </p:nvSpPr>
        <p:spPr>
          <a:xfrm>
            <a:off x="4480560" y="3310128"/>
            <a:ext cx="1645920" cy="274320"/>
          </a:xfrm>
          <a:prstGeom prst="rect">
            <a:avLst/>
          </a:prstGeom>
          <a:noFill/>
          <a:ln/>
        </p:spPr>
        <p:txBody>
          <a:bodyPr wrap="square" rtlCol="0" anchor="ctr"/>
          <a:lstStyle/>
          <a:p>
            <a:pPr marL="0" indent="0">
              <a:buNone/>
            </a:pPr>
            <a:r>
              <a:rPr lang="en-US" sz="1100" b="1" dirty="0">
                <a:solidFill>
                  <a:srgbClr val="0F172A"/>
                </a:solidFill>
                <a:latin typeface="Segoe UI" pitchFamily="34" charset="0"/>
                <a:ea typeface="Segoe UI" pitchFamily="34" charset="-122"/>
                <a:cs typeface="Segoe UI" pitchFamily="34" charset="-120"/>
              </a:rPr>
              <a:t>AlienVault</a:t>
            </a:r>
            <a:endParaRPr lang="en-US" sz="1100" dirty="0"/>
          </a:p>
        </p:txBody>
      </p:sp>
      <p:sp>
        <p:nvSpPr>
          <p:cNvPr id="46" name="Shape 44"/>
          <p:cNvSpPr/>
          <p:nvPr/>
        </p:nvSpPr>
        <p:spPr>
          <a:xfrm>
            <a:off x="6172200" y="3337560"/>
            <a:ext cx="512064" cy="256032"/>
          </a:xfrm>
          <a:prstGeom prst="roundRect">
            <a:avLst>
              <a:gd name="adj" fmla="val 17857"/>
            </a:avLst>
          </a:prstGeom>
          <a:solidFill>
            <a:srgbClr val="0284C7">
              <a:alpha val="10000"/>
            </a:srgbClr>
          </a:solidFill>
          <a:ln w="6350">
            <a:solidFill>
              <a:srgbClr val="0284C7"/>
            </a:solidFill>
            <a:prstDash val="solid"/>
          </a:ln>
        </p:spPr>
        <p:txBody>
          <a:bodyPr/>
          <a:lstStyle/>
          <a:p>
            <a:endParaRPr lang="fr-TN"/>
          </a:p>
        </p:txBody>
      </p:sp>
      <p:sp>
        <p:nvSpPr>
          <p:cNvPr id="47" name="Text 45"/>
          <p:cNvSpPr/>
          <p:nvPr/>
        </p:nvSpPr>
        <p:spPr>
          <a:xfrm>
            <a:off x="6172200" y="3337560"/>
            <a:ext cx="512064" cy="256032"/>
          </a:xfrm>
          <a:prstGeom prst="rect">
            <a:avLst/>
          </a:prstGeom>
          <a:noFill/>
          <a:ln/>
        </p:spPr>
        <p:txBody>
          <a:bodyPr wrap="square" rtlCol="0" anchor="ctr"/>
          <a:lstStyle/>
          <a:p>
            <a:pPr marL="0" indent="0" algn="ctr">
              <a:buNone/>
            </a:pPr>
            <a:r>
              <a:rPr lang="en-US" sz="700" b="1" dirty="0">
                <a:solidFill>
                  <a:srgbClr val="0284C7"/>
                </a:solidFill>
                <a:latin typeface="Segoe UI" pitchFamily="34" charset="0"/>
                <a:ea typeface="Segoe UI" pitchFamily="34" charset="-122"/>
                <a:cs typeface="Segoe UI" pitchFamily="34" charset="-120"/>
              </a:rPr>
              <a:t>REST</a:t>
            </a:r>
            <a:endParaRPr lang="en-US" sz="700" dirty="0"/>
          </a:p>
        </p:txBody>
      </p:sp>
      <p:sp>
        <p:nvSpPr>
          <p:cNvPr id="48" name="Shape 46"/>
          <p:cNvSpPr/>
          <p:nvPr/>
        </p:nvSpPr>
        <p:spPr>
          <a:xfrm>
            <a:off x="6729984" y="3337560"/>
            <a:ext cx="749808" cy="256032"/>
          </a:xfrm>
          <a:prstGeom prst="roundRect">
            <a:avLst>
              <a:gd name="adj" fmla="val 17857"/>
            </a:avLst>
          </a:prstGeom>
          <a:solidFill>
            <a:srgbClr val="94A3B8">
              <a:alpha val="10000"/>
            </a:srgbClr>
          </a:solidFill>
          <a:ln w="6350">
            <a:solidFill>
              <a:srgbClr val="94A3B8"/>
            </a:solidFill>
            <a:prstDash val="solid"/>
          </a:ln>
        </p:spPr>
        <p:txBody>
          <a:bodyPr/>
          <a:lstStyle/>
          <a:p>
            <a:endParaRPr lang="fr-TN"/>
          </a:p>
        </p:txBody>
      </p:sp>
      <p:sp>
        <p:nvSpPr>
          <p:cNvPr id="49" name="Text 47"/>
          <p:cNvSpPr/>
          <p:nvPr/>
        </p:nvSpPr>
        <p:spPr>
          <a:xfrm>
            <a:off x="6729984" y="3337560"/>
            <a:ext cx="749808" cy="256032"/>
          </a:xfrm>
          <a:prstGeom prst="rect">
            <a:avLst/>
          </a:prstGeom>
          <a:noFill/>
          <a:ln/>
        </p:spPr>
        <p:txBody>
          <a:bodyPr wrap="square" rtlCol="0" anchor="ctr"/>
          <a:lstStyle/>
          <a:p>
            <a:pPr marL="0" indent="0" algn="ctr">
              <a:buNone/>
            </a:pPr>
            <a:r>
              <a:rPr lang="en-US" sz="700" b="1" dirty="0">
                <a:solidFill>
                  <a:srgbClr val="94A3B8"/>
                </a:solidFill>
                <a:latin typeface="Segoe UI" pitchFamily="34" charset="0"/>
                <a:ea typeface="Segoe UI" pitchFamily="34" charset="-122"/>
                <a:cs typeface="Segoe UI" pitchFamily="34" charset="-120"/>
              </a:rPr>
              <a:t>60s poll</a:t>
            </a:r>
            <a:endParaRPr lang="en-US" sz="700" dirty="0"/>
          </a:p>
        </p:txBody>
      </p:sp>
      <p:sp>
        <p:nvSpPr>
          <p:cNvPr id="50" name="Text 48"/>
          <p:cNvSpPr/>
          <p:nvPr/>
        </p:nvSpPr>
        <p:spPr>
          <a:xfrm>
            <a:off x="4480560" y="3657600"/>
            <a:ext cx="3291840" cy="1097280"/>
          </a:xfrm>
          <a:prstGeom prst="rect">
            <a:avLst/>
          </a:prstGeom>
          <a:noFill/>
          <a:ln/>
        </p:spPr>
        <p:txBody>
          <a:bodyPr wrap="square" rtlCol="0" anchor="t"/>
          <a:lstStyle/>
          <a:p>
            <a:pPr marL="0" indent="0">
              <a:lnSpc>
                <a:spcPct val="130000"/>
              </a:lnSpc>
              <a:buNone/>
            </a:pPr>
            <a:r>
              <a:rPr lang="en-US" sz="850" dirty="0">
                <a:solidFill>
                  <a:srgbClr val="475569"/>
                </a:solidFill>
                <a:latin typeface="Segoe UI" pitchFamily="34" charset="0"/>
                <a:ea typeface="Segoe UI" pitchFamily="34" charset="-122"/>
                <a:cs typeface="Segoe UI" pitchFamily="34" charset="-120"/>
              </a:rPr>
              <a:t>Queries OTX API for latest IoC pulses. Maps pulse indicators to geographic attack events.</a:t>
            </a:r>
            <a:endParaRPr lang="en-US" sz="850" dirty="0"/>
          </a:p>
        </p:txBody>
      </p:sp>
      <p:sp>
        <p:nvSpPr>
          <p:cNvPr id="51" name="Shape 49"/>
          <p:cNvSpPr/>
          <p:nvPr/>
        </p:nvSpPr>
        <p:spPr>
          <a:xfrm>
            <a:off x="8092440" y="3200400"/>
            <a:ext cx="3566160" cy="1691640"/>
          </a:xfrm>
          <a:prstGeom prst="roundRect">
            <a:avLst>
              <a:gd name="adj" fmla="val 5405"/>
            </a:avLst>
          </a:prstGeom>
          <a:solidFill>
            <a:srgbClr val="FFFFFF"/>
          </a:solidFill>
          <a:ln w="6350">
            <a:solidFill>
              <a:srgbClr val="E2E8F0"/>
            </a:solidFill>
            <a:prstDash val="solid"/>
          </a:ln>
          <a:effectLst>
            <a:outerShdw blurRad="101600" dist="25400" dir="12000000" algn="bl" rotWithShape="0">
              <a:srgbClr val="94A3B8">
                <a:alpha val="15000"/>
              </a:srgbClr>
            </a:outerShdw>
          </a:effectLst>
        </p:spPr>
        <p:txBody>
          <a:bodyPr/>
          <a:lstStyle/>
          <a:p>
            <a:endParaRPr lang="fr-TN"/>
          </a:p>
        </p:txBody>
      </p:sp>
      <p:sp>
        <p:nvSpPr>
          <p:cNvPr id="52" name="Shape 50"/>
          <p:cNvSpPr/>
          <p:nvPr/>
        </p:nvSpPr>
        <p:spPr>
          <a:xfrm>
            <a:off x="8165592" y="3218688"/>
            <a:ext cx="3419856" cy="27432"/>
          </a:xfrm>
          <a:prstGeom prst="rect">
            <a:avLst/>
          </a:prstGeom>
          <a:solidFill>
            <a:srgbClr val="059669"/>
          </a:solidFill>
          <a:ln/>
        </p:spPr>
        <p:txBody>
          <a:bodyPr/>
          <a:lstStyle/>
          <a:p>
            <a:endParaRPr lang="fr-TN"/>
          </a:p>
        </p:txBody>
      </p:sp>
      <p:sp>
        <p:nvSpPr>
          <p:cNvPr id="53" name="Text 51"/>
          <p:cNvSpPr/>
          <p:nvPr/>
        </p:nvSpPr>
        <p:spPr>
          <a:xfrm>
            <a:off x="8229600" y="3310128"/>
            <a:ext cx="1645920" cy="274320"/>
          </a:xfrm>
          <a:prstGeom prst="rect">
            <a:avLst/>
          </a:prstGeom>
          <a:noFill/>
          <a:ln/>
        </p:spPr>
        <p:txBody>
          <a:bodyPr wrap="square" rtlCol="0" anchor="ctr"/>
          <a:lstStyle/>
          <a:p>
            <a:pPr marL="0" indent="0">
              <a:buNone/>
            </a:pPr>
            <a:r>
              <a:rPr lang="en-US" sz="1100" b="1" dirty="0">
                <a:solidFill>
                  <a:srgbClr val="0F172A"/>
                </a:solidFill>
                <a:latin typeface="Segoe UI" pitchFamily="34" charset="0"/>
                <a:ea typeface="Segoe UI" pitchFamily="34" charset="-122"/>
                <a:cs typeface="Segoe UI" pitchFamily="34" charset="-120"/>
              </a:rPr>
              <a:t>Kaspersky</a:t>
            </a:r>
            <a:endParaRPr lang="en-US" sz="1100" dirty="0"/>
          </a:p>
        </p:txBody>
      </p:sp>
      <p:sp>
        <p:nvSpPr>
          <p:cNvPr id="54" name="Shape 52"/>
          <p:cNvSpPr/>
          <p:nvPr/>
        </p:nvSpPr>
        <p:spPr>
          <a:xfrm>
            <a:off x="9921240" y="3337560"/>
            <a:ext cx="512064" cy="256032"/>
          </a:xfrm>
          <a:prstGeom prst="roundRect">
            <a:avLst>
              <a:gd name="adj" fmla="val 17857"/>
            </a:avLst>
          </a:prstGeom>
          <a:solidFill>
            <a:srgbClr val="059669">
              <a:alpha val="10000"/>
            </a:srgbClr>
          </a:solidFill>
          <a:ln w="6350">
            <a:solidFill>
              <a:srgbClr val="059669"/>
            </a:solidFill>
            <a:prstDash val="solid"/>
          </a:ln>
        </p:spPr>
        <p:txBody>
          <a:bodyPr/>
          <a:lstStyle/>
          <a:p>
            <a:endParaRPr lang="fr-TN"/>
          </a:p>
        </p:txBody>
      </p:sp>
      <p:sp>
        <p:nvSpPr>
          <p:cNvPr id="55" name="Text 53"/>
          <p:cNvSpPr/>
          <p:nvPr/>
        </p:nvSpPr>
        <p:spPr>
          <a:xfrm>
            <a:off x="9921240" y="3337560"/>
            <a:ext cx="512064" cy="256032"/>
          </a:xfrm>
          <a:prstGeom prst="rect">
            <a:avLst/>
          </a:prstGeom>
          <a:noFill/>
          <a:ln/>
        </p:spPr>
        <p:txBody>
          <a:bodyPr wrap="square" rtlCol="0" anchor="ctr"/>
          <a:lstStyle/>
          <a:p>
            <a:pPr marL="0" indent="0" algn="ctr">
              <a:buNone/>
            </a:pPr>
            <a:r>
              <a:rPr lang="en-US" sz="700" b="1" dirty="0">
                <a:solidFill>
                  <a:srgbClr val="059669"/>
                </a:solidFill>
                <a:latin typeface="Segoe UI" pitchFamily="34" charset="0"/>
                <a:ea typeface="Segoe UI" pitchFamily="34" charset="-122"/>
                <a:cs typeface="Segoe UI" pitchFamily="34" charset="-120"/>
              </a:rPr>
              <a:t>REST</a:t>
            </a:r>
            <a:endParaRPr lang="en-US" sz="700" dirty="0"/>
          </a:p>
        </p:txBody>
      </p:sp>
      <p:sp>
        <p:nvSpPr>
          <p:cNvPr id="56" name="Shape 54"/>
          <p:cNvSpPr/>
          <p:nvPr/>
        </p:nvSpPr>
        <p:spPr>
          <a:xfrm>
            <a:off x="10479024" y="3337560"/>
            <a:ext cx="749808" cy="256032"/>
          </a:xfrm>
          <a:prstGeom prst="roundRect">
            <a:avLst>
              <a:gd name="adj" fmla="val 17857"/>
            </a:avLst>
          </a:prstGeom>
          <a:solidFill>
            <a:srgbClr val="94A3B8">
              <a:alpha val="10000"/>
            </a:srgbClr>
          </a:solidFill>
          <a:ln w="6350">
            <a:solidFill>
              <a:srgbClr val="94A3B8"/>
            </a:solidFill>
            <a:prstDash val="solid"/>
          </a:ln>
        </p:spPr>
        <p:txBody>
          <a:bodyPr/>
          <a:lstStyle/>
          <a:p>
            <a:endParaRPr lang="fr-TN"/>
          </a:p>
        </p:txBody>
      </p:sp>
      <p:sp>
        <p:nvSpPr>
          <p:cNvPr id="57" name="Text 55"/>
          <p:cNvSpPr/>
          <p:nvPr/>
        </p:nvSpPr>
        <p:spPr>
          <a:xfrm>
            <a:off x="10479024" y="3337560"/>
            <a:ext cx="749808" cy="256032"/>
          </a:xfrm>
          <a:prstGeom prst="rect">
            <a:avLst/>
          </a:prstGeom>
          <a:noFill/>
          <a:ln/>
        </p:spPr>
        <p:txBody>
          <a:bodyPr wrap="square" rtlCol="0" anchor="ctr"/>
          <a:lstStyle/>
          <a:p>
            <a:pPr marL="0" indent="0" algn="ctr">
              <a:buNone/>
            </a:pPr>
            <a:r>
              <a:rPr lang="en-US" sz="700" b="1" dirty="0">
                <a:solidFill>
                  <a:srgbClr val="94A3B8"/>
                </a:solidFill>
                <a:latin typeface="Segoe UI" pitchFamily="34" charset="0"/>
                <a:ea typeface="Segoe UI" pitchFamily="34" charset="-122"/>
                <a:cs typeface="Segoe UI" pitchFamily="34" charset="-120"/>
              </a:rPr>
              <a:t>60s poll</a:t>
            </a:r>
            <a:endParaRPr lang="en-US" sz="700" dirty="0"/>
          </a:p>
        </p:txBody>
      </p:sp>
      <p:sp>
        <p:nvSpPr>
          <p:cNvPr id="58" name="Text 56"/>
          <p:cNvSpPr/>
          <p:nvPr/>
        </p:nvSpPr>
        <p:spPr>
          <a:xfrm>
            <a:off x="8229600" y="3657600"/>
            <a:ext cx="3291840" cy="1097280"/>
          </a:xfrm>
          <a:prstGeom prst="rect">
            <a:avLst/>
          </a:prstGeom>
          <a:noFill/>
          <a:ln/>
        </p:spPr>
        <p:txBody>
          <a:bodyPr wrap="square" rtlCol="0" anchor="t"/>
          <a:lstStyle/>
          <a:p>
            <a:pPr marL="0" indent="0">
              <a:lnSpc>
                <a:spcPct val="130000"/>
              </a:lnSpc>
              <a:buNone/>
            </a:pPr>
            <a:r>
              <a:rPr lang="en-US" sz="850" dirty="0">
                <a:solidFill>
                  <a:srgbClr val="475569"/>
                </a:solidFill>
                <a:latin typeface="Segoe UI" pitchFamily="34" charset="0"/>
                <a:ea typeface="Segoe UI" pitchFamily="34" charset="-122"/>
                <a:cs typeface="Segoe UI" pitchFamily="34" charset="-120"/>
              </a:rPr>
              <a:t>Scrapes Kaspersky cybermap data feed. Extracts malware detections with country-level coordinates.</a:t>
            </a:r>
            <a:endParaRPr lang="en-US" sz="850" dirty="0"/>
          </a:p>
        </p:txBody>
      </p:sp>
      <p:sp>
        <p:nvSpPr>
          <p:cNvPr id="59" name="Shape 57"/>
          <p:cNvSpPr/>
          <p:nvPr/>
        </p:nvSpPr>
        <p:spPr>
          <a:xfrm>
            <a:off x="594360" y="5029200"/>
            <a:ext cx="3566160" cy="1691640"/>
          </a:xfrm>
          <a:prstGeom prst="roundRect">
            <a:avLst>
              <a:gd name="adj" fmla="val 5405"/>
            </a:avLst>
          </a:prstGeom>
          <a:solidFill>
            <a:srgbClr val="FFFFFF"/>
          </a:solidFill>
          <a:ln w="6350">
            <a:solidFill>
              <a:srgbClr val="E2E8F0"/>
            </a:solidFill>
            <a:prstDash val="solid"/>
          </a:ln>
          <a:effectLst>
            <a:outerShdw blurRad="101600" dist="25400" dir="12000000" algn="bl" rotWithShape="0">
              <a:srgbClr val="94A3B8">
                <a:alpha val="15000"/>
              </a:srgbClr>
            </a:outerShdw>
          </a:effectLst>
        </p:spPr>
        <p:txBody>
          <a:bodyPr/>
          <a:lstStyle/>
          <a:p>
            <a:endParaRPr lang="fr-TN"/>
          </a:p>
        </p:txBody>
      </p:sp>
      <p:sp>
        <p:nvSpPr>
          <p:cNvPr id="60" name="Shape 58"/>
          <p:cNvSpPr/>
          <p:nvPr/>
        </p:nvSpPr>
        <p:spPr>
          <a:xfrm>
            <a:off x="667512" y="5047488"/>
            <a:ext cx="3419856" cy="27432"/>
          </a:xfrm>
          <a:prstGeom prst="rect">
            <a:avLst/>
          </a:prstGeom>
          <a:solidFill>
            <a:srgbClr val="D97706"/>
          </a:solidFill>
          <a:ln/>
        </p:spPr>
        <p:txBody>
          <a:bodyPr/>
          <a:lstStyle/>
          <a:p>
            <a:endParaRPr lang="fr-TN"/>
          </a:p>
        </p:txBody>
      </p:sp>
      <p:sp>
        <p:nvSpPr>
          <p:cNvPr id="61" name="Text 59"/>
          <p:cNvSpPr/>
          <p:nvPr/>
        </p:nvSpPr>
        <p:spPr>
          <a:xfrm>
            <a:off x="731520" y="5138928"/>
            <a:ext cx="1645920" cy="274320"/>
          </a:xfrm>
          <a:prstGeom prst="rect">
            <a:avLst/>
          </a:prstGeom>
          <a:noFill/>
          <a:ln/>
        </p:spPr>
        <p:txBody>
          <a:bodyPr wrap="square" rtlCol="0" anchor="ctr"/>
          <a:lstStyle/>
          <a:p>
            <a:pPr marL="0" indent="0">
              <a:buNone/>
            </a:pPr>
            <a:r>
              <a:rPr lang="en-US" sz="1100" b="1" dirty="0">
                <a:solidFill>
                  <a:srgbClr val="0F172A"/>
                </a:solidFill>
                <a:latin typeface="Segoe UI" pitchFamily="34" charset="0"/>
                <a:ea typeface="Segoe UI" pitchFamily="34" charset="-122"/>
                <a:cs typeface="Segoe UI" pitchFamily="34" charset="-120"/>
              </a:rPr>
              <a:t>RansomWatch</a:t>
            </a:r>
            <a:endParaRPr lang="en-US" sz="1100" dirty="0"/>
          </a:p>
        </p:txBody>
      </p:sp>
      <p:sp>
        <p:nvSpPr>
          <p:cNvPr id="62" name="Shape 60"/>
          <p:cNvSpPr/>
          <p:nvPr/>
        </p:nvSpPr>
        <p:spPr>
          <a:xfrm>
            <a:off x="2423160" y="5166360"/>
            <a:ext cx="512064" cy="256032"/>
          </a:xfrm>
          <a:prstGeom prst="roundRect">
            <a:avLst>
              <a:gd name="adj" fmla="val 17857"/>
            </a:avLst>
          </a:prstGeom>
          <a:solidFill>
            <a:srgbClr val="D97706">
              <a:alpha val="10000"/>
            </a:srgbClr>
          </a:solidFill>
          <a:ln w="6350">
            <a:solidFill>
              <a:srgbClr val="D97706"/>
            </a:solidFill>
            <a:prstDash val="solid"/>
          </a:ln>
        </p:spPr>
        <p:txBody>
          <a:bodyPr/>
          <a:lstStyle/>
          <a:p>
            <a:endParaRPr lang="fr-TN"/>
          </a:p>
        </p:txBody>
      </p:sp>
      <p:sp>
        <p:nvSpPr>
          <p:cNvPr id="63" name="Text 61"/>
          <p:cNvSpPr/>
          <p:nvPr/>
        </p:nvSpPr>
        <p:spPr>
          <a:xfrm>
            <a:off x="2423160" y="5166360"/>
            <a:ext cx="512064" cy="256032"/>
          </a:xfrm>
          <a:prstGeom prst="rect">
            <a:avLst/>
          </a:prstGeom>
          <a:noFill/>
          <a:ln/>
        </p:spPr>
        <p:txBody>
          <a:bodyPr wrap="square" rtlCol="0" anchor="ctr"/>
          <a:lstStyle/>
          <a:p>
            <a:pPr marL="0" indent="0" algn="ctr">
              <a:buNone/>
            </a:pPr>
            <a:r>
              <a:rPr lang="en-US" sz="700" b="1" dirty="0">
                <a:solidFill>
                  <a:srgbClr val="D97706"/>
                </a:solidFill>
                <a:latin typeface="Segoe UI" pitchFamily="34" charset="0"/>
                <a:ea typeface="Segoe UI" pitchFamily="34" charset="-122"/>
                <a:cs typeface="Segoe UI" pitchFamily="34" charset="-120"/>
              </a:rPr>
              <a:t>REST</a:t>
            </a:r>
            <a:endParaRPr lang="en-US" sz="700" dirty="0"/>
          </a:p>
        </p:txBody>
      </p:sp>
      <p:sp>
        <p:nvSpPr>
          <p:cNvPr id="64" name="Shape 62"/>
          <p:cNvSpPr/>
          <p:nvPr/>
        </p:nvSpPr>
        <p:spPr>
          <a:xfrm>
            <a:off x="2980944" y="5166360"/>
            <a:ext cx="809244" cy="256032"/>
          </a:xfrm>
          <a:prstGeom prst="roundRect">
            <a:avLst>
              <a:gd name="adj" fmla="val 17857"/>
            </a:avLst>
          </a:prstGeom>
          <a:solidFill>
            <a:srgbClr val="94A3B8">
              <a:alpha val="10000"/>
            </a:srgbClr>
          </a:solidFill>
          <a:ln w="6350">
            <a:solidFill>
              <a:srgbClr val="94A3B8"/>
            </a:solidFill>
            <a:prstDash val="solid"/>
          </a:ln>
        </p:spPr>
        <p:txBody>
          <a:bodyPr/>
          <a:lstStyle/>
          <a:p>
            <a:endParaRPr lang="fr-TN"/>
          </a:p>
        </p:txBody>
      </p:sp>
      <p:sp>
        <p:nvSpPr>
          <p:cNvPr id="65" name="Text 63"/>
          <p:cNvSpPr/>
          <p:nvPr/>
        </p:nvSpPr>
        <p:spPr>
          <a:xfrm>
            <a:off x="2980944" y="5166360"/>
            <a:ext cx="809244" cy="256032"/>
          </a:xfrm>
          <a:prstGeom prst="rect">
            <a:avLst/>
          </a:prstGeom>
          <a:noFill/>
          <a:ln/>
        </p:spPr>
        <p:txBody>
          <a:bodyPr wrap="square" rtlCol="0" anchor="ctr"/>
          <a:lstStyle/>
          <a:p>
            <a:pPr marL="0" indent="0" algn="ctr">
              <a:buNone/>
            </a:pPr>
            <a:r>
              <a:rPr lang="en-US" sz="700" b="1" dirty="0">
                <a:solidFill>
                  <a:srgbClr val="94A3B8"/>
                </a:solidFill>
                <a:latin typeface="Segoe UI" pitchFamily="34" charset="0"/>
                <a:ea typeface="Segoe UI" pitchFamily="34" charset="-122"/>
                <a:cs typeface="Segoe UI" pitchFamily="34" charset="-120"/>
              </a:rPr>
              <a:t>5min poll</a:t>
            </a:r>
            <a:endParaRPr lang="en-US" sz="700" dirty="0"/>
          </a:p>
        </p:txBody>
      </p:sp>
      <p:sp>
        <p:nvSpPr>
          <p:cNvPr id="66" name="Text 64"/>
          <p:cNvSpPr/>
          <p:nvPr/>
        </p:nvSpPr>
        <p:spPr>
          <a:xfrm>
            <a:off x="731520" y="5486400"/>
            <a:ext cx="3291840" cy="1097280"/>
          </a:xfrm>
          <a:prstGeom prst="rect">
            <a:avLst/>
          </a:prstGeom>
          <a:noFill/>
          <a:ln/>
        </p:spPr>
        <p:txBody>
          <a:bodyPr wrap="square" rtlCol="0" anchor="t"/>
          <a:lstStyle/>
          <a:p>
            <a:pPr marL="0" indent="0">
              <a:lnSpc>
                <a:spcPct val="130000"/>
              </a:lnSpc>
              <a:buNone/>
            </a:pPr>
            <a:r>
              <a:rPr lang="en-US" sz="850" dirty="0">
                <a:solidFill>
                  <a:srgbClr val="475569"/>
                </a:solidFill>
                <a:latin typeface="Segoe UI" pitchFamily="34" charset="0"/>
                <a:ea typeface="Segoe UI" pitchFamily="34" charset="-122"/>
                <a:cs typeface="Segoe UI" pitchFamily="34" charset="-120"/>
              </a:rPr>
              <a:t>Monitors ransomware gang leak sites. Tracks victim organizations and maps to Finance/Business sector.</a:t>
            </a:r>
            <a:endParaRPr lang="en-US" sz="850" dirty="0"/>
          </a:p>
        </p:txBody>
      </p:sp>
      <p:sp>
        <p:nvSpPr>
          <p:cNvPr id="67" name="Shape 65"/>
          <p:cNvSpPr/>
          <p:nvPr/>
        </p:nvSpPr>
        <p:spPr>
          <a:xfrm>
            <a:off x="4343400" y="5029200"/>
            <a:ext cx="3566160" cy="1691640"/>
          </a:xfrm>
          <a:prstGeom prst="roundRect">
            <a:avLst>
              <a:gd name="adj" fmla="val 5405"/>
            </a:avLst>
          </a:prstGeom>
          <a:solidFill>
            <a:srgbClr val="FFFFFF"/>
          </a:solidFill>
          <a:ln w="6350">
            <a:solidFill>
              <a:srgbClr val="E2E8F0"/>
            </a:solidFill>
            <a:prstDash val="solid"/>
          </a:ln>
          <a:effectLst>
            <a:outerShdw blurRad="101600" dist="25400" dir="12000000" algn="bl" rotWithShape="0">
              <a:srgbClr val="94A3B8">
                <a:alpha val="15000"/>
              </a:srgbClr>
            </a:outerShdw>
          </a:effectLst>
        </p:spPr>
        <p:txBody>
          <a:bodyPr/>
          <a:lstStyle/>
          <a:p>
            <a:endParaRPr lang="fr-TN"/>
          </a:p>
        </p:txBody>
      </p:sp>
      <p:sp>
        <p:nvSpPr>
          <p:cNvPr id="68" name="Shape 66"/>
          <p:cNvSpPr/>
          <p:nvPr/>
        </p:nvSpPr>
        <p:spPr>
          <a:xfrm>
            <a:off x="4416552" y="5047488"/>
            <a:ext cx="3419856" cy="27432"/>
          </a:xfrm>
          <a:prstGeom prst="rect">
            <a:avLst/>
          </a:prstGeom>
          <a:solidFill>
            <a:srgbClr val="E11D48"/>
          </a:solidFill>
          <a:ln/>
        </p:spPr>
        <p:txBody>
          <a:bodyPr/>
          <a:lstStyle/>
          <a:p>
            <a:endParaRPr lang="fr-TN"/>
          </a:p>
        </p:txBody>
      </p:sp>
      <p:sp>
        <p:nvSpPr>
          <p:cNvPr id="69" name="Text 67"/>
          <p:cNvSpPr/>
          <p:nvPr/>
        </p:nvSpPr>
        <p:spPr>
          <a:xfrm>
            <a:off x="4480560" y="5138928"/>
            <a:ext cx="1645920" cy="274320"/>
          </a:xfrm>
          <a:prstGeom prst="rect">
            <a:avLst/>
          </a:prstGeom>
          <a:noFill/>
          <a:ln/>
        </p:spPr>
        <p:txBody>
          <a:bodyPr wrap="square" rtlCol="0" anchor="ctr"/>
          <a:lstStyle/>
          <a:p>
            <a:pPr marL="0" indent="0">
              <a:buNone/>
            </a:pPr>
            <a:r>
              <a:rPr lang="en-US" sz="1100" b="1" dirty="0">
                <a:solidFill>
                  <a:srgbClr val="0F172A"/>
                </a:solidFill>
                <a:latin typeface="Segoe UI" pitchFamily="34" charset="0"/>
                <a:ea typeface="Segoe UI" pitchFamily="34" charset="-122"/>
                <a:cs typeface="Segoe UI" pitchFamily="34" charset="-120"/>
              </a:rPr>
              <a:t>C2 Tracker</a:t>
            </a:r>
            <a:endParaRPr lang="en-US" sz="1100" dirty="0"/>
          </a:p>
        </p:txBody>
      </p:sp>
      <p:sp>
        <p:nvSpPr>
          <p:cNvPr id="70" name="Shape 68"/>
          <p:cNvSpPr/>
          <p:nvPr/>
        </p:nvSpPr>
        <p:spPr>
          <a:xfrm>
            <a:off x="6172200" y="5166360"/>
            <a:ext cx="512064" cy="256032"/>
          </a:xfrm>
          <a:prstGeom prst="roundRect">
            <a:avLst>
              <a:gd name="adj" fmla="val 17857"/>
            </a:avLst>
          </a:prstGeom>
          <a:solidFill>
            <a:srgbClr val="E11D48">
              <a:alpha val="10000"/>
            </a:srgbClr>
          </a:solidFill>
          <a:ln w="6350">
            <a:solidFill>
              <a:srgbClr val="E11D48"/>
            </a:solidFill>
            <a:prstDash val="solid"/>
          </a:ln>
        </p:spPr>
        <p:txBody>
          <a:bodyPr/>
          <a:lstStyle/>
          <a:p>
            <a:endParaRPr lang="fr-TN"/>
          </a:p>
        </p:txBody>
      </p:sp>
      <p:sp>
        <p:nvSpPr>
          <p:cNvPr id="71" name="Text 69"/>
          <p:cNvSpPr/>
          <p:nvPr/>
        </p:nvSpPr>
        <p:spPr>
          <a:xfrm>
            <a:off x="6172200" y="5166360"/>
            <a:ext cx="512064" cy="256032"/>
          </a:xfrm>
          <a:prstGeom prst="rect">
            <a:avLst/>
          </a:prstGeom>
          <a:noFill/>
          <a:ln/>
        </p:spPr>
        <p:txBody>
          <a:bodyPr wrap="square" rtlCol="0" anchor="ctr"/>
          <a:lstStyle/>
          <a:p>
            <a:pPr marL="0" indent="0" algn="ctr">
              <a:buNone/>
            </a:pPr>
            <a:r>
              <a:rPr lang="en-US" sz="700" b="1" dirty="0">
                <a:solidFill>
                  <a:srgbClr val="E11D48"/>
                </a:solidFill>
                <a:latin typeface="Segoe UI" pitchFamily="34" charset="0"/>
                <a:ea typeface="Segoe UI" pitchFamily="34" charset="-122"/>
                <a:cs typeface="Segoe UI" pitchFamily="34" charset="-120"/>
              </a:rPr>
              <a:t>REST</a:t>
            </a:r>
            <a:endParaRPr lang="en-US" sz="700" dirty="0"/>
          </a:p>
        </p:txBody>
      </p:sp>
      <p:sp>
        <p:nvSpPr>
          <p:cNvPr id="72" name="Shape 70"/>
          <p:cNvSpPr/>
          <p:nvPr/>
        </p:nvSpPr>
        <p:spPr>
          <a:xfrm>
            <a:off x="6729984" y="5166360"/>
            <a:ext cx="809244" cy="256032"/>
          </a:xfrm>
          <a:prstGeom prst="roundRect">
            <a:avLst>
              <a:gd name="adj" fmla="val 17857"/>
            </a:avLst>
          </a:prstGeom>
          <a:solidFill>
            <a:srgbClr val="94A3B8">
              <a:alpha val="10000"/>
            </a:srgbClr>
          </a:solidFill>
          <a:ln w="6350">
            <a:solidFill>
              <a:srgbClr val="94A3B8"/>
            </a:solidFill>
            <a:prstDash val="solid"/>
          </a:ln>
        </p:spPr>
        <p:txBody>
          <a:bodyPr/>
          <a:lstStyle/>
          <a:p>
            <a:endParaRPr lang="fr-TN"/>
          </a:p>
        </p:txBody>
      </p:sp>
      <p:sp>
        <p:nvSpPr>
          <p:cNvPr id="73" name="Text 71"/>
          <p:cNvSpPr/>
          <p:nvPr/>
        </p:nvSpPr>
        <p:spPr>
          <a:xfrm>
            <a:off x="6729984" y="5166360"/>
            <a:ext cx="809244" cy="256032"/>
          </a:xfrm>
          <a:prstGeom prst="rect">
            <a:avLst/>
          </a:prstGeom>
          <a:noFill/>
          <a:ln/>
        </p:spPr>
        <p:txBody>
          <a:bodyPr wrap="square" rtlCol="0" anchor="ctr"/>
          <a:lstStyle/>
          <a:p>
            <a:pPr marL="0" indent="0" algn="ctr">
              <a:buNone/>
            </a:pPr>
            <a:r>
              <a:rPr lang="en-US" sz="700" b="1" dirty="0">
                <a:solidFill>
                  <a:srgbClr val="94A3B8"/>
                </a:solidFill>
                <a:latin typeface="Segoe UI" pitchFamily="34" charset="0"/>
                <a:ea typeface="Segoe UI" pitchFamily="34" charset="-122"/>
                <a:cs typeface="Segoe UI" pitchFamily="34" charset="-120"/>
              </a:rPr>
              <a:t>5min poll</a:t>
            </a:r>
            <a:endParaRPr lang="en-US" sz="700" dirty="0"/>
          </a:p>
        </p:txBody>
      </p:sp>
      <p:sp>
        <p:nvSpPr>
          <p:cNvPr id="74" name="Text 72"/>
          <p:cNvSpPr/>
          <p:nvPr/>
        </p:nvSpPr>
        <p:spPr>
          <a:xfrm>
            <a:off x="4480560" y="5486400"/>
            <a:ext cx="3291840" cy="1097280"/>
          </a:xfrm>
          <a:prstGeom prst="rect">
            <a:avLst/>
          </a:prstGeom>
          <a:noFill/>
          <a:ln/>
        </p:spPr>
        <p:txBody>
          <a:bodyPr wrap="square" rtlCol="0" anchor="t"/>
          <a:lstStyle/>
          <a:p>
            <a:pPr marL="0" indent="0">
              <a:lnSpc>
                <a:spcPct val="130000"/>
              </a:lnSpc>
              <a:buNone/>
            </a:pPr>
            <a:r>
              <a:rPr lang="en-US" sz="850" dirty="0">
                <a:solidFill>
                  <a:srgbClr val="475569"/>
                </a:solidFill>
                <a:latin typeface="Segoe UI" pitchFamily="34" charset="0"/>
                <a:ea typeface="Segoe UI" pitchFamily="34" charset="-122"/>
                <a:cs typeface="Segoe UI" pitchFamily="34" charset="-120"/>
              </a:rPr>
              <a:t>Tracks active Command &amp; Control server IPs. Geolocates C2 infrastructure for IT sector mapping.</a:t>
            </a:r>
            <a:endParaRPr lang="en-US" sz="850" dirty="0"/>
          </a:p>
        </p:txBody>
      </p:sp>
      <p:sp>
        <p:nvSpPr>
          <p:cNvPr id="75" name="Shape 73"/>
          <p:cNvSpPr/>
          <p:nvPr/>
        </p:nvSpPr>
        <p:spPr>
          <a:xfrm>
            <a:off x="8092440" y="5029200"/>
            <a:ext cx="3566160" cy="1691640"/>
          </a:xfrm>
          <a:prstGeom prst="roundRect">
            <a:avLst>
              <a:gd name="adj" fmla="val 5405"/>
            </a:avLst>
          </a:prstGeom>
          <a:solidFill>
            <a:srgbClr val="FFFFFF"/>
          </a:solidFill>
          <a:ln w="6350">
            <a:solidFill>
              <a:srgbClr val="E2E8F0"/>
            </a:solidFill>
            <a:prstDash val="solid"/>
          </a:ln>
          <a:effectLst>
            <a:outerShdw blurRad="101600" dist="25400" dir="12000000" algn="bl" rotWithShape="0">
              <a:srgbClr val="94A3B8">
                <a:alpha val="15000"/>
              </a:srgbClr>
            </a:outerShdw>
          </a:effectLst>
        </p:spPr>
        <p:txBody>
          <a:bodyPr/>
          <a:lstStyle/>
          <a:p>
            <a:endParaRPr lang="fr-TN"/>
          </a:p>
        </p:txBody>
      </p:sp>
      <p:sp>
        <p:nvSpPr>
          <p:cNvPr id="76" name="Shape 74"/>
          <p:cNvSpPr/>
          <p:nvPr/>
        </p:nvSpPr>
        <p:spPr>
          <a:xfrm>
            <a:off x="8165592" y="5047488"/>
            <a:ext cx="3419856" cy="27432"/>
          </a:xfrm>
          <a:prstGeom prst="rect">
            <a:avLst/>
          </a:prstGeom>
          <a:solidFill>
            <a:srgbClr val="2563EB"/>
          </a:solidFill>
          <a:ln/>
        </p:spPr>
        <p:txBody>
          <a:bodyPr/>
          <a:lstStyle/>
          <a:p>
            <a:endParaRPr lang="fr-TN"/>
          </a:p>
        </p:txBody>
      </p:sp>
      <p:sp>
        <p:nvSpPr>
          <p:cNvPr id="77" name="Text 75"/>
          <p:cNvSpPr/>
          <p:nvPr/>
        </p:nvSpPr>
        <p:spPr>
          <a:xfrm>
            <a:off x="8229600" y="5138928"/>
            <a:ext cx="1645920" cy="274320"/>
          </a:xfrm>
          <a:prstGeom prst="rect">
            <a:avLst/>
          </a:prstGeom>
          <a:noFill/>
          <a:ln/>
        </p:spPr>
        <p:txBody>
          <a:bodyPr wrap="square" rtlCol="0" anchor="ctr"/>
          <a:lstStyle/>
          <a:p>
            <a:pPr marL="0" indent="0">
              <a:buNone/>
            </a:pPr>
            <a:r>
              <a:rPr lang="en-US" sz="1100" b="1" dirty="0">
                <a:solidFill>
                  <a:srgbClr val="0F172A"/>
                </a:solidFill>
                <a:latin typeface="Segoe UI" pitchFamily="34" charset="0"/>
                <a:ea typeface="Segoe UI" pitchFamily="34" charset="-122"/>
                <a:cs typeface="Segoe UI" pitchFamily="34" charset="-120"/>
              </a:rPr>
              <a:t>MISP Galaxy</a:t>
            </a:r>
            <a:endParaRPr lang="en-US" sz="1100" dirty="0"/>
          </a:p>
        </p:txBody>
      </p:sp>
      <p:sp>
        <p:nvSpPr>
          <p:cNvPr id="78" name="Shape 76"/>
          <p:cNvSpPr/>
          <p:nvPr/>
        </p:nvSpPr>
        <p:spPr>
          <a:xfrm>
            <a:off x="9921240" y="5166360"/>
            <a:ext cx="512064" cy="256032"/>
          </a:xfrm>
          <a:prstGeom prst="roundRect">
            <a:avLst>
              <a:gd name="adj" fmla="val 17857"/>
            </a:avLst>
          </a:prstGeom>
          <a:solidFill>
            <a:srgbClr val="2563EB">
              <a:alpha val="10000"/>
            </a:srgbClr>
          </a:solidFill>
          <a:ln w="6350">
            <a:solidFill>
              <a:srgbClr val="2563EB"/>
            </a:solidFill>
            <a:prstDash val="solid"/>
          </a:ln>
        </p:spPr>
        <p:txBody>
          <a:bodyPr/>
          <a:lstStyle/>
          <a:p>
            <a:endParaRPr lang="fr-TN"/>
          </a:p>
        </p:txBody>
      </p:sp>
      <p:sp>
        <p:nvSpPr>
          <p:cNvPr id="79" name="Text 77"/>
          <p:cNvSpPr/>
          <p:nvPr/>
        </p:nvSpPr>
        <p:spPr>
          <a:xfrm>
            <a:off x="9921240" y="5166360"/>
            <a:ext cx="512064" cy="256032"/>
          </a:xfrm>
          <a:prstGeom prst="rect">
            <a:avLst/>
          </a:prstGeom>
          <a:noFill/>
          <a:ln/>
        </p:spPr>
        <p:txBody>
          <a:bodyPr wrap="square" rtlCol="0" anchor="ctr"/>
          <a:lstStyle/>
          <a:p>
            <a:pPr marL="0" indent="0" algn="ctr">
              <a:buNone/>
            </a:pPr>
            <a:r>
              <a:rPr lang="en-US" sz="700" b="1" dirty="0">
                <a:solidFill>
                  <a:srgbClr val="2563EB"/>
                </a:solidFill>
                <a:latin typeface="Segoe UI" pitchFamily="34" charset="0"/>
                <a:ea typeface="Segoe UI" pitchFamily="34" charset="-122"/>
                <a:cs typeface="Segoe UI" pitchFamily="34" charset="-120"/>
              </a:rPr>
              <a:t>REST</a:t>
            </a:r>
            <a:endParaRPr lang="en-US" sz="700" dirty="0"/>
          </a:p>
        </p:txBody>
      </p:sp>
      <p:sp>
        <p:nvSpPr>
          <p:cNvPr id="80" name="Shape 78"/>
          <p:cNvSpPr/>
          <p:nvPr/>
        </p:nvSpPr>
        <p:spPr>
          <a:xfrm>
            <a:off x="10479024" y="5166360"/>
            <a:ext cx="809244" cy="256032"/>
          </a:xfrm>
          <a:prstGeom prst="roundRect">
            <a:avLst>
              <a:gd name="adj" fmla="val 17857"/>
            </a:avLst>
          </a:prstGeom>
          <a:solidFill>
            <a:srgbClr val="94A3B8">
              <a:alpha val="10000"/>
            </a:srgbClr>
          </a:solidFill>
          <a:ln w="6350">
            <a:solidFill>
              <a:srgbClr val="94A3B8"/>
            </a:solidFill>
            <a:prstDash val="solid"/>
          </a:ln>
        </p:spPr>
        <p:txBody>
          <a:bodyPr/>
          <a:lstStyle/>
          <a:p>
            <a:endParaRPr lang="fr-TN"/>
          </a:p>
        </p:txBody>
      </p:sp>
      <p:sp>
        <p:nvSpPr>
          <p:cNvPr id="81" name="Text 79"/>
          <p:cNvSpPr/>
          <p:nvPr/>
        </p:nvSpPr>
        <p:spPr>
          <a:xfrm>
            <a:off x="10479024" y="5166360"/>
            <a:ext cx="809244" cy="256032"/>
          </a:xfrm>
          <a:prstGeom prst="rect">
            <a:avLst/>
          </a:prstGeom>
          <a:noFill/>
          <a:ln/>
        </p:spPr>
        <p:txBody>
          <a:bodyPr wrap="square" rtlCol="0" anchor="ctr"/>
          <a:lstStyle/>
          <a:p>
            <a:pPr marL="0" indent="0" algn="ctr">
              <a:buNone/>
            </a:pPr>
            <a:r>
              <a:rPr lang="en-US" sz="700" b="1" dirty="0">
                <a:solidFill>
                  <a:srgbClr val="94A3B8"/>
                </a:solidFill>
                <a:latin typeface="Segoe UI" pitchFamily="34" charset="0"/>
                <a:ea typeface="Segoe UI" pitchFamily="34" charset="-122"/>
                <a:cs typeface="Segoe UI" pitchFamily="34" charset="-120"/>
              </a:rPr>
              <a:t>Boot + 6h</a:t>
            </a:r>
            <a:endParaRPr lang="en-US" sz="700" dirty="0"/>
          </a:p>
        </p:txBody>
      </p:sp>
      <p:sp>
        <p:nvSpPr>
          <p:cNvPr id="82" name="Text 80"/>
          <p:cNvSpPr/>
          <p:nvPr/>
        </p:nvSpPr>
        <p:spPr>
          <a:xfrm>
            <a:off x="8229600" y="5486400"/>
            <a:ext cx="3291840" cy="1097280"/>
          </a:xfrm>
          <a:prstGeom prst="rect">
            <a:avLst/>
          </a:prstGeom>
          <a:noFill/>
          <a:ln/>
        </p:spPr>
        <p:txBody>
          <a:bodyPr wrap="square" rtlCol="0" anchor="t"/>
          <a:lstStyle/>
          <a:p>
            <a:pPr marL="0" indent="0">
              <a:lnSpc>
                <a:spcPct val="130000"/>
              </a:lnSpc>
              <a:buNone/>
            </a:pPr>
            <a:r>
              <a:rPr lang="en-US" sz="850" dirty="0">
                <a:solidFill>
                  <a:srgbClr val="475569"/>
                </a:solidFill>
                <a:latin typeface="Segoe UI" pitchFamily="34" charset="0"/>
                <a:ea typeface="Segoe UI" pitchFamily="34" charset="-122"/>
                <a:cs typeface="Segoe UI" pitchFamily="34" charset="-120"/>
              </a:rPr>
              <a:t>Loads APT actor profiles with target sectors, motivation, and attributed TTPs from MISP Galaxy clusters.</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88952" cy="45720"/>
          </a:xfrm>
          <a:prstGeom prst="rect">
            <a:avLst/>
          </a:prstGeom>
          <a:solidFill>
            <a:srgbClr val="2563EB"/>
          </a:solidFill>
          <a:ln/>
        </p:spPr>
        <p:txBody>
          <a:bodyPr/>
          <a:lstStyle/>
          <a:p>
            <a:endParaRPr lang="fr-TN"/>
          </a:p>
        </p:txBody>
      </p:sp>
      <p:sp>
        <p:nvSpPr>
          <p:cNvPr id="3" name="Shape 1"/>
          <p:cNvSpPr/>
          <p:nvPr/>
        </p:nvSpPr>
        <p:spPr>
          <a:xfrm>
            <a:off x="10972800" y="274320"/>
            <a:ext cx="914400" cy="1829"/>
          </a:xfrm>
          <a:prstGeom prst="rect">
            <a:avLst/>
          </a:prstGeom>
          <a:solidFill>
            <a:srgbClr val="E2E8F0"/>
          </a:solidFill>
          <a:ln/>
        </p:spPr>
        <p:txBody>
          <a:bodyPr/>
          <a:lstStyle/>
          <a:p>
            <a:endParaRPr lang="fr-TN"/>
          </a:p>
        </p:txBody>
      </p:sp>
      <p:sp>
        <p:nvSpPr>
          <p:cNvPr id="4" name="Shape 2"/>
          <p:cNvSpPr/>
          <p:nvPr/>
        </p:nvSpPr>
        <p:spPr>
          <a:xfrm>
            <a:off x="11868912" y="274320"/>
            <a:ext cx="1829" cy="640080"/>
          </a:xfrm>
          <a:prstGeom prst="rect">
            <a:avLst/>
          </a:prstGeom>
          <a:solidFill>
            <a:srgbClr val="E2E8F0"/>
          </a:solidFill>
          <a:ln/>
        </p:spPr>
        <p:txBody>
          <a:bodyPr/>
          <a:lstStyle/>
          <a:p>
            <a:endParaRPr lang="fr-TN"/>
          </a:p>
        </p:txBody>
      </p:sp>
      <p:sp>
        <p:nvSpPr>
          <p:cNvPr id="5" name="Shape 3"/>
          <p:cNvSpPr/>
          <p:nvPr/>
        </p:nvSpPr>
        <p:spPr>
          <a:xfrm>
            <a:off x="320040" y="6537960"/>
            <a:ext cx="1829" cy="274320"/>
          </a:xfrm>
          <a:prstGeom prst="rect">
            <a:avLst/>
          </a:prstGeom>
          <a:solidFill>
            <a:srgbClr val="E2E8F0"/>
          </a:solidFill>
          <a:ln/>
        </p:spPr>
        <p:txBody>
          <a:bodyPr/>
          <a:lstStyle/>
          <a:p>
            <a:endParaRPr lang="fr-TN"/>
          </a:p>
        </p:txBody>
      </p:sp>
      <p:sp>
        <p:nvSpPr>
          <p:cNvPr id="6" name="Shape 4"/>
          <p:cNvSpPr/>
          <p:nvPr/>
        </p:nvSpPr>
        <p:spPr>
          <a:xfrm>
            <a:off x="320040" y="6537960"/>
            <a:ext cx="640080" cy="1829"/>
          </a:xfrm>
          <a:prstGeom prst="rect">
            <a:avLst/>
          </a:prstGeom>
          <a:solidFill>
            <a:srgbClr val="E2E8F0"/>
          </a:solidFill>
          <a:ln/>
        </p:spPr>
        <p:txBody>
          <a:bodyPr/>
          <a:lstStyle/>
          <a:p>
            <a:endParaRPr lang="fr-TN"/>
          </a:p>
        </p:txBody>
      </p:sp>
      <p:sp>
        <p:nvSpPr>
          <p:cNvPr id="7" name="Text 5"/>
          <p:cNvSpPr/>
          <p:nvPr/>
        </p:nvSpPr>
        <p:spPr>
          <a:xfrm>
            <a:off x="731520" y="274320"/>
            <a:ext cx="10515600" cy="256032"/>
          </a:xfrm>
          <a:prstGeom prst="rect">
            <a:avLst/>
          </a:prstGeom>
          <a:noFill/>
          <a:ln/>
        </p:spPr>
        <p:txBody>
          <a:bodyPr wrap="square" rtlCol="0" anchor="ctr"/>
          <a:lstStyle/>
          <a:p>
            <a:pPr marL="0" indent="0">
              <a:buNone/>
            </a:pPr>
            <a:r>
              <a:rPr lang="en-US" sz="900" b="1" dirty="0">
                <a:solidFill>
                  <a:srgbClr val="2563EB"/>
                </a:solidFill>
                <a:latin typeface="Segoe UI" pitchFamily="34" charset="0"/>
                <a:ea typeface="Segoe UI" pitchFamily="34" charset="-122"/>
                <a:cs typeface="Segoe UI" pitchFamily="34" charset="-120"/>
              </a:rPr>
              <a:t>CHAPTER 3 — SPRINT 1</a:t>
            </a:r>
            <a:endParaRPr lang="en-US" sz="900" dirty="0"/>
          </a:p>
        </p:txBody>
      </p:sp>
      <p:sp>
        <p:nvSpPr>
          <p:cNvPr id="8" name="Text 6"/>
          <p:cNvSpPr/>
          <p:nvPr/>
        </p:nvSpPr>
        <p:spPr>
          <a:xfrm>
            <a:off x="731520" y="548640"/>
            <a:ext cx="10515600" cy="502920"/>
          </a:xfrm>
          <a:prstGeom prst="rect">
            <a:avLst/>
          </a:prstGeom>
          <a:noFill/>
          <a:ln/>
        </p:spPr>
        <p:txBody>
          <a:bodyPr wrap="square" rtlCol="0" anchor="ctr"/>
          <a:lstStyle/>
          <a:p>
            <a:pPr marL="0" indent="0">
              <a:buNone/>
            </a:pPr>
            <a:r>
              <a:rPr lang="en-US" sz="3000" b="1" dirty="0">
                <a:solidFill>
                  <a:srgbClr val="0F172A"/>
                </a:solidFill>
                <a:latin typeface="Segoe UI" pitchFamily="34" charset="0"/>
                <a:ea typeface="Segoe UI" pitchFamily="34" charset="-122"/>
                <a:cs typeface="Segoe UI" pitchFamily="34" charset="-120"/>
              </a:rPr>
              <a:t>5-Layer Sector Enrichment Engine</a:t>
            </a:r>
            <a:endParaRPr lang="en-US" sz="3000" dirty="0"/>
          </a:p>
        </p:txBody>
      </p:sp>
      <p:sp>
        <p:nvSpPr>
          <p:cNvPr id="9" name="Shape 7"/>
          <p:cNvSpPr/>
          <p:nvPr/>
        </p:nvSpPr>
        <p:spPr>
          <a:xfrm>
            <a:off x="731520" y="1115568"/>
            <a:ext cx="1828800" cy="32004"/>
          </a:xfrm>
          <a:prstGeom prst="rect">
            <a:avLst/>
          </a:prstGeom>
          <a:solidFill>
            <a:srgbClr val="2563EB"/>
          </a:solidFill>
          <a:ln/>
        </p:spPr>
        <p:txBody>
          <a:bodyPr/>
          <a:lstStyle/>
          <a:p>
            <a:endParaRPr lang="fr-TN"/>
          </a:p>
        </p:txBody>
      </p:sp>
      <p:sp>
        <p:nvSpPr>
          <p:cNvPr id="10" name="Shape 8"/>
          <p:cNvSpPr/>
          <p:nvPr/>
        </p:nvSpPr>
        <p:spPr>
          <a:xfrm>
            <a:off x="2651760" y="1124712"/>
            <a:ext cx="8778240" cy="10973"/>
          </a:xfrm>
          <a:prstGeom prst="rect">
            <a:avLst/>
          </a:prstGeom>
          <a:solidFill>
            <a:srgbClr val="E2E8F0"/>
          </a:solidFill>
          <a:ln/>
        </p:spPr>
        <p:txBody>
          <a:bodyPr/>
          <a:lstStyle/>
          <a:p>
            <a:endParaRPr lang="fr-TN"/>
          </a:p>
        </p:txBody>
      </p:sp>
      <p:sp>
        <p:nvSpPr>
          <p:cNvPr id="11" name="Shape 9"/>
          <p:cNvSpPr/>
          <p:nvPr/>
        </p:nvSpPr>
        <p:spPr>
          <a:xfrm>
            <a:off x="685800" y="1371600"/>
            <a:ext cx="10817352" cy="914400"/>
          </a:xfrm>
          <a:prstGeom prst="roundRect">
            <a:avLst>
              <a:gd name="adj" fmla="val 8000"/>
            </a:avLst>
          </a:prstGeom>
          <a:solidFill>
            <a:srgbClr val="FFFFFF"/>
          </a:solidFill>
          <a:ln w="6350">
            <a:solidFill>
              <a:srgbClr val="E2E8F0"/>
            </a:solidFill>
            <a:prstDash val="solid"/>
          </a:ln>
          <a:effectLst>
            <a:outerShdw blurRad="101600" dist="25400" dir="12000000" algn="bl" rotWithShape="0">
              <a:srgbClr val="94A3B8">
                <a:alpha val="15000"/>
              </a:srgbClr>
            </a:outerShdw>
          </a:effectLst>
        </p:spPr>
        <p:txBody>
          <a:bodyPr/>
          <a:lstStyle/>
          <a:p>
            <a:endParaRPr lang="fr-TN"/>
          </a:p>
        </p:txBody>
      </p:sp>
      <p:sp>
        <p:nvSpPr>
          <p:cNvPr id="12" name="Shape 10"/>
          <p:cNvSpPr/>
          <p:nvPr/>
        </p:nvSpPr>
        <p:spPr>
          <a:xfrm>
            <a:off x="704088" y="1481328"/>
            <a:ext cx="45720" cy="694944"/>
          </a:xfrm>
          <a:prstGeom prst="rect">
            <a:avLst/>
          </a:prstGeom>
          <a:solidFill>
            <a:srgbClr val="2563EB"/>
          </a:solidFill>
          <a:ln/>
        </p:spPr>
        <p:txBody>
          <a:bodyPr/>
          <a:lstStyle/>
          <a:p>
            <a:endParaRPr lang="fr-TN"/>
          </a:p>
        </p:txBody>
      </p:sp>
      <p:sp>
        <p:nvSpPr>
          <p:cNvPr id="13" name="Shape 11"/>
          <p:cNvSpPr/>
          <p:nvPr/>
        </p:nvSpPr>
        <p:spPr>
          <a:xfrm>
            <a:off x="914400" y="1627632"/>
            <a:ext cx="384048" cy="384048"/>
          </a:xfrm>
          <a:prstGeom prst="ellipse">
            <a:avLst/>
          </a:prstGeom>
          <a:solidFill>
            <a:srgbClr val="2563EB">
              <a:alpha val="10000"/>
            </a:srgbClr>
          </a:solidFill>
          <a:ln w="19050">
            <a:solidFill>
              <a:srgbClr val="2563EB"/>
            </a:solidFill>
            <a:prstDash val="solid"/>
          </a:ln>
        </p:spPr>
        <p:txBody>
          <a:bodyPr/>
          <a:lstStyle/>
          <a:p>
            <a:endParaRPr lang="fr-TN"/>
          </a:p>
        </p:txBody>
      </p:sp>
      <p:sp>
        <p:nvSpPr>
          <p:cNvPr id="14" name="Text 12"/>
          <p:cNvSpPr/>
          <p:nvPr/>
        </p:nvSpPr>
        <p:spPr>
          <a:xfrm>
            <a:off x="914400" y="1627632"/>
            <a:ext cx="384048" cy="384048"/>
          </a:xfrm>
          <a:prstGeom prst="rect">
            <a:avLst/>
          </a:prstGeom>
          <a:noFill/>
          <a:ln/>
        </p:spPr>
        <p:txBody>
          <a:bodyPr wrap="square" rtlCol="0" anchor="ctr"/>
          <a:lstStyle/>
          <a:p>
            <a:pPr marL="0" indent="0" algn="ctr">
              <a:buNone/>
            </a:pPr>
            <a:r>
              <a:rPr lang="en-US" sz="1500" b="1" dirty="0">
                <a:solidFill>
                  <a:srgbClr val="2563EB"/>
                </a:solidFill>
                <a:latin typeface="Segoe UI" pitchFamily="34" charset="0"/>
                <a:ea typeface="Segoe UI" pitchFamily="34" charset="-122"/>
                <a:cs typeface="Segoe UI" pitchFamily="34" charset="-120"/>
              </a:rPr>
              <a:t>1</a:t>
            </a:r>
            <a:endParaRPr lang="en-US" sz="1500" dirty="0"/>
          </a:p>
        </p:txBody>
      </p:sp>
      <p:sp>
        <p:nvSpPr>
          <p:cNvPr id="15" name="Text 13"/>
          <p:cNvSpPr/>
          <p:nvPr/>
        </p:nvSpPr>
        <p:spPr>
          <a:xfrm>
            <a:off x="1463040" y="1444752"/>
            <a:ext cx="3200400" cy="365760"/>
          </a:xfrm>
          <a:prstGeom prst="rect">
            <a:avLst/>
          </a:prstGeom>
          <a:noFill/>
          <a:ln/>
        </p:spPr>
        <p:txBody>
          <a:bodyPr wrap="square" rtlCol="0" anchor="ctr"/>
          <a:lstStyle/>
          <a:p>
            <a:pPr marL="0" indent="0">
              <a:buNone/>
            </a:pPr>
            <a:r>
              <a:rPr lang="en-US" sz="1200" b="1" dirty="0">
                <a:solidFill>
                  <a:srgbClr val="0F172A"/>
                </a:solidFill>
                <a:latin typeface="Segoe UI" pitchFamily="34" charset="0"/>
                <a:ea typeface="Segoe UI" pitchFamily="34" charset="-122"/>
                <a:cs typeface="Segoe UI" pitchFamily="34" charset="-120"/>
              </a:rPr>
              <a:t>Keyword Matching (Victim Name)</a:t>
            </a:r>
            <a:endParaRPr lang="en-US" sz="1200" dirty="0"/>
          </a:p>
        </p:txBody>
      </p:sp>
      <p:sp>
        <p:nvSpPr>
          <p:cNvPr id="16" name="Shape 14"/>
          <p:cNvSpPr/>
          <p:nvPr/>
        </p:nvSpPr>
        <p:spPr>
          <a:xfrm>
            <a:off x="1463040" y="1874520"/>
            <a:ext cx="690372" cy="256032"/>
          </a:xfrm>
          <a:prstGeom prst="roundRect">
            <a:avLst>
              <a:gd name="adj" fmla="val 17857"/>
            </a:avLst>
          </a:prstGeom>
          <a:solidFill>
            <a:srgbClr val="2563EB">
              <a:alpha val="10000"/>
            </a:srgbClr>
          </a:solidFill>
          <a:ln w="6350">
            <a:solidFill>
              <a:srgbClr val="2563EB"/>
            </a:solidFill>
            <a:prstDash val="solid"/>
          </a:ln>
        </p:spPr>
        <p:txBody>
          <a:bodyPr/>
          <a:lstStyle/>
          <a:p>
            <a:endParaRPr lang="fr-TN"/>
          </a:p>
        </p:txBody>
      </p:sp>
      <p:sp>
        <p:nvSpPr>
          <p:cNvPr id="17" name="Text 15"/>
          <p:cNvSpPr/>
          <p:nvPr/>
        </p:nvSpPr>
        <p:spPr>
          <a:xfrm>
            <a:off x="1463040" y="1874520"/>
            <a:ext cx="690372" cy="256032"/>
          </a:xfrm>
          <a:prstGeom prst="rect">
            <a:avLst/>
          </a:prstGeom>
          <a:noFill/>
          <a:ln/>
        </p:spPr>
        <p:txBody>
          <a:bodyPr wrap="square" rtlCol="0" anchor="ctr"/>
          <a:lstStyle/>
          <a:p>
            <a:pPr marL="0" indent="0" algn="ctr">
              <a:buNone/>
            </a:pPr>
            <a:r>
              <a:rPr lang="en-US" sz="700" b="1" dirty="0">
                <a:solidFill>
                  <a:srgbClr val="2563EB"/>
                </a:solidFill>
                <a:latin typeface="Segoe UI" pitchFamily="34" charset="0"/>
                <a:ea typeface="Segoe UI" pitchFamily="34" charset="-122"/>
                <a:cs typeface="Segoe UI" pitchFamily="34" charset="-120"/>
              </a:rPr>
              <a:t>HIGHEST</a:t>
            </a:r>
            <a:endParaRPr lang="en-US" sz="700" dirty="0"/>
          </a:p>
        </p:txBody>
      </p:sp>
      <p:sp>
        <p:nvSpPr>
          <p:cNvPr id="18" name="Text 16"/>
          <p:cNvSpPr/>
          <p:nvPr/>
        </p:nvSpPr>
        <p:spPr>
          <a:xfrm>
            <a:off x="4754880" y="1444752"/>
            <a:ext cx="6492240" cy="777240"/>
          </a:xfrm>
          <a:prstGeom prst="rect">
            <a:avLst/>
          </a:prstGeom>
          <a:noFill/>
          <a:ln/>
        </p:spPr>
        <p:txBody>
          <a:bodyPr wrap="square" rtlCol="0" anchor="ctr"/>
          <a:lstStyle/>
          <a:p>
            <a:pPr marL="0" indent="0">
              <a:lnSpc>
                <a:spcPct val="130000"/>
              </a:lnSpc>
              <a:buNone/>
            </a:pPr>
            <a:r>
              <a:rPr lang="en-US" sz="950" dirty="0">
                <a:solidFill>
                  <a:srgbClr val="475569"/>
                </a:solidFill>
                <a:latin typeface="Segoe UI" pitchFamily="34" charset="0"/>
                <a:ea typeface="Segoe UI" pitchFamily="34" charset="-122"/>
                <a:cs typeface="Segoe UI" pitchFamily="34" charset="-120"/>
              </a:rPr>
              <a:t>Regex word-boundary search on victim hostname against 9 sector keyword dictionaries (healthcare, finance, government, education, energy, technology, manufacturing, retail, telecom).</a:t>
            </a:r>
            <a:endParaRPr lang="en-US" sz="950" dirty="0"/>
          </a:p>
        </p:txBody>
      </p:sp>
      <p:sp>
        <p:nvSpPr>
          <p:cNvPr id="19" name="Shape 17"/>
          <p:cNvSpPr/>
          <p:nvPr/>
        </p:nvSpPr>
        <p:spPr>
          <a:xfrm>
            <a:off x="685800" y="2423160"/>
            <a:ext cx="10817352" cy="914400"/>
          </a:xfrm>
          <a:prstGeom prst="roundRect">
            <a:avLst>
              <a:gd name="adj" fmla="val 8000"/>
            </a:avLst>
          </a:prstGeom>
          <a:solidFill>
            <a:srgbClr val="F1F5F9"/>
          </a:solidFill>
          <a:ln w="6350">
            <a:solidFill>
              <a:srgbClr val="E2E8F0"/>
            </a:solidFill>
            <a:prstDash val="solid"/>
          </a:ln>
          <a:effectLst>
            <a:outerShdw blurRad="101600" dist="25400" dir="12000000" algn="bl" rotWithShape="0">
              <a:srgbClr val="94A3B8">
                <a:alpha val="15000"/>
              </a:srgbClr>
            </a:outerShdw>
          </a:effectLst>
        </p:spPr>
        <p:txBody>
          <a:bodyPr/>
          <a:lstStyle/>
          <a:p>
            <a:endParaRPr lang="fr-TN"/>
          </a:p>
        </p:txBody>
      </p:sp>
      <p:sp>
        <p:nvSpPr>
          <p:cNvPr id="20" name="Shape 18"/>
          <p:cNvSpPr/>
          <p:nvPr/>
        </p:nvSpPr>
        <p:spPr>
          <a:xfrm>
            <a:off x="704088" y="2532888"/>
            <a:ext cx="45720" cy="694944"/>
          </a:xfrm>
          <a:prstGeom prst="rect">
            <a:avLst/>
          </a:prstGeom>
          <a:solidFill>
            <a:srgbClr val="4F46E5"/>
          </a:solidFill>
          <a:ln/>
        </p:spPr>
        <p:txBody>
          <a:bodyPr/>
          <a:lstStyle/>
          <a:p>
            <a:endParaRPr lang="fr-TN"/>
          </a:p>
        </p:txBody>
      </p:sp>
      <p:sp>
        <p:nvSpPr>
          <p:cNvPr id="21" name="Shape 19"/>
          <p:cNvSpPr/>
          <p:nvPr/>
        </p:nvSpPr>
        <p:spPr>
          <a:xfrm>
            <a:off x="914400" y="2679192"/>
            <a:ext cx="384048" cy="384048"/>
          </a:xfrm>
          <a:prstGeom prst="ellipse">
            <a:avLst/>
          </a:prstGeom>
          <a:solidFill>
            <a:srgbClr val="4F46E5">
              <a:alpha val="10000"/>
            </a:srgbClr>
          </a:solidFill>
          <a:ln w="19050">
            <a:solidFill>
              <a:srgbClr val="4F46E5"/>
            </a:solidFill>
            <a:prstDash val="solid"/>
          </a:ln>
        </p:spPr>
        <p:txBody>
          <a:bodyPr/>
          <a:lstStyle/>
          <a:p>
            <a:endParaRPr lang="fr-TN"/>
          </a:p>
        </p:txBody>
      </p:sp>
      <p:sp>
        <p:nvSpPr>
          <p:cNvPr id="22" name="Text 20"/>
          <p:cNvSpPr/>
          <p:nvPr/>
        </p:nvSpPr>
        <p:spPr>
          <a:xfrm>
            <a:off x="914400" y="2679192"/>
            <a:ext cx="384048" cy="384048"/>
          </a:xfrm>
          <a:prstGeom prst="rect">
            <a:avLst/>
          </a:prstGeom>
          <a:noFill/>
          <a:ln/>
        </p:spPr>
        <p:txBody>
          <a:bodyPr wrap="square" rtlCol="0" anchor="ctr"/>
          <a:lstStyle/>
          <a:p>
            <a:pPr marL="0" indent="0" algn="ctr">
              <a:buNone/>
            </a:pPr>
            <a:r>
              <a:rPr lang="en-US" sz="1500" b="1" dirty="0">
                <a:solidFill>
                  <a:srgbClr val="4F46E5"/>
                </a:solidFill>
                <a:latin typeface="Segoe UI" pitchFamily="34" charset="0"/>
                <a:ea typeface="Segoe UI" pitchFamily="34" charset="-122"/>
                <a:cs typeface="Segoe UI" pitchFamily="34" charset="-120"/>
              </a:rPr>
              <a:t>2</a:t>
            </a:r>
            <a:endParaRPr lang="en-US" sz="1500" dirty="0"/>
          </a:p>
        </p:txBody>
      </p:sp>
      <p:sp>
        <p:nvSpPr>
          <p:cNvPr id="23" name="Text 21"/>
          <p:cNvSpPr/>
          <p:nvPr/>
        </p:nvSpPr>
        <p:spPr>
          <a:xfrm>
            <a:off x="1463040" y="2496312"/>
            <a:ext cx="3200400" cy="365760"/>
          </a:xfrm>
          <a:prstGeom prst="rect">
            <a:avLst/>
          </a:prstGeom>
          <a:noFill/>
          <a:ln/>
        </p:spPr>
        <p:txBody>
          <a:bodyPr wrap="square" rtlCol="0" anchor="ctr"/>
          <a:lstStyle/>
          <a:p>
            <a:pPr marL="0" indent="0">
              <a:buNone/>
            </a:pPr>
            <a:r>
              <a:rPr lang="en-US" sz="1200" b="1" dirty="0">
                <a:solidFill>
                  <a:srgbClr val="0F172A"/>
                </a:solidFill>
                <a:latin typeface="Segoe UI" pitchFamily="34" charset="0"/>
                <a:ea typeface="Segoe UI" pitchFamily="34" charset="-122"/>
                <a:cs typeface="Segoe UI" pitchFamily="34" charset="-120"/>
              </a:rPr>
              <a:t>Keyword Matching (Combined Text)</a:t>
            </a:r>
            <a:endParaRPr lang="en-US" sz="1200" dirty="0"/>
          </a:p>
        </p:txBody>
      </p:sp>
      <p:sp>
        <p:nvSpPr>
          <p:cNvPr id="24" name="Shape 22"/>
          <p:cNvSpPr/>
          <p:nvPr/>
        </p:nvSpPr>
        <p:spPr>
          <a:xfrm>
            <a:off x="1463040" y="2926080"/>
            <a:ext cx="690372" cy="256032"/>
          </a:xfrm>
          <a:prstGeom prst="roundRect">
            <a:avLst>
              <a:gd name="adj" fmla="val 17857"/>
            </a:avLst>
          </a:prstGeom>
          <a:solidFill>
            <a:srgbClr val="4F46E5">
              <a:alpha val="10000"/>
            </a:srgbClr>
          </a:solidFill>
          <a:ln w="6350">
            <a:solidFill>
              <a:srgbClr val="4F46E5"/>
            </a:solidFill>
            <a:prstDash val="solid"/>
          </a:ln>
        </p:spPr>
        <p:txBody>
          <a:bodyPr/>
          <a:lstStyle/>
          <a:p>
            <a:endParaRPr lang="fr-TN"/>
          </a:p>
        </p:txBody>
      </p:sp>
      <p:sp>
        <p:nvSpPr>
          <p:cNvPr id="25" name="Text 23"/>
          <p:cNvSpPr/>
          <p:nvPr/>
        </p:nvSpPr>
        <p:spPr>
          <a:xfrm>
            <a:off x="1463040" y="2926080"/>
            <a:ext cx="690372" cy="256032"/>
          </a:xfrm>
          <a:prstGeom prst="rect">
            <a:avLst/>
          </a:prstGeom>
          <a:noFill/>
          <a:ln/>
        </p:spPr>
        <p:txBody>
          <a:bodyPr wrap="square" rtlCol="0" anchor="ctr"/>
          <a:lstStyle/>
          <a:p>
            <a:pPr marL="0" indent="0" algn="ctr">
              <a:buNone/>
            </a:pPr>
            <a:r>
              <a:rPr lang="en-US" sz="700" b="1" dirty="0">
                <a:solidFill>
                  <a:srgbClr val="4F46E5"/>
                </a:solidFill>
                <a:latin typeface="Segoe UI" pitchFamily="34" charset="0"/>
                <a:ea typeface="Segoe UI" pitchFamily="34" charset="-122"/>
                <a:cs typeface="Segoe UI" pitchFamily="34" charset="-120"/>
              </a:rPr>
              <a:t>LAYER 2</a:t>
            </a:r>
            <a:endParaRPr lang="en-US" sz="700" dirty="0"/>
          </a:p>
        </p:txBody>
      </p:sp>
      <p:sp>
        <p:nvSpPr>
          <p:cNvPr id="26" name="Text 24"/>
          <p:cNvSpPr/>
          <p:nvPr/>
        </p:nvSpPr>
        <p:spPr>
          <a:xfrm>
            <a:off x="4754880" y="2496312"/>
            <a:ext cx="6492240" cy="777240"/>
          </a:xfrm>
          <a:prstGeom prst="rect">
            <a:avLst/>
          </a:prstGeom>
          <a:noFill/>
          <a:ln/>
        </p:spPr>
        <p:txBody>
          <a:bodyPr wrap="square" rtlCol="0" anchor="ctr"/>
          <a:lstStyle/>
          <a:p>
            <a:pPr marL="0" indent="0">
              <a:lnSpc>
                <a:spcPct val="130000"/>
              </a:lnSpc>
              <a:buNone/>
            </a:pPr>
            <a:r>
              <a:rPr lang="en-US" sz="950" dirty="0">
                <a:solidFill>
                  <a:srgbClr val="475569"/>
                </a:solidFill>
                <a:latin typeface="Segoe UI" pitchFamily="34" charset="0"/>
                <a:ea typeface="Segoe UI" pitchFamily="34" charset="-122"/>
                <a:cs typeface="Segoe UI" pitchFamily="34" charset="-120"/>
              </a:rPr>
              <a:t>Broadens search to concatenated attack name + malware family + threat type. Falls back to this if victim-name match fails.</a:t>
            </a:r>
            <a:endParaRPr lang="en-US" sz="950" dirty="0"/>
          </a:p>
        </p:txBody>
      </p:sp>
      <p:sp>
        <p:nvSpPr>
          <p:cNvPr id="27" name="Shape 25"/>
          <p:cNvSpPr/>
          <p:nvPr/>
        </p:nvSpPr>
        <p:spPr>
          <a:xfrm>
            <a:off x="685800" y="3474720"/>
            <a:ext cx="10817352" cy="914400"/>
          </a:xfrm>
          <a:prstGeom prst="roundRect">
            <a:avLst>
              <a:gd name="adj" fmla="val 8000"/>
            </a:avLst>
          </a:prstGeom>
          <a:solidFill>
            <a:srgbClr val="FFFFFF"/>
          </a:solidFill>
          <a:ln w="6350">
            <a:solidFill>
              <a:srgbClr val="E2E8F0"/>
            </a:solidFill>
            <a:prstDash val="solid"/>
          </a:ln>
          <a:effectLst>
            <a:outerShdw blurRad="101600" dist="25400" dir="12000000" algn="bl" rotWithShape="0">
              <a:srgbClr val="94A3B8">
                <a:alpha val="15000"/>
              </a:srgbClr>
            </a:outerShdw>
          </a:effectLst>
        </p:spPr>
        <p:txBody>
          <a:bodyPr/>
          <a:lstStyle/>
          <a:p>
            <a:endParaRPr lang="fr-TN"/>
          </a:p>
        </p:txBody>
      </p:sp>
      <p:sp>
        <p:nvSpPr>
          <p:cNvPr id="28" name="Shape 26"/>
          <p:cNvSpPr/>
          <p:nvPr/>
        </p:nvSpPr>
        <p:spPr>
          <a:xfrm>
            <a:off x="704088" y="3584448"/>
            <a:ext cx="45720" cy="694944"/>
          </a:xfrm>
          <a:prstGeom prst="rect">
            <a:avLst/>
          </a:prstGeom>
          <a:solidFill>
            <a:srgbClr val="7C3AED"/>
          </a:solidFill>
          <a:ln/>
        </p:spPr>
        <p:txBody>
          <a:bodyPr/>
          <a:lstStyle/>
          <a:p>
            <a:endParaRPr lang="fr-TN"/>
          </a:p>
        </p:txBody>
      </p:sp>
      <p:sp>
        <p:nvSpPr>
          <p:cNvPr id="29" name="Shape 27"/>
          <p:cNvSpPr/>
          <p:nvPr/>
        </p:nvSpPr>
        <p:spPr>
          <a:xfrm>
            <a:off x="914400" y="3730752"/>
            <a:ext cx="384048" cy="384048"/>
          </a:xfrm>
          <a:prstGeom prst="ellipse">
            <a:avLst/>
          </a:prstGeom>
          <a:solidFill>
            <a:srgbClr val="7C3AED">
              <a:alpha val="10000"/>
            </a:srgbClr>
          </a:solidFill>
          <a:ln w="19050">
            <a:solidFill>
              <a:srgbClr val="7C3AED"/>
            </a:solidFill>
            <a:prstDash val="solid"/>
          </a:ln>
        </p:spPr>
        <p:txBody>
          <a:bodyPr/>
          <a:lstStyle/>
          <a:p>
            <a:endParaRPr lang="fr-TN"/>
          </a:p>
        </p:txBody>
      </p:sp>
      <p:sp>
        <p:nvSpPr>
          <p:cNvPr id="30" name="Text 28"/>
          <p:cNvSpPr/>
          <p:nvPr/>
        </p:nvSpPr>
        <p:spPr>
          <a:xfrm>
            <a:off x="914400" y="3730752"/>
            <a:ext cx="384048" cy="384048"/>
          </a:xfrm>
          <a:prstGeom prst="rect">
            <a:avLst/>
          </a:prstGeom>
          <a:noFill/>
          <a:ln/>
        </p:spPr>
        <p:txBody>
          <a:bodyPr wrap="square" rtlCol="0" anchor="ctr"/>
          <a:lstStyle/>
          <a:p>
            <a:pPr marL="0" indent="0" algn="ctr">
              <a:buNone/>
            </a:pPr>
            <a:r>
              <a:rPr lang="en-US" sz="1500" b="1" dirty="0">
                <a:solidFill>
                  <a:srgbClr val="7C3AED"/>
                </a:solidFill>
                <a:latin typeface="Segoe UI" pitchFamily="34" charset="0"/>
                <a:ea typeface="Segoe UI" pitchFamily="34" charset="-122"/>
                <a:cs typeface="Segoe UI" pitchFamily="34" charset="-120"/>
              </a:rPr>
              <a:t>3</a:t>
            </a:r>
            <a:endParaRPr lang="en-US" sz="1500" dirty="0"/>
          </a:p>
        </p:txBody>
      </p:sp>
      <p:sp>
        <p:nvSpPr>
          <p:cNvPr id="31" name="Text 29"/>
          <p:cNvSpPr/>
          <p:nvPr/>
        </p:nvSpPr>
        <p:spPr>
          <a:xfrm>
            <a:off x="1463040" y="3547872"/>
            <a:ext cx="3200400" cy="365760"/>
          </a:xfrm>
          <a:prstGeom prst="rect">
            <a:avLst/>
          </a:prstGeom>
          <a:noFill/>
          <a:ln/>
        </p:spPr>
        <p:txBody>
          <a:bodyPr wrap="square" rtlCol="0" anchor="ctr"/>
          <a:lstStyle/>
          <a:p>
            <a:pPr marL="0" indent="0">
              <a:buNone/>
            </a:pPr>
            <a:r>
              <a:rPr lang="en-US" sz="1200" b="1" dirty="0">
                <a:solidFill>
                  <a:srgbClr val="0F172A"/>
                </a:solidFill>
                <a:latin typeface="Segoe UI" pitchFamily="34" charset="0"/>
                <a:ea typeface="Segoe UI" pitchFamily="34" charset="-122"/>
                <a:cs typeface="Segoe UI" pitchFamily="34" charset="-120"/>
              </a:rPr>
              <a:t>Port-Based Inference</a:t>
            </a:r>
            <a:endParaRPr lang="en-US" sz="1200" dirty="0"/>
          </a:p>
        </p:txBody>
      </p:sp>
      <p:sp>
        <p:nvSpPr>
          <p:cNvPr id="32" name="Shape 30"/>
          <p:cNvSpPr/>
          <p:nvPr/>
        </p:nvSpPr>
        <p:spPr>
          <a:xfrm>
            <a:off x="1463040" y="3977640"/>
            <a:ext cx="690372" cy="256032"/>
          </a:xfrm>
          <a:prstGeom prst="roundRect">
            <a:avLst>
              <a:gd name="adj" fmla="val 17857"/>
            </a:avLst>
          </a:prstGeom>
          <a:solidFill>
            <a:srgbClr val="7C3AED">
              <a:alpha val="10000"/>
            </a:srgbClr>
          </a:solidFill>
          <a:ln w="6350">
            <a:solidFill>
              <a:srgbClr val="7C3AED"/>
            </a:solidFill>
            <a:prstDash val="solid"/>
          </a:ln>
        </p:spPr>
        <p:txBody>
          <a:bodyPr/>
          <a:lstStyle/>
          <a:p>
            <a:endParaRPr lang="fr-TN"/>
          </a:p>
        </p:txBody>
      </p:sp>
      <p:sp>
        <p:nvSpPr>
          <p:cNvPr id="33" name="Text 31"/>
          <p:cNvSpPr/>
          <p:nvPr/>
        </p:nvSpPr>
        <p:spPr>
          <a:xfrm>
            <a:off x="1463040" y="3977640"/>
            <a:ext cx="690372" cy="256032"/>
          </a:xfrm>
          <a:prstGeom prst="rect">
            <a:avLst/>
          </a:prstGeom>
          <a:noFill/>
          <a:ln/>
        </p:spPr>
        <p:txBody>
          <a:bodyPr wrap="square" rtlCol="0" anchor="ctr"/>
          <a:lstStyle/>
          <a:p>
            <a:pPr marL="0" indent="0" algn="ctr">
              <a:buNone/>
            </a:pPr>
            <a:r>
              <a:rPr lang="en-US" sz="700" b="1" dirty="0">
                <a:solidFill>
                  <a:srgbClr val="7C3AED"/>
                </a:solidFill>
                <a:latin typeface="Segoe UI" pitchFamily="34" charset="0"/>
                <a:ea typeface="Segoe UI" pitchFamily="34" charset="-122"/>
                <a:cs typeface="Segoe UI" pitchFamily="34" charset="-120"/>
              </a:rPr>
              <a:t>LAYER 3</a:t>
            </a:r>
            <a:endParaRPr lang="en-US" sz="700" dirty="0"/>
          </a:p>
        </p:txBody>
      </p:sp>
      <p:sp>
        <p:nvSpPr>
          <p:cNvPr id="34" name="Text 32"/>
          <p:cNvSpPr/>
          <p:nvPr/>
        </p:nvSpPr>
        <p:spPr>
          <a:xfrm>
            <a:off x="4754880" y="3547872"/>
            <a:ext cx="6492240" cy="777240"/>
          </a:xfrm>
          <a:prstGeom prst="rect">
            <a:avLst/>
          </a:prstGeom>
          <a:noFill/>
          <a:ln/>
        </p:spPr>
        <p:txBody>
          <a:bodyPr wrap="square" rtlCol="0" anchor="ctr"/>
          <a:lstStyle/>
          <a:p>
            <a:pPr marL="0" indent="0">
              <a:lnSpc>
                <a:spcPct val="130000"/>
              </a:lnSpc>
              <a:buNone/>
            </a:pPr>
            <a:r>
              <a:rPr lang="en-US" sz="950" dirty="0">
                <a:solidFill>
                  <a:srgbClr val="475569"/>
                </a:solidFill>
                <a:latin typeface="Segoe UI" pitchFamily="34" charset="0"/>
                <a:ea typeface="Segoe UI" pitchFamily="34" charset="-122"/>
                <a:cs typeface="Segoe UI" pitchFamily="34" charset="-120"/>
              </a:rPr>
              <a:t>Maps network ports to sectors: HTTP/HTTPS → Web Services, MySQL/PostgreSQL/MongoDB → Database, SSH/DNS → IT, SMB/RDP → Enterprise, SMTP/POP → Email.</a:t>
            </a:r>
            <a:endParaRPr lang="en-US" sz="950" dirty="0"/>
          </a:p>
        </p:txBody>
      </p:sp>
      <p:sp>
        <p:nvSpPr>
          <p:cNvPr id="35" name="Shape 33"/>
          <p:cNvSpPr/>
          <p:nvPr/>
        </p:nvSpPr>
        <p:spPr>
          <a:xfrm>
            <a:off x="685800" y="4526280"/>
            <a:ext cx="10817352" cy="914400"/>
          </a:xfrm>
          <a:prstGeom prst="roundRect">
            <a:avLst>
              <a:gd name="adj" fmla="val 8000"/>
            </a:avLst>
          </a:prstGeom>
          <a:solidFill>
            <a:srgbClr val="F1F5F9"/>
          </a:solidFill>
          <a:ln w="6350">
            <a:solidFill>
              <a:srgbClr val="E2E8F0"/>
            </a:solidFill>
            <a:prstDash val="solid"/>
          </a:ln>
          <a:effectLst>
            <a:outerShdw blurRad="101600" dist="25400" dir="12000000" algn="bl" rotWithShape="0">
              <a:srgbClr val="94A3B8">
                <a:alpha val="15000"/>
              </a:srgbClr>
            </a:outerShdw>
          </a:effectLst>
        </p:spPr>
        <p:txBody>
          <a:bodyPr/>
          <a:lstStyle/>
          <a:p>
            <a:endParaRPr lang="fr-TN"/>
          </a:p>
        </p:txBody>
      </p:sp>
      <p:sp>
        <p:nvSpPr>
          <p:cNvPr id="36" name="Shape 34"/>
          <p:cNvSpPr/>
          <p:nvPr/>
        </p:nvSpPr>
        <p:spPr>
          <a:xfrm>
            <a:off x="704088" y="4636008"/>
            <a:ext cx="45720" cy="694944"/>
          </a:xfrm>
          <a:prstGeom prst="rect">
            <a:avLst/>
          </a:prstGeom>
          <a:solidFill>
            <a:srgbClr val="E11D48"/>
          </a:solidFill>
          <a:ln/>
        </p:spPr>
        <p:txBody>
          <a:bodyPr/>
          <a:lstStyle/>
          <a:p>
            <a:endParaRPr lang="fr-TN"/>
          </a:p>
        </p:txBody>
      </p:sp>
      <p:sp>
        <p:nvSpPr>
          <p:cNvPr id="37" name="Shape 35"/>
          <p:cNvSpPr/>
          <p:nvPr/>
        </p:nvSpPr>
        <p:spPr>
          <a:xfrm>
            <a:off x="914400" y="4782312"/>
            <a:ext cx="384048" cy="384048"/>
          </a:xfrm>
          <a:prstGeom prst="ellipse">
            <a:avLst/>
          </a:prstGeom>
          <a:solidFill>
            <a:srgbClr val="E11D48">
              <a:alpha val="10000"/>
            </a:srgbClr>
          </a:solidFill>
          <a:ln w="19050">
            <a:solidFill>
              <a:srgbClr val="E11D48"/>
            </a:solidFill>
            <a:prstDash val="solid"/>
          </a:ln>
        </p:spPr>
        <p:txBody>
          <a:bodyPr/>
          <a:lstStyle/>
          <a:p>
            <a:endParaRPr lang="fr-TN"/>
          </a:p>
        </p:txBody>
      </p:sp>
      <p:sp>
        <p:nvSpPr>
          <p:cNvPr id="38" name="Text 36"/>
          <p:cNvSpPr/>
          <p:nvPr/>
        </p:nvSpPr>
        <p:spPr>
          <a:xfrm>
            <a:off x="914400" y="4782312"/>
            <a:ext cx="384048" cy="384048"/>
          </a:xfrm>
          <a:prstGeom prst="rect">
            <a:avLst/>
          </a:prstGeom>
          <a:noFill/>
          <a:ln/>
        </p:spPr>
        <p:txBody>
          <a:bodyPr wrap="square" rtlCol="0" anchor="ctr"/>
          <a:lstStyle/>
          <a:p>
            <a:pPr marL="0" indent="0" algn="ctr">
              <a:buNone/>
            </a:pPr>
            <a:r>
              <a:rPr lang="en-US" sz="1500" b="1" dirty="0">
                <a:solidFill>
                  <a:srgbClr val="E11D48"/>
                </a:solidFill>
                <a:latin typeface="Segoe UI" pitchFamily="34" charset="0"/>
                <a:ea typeface="Segoe UI" pitchFamily="34" charset="-122"/>
                <a:cs typeface="Segoe UI" pitchFamily="34" charset="-120"/>
              </a:rPr>
              <a:t>4</a:t>
            </a:r>
            <a:endParaRPr lang="en-US" sz="1500" dirty="0"/>
          </a:p>
        </p:txBody>
      </p:sp>
      <p:sp>
        <p:nvSpPr>
          <p:cNvPr id="39" name="Text 37"/>
          <p:cNvSpPr/>
          <p:nvPr/>
        </p:nvSpPr>
        <p:spPr>
          <a:xfrm>
            <a:off x="1463040" y="4599432"/>
            <a:ext cx="3200400" cy="365760"/>
          </a:xfrm>
          <a:prstGeom prst="rect">
            <a:avLst/>
          </a:prstGeom>
          <a:noFill/>
          <a:ln/>
        </p:spPr>
        <p:txBody>
          <a:bodyPr wrap="square" rtlCol="0" anchor="ctr"/>
          <a:lstStyle/>
          <a:p>
            <a:pPr marL="0" indent="0">
              <a:buNone/>
            </a:pPr>
            <a:r>
              <a:rPr lang="en-US" sz="1200" b="1" dirty="0">
                <a:solidFill>
                  <a:srgbClr val="0F172A"/>
                </a:solidFill>
                <a:latin typeface="Segoe UI" pitchFamily="34" charset="0"/>
                <a:ea typeface="Segoe UI" pitchFamily="34" charset="-122"/>
                <a:cs typeface="Segoe UI" pitchFamily="34" charset="-120"/>
              </a:rPr>
              <a:t>MISP Galaxy Sector Tags</a:t>
            </a:r>
            <a:endParaRPr lang="en-US" sz="1200" dirty="0"/>
          </a:p>
        </p:txBody>
      </p:sp>
      <p:sp>
        <p:nvSpPr>
          <p:cNvPr id="40" name="Shape 38"/>
          <p:cNvSpPr/>
          <p:nvPr/>
        </p:nvSpPr>
        <p:spPr>
          <a:xfrm>
            <a:off x="1463040" y="5029200"/>
            <a:ext cx="690372" cy="256032"/>
          </a:xfrm>
          <a:prstGeom prst="roundRect">
            <a:avLst>
              <a:gd name="adj" fmla="val 17857"/>
            </a:avLst>
          </a:prstGeom>
          <a:solidFill>
            <a:srgbClr val="E11D48">
              <a:alpha val="10000"/>
            </a:srgbClr>
          </a:solidFill>
          <a:ln w="6350">
            <a:solidFill>
              <a:srgbClr val="E11D48"/>
            </a:solidFill>
            <a:prstDash val="solid"/>
          </a:ln>
        </p:spPr>
        <p:txBody>
          <a:bodyPr/>
          <a:lstStyle/>
          <a:p>
            <a:endParaRPr lang="fr-TN"/>
          </a:p>
        </p:txBody>
      </p:sp>
      <p:sp>
        <p:nvSpPr>
          <p:cNvPr id="41" name="Text 39"/>
          <p:cNvSpPr/>
          <p:nvPr/>
        </p:nvSpPr>
        <p:spPr>
          <a:xfrm>
            <a:off x="1463040" y="5029200"/>
            <a:ext cx="690372" cy="256032"/>
          </a:xfrm>
          <a:prstGeom prst="rect">
            <a:avLst/>
          </a:prstGeom>
          <a:noFill/>
          <a:ln/>
        </p:spPr>
        <p:txBody>
          <a:bodyPr wrap="square" rtlCol="0" anchor="ctr"/>
          <a:lstStyle/>
          <a:p>
            <a:pPr marL="0" indent="0" algn="ctr">
              <a:buNone/>
            </a:pPr>
            <a:r>
              <a:rPr lang="en-US" sz="700" b="1" dirty="0">
                <a:solidFill>
                  <a:srgbClr val="E11D48"/>
                </a:solidFill>
                <a:latin typeface="Segoe UI" pitchFamily="34" charset="0"/>
                <a:ea typeface="Segoe UI" pitchFamily="34" charset="-122"/>
                <a:cs typeface="Segoe UI" pitchFamily="34" charset="-120"/>
              </a:rPr>
              <a:t>LAYER 4</a:t>
            </a:r>
            <a:endParaRPr lang="en-US" sz="700" dirty="0"/>
          </a:p>
        </p:txBody>
      </p:sp>
      <p:sp>
        <p:nvSpPr>
          <p:cNvPr id="42" name="Text 40"/>
          <p:cNvSpPr/>
          <p:nvPr/>
        </p:nvSpPr>
        <p:spPr>
          <a:xfrm>
            <a:off x="4754880" y="4599432"/>
            <a:ext cx="6492240" cy="777240"/>
          </a:xfrm>
          <a:prstGeom prst="rect">
            <a:avLst/>
          </a:prstGeom>
          <a:noFill/>
          <a:ln/>
        </p:spPr>
        <p:txBody>
          <a:bodyPr wrap="square" rtlCol="0" anchor="ctr"/>
          <a:lstStyle/>
          <a:p>
            <a:pPr marL="0" indent="0">
              <a:lnSpc>
                <a:spcPct val="130000"/>
              </a:lnSpc>
              <a:buNone/>
            </a:pPr>
            <a:r>
              <a:rPr lang="en-US" sz="950" dirty="0">
                <a:solidFill>
                  <a:srgbClr val="475569"/>
                </a:solidFill>
                <a:latin typeface="Segoe UI" pitchFamily="34" charset="0"/>
                <a:ea typeface="Segoe UI" pitchFamily="34" charset="-122"/>
                <a:cs typeface="Segoe UI" pitchFamily="34" charset="-120"/>
              </a:rPr>
              <a:t>Reads target_sectors from MISP Galaxy APT actor metadata. Maps tags like 'government', 'private sector', 'health', 'energy' to enriched sector labels.</a:t>
            </a:r>
            <a:endParaRPr lang="en-US" sz="950" dirty="0"/>
          </a:p>
        </p:txBody>
      </p:sp>
      <p:sp>
        <p:nvSpPr>
          <p:cNvPr id="43" name="Shape 41"/>
          <p:cNvSpPr/>
          <p:nvPr/>
        </p:nvSpPr>
        <p:spPr>
          <a:xfrm>
            <a:off x="685800" y="5577840"/>
            <a:ext cx="10817352" cy="914400"/>
          </a:xfrm>
          <a:prstGeom prst="roundRect">
            <a:avLst>
              <a:gd name="adj" fmla="val 8000"/>
            </a:avLst>
          </a:prstGeom>
          <a:solidFill>
            <a:srgbClr val="FFFFFF"/>
          </a:solidFill>
          <a:ln w="6350">
            <a:solidFill>
              <a:srgbClr val="E2E8F0"/>
            </a:solidFill>
            <a:prstDash val="solid"/>
          </a:ln>
          <a:effectLst>
            <a:outerShdw blurRad="101600" dist="25400" dir="12000000" algn="bl" rotWithShape="0">
              <a:srgbClr val="94A3B8">
                <a:alpha val="15000"/>
              </a:srgbClr>
            </a:outerShdw>
          </a:effectLst>
        </p:spPr>
        <p:txBody>
          <a:bodyPr/>
          <a:lstStyle/>
          <a:p>
            <a:endParaRPr lang="fr-TN"/>
          </a:p>
        </p:txBody>
      </p:sp>
      <p:sp>
        <p:nvSpPr>
          <p:cNvPr id="44" name="Shape 42"/>
          <p:cNvSpPr/>
          <p:nvPr/>
        </p:nvSpPr>
        <p:spPr>
          <a:xfrm>
            <a:off x="704088" y="5687568"/>
            <a:ext cx="45720" cy="694944"/>
          </a:xfrm>
          <a:prstGeom prst="rect">
            <a:avLst/>
          </a:prstGeom>
          <a:solidFill>
            <a:srgbClr val="059669"/>
          </a:solidFill>
          <a:ln/>
        </p:spPr>
        <p:txBody>
          <a:bodyPr/>
          <a:lstStyle/>
          <a:p>
            <a:endParaRPr lang="fr-TN"/>
          </a:p>
        </p:txBody>
      </p:sp>
      <p:sp>
        <p:nvSpPr>
          <p:cNvPr id="45" name="Shape 43"/>
          <p:cNvSpPr/>
          <p:nvPr/>
        </p:nvSpPr>
        <p:spPr>
          <a:xfrm>
            <a:off x="914400" y="5833872"/>
            <a:ext cx="384048" cy="384048"/>
          </a:xfrm>
          <a:prstGeom prst="ellipse">
            <a:avLst/>
          </a:prstGeom>
          <a:solidFill>
            <a:srgbClr val="059669">
              <a:alpha val="10000"/>
            </a:srgbClr>
          </a:solidFill>
          <a:ln w="19050">
            <a:solidFill>
              <a:srgbClr val="059669"/>
            </a:solidFill>
            <a:prstDash val="solid"/>
          </a:ln>
        </p:spPr>
        <p:txBody>
          <a:bodyPr/>
          <a:lstStyle/>
          <a:p>
            <a:endParaRPr lang="fr-TN"/>
          </a:p>
        </p:txBody>
      </p:sp>
      <p:sp>
        <p:nvSpPr>
          <p:cNvPr id="46" name="Text 44"/>
          <p:cNvSpPr/>
          <p:nvPr/>
        </p:nvSpPr>
        <p:spPr>
          <a:xfrm>
            <a:off x="914400" y="5833872"/>
            <a:ext cx="384048" cy="384048"/>
          </a:xfrm>
          <a:prstGeom prst="rect">
            <a:avLst/>
          </a:prstGeom>
          <a:noFill/>
          <a:ln/>
        </p:spPr>
        <p:txBody>
          <a:bodyPr wrap="square" rtlCol="0" anchor="ctr"/>
          <a:lstStyle/>
          <a:p>
            <a:pPr marL="0" indent="0" algn="ctr">
              <a:buNone/>
            </a:pPr>
            <a:r>
              <a:rPr lang="en-US" sz="1500" b="1" dirty="0">
                <a:solidFill>
                  <a:srgbClr val="059669"/>
                </a:solidFill>
                <a:latin typeface="Segoe UI" pitchFamily="34" charset="0"/>
                <a:ea typeface="Segoe UI" pitchFamily="34" charset="-122"/>
                <a:cs typeface="Segoe UI" pitchFamily="34" charset="-120"/>
              </a:rPr>
              <a:t>5</a:t>
            </a:r>
            <a:endParaRPr lang="en-US" sz="1500" dirty="0"/>
          </a:p>
        </p:txBody>
      </p:sp>
      <p:sp>
        <p:nvSpPr>
          <p:cNvPr id="47" name="Text 45"/>
          <p:cNvSpPr/>
          <p:nvPr/>
        </p:nvSpPr>
        <p:spPr>
          <a:xfrm>
            <a:off x="1463040" y="5650992"/>
            <a:ext cx="3200400" cy="365760"/>
          </a:xfrm>
          <a:prstGeom prst="rect">
            <a:avLst/>
          </a:prstGeom>
          <a:noFill/>
          <a:ln/>
        </p:spPr>
        <p:txBody>
          <a:bodyPr wrap="square" rtlCol="0" anchor="ctr"/>
          <a:lstStyle/>
          <a:p>
            <a:pPr marL="0" indent="0">
              <a:buNone/>
            </a:pPr>
            <a:r>
              <a:rPr lang="en-US" sz="1200" b="1" dirty="0">
                <a:solidFill>
                  <a:srgbClr val="0F172A"/>
                </a:solidFill>
                <a:latin typeface="Segoe UI" pitchFamily="34" charset="0"/>
                <a:ea typeface="Segoe UI" pitchFamily="34" charset="-122"/>
                <a:cs typeface="Segoe UI" pitchFamily="34" charset="-120"/>
              </a:rPr>
              <a:t>Source-API Fallback</a:t>
            </a:r>
            <a:endParaRPr lang="en-US" sz="1200" dirty="0"/>
          </a:p>
        </p:txBody>
      </p:sp>
      <p:sp>
        <p:nvSpPr>
          <p:cNvPr id="48" name="Shape 46"/>
          <p:cNvSpPr/>
          <p:nvPr/>
        </p:nvSpPr>
        <p:spPr>
          <a:xfrm>
            <a:off x="1463040" y="6080760"/>
            <a:ext cx="630936" cy="256032"/>
          </a:xfrm>
          <a:prstGeom prst="roundRect">
            <a:avLst>
              <a:gd name="adj" fmla="val 17857"/>
            </a:avLst>
          </a:prstGeom>
          <a:solidFill>
            <a:srgbClr val="059669">
              <a:alpha val="10000"/>
            </a:srgbClr>
          </a:solidFill>
          <a:ln w="6350">
            <a:solidFill>
              <a:srgbClr val="059669"/>
            </a:solidFill>
            <a:prstDash val="solid"/>
          </a:ln>
        </p:spPr>
        <p:txBody>
          <a:bodyPr/>
          <a:lstStyle/>
          <a:p>
            <a:endParaRPr lang="fr-TN"/>
          </a:p>
        </p:txBody>
      </p:sp>
      <p:sp>
        <p:nvSpPr>
          <p:cNvPr id="49" name="Text 47"/>
          <p:cNvSpPr/>
          <p:nvPr/>
        </p:nvSpPr>
        <p:spPr>
          <a:xfrm>
            <a:off x="1463040" y="6080760"/>
            <a:ext cx="630936" cy="256032"/>
          </a:xfrm>
          <a:prstGeom prst="rect">
            <a:avLst/>
          </a:prstGeom>
          <a:noFill/>
          <a:ln/>
        </p:spPr>
        <p:txBody>
          <a:bodyPr wrap="square" rtlCol="0" anchor="ctr"/>
          <a:lstStyle/>
          <a:p>
            <a:pPr marL="0" indent="0" algn="ctr">
              <a:buNone/>
            </a:pPr>
            <a:r>
              <a:rPr lang="en-US" sz="700" b="1" dirty="0">
                <a:solidFill>
                  <a:srgbClr val="059669"/>
                </a:solidFill>
                <a:latin typeface="Segoe UI" pitchFamily="34" charset="0"/>
                <a:ea typeface="Segoe UI" pitchFamily="34" charset="-122"/>
                <a:cs typeface="Segoe UI" pitchFamily="34" charset="-120"/>
              </a:rPr>
              <a:t>LOWEST</a:t>
            </a:r>
            <a:endParaRPr lang="en-US" sz="700" dirty="0"/>
          </a:p>
        </p:txBody>
      </p:sp>
      <p:sp>
        <p:nvSpPr>
          <p:cNvPr id="50" name="Text 48"/>
          <p:cNvSpPr/>
          <p:nvPr/>
        </p:nvSpPr>
        <p:spPr>
          <a:xfrm>
            <a:off x="4754880" y="5650992"/>
            <a:ext cx="6492240" cy="777240"/>
          </a:xfrm>
          <a:prstGeom prst="rect">
            <a:avLst/>
          </a:prstGeom>
          <a:noFill/>
          <a:ln/>
        </p:spPr>
        <p:txBody>
          <a:bodyPr wrap="square" rtlCol="0" anchor="ctr"/>
          <a:lstStyle/>
          <a:p>
            <a:pPr marL="0" indent="0">
              <a:lnSpc>
                <a:spcPct val="130000"/>
              </a:lnSpc>
              <a:buNone/>
            </a:pPr>
            <a:r>
              <a:rPr lang="en-US" sz="950" dirty="0">
                <a:solidFill>
                  <a:srgbClr val="475569"/>
                </a:solidFill>
                <a:latin typeface="Segoe UI" pitchFamily="34" charset="0"/>
                <a:ea typeface="Segoe UI" pitchFamily="34" charset="-122"/>
                <a:cs typeface="Segoe UI" pitchFamily="34" charset="-120"/>
              </a:rPr>
              <a:t>Final fallback using the scraper source identifier: ransomwatch → Finance, c2tracker → IT Infrastructure, urlhaus → Web Services, others → General.</a:t>
            </a:r>
            <a:endParaRPr lang="en-US" sz="950" dirty="0"/>
          </a:p>
        </p:txBody>
      </p:sp>
      <p:sp>
        <p:nvSpPr>
          <p:cNvPr id="51" name="Shape 49"/>
          <p:cNvSpPr/>
          <p:nvPr/>
        </p:nvSpPr>
        <p:spPr>
          <a:xfrm>
            <a:off x="685800" y="6400800"/>
            <a:ext cx="10817352" cy="365760"/>
          </a:xfrm>
          <a:prstGeom prst="roundRect">
            <a:avLst>
              <a:gd name="adj" fmla="val 15000"/>
            </a:avLst>
          </a:prstGeom>
          <a:solidFill>
            <a:srgbClr val="2563EB">
              <a:alpha val="6000"/>
            </a:srgbClr>
          </a:solidFill>
          <a:ln w="5080">
            <a:solidFill>
              <a:srgbClr val="2563EB"/>
            </a:solidFill>
            <a:prstDash val="solid"/>
          </a:ln>
        </p:spPr>
        <p:txBody>
          <a:bodyPr/>
          <a:lstStyle/>
          <a:p>
            <a:endParaRPr lang="fr-TN"/>
          </a:p>
        </p:txBody>
      </p:sp>
      <p:sp>
        <p:nvSpPr>
          <p:cNvPr id="52" name="Text 50"/>
          <p:cNvSpPr/>
          <p:nvPr/>
        </p:nvSpPr>
        <p:spPr>
          <a:xfrm>
            <a:off x="914400" y="6400800"/>
            <a:ext cx="10360152" cy="365760"/>
          </a:xfrm>
          <a:prstGeom prst="rect">
            <a:avLst/>
          </a:prstGeom>
          <a:noFill/>
          <a:ln/>
        </p:spPr>
        <p:txBody>
          <a:bodyPr wrap="square" rtlCol="0" anchor="ctr"/>
          <a:lstStyle/>
          <a:p>
            <a:pPr marL="0" indent="0">
              <a:buNone/>
            </a:pPr>
            <a:r>
              <a:rPr lang="en-US" sz="900" dirty="0">
                <a:solidFill>
                  <a:srgbClr val="2563EB"/>
                </a:solidFill>
                <a:latin typeface="Segoe UI" pitchFamily="34" charset="0"/>
                <a:ea typeface="Segoe UI" pitchFamily="34" charset="-122"/>
                <a:cs typeface="Segoe UI" pitchFamily="34" charset="-120"/>
              </a:rPr>
              <a:t>+ RDAP Organization Lookup: Async IP owner query via rdap.org → ARIN/RIPE registries with 3-second timeout cache</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88952" cy="45720"/>
          </a:xfrm>
          <a:prstGeom prst="rect">
            <a:avLst/>
          </a:prstGeom>
          <a:solidFill>
            <a:srgbClr val="2563EB"/>
          </a:solidFill>
          <a:ln/>
        </p:spPr>
        <p:txBody>
          <a:bodyPr/>
          <a:lstStyle/>
          <a:p>
            <a:endParaRPr lang="fr-TN"/>
          </a:p>
        </p:txBody>
      </p:sp>
      <p:sp>
        <p:nvSpPr>
          <p:cNvPr id="3" name="Shape 1"/>
          <p:cNvSpPr/>
          <p:nvPr/>
        </p:nvSpPr>
        <p:spPr>
          <a:xfrm>
            <a:off x="10972800" y="274320"/>
            <a:ext cx="914400" cy="1829"/>
          </a:xfrm>
          <a:prstGeom prst="rect">
            <a:avLst/>
          </a:prstGeom>
          <a:solidFill>
            <a:srgbClr val="E2E8F0"/>
          </a:solidFill>
          <a:ln/>
        </p:spPr>
        <p:txBody>
          <a:bodyPr/>
          <a:lstStyle/>
          <a:p>
            <a:endParaRPr lang="fr-TN"/>
          </a:p>
        </p:txBody>
      </p:sp>
      <p:sp>
        <p:nvSpPr>
          <p:cNvPr id="4" name="Shape 2"/>
          <p:cNvSpPr/>
          <p:nvPr/>
        </p:nvSpPr>
        <p:spPr>
          <a:xfrm>
            <a:off x="11868912" y="274320"/>
            <a:ext cx="1829" cy="640080"/>
          </a:xfrm>
          <a:prstGeom prst="rect">
            <a:avLst/>
          </a:prstGeom>
          <a:solidFill>
            <a:srgbClr val="E2E8F0"/>
          </a:solidFill>
          <a:ln/>
        </p:spPr>
        <p:txBody>
          <a:bodyPr/>
          <a:lstStyle/>
          <a:p>
            <a:endParaRPr lang="fr-TN"/>
          </a:p>
        </p:txBody>
      </p:sp>
      <p:sp>
        <p:nvSpPr>
          <p:cNvPr id="5" name="Shape 3"/>
          <p:cNvSpPr/>
          <p:nvPr/>
        </p:nvSpPr>
        <p:spPr>
          <a:xfrm>
            <a:off x="320040" y="6537960"/>
            <a:ext cx="1829" cy="274320"/>
          </a:xfrm>
          <a:prstGeom prst="rect">
            <a:avLst/>
          </a:prstGeom>
          <a:solidFill>
            <a:srgbClr val="E2E8F0"/>
          </a:solidFill>
          <a:ln/>
        </p:spPr>
        <p:txBody>
          <a:bodyPr/>
          <a:lstStyle/>
          <a:p>
            <a:endParaRPr lang="fr-TN"/>
          </a:p>
        </p:txBody>
      </p:sp>
      <p:sp>
        <p:nvSpPr>
          <p:cNvPr id="6" name="Shape 4"/>
          <p:cNvSpPr/>
          <p:nvPr/>
        </p:nvSpPr>
        <p:spPr>
          <a:xfrm>
            <a:off x="320040" y="6537960"/>
            <a:ext cx="640080" cy="1829"/>
          </a:xfrm>
          <a:prstGeom prst="rect">
            <a:avLst/>
          </a:prstGeom>
          <a:solidFill>
            <a:srgbClr val="E2E8F0"/>
          </a:solidFill>
          <a:ln/>
        </p:spPr>
        <p:txBody>
          <a:bodyPr/>
          <a:lstStyle/>
          <a:p>
            <a:endParaRPr lang="fr-TN"/>
          </a:p>
        </p:txBody>
      </p:sp>
      <p:sp>
        <p:nvSpPr>
          <p:cNvPr id="7" name="Text 5"/>
          <p:cNvSpPr/>
          <p:nvPr/>
        </p:nvSpPr>
        <p:spPr>
          <a:xfrm>
            <a:off x="731520" y="274320"/>
            <a:ext cx="10515600" cy="256032"/>
          </a:xfrm>
          <a:prstGeom prst="rect">
            <a:avLst/>
          </a:prstGeom>
          <a:noFill/>
          <a:ln/>
        </p:spPr>
        <p:txBody>
          <a:bodyPr wrap="square" rtlCol="0" anchor="ctr"/>
          <a:lstStyle/>
          <a:p>
            <a:pPr marL="0" indent="0">
              <a:buNone/>
            </a:pPr>
            <a:r>
              <a:rPr lang="en-US" sz="900" b="1" dirty="0">
                <a:solidFill>
                  <a:srgbClr val="2563EB"/>
                </a:solidFill>
                <a:latin typeface="Segoe UI" pitchFamily="34" charset="0"/>
                <a:ea typeface="Segoe UI" pitchFamily="34" charset="-122"/>
                <a:cs typeface="Segoe UI" pitchFamily="34" charset="-120"/>
              </a:rPr>
              <a:t>CHAPTER 3 — SPRINT 2</a:t>
            </a:r>
            <a:endParaRPr lang="en-US" sz="900" dirty="0"/>
          </a:p>
        </p:txBody>
      </p:sp>
      <p:sp>
        <p:nvSpPr>
          <p:cNvPr id="8" name="Text 6"/>
          <p:cNvSpPr/>
          <p:nvPr/>
        </p:nvSpPr>
        <p:spPr>
          <a:xfrm>
            <a:off x="731520" y="548640"/>
            <a:ext cx="10515600" cy="502920"/>
          </a:xfrm>
          <a:prstGeom prst="rect">
            <a:avLst/>
          </a:prstGeom>
          <a:noFill/>
          <a:ln/>
        </p:spPr>
        <p:txBody>
          <a:bodyPr wrap="square" rtlCol="0" anchor="ctr"/>
          <a:lstStyle/>
          <a:p>
            <a:pPr marL="0" indent="0">
              <a:buNone/>
            </a:pPr>
            <a:r>
              <a:rPr lang="en-US" sz="3000" b="1" dirty="0">
                <a:solidFill>
                  <a:srgbClr val="0F172A"/>
                </a:solidFill>
                <a:latin typeface="Segoe UI" pitchFamily="34" charset="0"/>
                <a:ea typeface="Segoe UI" pitchFamily="34" charset="-122"/>
                <a:cs typeface="Segoe UI" pitchFamily="34" charset="-120"/>
              </a:rPr>
              <a:t>SSE Streaming Pipeline &amp; Batch Engine</a:t>
            </a:r>
            <a:endParaRPr lang="en-US" sz="3000" dirty="0"/>
          </a:p>
        </p:txBody>
      </p:sp>
      <p:sp>
        <p:nvSpPr>
          <p:cNvPr id="9" name="Shape 7"/>
          <p:cNvSpPr/>
          <p:nvPr/>
        </p:nvSpPr>
        <p:spPr>
          <a:xfrm>
            <a:off x="731520" y="1115568"/>
            <a:ext cx="1828800" cy="32004"/>
          </a:xfrm>
          <a:prstGeom prst="rect">
            <a:avLst/>
          </a:prstGeom>
          <a:solidFill>
            <a:srgbClr val="2563EB"/>
          </a:solidFill>
          <a:ln/>
        </p:spPr>
        <p:txBody>
          <a:bodyPr/>
          <a:lstStyle/>
          <a:p>
            <a:endParaRPr lang="fr-TN"/>
          </a:p>
        </p:txBody>
      </p:sp>
      <p:sp>
        <p:nvSpPr>
          <p:cNvPr id="10" name="Shape 8"/>
          <p:cNvSpPr/>
          <p:nvPr/>
        </p:nvSpPr>
        <p:spPr>
          <a:xfrm>
            <a:off x="2651760" y="1124712"/>
            <a:ext cx="8778240" cy="10973"/>
          </a:xfrm>
          <a:prstGeom prst="rect">
            <a:avLst/>
          </a:prstGeom>
          <a:solidFill>
            <a:srgbClr val="E2E8F0"/>
          </a:solidFill>
          <a:ln/>
        </p:spPr>
        <p:txBody>
          <a:bodyPr/>
          <a:lstStyle/>
          <a:p>
            <a:endParaRPr lang="fr-TN"/>
          </a:p>
        </p:txBody>
      </p:sp>
      <p:sp>
        <p:nvSpPr>
          <p:cNvPr id="11" name="Shape 9"/>
          <p:cNvSpPr/>
          <p:nvPr/>
        </p:nvSpPr>
        <p:spPr>
          <a:xfrm>
            <a:off x="685800" y="1417320"/>
            <a:ext cx="5212080" cy="4892040"/>
          </a:xfrm>
          <a:prstGeom prst="roundRect">
            <a:avLst>
              <a:gd name="adj" fmla="val 2243"/>
            </a:avLst>
          </a:prstGeom>
          <a:solidFill>
            <a:srgbClr val="FFFFFF"/>
          </a:solidFill>
          <a:ln w="8890">
            <a:solidFill>
              <a:srgbClr val="E2E8F0"/>
            </a:solidFill>
            <a:prstDash val="solid"/>
          </a:ln>
          <a:effectLst>
            <a:outerShdw blurRad="152400" dist="38100" dir="12000000" algn="bl" rotWithShape="0">
              <a:srgbClr val="94A3B8">
                <a:alpha val="25000"/>
              </a:srgbClr>
            </a:outerShdw>
          </a:effectLst>
        </p:spPr>
        <p:txBody>
          <a:bodyPr/>
          <a:lstStyle/>
          <a:p>
            <a:endParaRPr lang="fr-TN"/>
          </a:p>
        </p:txBody>
      </p:sp>
      <p:sp>
        <p:nvSpPr>
          <p:cNvPr id="12" name="Shape 10"/>
          <p:cNvSpPr/>
          <p:nvPr/>
        </p:nvSpPr>
        <p:spPr>
          <a:xfrm>
            <a:off x="795528" y="1435608"/>
            <a:ext cx="4992624" cy="36576"/>
          </a:xfrm>
          <a:prstGeom prst="rect">
            <a:avLst/>
          </a:prstGeom>
          <a:solidFill>
            <a:srgbClr val="2563EB"/>
          </a:solidFill>
          <a:ln/>
        </p:spPr>
        <p:txBody>
          <a:bodyPr/>
          <a:lstStyle/>
          <a:p>
            <a:endParaRPr lang="fr-TN"/>
          </a:p>
        </p:txBody>
      </p:sp>
      <p:sp>
        <p:nvSpPr>
          <p:cNvPr id="13" name="Text 11"/>
          <p:cNvSpPr/>
          <p:nvPr/>
        </p:nvSpPr>
        <p:spPr>
          <a:xfrm>
            <a:off x="886968" y="1581912"/>
            <a:ext cx="4809744" cy="365760"/>
          </a:xfrm>
          <a:prstGeom prst="rect">
            <a:avLst/>
          </a:prstGeom>
          <a:noFill/>
          <a:ln/>
        </p:spPr>
        <p:txBody>
          <a:bodyPr wrap="square" rtlCol="0" anchor="ctr"/>
          <a:lstStyle/>
          <a:p>
            <a:pPr marL="0" indent="0">
              <a:buNone/>
            </a:pPr>
            <a:r>
              <a:rPr lang="en-US" sz="1400" b="1" dirty="0">
                <a:solidFill>
                  <a:srgbClr val="0F172A"/>
                </a:solidFill>
                <a:latin typeface="Segoe UI" pitchFamily="34" charset="0"/>
                <a:ea typeface="Segoe UI" pitchFamily="34" charset="-122"/>
                <a:cs typeface="Segoe UI" pitchFamily="34" charset="-120"/>
              </a:rPr>
              <a:t>Batching Infrastructure</a:t>
            </a:r>
            <a:endParaRPr lang="en-US" sz="1400" dirty="0"/>
          </a:p>
        </p:txBody>
      </p:sp>
      <p:sp>
        <p:nvSpPr>
          <p:cNvPr id="14" name="Text 12"/>
          <p:cNvSpPr/>
          <p:nvPr/>
        </p:nvSpPr>
        <p:spPr>
          <a:xfrm>
            <a:off x="886968" y="1984248"/>
            <a:ext cx="4809744" cy="4114800"/>
          </a:xfrm>
          <a:prstGeom prst="rect">
            <a:avLst/>
          </a:prstGeom>
          <a:noFill/>
          <a:ln/>
        </p:spPr>
        <p:txBody>
          <a:bodyPr wrap="square" rtlCol="0" anchor="t"/>
          <a:lstStyle/>
          <a:p>
            <a:pPr marL="0" indent="0">
              <a:lnSpc>
                <a:spcPct val="135000"/>
              </a:lnSpc>
              <a:buNone/>
            </a:pPr>
            <a:r>
              <a:rPr lang="en-US" sz="1050" dirty="0">
                <a:solidFill>
                  <a:srgbClr val="475569"/>
                </a:solidFill>
                <a:latin typeface="Segoe UI" pitchFamily="34" charset="0"/>
                <a:ea typeface="Segoe UI" pitchFamily="34" charset="-122"/>
                <a:cs typeface="Segoe UI" pitchFamily="34" charset="-120"/>
              </a:rPr>
              <a:t>Instead of writing one SSE message per event (causing browser processing storms), we queue all incoming attacks and flush them as a single JSON array every 300ms.</a:t>
            </a:r>
            <a:endParaRPr lang="en-US" sz="1050" dirty="0"/>
          </a:p>
          <a:p>
            <a:pPr marL="0" indent="0">
              <a:lnSpc>
                <a:spcPct val="135000"/>
              </a:lnSpc>
              <a:buNone/>
            </a:pPr>
            <a:endParaRPr lang="en-US" sz="1050" dirty="0"/>
          </a:p>
          <a:p>
            <a:pPr marL="0" indent="0">
              <a:lnSpc>
                <a:spcPct val="135000"/>
              </a:lnSpc>
              <a:buNone/>
            </a:pPr>
            <a:r>
              <a:rPr lang="en-US" sz="1050" dirty="0">
                <a:solidFill>
                  <a:srgbClr val="475569"/>
                </a:solidFill>
                <a:latin typeface="Segoe UI" pitchFamily="34" charset="0"/>
                <a:ea typeface="Segoe UI" pitchFamily="34" charset="-122"/>
                <a:cs typeface="Segoe UI" pitchFamily="34" charset="-120"/>
              </a:rPr>
              <a:t>▸ BATCH_INTERVAL_MS = 300ms — flush interval</a:t>
            </a:r>
            <a:endParaRPr lang="en-US" sz="1050" dirty="0"/>
          </a:p>
          <a:p>
            <a:pPr marL="0" indent="0">
              <a:lnSpc>
                <a:spcPct val="135000"/>
              </a:lnSpc>
              <a:buNone/>
            </a:pPr>
            <a:r>
              <a:rPr lang="en-US" sz="1050" dirty="0">
                <a:solidFill>
                  <a:srgbClr val="475569"/>
                </a:solidFill>
                <a:latin typeface="Segoe UI" pitchFamily="34" charset="0"/>
                <a:ea typeface="Segoe UI" pitchFamily="34" charset="-122"/>
                <a:cs typeface="Segoe UI" pitchFamily="34" charset="-120"/>
              </a:rPr>
              <a:t>▸ MAX_PENDING = 500 — hard cap with oldest-drop</a:t>
            </a:r>
            <a:endParaRPr lang="en-US" sz="1050" dirty="0"/>
          </a:p>
          <a:p>
            <a:pPr marL="0" indent="0">
              <a:lnSpc>
                <a:spcPct val="135000"/>
              </a:lnSpc>
              <a:buNone/>
            </a:pPr>
            <a:r>
              <a:rPr lang="en-US" sz="1050" dirty="0">
                <a:solidFill>
                  <a:srgbClr val="475569"/>
                </a:solidFill>
                <a:latin typeface="Segoe UI" pitchFamily="34" charset="0"/>
                <a:ea typeface="Segoe UI" pitchFamily="34" charset="-122"/>
                <a:cs typeface="Segoe UI" pitchFamily="34" charset="-120"/>
              </a:rPr>
              <a:t>▸ BATCH_DB_INSERT = 25 — bulk MongoDB inserts</a:t>
            </a:r>
            <a:endParaRPr lang="en-US" sz="1050" dirty="0"/>
          </a:p>
          <a:p>
            <a:pPr marL="0" indent="0">
              <a:lnSpc>
                <a:spcPct val="135000"/>
              </a:lnSpc>
              <a:buNone/>
            </a:pPr>
            <a:endParaRPr lang="en-US" sz="1050" dirty="0"/>
          </a:p>
          <a:p>
            <a:pPr marL="0" indent="0">
              <a:lnSpc>
                <a:spcPct val="135000"/>
              </a:lnSpc>
              <a:buNone/>
            </a:pPr>
            <a:r>
              <a:rPr lang="en-US" sz="1050" dirty="0">
                <a:solidFill>
                  <a:srgbClr val="475569"/>
                </a:solidFill>
                <a:latin typeface="Segoe UI" pitchFamily="34" charset="0"/>
                <a:ea typeface="Segoe UI" pitchFamily="34" charset="-122"/>
                <a:cs typeface="Segoe UI" pitchFamily="34" charset="-120"/>
              </a:rPr>
              <a:t>This cuts SSE writes and frontend Zustand updates by ~50×, preventing rendering storms while maintaining real-time feel.</a:t>
            </a:r>
            <a:endParaRPr lang="en-US" sz="1050" dirty="0"/>
          </a:p>
          <a:p>
            <a:pPr marL="0" indent="0">
              <a:lnSpc>
                <a:spcPct val="135000"/>
              </a:lnSpc>
              <a:buNone/>
            </a:pPr>
            <a:endParaRPr lang="en-US" sz="1050" dirty="0"/>
          </a:p>
          <a:p>
            <a:pPr marL="0" indent="0">
              <a:lnSpc>
                <a:spcPct val="135000"/>
              </a:lnSpc>
              <a:buNone/>
            </a:pPr>
            <a:r>
              <a:rPr lang="en-US" sz="1050" dirty="0">
                <a:solidFill>
                  <a:srgbClr val="475569"/>
                </a:solidFill>
                <a:latin typeface="Segoe UI" pitchFamily="34" charset="0"/>
                <a:ea typeface="Segoe UI" pitchFamily="34" charset="-122"/>
                <a:cs typeface="Segoe UI" pitchFamily="34" charset="-120"/>
              </a:rPr>
              <a:t>Database quota guard: if MongoDB exceeds 500MB, the system stops DB writes and streams events in-memory only.</a:t>
            </a:r>
            <a:endParaRPr lang="en-US" sz="1050" dirty="0"/>
          </a:p>
        </p:txBody>
      </p:sp>
      <p:sp>
        <p:nvSpPr>
          <p:cNvPr id="15" name="Shape 13"/>
          <p:cNvSpPr/>
          <p:nvPr/>
        </p:nvSpPr>
        <p:spPr>
          <a:xfrm>
            <a:off x="6263640" y="1417320"/>
            <a:ext cx="5257800" cy="2286000"/>
          </a:xfrm>
          <a:prstGeom prst="roundRect">
            <a:avLst>
              <a:gd name="adj" fmla="val 4800"/>
            </a:avLst>
          </a:prstGeom>
          <a:solidFill>
            <a:srgbClr val="FFFFFF"/>
          </a:solidFill>
          <a:ln w="8890">
            <a:solidFill>
              <a:srgbClr val="E2E8F0"/>
            </a:solidFill>
            <a:prstDash val="solid"/>
          </a:ln>
          <a:effectLst>
            <a:outerShdw blurRad="152400" dist="38100" dir="12000000" algn="bl" rotWithShape="0">
              <a:srgbClr val="94A3B8">
                <a:alpha val="25000"/>
              </a:srgbClr>
            </a:outerShdw>
          </a:effectLst>
        </p:spPr>
        <p:txBody>
          <a:bodyPr/>
          <a:lstStyle/>
          <a:p>
            <a:endParaRPr lang="fr-TN"/>
          </a:p>
        </p:txBody>
      </p:sp>
      <p:sp>
        <p:nvSpPr>
          <p:cNvPr id="16" name="Shape 14"/>
          <p:cNvSpPr/>
          <p:nvPr/>
        </p:nvSpPr>
        <p:spPr>
          <a:xfrm>
            <a:off x="6373368" y="1435608"/>
            <a:ext cx="5038344" cy="36576"/>
          </a:xfrm>
          <a:prstGeom prst="rect">
            <a:avLst/>
          </a:prstGeom>
          <a:solidFill>
            <a:srgbClr val="4F46E5"/>
          </a:solidFill>
          <a:ln/>
        </p:spPr>
        <p:txBody>
          <a:bodyPr/>
          <a:lstStyle/>
          <a:p>
            <a:endParaRPr lang="fr-TN"/>
          </a:p>
        </p:txBody>
      </p:sp>
      <p:sp>
        <p:nvSpPr>
          <p:cNvPr id="17" name="Text 15"/>
          <p:cNvSpPr/>
          <p:nvPr/>
        </p:nvSpPr>
        <p:spPr>
          <a:xfrm>
            <a:off x="6464808" y="1581912"/>
            <a:ext cx="4855464" cy="365760"/>
          </a:xfrm>
          <a:prstGeom prst="rect">
            <a:avLst/>
          </a:prstGeom>
          <a:noFill/>
          <a:ln/>
        </p:spPr>
        <p:txBody>
          <a:bodyPr wrap="square" rtlCol="0" anchor="ctr"/>
          <a:lstStyle/>
          <a:p>
            <a:pPr marL="0" indent="0">
              <a:buNone/>
            </a:pPr>
            <a:r>
              <a:rPr lang="en-US" sz="1400" b="1" dirty="0">
                <a:solidFill>
                  <a:srgbClr val="0F172A"/>
                </a:solidFill>
                <a:latin typeface="Segoe UI" pitchFamily="34" charset="0"/>
                <a:ea typeface="Segoe UI" pitchFamily="34" charset="-122"/>
                <a:cs typeface="Segoe UI" pitchFamily="34" charset="-120"/>
              </a:rPr>
              <a:t>BSON Schema Compression</a:t>
            </a:r>
            <a:endParaRPr lang="en-US" sz="1400" dirty="0"/>
          </a:p>
        </p:txBody>
      </p:sp>
      <p:sp>
        <p:nvSpPr>
          <p:cNvPr id="18" name="Text 16"/>
          <p:cNvSpPr/>
          <p:nvPr/>
        </p:nvSpPr>
        <p:spPr>
          <a:xfrm>
            <a:off x="6464808" y="1984248"/>
            <a:ext cx="4855464" cy="1508760"/>
          </a:xfrm>
          <a:prstGeom prst="rect">
            <a:avLst/>
          </a:prstGeom>
          <a:noFill/>
          <a:ln/>
        </p:spPr>
        <p:txBody>
          <a:bodyPr wrap="square" rtlCol="0" anchor="t"/>
          <a:lstStyle/>
          <a:p>
            <a:pPr marL="0" indent="0">
              <a:lnSpc>
                <a:spcPct val="135000"/>
              </a:lnSpc>
              <a:buNone/>
            </a:pPr>
            <a:r>
              <a:rPr lang="en-US" sz="1050" dirty="0">
                <a:solidFill>
                  <a:srgbClr val="475569"/>
                </a:solidFill>
                <a:latin typeface="Segoe UI" pitchFamily="34" charset="0"/>
                <a:ea typeface="Segoe UI" pitchFamily="34" charset="-122"/>
                <a:cs typeface="Segoe UI" pitchFamily="34" charset="-120"/>
              </a:rPr>
              <a:t>Compact field names shrink each threat document from 200 bytes to 80 bytes (60% reduction):</a:t>
            </a:r>
            <a:endParaRPr lang="en-US" sz="1050" dirty="0"/>
          </a:p>
          <a:p>
            <a:pPr marL="0" indent="0">
              <a:lnSpc>
                <a:spcPct val="135000"/>
              </a:lnSpc>
              <a:buNone/>
            </a:pPr>
            <a:endParaRPr lang="en-US" sz="1050" dirty="0"/>
          </a:p>
          <a:p>
            <a:pPr marL="0" indent="0">
              <a:lnSpc>
                <a:spcPct val="135000"/>
              </a:lnSpc>
              <a:buNone/>
            </a:pPr>
            <a:r>
              <a:rPr lang="en-US" sz="1050" dirty="0">
                <a:solidFill>
                  <a:srgbClr val="475569"/>
                </a:solidFill>
                <a:latin typeface="Segoe UI" pitchFamily="34" charset="0"/>
                <a:ea typeface="Segoe UI" pitchFamily="34" charset="-122"/>
                <a:cs typeface="Segoe UI" pitchFamily="34" charset="-120"/>
              </a:rPr>
              <a:t>▸ a_c (attack count) · a_n (attack name) · a_t (attack type)</a:t>
            </a:r>
            <a:endParaRPr lang="en-US" sz="1050" dirty="0"/>
          </a:p>
          <a:p>
            <a:pPr marL="0" indent="0">
              <a:lnSpc>
                <a:spcPct val="135000"/>
              </a:lnSpc>
              <a:buNone/>
            </a:pPr>
            <a:r>
              <a:rPr lang="en-US" sz="1050" dirty="0">
                <a:solidFill>
                  <a:srgbClr val="475569"/>
                </a:solidFill>
                <a:latin typeface="Segoe UI" pitchFamily="34" charset="0"/>
                <a:ea typeface="Segoe UI" pitchFamily="34" charset="-122"/>
                <a:cs typeface="Segoe UI" pitchFamily="34" charset="-120"/>
              </a:rPr>
              <a:t>▸ s_ip / s_co / s_la / s_lo (source fields)</a:t>
            </a:r>
            <a:endParaRPr lang="en-US" sz="1050" dirty="0"/>
          </a:p>
          <a:p>
            <a:pPr marL="0" indent="0">
              <a:lnSpc>
                <a:spcPct val="135000"/>
              </a:lnSpc>
              <a:buNone/>
            </a:pPr>
            <a:r>
              <a:rPr lang="en-US" sz="1050" dirty="0">
                <a:solidFill>
                  <a:srgbClr val="475569"/>
                </a:solidFill>
                <a:latin typeface="Segoe UI" pitchFamily="34" charset="0"/>
                <a:ea typeface="Segoe UI" pitchFamily="34" charset="-122"/>
                <a:cs typeface="Segoe UI" pitchFamily="34" charset="-120"/>
              </a:rPr>
              <a:t>▸ d_ip / d_co / d_la / d_lo (destination fields)</a:t>
            </a:r>
            <a:endParaRPr lang="en-US" sz="1050" dirty="0"/>
          </a:p>
          <a:p>
            <a:pPr marL="0" indent="0">
              <a:lnSpc>
                <a:spcPct val="135000"/>
              </a:lnSpc>
              <a:buNone/>
            </a:pPr>
            <a:r>
              <a:rPr lang="en-US" sz="1050" dirty="0">
                <a:solidFill>
                  <a:srgbClr val="475569"/>
                </a:solidFill>
                <a:latin typeface="Segoe UI" pitchFamily="34" charset="0"/>
                <a:ea typeface="Segoe UI" pitchFamily="34" charset="-122"/>
                <a:cs typeface="Segoe UI" pitchFamily="34" charset="-120"/>
              </a:rPr>
              <a:t>▸ meta {} (scraper-specific metadata)</a:t>
            </a:r>
            <a:endParaRPr lang="en-US" sz="1050" dirty="0"/>
          </a:p>
        </p:txBody>
      </p:sp>
      <p:sp>
        <p:nvSpPr>
          <p:cNvPr id="19" name="Shape 17"/>
          <p:cNvSpPr/>
          <p:nvPr/>
        </p:nvSpPr>
        <p:spPr>
          <a:xfrm>
            <a:off x="6263640" y="3931920"/>
            <a:ext cx="5257800" cy="2377440"/>
          </a:xfrm>
          <a:prstGeom prst="roundRect">
            <a:avLst>
              <a:gd name="adj" fmla="val 4615"/>
            </a:avLst>
          </a:prstGeom>
          <a:solidFill>
            <a:srgbClr val="FFFFFF"/>
          </a:solidFill>
          <a:ln w="8890">
            <a:solidFill>
              <a:srgbClr val="E2E8F0"/>
            </a:solidFill>
            <a:prstDash val="solid"/>
          </a:ln>
          <a:effectLst>
            <a:outerShdw blurRad="152400" dist="38100" dir="12000000" algn="bl" rotWithShape="0">
              <a:srgbClr val="94A3B8">
                <a:alpha val="25000"/>
              </a:srgbClr>
            </a:outerShdw>
          </a:effectLst>
        </p:spPr>
        <p:txBody>
          <a:bodyPr/>
          <a:lstStyle/>
          <a:p>
            <a:endParaRPr lang="fr-TN"/>
          </a:p>
        </p:txBody>
      </p:sp>
      <p:sp>
        <p:nvSpPr>
          <p:cNvPr id="20" name="Shape 18"/>
          <p:cNvSpPr/>
          <p:nvPr/>
        </p:nvSpPr>
        <p:spPr>
          <a:xfrm>
            <a:off x="6373368" y="3950208"/>
            <a:ext cx="5038344" cy="36576"/>
          </a:xfrm>
          <a:prstGeom prst="rect">
            <a:avLst/>
          </a:prstGeom>
          <a:solidFill>
            <a:srgbClr val="7C3AED"/>
          </a:solidFill>
          <a:ln/>
        </p:spPr>
        <p:txBody>
          <a:bodyPr/>
          <a:lstStyle/>
          <a:p>
            <a:endParaRPr lang="fr-TN"/>
          </a:p>
        </p:txBody>
      </p:sp>
      <p:sp>
        <p:nvSpPr>
          <p:cNvPr id="21" name="Text 19"/>
          <p:cNvSpPr/>
          <p:nvPr/>
        </p:nvSpPr>
        <p:spPr>
          <a:xfrm>
            <a:off x="6464808" y="4096512"/>
            <a:ext cx="4855464" cy="365760"/>
          </a:xfrm>
          <a:prstGeom prst="rect">
            <a:avLst/>
          </a:prstGeom>
          <a:noFill/>
          <a:ln/>
        </p:spPr>
        <p:txBody>
          <a:bodyPr wrap="square" rtlCol="0" anchor="ctr"/>
          <a:lstStyle/>
          <a:p>
            <a:pPr marL="0" indent="0">
              <a:buNone/>
            </a:pPr>
            <a:r>
              <a:rPr lang="en-US" sz="1400" b="1" dirty="0">
                <a:solidFill>
                  <a:srgbClr val="0F172A"/>
                </a:solidFill>
                <a:latin typeface="Segoe UI" pitchFamily="34" charset="0"/>
                <a:ea typeface="Segoe UI" pitchFamily="34" charset="-122"/>
                <a:cs typeface="Segoe UI" pitchFamily="34" charset="-120"/>
              </a:rPr>
              <a:t>Unified Event Schema</a:t>
            </a:r>
            <a:endParaRPr lang="en-US" sz="1400" dirty="0"/>
          </a:p>
        </p:txBody>
      </p:sp>
      <p:sp>
        <p:nvSpPr>
          <p:cNvPr id="22" name="Text 20"/>
          <p:cNvSpPr/>
          <p:nvPr/>
        </p:nvSpPr>
        <p:spPr>
          <a:xfrm>
            <a:off x="6464808" y="4498848"/>
            <a:ext cx="4855464" cy="1600200"/>
          </a:xfrm>
          <a:prstGeom prst="rect">
            <a:avLst/>
          </a:prstGeom>
          <a:noFill/>
          <a:ln/>
        </p:spPr>
        <p:txBody>
          <a:bodyPr wrap="square" rtlCol="0" anchor="t"/>
          <a:lstStyle/>
          <a:p>
            <a:pPr marL="0" indent="0">
              <a:lnSpc>
                <a:spcPct val="135000"/>
              </a:lnSpc>
              <a:buNone/>
            </a:pPr>
            <a:r>
              <a:rPr lang="en-US" sz="1050" dirty="0">
                <a:solidFill>
                  <a:srgbClr val="475569"/>
                </a:solidFill>
                <a:latin typeface="Segoe UI" pitchFamily="34" charset="0"/>
                <a:ea typeface="Segoe UI" pitchFamily="34" charset="-122"/>
                <a:cs typeface="Segoe UI" pitchFamily="34" charset="-120"/>
              </a:rPr>
              <a:t>All 9 scrapers map vendor-specific formats to a single ThreatEvent model. Each scraper handles protocol-specific parsing (SSE JSON, WebSocket payloads, REST responses) and normalizes to unified coordinates + attack metadata.</a:t>
            </a:r>
            <a:endParaRPr lang="en-US" sz="1050" dirty="0"/>
          </a:p>
          <a:p>
            <a:pPr marL="0" indent="0">
              <a:lnSpc>
                <a:spcPct val="135000"/>
              </a:lnSpc>
              <a:buNone/>
            </a:pPr>
            <a:endParaRPr lang="en-US" sz="1050" dirty="0"/>
          </a:p>
          <a:p>
            <a:pPr marL="0" indent="0">
              <a:lnSpc>
                <a:spcPct val="135000"/>
              </a:lnSpc>
              <a:buNone/>
            </a:pPr>
            <a:r>
              <a:rPr lang="en-US" sz="1050" dirty="0">
                <a:solidFill>
                  <a:srgbClr val="475569"/>
                </a:solidFill>
                <a:latin typeface="Segoe UI" pitchFamily="34" charset="0"/>
                <a:ea typeface="Segoe UI" pitchFamily="34" charset="-122"/>
                <a:cs typeface="Segoe UI" pitchFamily="34" charset="-120"/>
              </a:rPr>
              <a:t>▸ Country code normalization (RF → RU)</a:t>
            </a:r>
            <a:endParaRPr lang="en-US" sz="1050" dirty="0"/>
          </a:p>
          <a:p>
            <a:pPr marL="0" indent="0">
              <a:lnSpc>
                <a:spcPct val="135000"/>
              </a:lnSpc>
              <a:buNone/>
            </a:pPr>
            <a:r>
              <a:rPr lang="en-US" sz="1050" dirty="0">
                <a:solidFill>
                  <a:srgbClr val="475569"/>
                </a:solidFill>
                <a:latin typeface="Segoe UI" pitchFamily="34" charset="0"/>
                <a:ea typeface="Segoe UI" pitchFamily="34" charset="-122"/>
                <a:cs typeface="Segoe UI" pitchFamily="34" charset="-120"/>
              </a:rPr>
              <a:t>▸ Same-region jitter for overlapping coordinates</a:t>
            </a:r>
            <a:endParaRPr lang="en-US" sz="1050" dirty="0"/>
          </a:p>
          <a:p>
            <a:pPr marL="0" indent="0">
              <a:lnSpc>
                <a:spcPct val="135000"/>
              </a:lnSpc>
              <a:buNone/>
            </a:pPr>
            <a:r>
              <a:rPr lang="en-US" sz="1050" dirty="0">
                <a:solidFill>
                  <a:srgbClr val="475569"/>
                </a:solidFill>
                <a:latin typeface="Segoe UI" pitchFamily="34" charset="0"/>
                <a:ea typeface="Segoe UI" pitchFamily="34" charset="-122"/>
                <a:cs typeface="Segoe UI" pitchFamily="34" charset="-120"/>
              </a:rPr>
              <a:t>▸ 30-day MongoDB TTL index auto-expiry</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2188952" cy="45720"/>
          </a:xfrm>
          <a:prstGeom prst="rect">
            <a:avLst/>
          </a:prstGeom>
          <a:solidFill>
            <a:srgbClr val="2563EB"/>
          </a:solidFill>
          <a:ln/>
        </p:spPr>
        <p:txBody>
          <a:bodyPr/>
          <a:lstStyle/>
          <a:p>
            <a:endParaRPr lang="fr-TN"/>
          </a:p>
        </p:txBody>
      </p:sp>
      <p:sp>
        <p:nvSpPr>
          <p:cNvPr id="3" name="Shape 1"/>
          <p:cNvSpPr/>
          <p:nvPr/>
        </p:nvSpPr>
        <p:spPr>
          <a:xfrm>
            <a:off x="10972800" y="274320"/>
            <a:ext cx="914400" cy="1829"/>
          </a:xfrm>
          <a:prstGeom prst="rect">
            <a:avLst/>
          </a:prstGeom>
          <a:solidFill>
            <a:srgbClr val="E2E8F0"/>
          </a:solidFill>
          <a:ln/>
        </p:spPr>
        <p:txBody>
          <a:bodyPr/>
          <a:lstStyle/>
          <a:p>
            <a:endParaRPr lang="fr-TN"/>
          </a:p>
        </p:txBody>
      </p:sp>
      <p:sp>
        <p:nvSpPr>
          <p:cNvPr id="4" name="Shape 2"/>
          <p:cNvSpPr/>
          <p:nvPr/>
        </p:nvSpPr>
        <p:spPr>
          <a:xfrm>
            <a:off x="11868912" y="274320"/>
            <a:ext cx="1829" cy="640080"/>
          </a:xfrm>
          <a:prstGeom prst="rect">
            <a:avLst/>
          </a:prstGeom>
          <a:solidFill>
            <a:srgbClr val="E2E8F0"/>
          </a:solidFill>
          <a:ln/>
        </p:spPr>
        <p:txBody>
          <a:bodyPr/>
          <a:lstStyle/>
          <a:p>
            <a:endParaRPr lang="fr-TN"/>
          </a:p>
        </p:txBody>
      </p:sp>
      <p:sp>
        <p:nvSpPr>
          <p:cNvPr id="5" name="Shape 3"/>
          <p:cNvSpPr/>
          <p:nvPr/>
        </p:nvSpPr>
        <p:spPr>
          <a:xfrm>
            <a:off x="320040" y="6537960"/>
            <a:ext cx="1829" cy="274320"/>
          </a:xfrm>
          <a:prstGeom prst="rect">
            <a:avLst/>
          </a:prstGeom>
          <a:solidFill>
            <a:srgbClr val="E2E8F0"/>
          </a:solidFill>
          <a:ln/>
        </p:spPr>
        <p:txBody>
          <a:bodyPr/>
          <a:lstStyle/>
          <a:p>
            <a:endParaRPr lang="fr-TN"/>
          </a:p>
        </p:txBody>
      </p:sp>
      <p:sp>
        <p:nvSpPr>
          <p:cNvPr id="6" name="Shape 4"/>
          <p:cNvSpPr/>
          <p:nvPr/>
        </p:nvSpPr>
        <p:spPr>
          <a:xfrm>
            <a:off x="320040" y="6537960"/>
            <a:ext cx="640080" cy="1829"/>
          </a:xfrm>
          <a:prstGeom prst="rect">
            <a:avLst/>
          </a:prstGeom>
          <a:solidFill>
            <a:srgbClr val="E2E8F0"/>
          </a:solidFill>
          <a:ln/>
        </p:spPr>
        <p:txBody>
          <a:bodyPr/>
          <a:lstStyle/>
          <a:p>
            <a:endParaRPr lang="fr-TN"/>
          </a:p>
        </p:txBody>
      </p:sp>
      <p:sp>
        <p:nvSpPr>
          <p:cNvPr id="7" name="Text 5"/>
          <p:cNvSpPr/>
          <p:nvPr/>
        </p:nvSpPr>
        <p:spPr>
          <a:xfrm>
            <a:off x="731520" y="274320"/>
            <a:ext cx="10515600" cy="256032"/>
          </a:xfrm>
          <a:prstGeom prst="rect">
            <a:avLst/>
          </a:prstGeom>
          <a:noFill/>
          <a:ln/>
        </p:spPr>
        <p:txBody>
          <a:bodyPr wrap="square" rtlCol="0" anchor="ctr"/>
          <a:lstStyle/>
          <a:p>
            <a:pPr marL="0" indent="0">
              <a:buNone/>
            </a:pPr>
            <a:r>
              <a:rPr lang="en-US" sz="900" b="1" dirty="0">
                <a:solidFill>
                  <a:srgbClr val="2563EB"/>
                </a:solidFill>
                <a:latin typeface="Segoe UI" pitchFamily="34" charset="0"/>
                <a:ea typeface="Segoe UI" pitchFamily="34" charset="-122"/>
                <a:cs typeface="Segoe UI" pitchFamily="34" charset="-120"/>
              </a:rPr>
              <a:t>CHAPTER 4 — SPRINTS 3 &amp; 4</a:t>
            </a:r>
            <a:endParaRPr lang="en-US" sz="900" dirty="0"/>
          </a:p>
        </p:txBody>
      </p:sp>
      <p:sp>
        <p:nvSpPr>
          <p:cNvPr id="8" name="Text 6"/>
          <p:cNvSpPr/>
          <p:nvPr/>
        </p:nvSpPr>
        <p:spPr>
          <a:xfrm>
            <a:off x="731520" y="548640"/>
            <a:ext cx="10515600" cy="502920"/>
          </a:xfrm>
          <a:prstGeom prst="rect">
            <a:avLst/>
          </a:prstGeom>
          <a:noFill/>
          <a:ln/>
        </p:spPr>
        <p:txBody>
          <a:bodyPr wrap="square" rtlCol="0" anchor="ctr"/>
          <a:lstStyle/>
          <a:p>
            <a:pPr marL="0" indent="0">
              <a:buNone/>
            </a:pPr>
            <a:r>
              <a:rPr lang="en-US" sz="3000" b="1" dirty="0">
                <a:solidFill>
                  <a:srgbClr val="0F172A"/>
                </a:solidFill>
                <a:latin typeface="Segoe UI" pitchFamily="34" charset="0"/>
                <a:ea typeface="Segoe UI" pitchFamily="34" charset="-122"/>
                <a:cs typeface="Segoe UI" pitchFamily="34" charset="-120"/>
              </a:rPr>
              <a:t>STIX Intelligence, MITRE Mapping &amp; Performance</a:t>
            </a:r>
            <a:endParaRPr lang="en-US" sz="3000" dirty="0"/>
          </a:p>
        </p:txBody>
      </p:sp>
      <p:sp>
        <p:nvSpPr>
          <p:cNvPr id="9" name="Shape 7"/>
          <p:cNvSpPr/>
          <p:nvPr/>
        </p:nvSpPr>
        <p:spPr>
          <a:xfrm>
            <a:off x="731520" y="1115568"/>
            <a:ext cx="1828800" cy="32004"/>
          </a:xfrm>
          <a:prstGeom prst="rect">
            <a:avLst/>
          </a:prstGeom>
          <a:solidFill>
            <a:srgbClr val="2563EB"/>
          </a:solidFill>
          <a:ln/>
        </p:spPr>
        <p:txBody>
          <a:bodyPr/>
          <a:lstStyle/>
          <a:p>
            <a:endParaRPr lang="fr-TN"/>
          </a:p>
        </p:txBody>
      </p:sp>
      <p:sp>
        <p:nvSpPr>
          <p:cNvPr id="10" name="Shape 8"/>
          <p:cNvSpPr/>
          <p:nvPr/>
        </p:nvSpPr>
        <p:spPr>
          <a:xfrm>
            <a:off x="2651760" y="1124712"/>
            <a:ext cx="8778240" cy="10973"/>
          </a:xfrm>
          <a:prstGeom prst="rect">
            <a:avLst/>
          </a:prstGeom>
          <a:solidFill>
            <a:srgbClr val="E2E8F0"/>
          </a:solidFill>
          <a:ln/>
        </p:spPr>
        <p:txBody>
          <a:bodyPr/>
          <a:lstStyle/>
          <a:p>
            <a:endParaRPr lang="fr-TN"/>
          </a:p>
        </p:txBody>
      </p:sp>
      <p:sp>
        <p:nvSpPr>
          <p:cNvPr id="11" name="Shape 9"/>
          <p:cNvSpPr/>
          <p:nvPr/>
        </p:nvSpPr>
        <p:spPr>
          <a:xfrm>
            <a:off x="685800" y="1417320"/>
            <a:ext cx="3520440" cy="4892040"/>
          </a:xfrm>
          <a:prstGeom prst="roundRect">
            <a:avLst>
              <a:gd name="adj" fmla="val 3117"/>
            </a:avLst>
          </a:prstGeom>
          <a:solidFill>
            <a:srgbClr val="FFFFFF"/>
          </a:solidFill>
          <a:ln w="7620">
            <a:solidFill>
              <a:srgbClr val="E2E8F0"/>
            </a:solidFill>
            <a:prstDash val="solid"/>
          </a:ln>
          <a:effectLst>
            <a:outerShdw blurRad="152400" dist="38100" dir="12000000" algn="bl" rotWithShape="0">
              <a:srgbClr val="94A3B8">
                <a:alpha val="20000"/>
              </a:srgbClr>
            </a:outerShdw>
          </a:effectLst>
        </p:spPr>
        <p:txBody>
          <a:bodyPr/>
          <a:lstStyle/>
          <a:p>
            <a:endParaRPr lang="fr-TN"/>
          </a:p>
        </p:txBody>
      </p:sp>
      <p:sp>
        <p:nvSpPr>
          <p:cNvPr id="12" name="Shape 10"/>
          <p:cNvSpPr/>
          <p:nvPr/>
        </p:nvSpPr>
        <p:spPr>
          <a:xfrm>
            <a:off x="777240" y="1435608"/>
            <a:ext cx="3337560" cy="36576"/>
          </a:xfrm>
          <a:prstGeom prst="rect">
            <a:avLst/>
          </a:prstGeom>
          <a:solidFill>
            <a:srgbClr val="2563EB"/>
          </a:solidFill>
          <a:ln/>
        </p:spPr>
        <p:txBody>
          <a:bodyPr/>
          <a:lstStyle/>
          <a:p>
            <a:endParaRPr lang="fr-TN"/>
          </a:p>
        </p:txBody>
      </p:sp>
      <p:sp>
        <p:nvSpPr>
          <p:cNvPr id="13" name="Text 11"/>
          <p:cNvSpPr/>
          <p:nvPr/>
        </p:nvSpPr>
        <p:spPr>
          <a:xfrm>
            <a:off x="868680" y="1691640"/>
            <a:ext cx="3154680" cy="457200"/>
          </a:xfrm>
          <a:prstGeom prst="rect">
            <a:avLst/>
          </a:prstGeom>
          <a:noFill/>
          <a:ln/>
        </p:spPr>
        <p:txBody>
          <a:bodyPr wrap="square" rtlCol="0" anchor="ctr"/>
          <a:lstStyle/>
          <a:p>
            <a:pPr marL="0" indent="0">
              <a:buNone/>
            </a:pPr>
            <a:r>
              <a:rPr lang="en-US" sz="1400" b="1" dirty="0">
                <a:solidFill>
                  <a:srgbClr val="0F172A"/>
                </a:solidFill>
                <a:latin typeface="Segoe UI" pitchFamily="34" charset="0"/>
                <a:ea typeface="Segoe UI" pitchFamily="34" charset="-122"/>
                <a:cs typeface="Segoe UI" pitchFamily="34" charset="-120"/>
              </a:rPr>
              <a:t>STIX 2.1 Workspace</a:t>
            </a:r>
            <a:endParaRPr lang="en-US" sz="1400" dirty="0"/>
          </a:p>
        </p:txBody>
      </p:sp>
      <p:sp>
        <p:nvSpPr>
          <p:cNvPr id="14" name="Shape 12"/>
          <p:cNvSpPr/>
          <p:nvPr/>
        </p:nvSpPr>
        <p:spPr>
          <a:xfrm>
            <a:off x="868680" y="2240280"/>
            <a:ext cx="3154680" cy="10973"/>
          </a:xfrm>
          <a:prstGeom prst="rect">
            <a:avLst/>
          </a:prstGeom>
          <a:solidFill>
            <a:srgbClr val="2563EB">
              <a:alpha val="40000"/>
            </a:srgbClr>
          </a:solidFill>
          <a:ln/>
        </p:spPr>
        <p:txBody>
          <a:bodyPr/>
          <a:lstStyle/>
          <a:p>
            <a:endParaRPr lang="fr-TN"/>
          </a:p>
        </p:txBody>
      </p:sp>
      <p:sp>
        <p:nvSpPr>
          <p:cNvPr id="15" name="Text 13"/>
          <p:cNvSpPr/>
          <p:nvPr/>
        </p:nvSpPr>
        <p:spPr>
          <a:xfrm>
            <a:off x="868680" y="2468880"/>
            <a:ext cx="3154680" cy="3474720"/>
          </a:xfrm>
          <a:prstGeom prst="rect">
            <a:avLst/>
          </a:prstGeom>
          <a:noFill/>
          <a:ln/>
        </p:spPr>
        <p:txBody>
          <a:bodyPr wrap="square" rtlCol="0" anchor="t"/>
          <a:lstStyle/>
          <a:p>
            <a:pPr marL="0" indent="0">
              <a:lnSpc>
                <a:spcPct val="140000"/>
              </a:lnSpc>
              <a:buNone/>
            </a:pPr>
            <a:r>
              <a:rPr lang="en-US" sz="1050" dirty="0">
                <a:solidFill>
                  <a:srgbClr val="475569"/>
                </a:solidFill>
                <a:latin typeface="Segoe UI" pitchFamily="34" charset="0"/>
                <a:ea typeface="Segoe UI" pitchFamily="34" charset="-122"/>
                <a:cs typeface="Segoe UI" pitchFamily="34" charset="-120"/>
              </a:rPr>
              <a:t>▸ Client-side JSON parser processes files in browser (zero server upload ensures analyst privacy).</a:t>
            </a:r>
            <a:endParaRPr lang="en-US" sz="1050" dirty="0"/>
          </a:p>
          <a:p>
            <a:pPr marL="0" indent="0">
              <a:lnSpc>
                <a:spcPct val="140000"/>
              </a:lnSpc>
              <a:buNone/>
            </a:pPr>
            <a:endParaRPr lang="en-US" sz="1050" dirty="0"/>
          </a:p>
          <a:p>
            <a:pPr marL="0" indent="0">
              <a:lnSpc>
                <a:spcPct val="140000"/>
              </a:lnSpc>
              <a:buNone/>
            </a:pPr>
            <a:r>
              <a:rPr lang="en-US" sz="1050" dirty="0">
                <a:solidFill>
                  <a:srgbClr val="475569"/>
                </a:solidFill>
                <a:latin typeface="Segoe UI" pitchFamily="34" charset="0"/>
                <a:ea typeface="Segoe UI" pitchFamily="34" charset="-122"/>
                <a:cs typeface="Segoe UI" pitchFamily="34" charset="-120"/>
              </a:rPr>
              <a:t>▸ Interactive D3 Force-Directed Graph visualizes object relationships using Verlet integration physics.</a:t>
            </a:r>
            <a:endParaRPr lang="en-US" sz="1050" dirty="0"/>
          </a:p>
        </p:txBody>
      </p:sp>
      <p:sp>
        <p:nvSpPr>
          <p:cNvPr id="16" name="Shape 14"/>
          <p:cNvSpPr/>
          <p:nvPr/>
        </p:nvSpPr>
        <p:spPr>
          <a:xfrm>
            <a:off x="4434840" y="1417320"/>
            <a:ext cx="3520440" cy="4892040"/>
          </a:xfrm>
          <a:prstGeom prst="roundRect">
            <a:avLst>
              <a:gd name="adj" fmla="val 3117"/>
            </a:avLst>
          </a:prstGeom>
          <a:solidFill>
            <a:srgbClr val="FFFFFF"/>
          </a:solidFill>
          <a:ln w="7620">
            <a:solidFill>
              <a:srgbClr val="E2E8F0"/>
            </a:solidFill>
            <a:prstDash val="solid"/>
          </a:ln>
          <a:effectLst>
            <a:outerShdw blurRad="152400" dist="38100" dir="12000000" algn="bl" rotWithShape="0">
              <a:srgbClr val="94A3B8">
                <a:alpha val="20000"/>
              </a:srgbClr>
            </a:outerShdw>
          </a:effectLst>
        </p:spPr>
        <p:txBody>
          <a:bodyPr/>
          <a:lstStyle/>
          <a:p>
            <a:endParaRPr lang="fr-TN"/>
          </a:p>
        </p:txBody>
      </p:sp>
      <p:sp>
        <p:nvSpPr>
          <p:cNvPr id="17" name="Shape 15"/>
          <p:cNvSpPr/>
          <p:nvPr/>
        </p:nvSpPr>
        <p:spPr>
          <a:xfrm>
            <a:off x="4526280" y="1435608"/>
            <a:ext cx="3337560" cy="36576"/>
          </a:xfrm>
          <a:prstGeom prst="rect">
            <a:avLst/>
          </a:prstGeom>
          <a:solidFill>
            <a:srgbClr val="4F46E5"/>
          </a:solidFill>
          <a:ln/>
        </p:spPr>
        <p:txBody>
          <a:bodyPr/>
          <a:lstStyle/>
          <a:p>
            <a:endParaRPr lang="fr-TN"/>
          </a:p>
        </p:txBody>
      </p:sp>
      <p:sp>
        <p:nvSpPr>
          <p:cNvPr id="18" name="Text 16"/>
          <p:cNvSpPr/>
          <p:nvPr/>
        </p:nvSpPr>
        <p:spPr>
          <a:xfrm>
            <a:off x="4617720" y="1691640"/>
            <a:ext cx="3154680" cy="457200"/>
          </a:xfrm>
          <a:prstGeom prst="rect">
            <a:avLst/>
          </a:prstGeom>
          <a:noFill/>
          <a:ln/>
        </p:spPr>
        <p:txBody>
          <a:bodyPr wrap="square" rtlCol="0" anchor="ctr"/>
          <a:lstStyle/>
          <a:p>
            <a:pPr marL="0" indent="0">
              <a:buNone/>
            </a:pPr>
            <a:r>
              <a:rPr lang="en-US" sz="1400" b="1" dirty="0">
                <a:solidFill>
                  <a:srgbClr val="0F172A"/>
                </a:solidFill>
                <a:latin typeface="Segoe UI" pitchFamily="34" charset="0"/>
                <a:ea typeface="Segoe UI" pitchFamily="34" charset="-122"/>
                <a:cs typeface="Segoe UI" pitchFamily="34" charset="-120"/>
              </a:rPr>
              <a:t>MITRE ATT&amp;CK Matrix</a:t>
            </a:r>
            <a:endParaRPr lang="en-US" sz="1400" dirty="0"/>
          </a:p>
        </p:txBody>
      </p:sp>
      <p:sp>
        <p:nvSpPr>
          <p:cNvPr id="19" name="Shape 17"/>
          <p:cNvSpPr/>
          <p:nvPr/>
        </p:nvSpPr>
        <p:spPr>
          <a:xfrm>
            <a:off x="4617720" y="2240280"/>
            <a:ext cx="3154680" cy="10973"/>
          </a:xfrm>
          <a:prstGeom prst="rect">
            <a:avLst/>
          </a:prstGeom>
          <a:solidFill>
            <a:srgbClr val="4F46E5">
              <a:alpha val="40000"/>
            </a:srgbClr>
          </a:solidFill>
          <a:ln/>
        </p:spPr>
        <p:txBody>
          <a:bodyPr/>
          <a:lstStyle/>
          <a:p>
            <a:endParaRPr lang="fr-TN"/>
          </a:p>
        </p:txBody>
      </p:sp>
      <p:sp>
        <p:nvSpPr>
          <p:cNvPr id="20" name="Text 18"/>
          <p:cNvSpPr/>
          <p:nvPr/>
        </p:nvSpPr>
        <p:spPr>
          <a:xfrm>
            <a:off x="4617720" y="2468880"/>
            <a:ext cx="3154680" cy="3474720"/>
          </a:xfrm>
          <a:prstGeom prst="rect">
            <a:avLst/>
          </a:prstGeom>
          <a:noFill/>
          <a:ln/>
        </p:spPr>
        <p:txBody>
          <a:bodyPr wrap="square" rtlCol="0" anchor="t"/>
          <a:lstStyle/>
          <a:p>
            <a:pPr marL="0" indent="0">
              <a:lnSpc>
                <a:spcPct val="140000"/>
              </a:lnSpc>
              <a:buNone/>
            </a:pPr>
            <a:r>
              <a:rPr lang="en-US" sz="1050" dirty="0">
                <a:solidFill>
                  <a:srgbClr val="475569"/>
                </a:solidFill>
                <a:latin typeface="Segoe UI" pitchFamily="34" charset="0"/>
                <a:ea typeface="Segoe UI" pitchFamily="34" charset="-122"/>
                <a:cs typeface="Segoe UI" pitchFamily="34" charset="-120"/>
              </a:rPr>
              <a:t>▸ Maps parsed STIX indicators to 12 ATT&amp;CK kill chain phases.</a:t>
            </a:r>
            <a:endParaRPr lang="en-US" sz="1050" dirty="0"/>
          </a:p>
          <a:p>
            <a:pPr marL="0" indent="0">
              <a:lnSpc>
                <a:spcPct val="140000"/>
              </a:lnSpc>
              <a:buNone/>
            </a:pPr>
            <a:endParaRPr lang="en-US" sz="1050" dirty="0"/>
          </a:p>
          <a:p>
            <a:pPr marL="0" indent="0">
              <a:lnSpc>
                <a:spcPct val="140000"/>
              </a:lnSpc>
              <a:buNone/>
            </a:pPr>
            <a:r>
              <a:rPr lang="en-US" sz="1050" dirty="0">
                <a:solidFill>
                  <a:srgbClr val="475569"/>
                </a:solidFill>
                <a:latin typeface="Segoe UI" pitchFamily="34" charset="0"/>
                <a:ea typeface="Segoe UI" pitchFamily="34" charset="-122"/>
                <a:cs typeface="Segoe UI" pitchFamily="34" charset="-120"/>
              </a:rPr>
              <a:t>▸ Real-time aggregations highlight critical adversary tactics and techniques.</a:t>
            </a:r>
            <a:endParaRPr lang="en-US" sz="1050" dirty="0"/>
          </a:p>
        </p:txBody>
      </p:sp>
      <p:sp>
        <p:nvSpPr>
          <p:cNvPr id="21" name="Shape 19"/>
          <p:cNvSpPr/>
          <p:nvPr/>
        </p:nvSpPr>
        <p:spPr>
          <a:xfrm>
            <a:off x="8183880" y="1417320"/>
            <a:ext cx="3520440" cy="4892040"/>
          </a:xfrm>
          <a:prstGeom prst="roundRect">
            <a:avLst>
              <a:gd name="adj" fmla="val 3117"/>
            </a:avLst>
          </a:prstGeom>
          <a:solidFill>
            <a:srgbClr val="FFFFFF"/>
          </a:solidFill>
          <a:ln w="7620">
            <a:solidFill>
              <a:srgbClr val="E2E8F0"/>
            </a:solidFill>
            <a:prstDash val="solid"/>
          </a:ln>
          <a:effectLst>
            <a:outerShdw blurRad="152400" dist="38100" dir="12000000" algn="bl" rotWithShape="0">
              <a:srgbClr val="94A3B8">
                <a:alpha val="20000"/>
              </a:srgbClr>
            </a:outerShdw>
          </a:effectLst>
        </p:spPr>
        <p:txBody>
          <a:bodyPr/>
          <a:lstStyle/>
          <a:p>
            <a:endParaRPr lang="fr-TN"/>
          </a:p>
        </p:txBody>
      </p:sp>
      <p:sp>
        <p:nvSpPr>
          <p:cNvPr id="22" name="Shape 20"/>
          <p:cNvSpPr/>
          <p:nvPr/>
        </p:nvSpPr>
        <p:spPr>
          <a:xfrm>
            <a:off x="8275320" y="1435608"/>
            <a:ext cx="3337560" cy="36576"/>
          </a:xfrm>
          <a:prstGeom prst="rect">
            <a:avLst/>
          </a:prstGeom>
          <a:solidFill>
            <a:srgbClr val="059669"/>
          </a:solidFill>
          <a:ln/>
        </p:spPr>
        <p:txBody>
          <a:bodyPr/>
          <a:lstStyle/>
          <a:p>
            <a:endParaRPr lang="fr-TN"/>
          </a:p>
        </p:txBody>
      </p:sp>
      <p:sp>
        <p:nvSpPr>
          <p:cNvPr id="23" name="Text 21"/>
          <p:cNvSpPr/>
          <p:nvPr/>
        </p:nvSpPr>
        <p:spPr>
          <a:xfrm>
            <a:off x="8366760" y="1691640"/>
            <a:ext cx="3154680" cy="457200"/>
          </a:xfrm>
          <a:prstGeom prst="rect">
            <a:avLst/>
          </a:prstGeom>
          <a:noFill/>
          <a:ln/>
        </p:spPr>
        <p:txBody>
          <a:bodyPr wrap="square" rtlCol="0" anchor="ctr"/>
          <a:lstStyle/>
          <a:p>
            <a:pPr marL="0" indent="0">
              <a:buNone/>
            </a:pPr>
            <a:r>
              <a:rPr lang="en-US" sz="1400" b="1" dirty="0">
                <a:solidFill>
                  <a:srgbClr val="0F172A"/>
                </a:solidFill>
                <a:latin typeface="Segoe UI" pitchFamily="34" charset="0"/>
                <a:ea typeface="Segoe UI" pitchFamily="34" charset="-122"/>
                <a:cs typeface="Segoe UI" pitchFamily="34" charset="-120"/>
              </a:rPr>
              <a:t>Performance Guardrails</a:t>
            </a:r>
            <a:endParaRPr lang="en-US" sz="1400" dirty="0"/>
          </a:p>
        </p:txBody>
      </p:sp>
      <p:sp>
        <p:nvSpPr>
          <p:cNvPr id="24" name="Shape 22"/>
          <p:cNvSpPr/>
          <p:nvPr/>
        </p:nvSpPr>
        <p:spPr>
          <a:xfrm>
            <a:off x="8366760" y="2240280"/>
            <a:ext cx="3154680" cy="10973"/>
          </a:xfrm>
          <a:prstGeom prst="rect">
            <a:avLst/>
          </a:prstGeom>
          <a:solidFill>
            <a:srgbClr val="059669">
              <a:alpha val="40000"/>
            </a:srgbClr>
          </a:solidFill>
          <a:ln/>
        </p:spPr>
        <p:txBody>
          <a:bodyPr/>
          <a:lstStyle/>
          <a:p>
            <a:endParaRPr lang="fr-TN"/>
          </a:p>
        </p:txBody>
      </p:sp>
      <p:sp>
        <p:nvSpPr>
          <p:cNvPr id="25" name="Text 23"/>
          <p:cNvSpPr/>
          <p:nvPr/>
        </p:nvSpPr>
        <p:spPr>
          <a:xfrm>
            <a:off x="8366760" y="2468880"/>
            <a:ext cx="3154680" cy="3474720"/>
          </a:xfrm>
          <a:prstGeom prst="rect">
            <a:avLst/>
          </a:prstGeom>
          <a:noFill/>
          <a:ln/>
        </p:spPr>
        <p:txBody>
          <a:bodyPr wrap="square" rtlCol="0" anchor="t"/>
          <a:lstStyle/>
          <a:p>
            <a:pPr marL="0" indent="0">
              <a:lnSpc>
                <a:spcPct val="140000"/>
              </a:lnSpc>
              <a:buNone/>
            </a:pPr>
            <a:r>
              <a:rPr lang="en-US" sz="1050" dirty="0">
                <a:solidFill>
                  <a:srgbClr val="475569"/>
                </a:solidFill>
                <a:latin typeface="Segoe UI" pitchFamily="34" charset="0"/>
                <a:ea typeface="Segoe UI" pitchFamily="34" charset="-122"/>
                <a:cs typeface="Segoe UI" pitchFamily="34" charset="-120"/>
              </a:rPr>
              <a:t>▸ Circular RingBuffer manages memory in O(1) time with 10,000-event cap.</a:t>
            </a:r>
            <a:endParaRPr lang="en-US" sz="1050" dirty="0"/>
          </a:p>
          <a:p>
            <a:pPr marL="0" indent="0">
              <a:lnSpc>
                <a:spcPct val="140000"/>
              </a:lnSpc>
              <a:buNone/>
            </a:pPr>
            <a:endParaRPr lang="en-US" sz="1050" dirty="0"/>
          </a:p>
          <a:p>
            <a:pPr marL="0" indent="0">
              <a:lnSpc>
                <a:spcPct val="140000"/>
              </a:lnSpc>
              <a:buNone/>
            </a:pPr>
            <a:r>
              <a:rPr lang="en-US" sz="1050" dirty="0">
                <a:solidFill>
                  <a:srgbClr val="475569"/>
                </a:solidFill>
                <a:latin typeface="Segoe UI" pitchFamily="34" charset="0"/>
                <a:ea typeface="Segoe UI" pitchFamily="34" charset="-122"/>
                <a:cs typeface="Segoe UI" pitchFamily="34" charset="-120"/>
              </a:rPr>
              <a:t>▸ Adaptive Event Sampling: FPS &lt; 55 → drop 50%; FPS &lt; 30 → drop 75% for smoothness.</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2188952" cy="45720"/>
          </a:xfrm>
          <a:prstGeom prst="rect">
            <a:avLst/>
          </a:prstGeom>
          <a:solidFill>
            <a:srgbClr val="2563EB"/>
          </a:solidFill>
          <a:ln/>
        </p:spPr>
        <p:txBody>
          <a:bodyPr/>
          <a:lstStyle/>
          <a:p>
            <a:endParaRPr lang="fr-TN"/>
          </a:p>
        </p:txBody>
      </p:sp>
      <p:sp>
        <p:nvSpPr>
          <p:cNvPr id="3" name="Shape 1"/>
          <p:cNvSpPr/>
          <p:nvPr/>
        </p:nvSpPr>
        <p:spPr>
          <a:xfrm>
            <a:off x="10972800" y="274320"/>
            <a:ext cx="914400" cy="1829"/>
          </a:xfrm>
          <a:prstGeom prst="rect">
            <a:avLst/>
          </a:prstGeom>
          <a:solidFill>
            <a:srgbClr val="E2E8F0"/>
          </a:solidFill>
          <a:ln/>
        </p:spPr>
        <p:txBody>
          <a:bodyPr/>
          <a:lstStyle/>
          <a:p>
            <a:endParaRPr lang="fr-TN"/>
          </a:p>
        </p:txBody>
      </p:sp>
      <p:sp>
        <p:nvSpPr>
          <p:cNvPr id="4" name="Shape 2"/>
          <p:cNvSpPr/>
          <p:nvPr/>
        </p:nvSpPr>
        <p:spPr>
          <a:xfrm>
            <a:off x="11868912" y="274320"/>
            <a:ext cx="1829" cy="640080"/>
          </a:xfrm>
          <a:prstGeom prst="rect">
            <a:avLst/>
          </a:prstGeom>
          <a:solidFill>
            <a:srgbClr val="E2E8F0"/>
          </a:solidFill>
          <a:ln/>
        </p:spPr>
        <p:txBody>
          <a:bodyPr/>
          <a:lstStyle/>
          <a:p>
            <a:endParaRPr lang="fr-TN"/>
          </a:p>
        </p:txBody>
      </p:sp>
      <p:sp>
        <p:nvSpPr>
          <p:cNvPr id="5" name="Shape 3"/>
          <p:cNvSpPr/>
          <p:nvPr/>
        </p:nvSpPr>
        <p:spPr>
          <a:xfrm>
            <a:off x="320040" y="6537960"/>
            <a:ext cx="1829" cy="274320"/>
          </a:xfrm>
          <a:prstGeom prst="rect">
            <a:avLst/>
          </a:prstGeom>
          <a:solidFill>
            <a:srgbClr val="E2E8F0"/>
          </a:solidFill>
          <a:ln/>
        </p:spPr>
        <p:txBody>
          <a:bodyPr/>
          <a:lstStyle/>
          <a:p>
            <a:endParaRPr lang="fr-TN"/>
          </a:p>
        </p:txBody>
      </p:sp>
      <p:sp>
        <p:nvSpPr>
          <p:cNvPr id="6" name="Shape 4"/>
          <p:cNvSpPr/>
          <p:nvPr/>
        </p:nvSpPr>
        <p:spPr>
          <a:xfrm>
            <a:off x="320040" y="6537960"/>
            <a:ext cx="640080" cy="1829"/>
          </a:xfrm>
          <a:prstGeom prst="rect">
            <a:avLst/>
          </a:prstGeom>
          <a:solidFill>
            <a:srgbClr val="E2E8F0"/>
          </a:solidFill>
          <a:ln/>
        </p:spPr>
        <p:txBody>
          <a:bodyPr/>
          <a:lstStyle/>
          <a:p>
            <a:endParaRPr lang="fr-TN"/>
          </a:p>
        </p:txBody>
      </p:sp>
      <p:sp>
        <p:nvSpPr>
          <p:cNvPr id="7" name="Text 5"/>
          <p:cNvSpPr/>
          <p:nvPr/>
        </p:nvSpPr>
        <p:spPr>
          <a:xfrm>
            <a:off x="731520" y="274320"/>
            <a:ext cx="10515600" cy="256032"/>
          </a:xfrm>
          <a:prstGeom prst="rect">
            <a:avLst/>
          </a:prstGeom>
          <a:noFill/>
          <a:ln/>
        </p:spPr>
        <p:txBody>
          <a:bodyPr wrap="square" rtlCol="0" anchor="ctr"/>
          <a:lstStyle/>
          <a:p>
            <a:pPr marL="0" indent="0">
              <a:buNone/>
            </a:pPr>
            <a:r>
              <a:rPr lang="en-US" sz="900" b="1" dirty="0">
                <a:solidFill>
                  <a:srgbClr val="2563EB"/>
                </a:solidFill>
                <a:latin typeface="Segoe UI" pitchFamily="34" charset="0"/>
                <a:ea typeface="Segoe UI" pitchFamily="34" charset="-122"/>
                <a:cs typeface="Segoe UI" pitchFamily="34" charset="-120"/>
              </a:rPr>
              <a:t>CHAPTER 4 — REALIZATION</a:t>
            </a:r>
            <a:endParaRPr lang="en-US" sz="900" dirty="0"/>
          </a:p>
        </p:txBody>
      </p:sp>
      <p:sp>
        <p:nvSpPr>
          <p:cNvPr id="8" name="Text 6"/>
          <p:cNvSpPr/>
          <p:nvPr/>
        </p:nvSpPr>
        <p:spPr>
          <a:xfrm>
            <a:off x="731520" y="548640"/>
            <a:ext cx="10515600" cy="502920"/>
          </a:xfrm>
          <a:prstGeom prst="rect">
            <a:avLst/>
          </a:prstGeom>
          <a:noFill/>
          <a:ln/>
        </p:spPr>
        <p:txBody>
          <a:bodyPr wrap="square" rtlCol="0" anchor="ctr"/>
          <a:lstStyle/>
          <a:p>
            <a:pPr marL="0" indent="0">
              <a:buNone/>
            </a:pPr>
            <a:r>
              <a:rPr lang="en-US" sz="3000" b="1" dirty="0">
                <a:solidFill>
                  <a:srgbClr val="0F172A"/>
                </a:solidFill>
                <a:latin typeface="Segoe UI" pitchFamily="34" charset="0"/>
                <a:ea typeface="Segoe UI" pitchFamily="34" charset="-122"/>
                <a:cs typeface="Segoe UI" pitchFamily="34" charset="-120"/>
              </a:rPr>
              <a:t>Application Interfaces Overview</a:t>
            </a:r>
            <a:endParaRPr lang="en-US" sz="3000" dirty="0"/>
          </a:p>
        </p:txBody>
      </p:sp>
      <p:sp>
        <p:nvSpPr>
          <p:cNvPr id="9" name="Shape 7"/>
          <p:cNvSpPr/>
          <p:nvPr/>
        </p:nvSpPr>
        <p:spPr>
          <a:xfrm>
            <a:off x="731520" y="1115568"/>
            <a:ext cx="1828800" cy="32004"/>
          </a:xfrm>
          <a:prstGeom prst="rect">
            <a:avLst/>
          </a:prstGeom>
          <a:solidFill>
            <a:srgbClr val="2563EB"/>
          </a:solidFill>
          <a:ln/>
        </p:spPr>
        <p:txBody>
          <a:bodyPr/>
          <a:lstStyle/>
          <a:p>
            <a:endParaRPr lang="fr-TN"/>
          </a:p>
        </p:txBody>
      </p:sp>
      <p:sp>
        <p:nvSpPr>
          <p:cNvPr id="10" name="Shape 8"/>
          <p:cNvSpPr/>
          <p:nvPr/>
        </p:nvSpPr>
        <p:spPr>
          <a:xfrm>
            <a:off x="2651760" y="1124712"/>
            <a:ext cx="8778240" cy="10973"/>
          </a:xfrm>
          <a:prstGeom prst="rect">
            <a:avLst/>
          </a:prstGeom>
          <a:solidFill>
            <a:srgbClr val="E2E8F0"/>
          </a:solidFill>
          <a:ln/>
        </p:spPr>
        <p:txBody>
          <a:bodyPr/>
          <a:lstStyle/>
          <a:p>
            <a:endParaRPr lang="fr-TN"/>
          </a:p>
        </p:txBody>
      </p:sp>
      <p:sp>
        <p:nvSpPr>
          <p:cNvPr id="11" name="Shape 9"/>
          <p:cNvSpPr/>
          <p:nvPr/>
        </p:nvSpPr>
        <p:spPr>
          <a:xfrm>
            <a:off x="685800" y="1417320"/>
            <a:ext cx="5394960" cy="2377440"/>
          </a:xfrm>
          <a:prstGeom prst="roundRect">
            <a:avLst>
              <a:gd name="adj" fmla="val 3846"/>
            </a:avLst>
          </a:prstGeom>
          <a:solidFill>
            <a:srgbClr val="FFFFFF"/>
          </a:solidFill>
          <a:ln w="7620">
            <a:solidFill>
              <a:srgbClr val="E2E8F0"/>
            </a:solidFill>
            <a:prstDash val="solid"/>
          </a:ln>
          <a:effectLst>
            <a:outerShdw blurRad="127000" dist="38100" dir="12000000" algn="bl" rotWithShape="0">
              <a:srgbClr val="94A3B8">
                <a:alpha val="18000"/>
              </a:srgbClr>
            </a:outerShdw>
          </a:effectLst>
        </p:spPr>
        <p:txBody>
          <a:bodyPr/>
          <a:lstStyle/>
          <a:p>
            <a:endParaRPr lang="fr-TN"/>
          </a:p>
        </p:txBody>
      </p:sp>
      <p:sp>
        <p:nvSpPr>
          <p:cNvPr id="12" name="Shape 10"/>
          <p:cNvSpPr/>
          <p:nvPr/>
        </p:nvSpPr>
        <p:spPr>
          <a:xfrm>
            <a:off x="758952" y="1435608"/>
            <a:ext cx="5248656" cy="27432"/>
          </a:xfrm>
          <a:prstGeom prst="rect">
            <a:avLst/>
          </a:prstGeom>
          <a:solidFill>
            <a:srgbClr val="2563EB"/>
          </a:solidFill>
          <a:ln/>
        </p:spPr>
        <p:txBody>
          <a:bodyPr/>
          <a:lstStyle/>
          <a:p>
            <a:endParaRPr lang="fr-TN"/>
          </a:p>
        </p:txBody>
      </p:sp>
      <p:sp>
        <p:nvSpPr>
          <p:cNvPr id="13" name="Text 11"/>
          <p:cNvSpPr/>
          <p:nvPr/>
        </p:nvSpPr>
        <p:spPr>
          <a:xfrm>
            <a:off x="868680" y="1581912"/>
            <a:ext cx="2743200" cy="365760"/>
          </a:xfrm>
          <a:prstGeom prst="rect">
            <a:avLst/>
          </a:prstGeom>
          <a:noFill/>
          <a:ln/>
        </p:spPr>
        <p:txBody>
          <a:bodyPr wrap="square" rtlCol="0" anchor="ctr"/>
          <a:lstStyle/>
          <a:p>
            <a:pPr marL="0" indent="0">
              <a:buNone/>
            </a:pPr>
            <a:r>
              <a:rPr lang="en-US" sz="1300" b="1" dirty="0">
                <a:solidFill>
                  <a:srgbClr val="2563EB"/>
                </a:solidFill>
                <a:latin typeface="Segoe UI" pitchFamily="34" charset="0"/>
                <a:ea typeface="Segoe UI" pitchFamily="34" charset="-122"/>
                <a:cs typeface="Segoe UI" pitchFamily="34" charset="-120"/>
              </a:rPr>
              <a:t>3D Live Threat Map</a:t>
            </a:r>
            <a:endParaRPr lang="en-US" sz="1300" dirty="0"/>
          </a:p>
        </p:txBody>
      </p:sp>
      <p:sp>
        <p:nvSpPr>
          <p:cNvPr id="14" name="Text 12"/>
          <p:cNvSpPr/>
          <p:nvPr/>
        </p:nvSpPr>
        <p:spPr>
          <a:xfrm>
            <a:off x="868680" y="1965960"/>
            <a:ext cx="2743200" cy="1554480"/>
          </a:xfrm>
          <a:prstGeom prst="rect">
            <a:avLst/>
          </a:prstGeom>
          <a:noFill/>
          <a:ln/>
        </p:spPr>
        <p:txBody>
          <a:bodyPr wrap="square" rtlCol="0" anchor="t"/>
          <a:lstStyle/>
          <a:p>
            <a:pPr marL="0" indent="0">
              <a:lnSpc>
                <a:spcPct val="130000"/>
              </a:lnSpc>
              <a:buNone/>
            </a:pPr>
            <a:r>
              <a:rPr lang="en-US" sz="950" dirty="0">
                <a:solidFill>
                  <a:srgbClr val="475569"/>
                </a:solidFill>
                <a:latin typeface="Segoe UI" pitchFamily="34" charset="0"/>
                <a:ea typeface="Segoe UI" pitchFamily="34" charset="-122"/>
                <a:cs typeface="Segoe UI" pitchFamily="34" charset="-120"/>
              </a:rPr>
              <a:t>Interactive WebGL Earth showing real-time attack arcs from all 9 scrapers.</a:t>
            </a:r>
            <a:endParaRPr lang="en-US" sz="950" dirty="0"/>
          </a:p>
        </p:txBody>
      </p:sp>
      <p:pic>
        <p:nvPicPr>
          <p:cNvPr id="15" name="Image 0" descr="C:\Users\shihe\Desktop\Final-Year-Project\predictra-threat-map\rapport-pfe\assets\screenshots\live_map.png"/>
          <p:cNvPicPr>
            <a:picLocks noChangeAspect="1"/>
          </p:cNvPicPr>
          <p:nvPr/>
        </p:nvPicPr>
        <p:blipFill>
          <a:blip r:embed="rId3"/>
          <a:stretch>
            <a:fillRect/>
          </a:stretch>
        </p:blipFill>
        <p:spPr>
          <a:xfrm>
            <a:off x="3703320" y="1554480"/>
            <a:ext cx="2194560" cy="2103120"/>
          </a:xfrm>
          <a:prstGeom prst="rect">
            <a:avLst/>
          </a:prstGeom>
        </p:spPr>
      </p:pic>
      <p:sp>
        <p:nvSpPr>
          <p:cNvPr id="16" name="Shape 13"/>
          <p:cNvSpPr/>
          <p:nvPr/>
        </p:nvSpPr>
        <p:spPr>
          <a:xfrm>
            <a:off x="6309360" y="1417320"/>
            <a:ext cx="5394960" cy="2377440"/>
          </a:xfrm>
          <a:prstGeom prst="roundRect">
            <a:avLst>
              <a:gd name="adj" fmla="val 3846"/>
            </a:avLst>
          </a:prstGeom>
          <a:solidFill>
            <a:srgbClr val="FFFFFF"/>
          </a:solidFill>
          <a:ln w="7620">
            <a:solidFill>
              <a:srgbClr val="E2E8F0"/>
            </a:solidFill>
            <a:prstDash val="solid"/>
          </a:ln>
          <a:effectLst>
            <a:outerShdw blurRad="127000" dist="38100" dir="12000000" algn="bl" rotWithShape="0">
              <a:srgbClr val="94A3B8">
                <a:alpha val="18000"/>
              </a:srgbClr>
            </a:outerShdw>
          </a:effectLst>
        </p:spPr>
        <p:txBody>
          <a:bodyPr/>
          <a:lstStyle/>
          <a:p>
            <a:endParaRPr lang="fr-TN"/>
          </a:p>
        </p:txBody>
      </p:sp>
      <p:sp>
        <p:nvSpPr>
          <p:cNvPr id="17" name="Shape 14"/>
          <p:cNvSpPr/>
          <p:nvPr/>
        </p:nvSpPr>
        <p:spPr>
          <a:xfrm>
            <a:off x="6382512" y="1435608"/>
            <a:ext cx="5248656" cy="27432"/>
          </a:xfrm>
          <a:prstGeom prst="rect">
            <a:avLst/>
          </a:prstGeom>
          <a:solidFill>
            <a:srgbClr val="4F46E5"/>
          </a:solidFill>
          <a:ln/>
        </p:spPr>
        <p:txBody>
          <a:bodyPr/>
          <a:lstStyle/>
          <a:p>
            <a:endParaRPr lang="fr-TN"/>
          </a:p>
        </p:txBody>
      </p:sp>
      <p:sp>
        <p:nvSpPr>
          <p:cNvPr id="18" name="Text 15"/>
          <p:cNvSpPr/>
          <p:nvPr/>
        </p:nvSpPr>
        <p:spPr>
          <a:xfrm>
            <a:off x="6492240" y="1581912"/>
            <a:ext cx="2743200" cy="365760"/>
          </a:xfrm>
          <a:prstGeom prst="rect">
            <a:avLst/>
          </a:prstGeom>
          <a:noFill/>
          <a:ln/>
        </p:spPr>
        <p:txBody>
          <a:bodyPr wrap="square" rtlCol="0" anchor="ctr"/>
          <a:lstStyle/>
          <a:p>
            <a:pPr marL="0" indent="0">
              <a:buNone/>
            </a:pPr>
            <a:r>
              <a:rPr lang="en-US" sz="1300" b="1" dirty="0">
                <a:solidFill>
                  <a:srgbClr val="4F46E5"/>
                </a:solidFill>
                <a:latin typeface="Segoe UI" pitchFamily="34" charset="0"/>
                <a:ea typeface="Segoe UI" pitchFamily="34" charset="-122"/>
                <a:cs typeface="Segoe UI" pitchFamily="34" charset="-120"/>
              </a:rPr>
              <a:t>System Dashboard</a:t>
            </a:r>
            <a:endParaRPr lang="en-US" sz="1300" dirty="0"/>
          </a:p>
        </p:txBody>
      </p:sp>
      <p:sp>
        <p:nvSpPr>
          <p:cNvPr id="19" name="Text 16"/>
          <p:cNvSpPr/>
          <p:nvPr/>
        </p:nvSpPr>
        <p:spPr>
          <a:xfrm>
            <a:off x="6492240" y="1965960"/>
            <a:ext cx="2743200" cy="1554480"/>
          </a:xfrm>
          <a:prstGeom prst="rect">
            <a:avLst/>
          </a:prstGeom>
          <a:noFill/>
          <a:ln/>
        </p:spPr>
        <p:txBody>
          <a:bodyPr wrap="square" rtlCol="0" anchor="t"/>
          <a:lstStyle/>
          <a:p>
            <a:pPr marL="0" indent="0">
              <a:lnSpc>
                <a:spcPct val="130000"/>
              </a:lnSpc>
              <a:buNone/>
            </a:pPr>
            <a:r>
              <a:rPr lang="en-US" sz="950" dirty="0">
                <a:solidFill>
                  <a:srgbClr val="475569"/>
                </a:solidFill>
                <a:latin typeface="Segoe UI" pitchFamily="34" charset="0"/>
                <a:ea typeface="Segoe UI" pitchFamily="34" charset="-122"/>
                <a:cs typeface="Segoe UI" pitchFamily="34" charset="-120"/>
              </a:rPr>
              <a:t>Tactical command center with volume sparklines, 2D flat map, and country statistics.</a:t>
            </a:r>
            <a:endParaRPr lang="en-US" sz="950" dirty="0"/>
          </a:p>
        </p:txBody>
      </p:sp>
      <p:pic>
        <p:nvPicPr>
          <p:cNvPr id="20" name="Image 1" descr="C:\Users\shihe\Desktop\Final-Year-Project\predictra-threat-map\rapport-pfe\assets\screenshots\dashboard.png"/>
          <p:cNvPicPr>
            <a:picLocks noChangeAspect="1"/>
          </p:cNvPicPr>
          <p:nvPr/>
        </p:nvPicPr>
        <p:blipFill>
          <a:blip r:embed="rId4"/>
          <a:stretch>
            <a:fillRect/>
          </a:stretch>
        </p:blipFill>
        <p:spPr>
          <a:xfrm>
            <a:off x="9326880" y="1554480"/>
            <a:ext cx="2194560" cy="2103120"/>
          </a:xfrm>
          <a:prstGeom prst="rect">
            <a:avLst/>
          </a:prstGeom>
        </p:spPr>
      </p:pic>
      <p:sp>
        <p:nvSpPr>
          <p:cNvPr id="21" name="Shape 17"/>
          <p:cNvSpPr/>
          <p:nvPr/>
        </p:nvSpPr>
        <p:spPr>
          <a:xfrm>
            <a:off x="685800" y="3977640"/>
            <a:ext cx="5394960" cy="2377440"/>
          </a:xfrm>
          <a:prstGeom prst="roundRect">
            <a:avLst>
              <a:gd name="adj" fmla="val 3846"/>
            </a:avLst>
          </a:prstGeom>
          <a:solidFill>
            <a:srgbClr val="FFFFFF"/>
          </a:solidFill>
          <a:ln w="7620">
            <a:solidFill>
              <a:srgbClr val="E2E8F0"/>
            </a:solidFill>
            <a:prstDash val="solid"/>
          </a:ln>
          <a:effectLst>
            <a:outerShdw blurRad="127000" dist="38100" dir="12000000" algn="bl" rotWithShape="0">
              <a:srgbClr val="94A3B8">
                <a:alpha val="18000"/>
              </a:srgbClr>
            </a:outerShdw>
          </a:effectLst>
        </p:spPr>
        <p:txBody>
          <a:bodyPr/>
          <a:lstStyle/>
          <a:p>
            <a:endParaRPr lang="fr-TN"/>
          </a:p>
        </p:txBody>
      </p:sp>
      <p:sp>
        <p:nvSpPr>
          <p:cNvPr id="22" name="Shape 18"/>
          <p:cNvSpPr/>
          <p:nvPr/>
        </p:nvSpPr>
        <p:spPr>
          <a:xfrm>
            <a:off x="758952" y="3995928"/>
            <a:ext cx="5248656" cy="27432"/>
          </a:xfrm>
          <a:prstGeom prst="rect">
            <a:avLst/>
          </a:prstGeom>
          <a:solidFill>
            <a:srgbClr val="7C3AED"/>
          </a:solidFill>
          <a:ln/>
        </p:spPr>
        <p:txBody>
          <a:bodyPr/>
          <a:lstStyle/>
          <a:p>
            <a:endParaRPr lang="fr-TN"/>
          </a:p>
        </p:txBody>
      </p:sp>
      <p:sp>
        <p:nvSpPr>
          <p:cNvPr id="23" name="Text 19"/>
          <p:cNvSpPr/>
          <p:nvPr/>
        </p:nvSpPr>
        <p:spPr>
          <a:xfrm>
            <a:off x="868680" y="4142232"/>
            <a:ext cx="2743200" cy="365760"/>
          </a:xfrm>
          <a:prstGeom prst="rect">
            <a:avLst/>
          </a:prstGeom>
          <a:noFill/>
          <a:ln/>
        </p:spPr>
        <p:txBody>
          <a:bodyPr wrap="square" rtlCol="0" anchor="ctr"/>
          <a:lstStyle/>
          <a:p>
            <a:pPr marL="0" indent="0">
              <a:buNone/>
            </a:pPr>
            <a:r>
              <a:rPr lang="en-US" sz="1300" b="1" dirty="0">
                <a:solidFill>
                  <a:srgbClr val="7C3AED"/>
                </a:solidFill>
                <a:latin typeface="Segoe UI" pitchFamily="34" charset="0"/>
                <a:ea typeface="Segoe UI" pitchFamily="34" charset="-122"/>
                <a:cs typeface="Segoe UI" pitchFamily="34" charset="-120"/>
              </a:rPr>
              <a:t>STIX Workspace</a:t>
            </a:r>
            <a:endParaRPr lang="en-US" sz="1300" dirty="0"/>
          </a:p>
        </p:txBody>
      </p:sp>
      <p:sp>
        <p:nvSpPr>
          <p:cNvPr id="24" name="Text 20"/>
          <p:cNvSpPr/>
          <p:nvPr/>
        </p:nvSpPr>
        <p:spPr>
          <a:xfrm>
            <a:off x="868680" y="4526280"/>
            <a:ext cx="2743200" cy="1554480"/>
          </a:xfrm>
          <a:prstGeom prst="rect">
            <a:avLst/>
          </a:prstGeom>
          <a:noFill/>
          <a:ln/>
        </p:spPr>
        <p:txBody>
          <a:bodyPr wrap="square" rtlCol="0" anchor="t"/>
          <a:lstStyle/>
          <a:p>
            <a:pPr marL="0" indent="0">
              <a:lnSpc>
                <a:spcPct val="130000"/>
              </a:lnSpc>
              <a:buNone/>
            </a:pPr>
            <a:r>
              <a:rPr lang="en-US" sz="950" dirty="0">
                <a:solidFill>
                  <a:srgbClr val="475569"/>
                </a:solidFill>
                <a:latin typeface="Segoe UI" pitchFamily="34" charset="0"/>
                <a:ea typeface="Segoe UI" pitchFamily="34" charset="-122"/>
                <a:cs typeface="Segoe UI" pitchFamily="34" charset="-120"/>
              </a:rPr>
              <a:t>JSON bundle ingestion, relationship force graphs, and MITRE technique mapping.</a:t>
            </a:r>
            <a:endParaRPr lang="en-US" sz="950" dirty="0"/>
          </a:p>
        </p:txBody>
      </p:sp>
      <p:pic>
        <p:nvPicPr>
          <p:cNvPr id="25" name="Image 2" descr="C:\Users\shihe\Desktop\Final-Year-Project\predictra-threat-map\rapport-pfe\assets\screenshots\stix.png"/>
          <p:cNvPicPr>
            <a:picLocks noChangeAspect="1"/>
          </p:cNvPicPr>
          <p:nvPr/>
        </p:nvPicPr>
        <p:blipFill>
          <a:blip r:embed="rId5"/>
          <a:stretch>
            <a:fillRect/>
          </a:stretch>
        </p:blipFill>
        <p:spPr>
          <a:xfrm>
            <a:off x="3703320" y="4114800"/>
            <a:ext cx="2194560" cy="2103120"/>
          </a:xfrm>
          <a:prstGeom prst="rect">
            <a:avLst/>
          </a:prstGeom>
        </p:spPr>
      </p:pic>
      <p:sp>
        <p:nvSpPr>
          <p:cNvPr id="26" name="Shape 21"/>
          <p:cNvSpPr/>
          <p:nvPr/>
        </p:nvSpPr>
        <p:spPr>
          <a:xfrm>
            <a:off x="6309360" y="3977640"/>
            <a:ext cx="5394960" cy="2377440"/>
          </a:xfrm>
          <a:prstGeom prst="roundRect">
            <a:avLst>
              <a:gd name="adj" fmla="val 3846"/>
            </a:avLst>
          </a:prstGeom>
          <a:solidFill>
            <a:srgbClr val="FFFFFF"/>
          </a:solidFill>
          <a:ln w="7620">
            <a:solidFill>
              <a:srgbClr val="E2E8F0"/>
            </a:solidFill>
            <a:prstDash val="solid"/>
          </a:ln>
          <a:effectLst>
            <a:outerShdw blurRad="127000" dist="38100" dir="12000000" algn="bl" rotWithShape="0">
              <a:srgbClr val="94A3B8">
                <a:alpha val="18000"/>
              </a:srgbClr>
            </a:outerShdw>
          </a:effectLst>
        </p:spPr>
        <p:txBody>
          <a:bodyPr/>
          <a:lstStyle/>
          <a:p>
            <a:endParaRPr lang="fr-TN"/>
          </a:p>
        </p:txBody>
      </p:sp>
      <p:sp>
        <p:nvSpPr>
          <p:cNvPr id="27" name="Shape 22"/>
          <p:cNvSpPr/>
          <p:nvPr/>
        </p:nvSpPr>
        <p:spPr>
          <a:xfrm>
            <a:off x="6382512" y="3995928"/>
            <a:ext cx="5248656" cy="27432"/>
          </a:xfrm>
          <a:prstGeom prst="rect">
            <a:avLst/>
          </a:prstGeom>
          <a:solidFill>
            <a:srgbClr val="E11D48"/>
          </a:solidFill>
          <a:ln/>
        </p:spPr>
        <p:txBody>
          <a:bodyPr/>
          <a:lstStyle/>
          <a:p>
            <a:endParaRPr lang="fr-TN"/>
          </a:p>
        </p:txBody>
      </p:sp>
      <p:sp>
        <p:nvSpPr>
          <p:cNvPr id="28" name="Text 23"/>
          <p:cNvSpPr/>
          <p:nvPr/>
        </p:nvSpPr>
        <p:spPr>
          <a:xfrm>
            <a:off x="6492240" y="4142232"/>
            <a:ext cx="2743200" cy="365760"/>
          </a:xfrm>
          <a:prstGeom prst="rect">
            <a:avLst/>
          </a:prstGeom>
          <a:noFill/>
          <a:ln/>
        </p:spPr>
        <p:txBody>
          <a:bodyPr wrap="square" rtlCol="0" anchor="ctr"/>
          <a:lstStyle/>
          <a:p>
            <a:pPr marL="0" indent="0">
              <a:buNone/>
            </a:pPr>
            <a:r>
              <a:rPr lang="en-US" sz="1300" b="1" dirty="0">
                <a:solidFill>
                  <a:srgbClr val="E11D48"/>
                </a:solidFill>
                <a:latin typeface="Segoe UI" pitchFamily="34" charset="0"/>
                <a:ea typeface="Segoe UI" pitchFamily="34" charset="-122"/>
                <a:cs typeface="Segoe UI" pitchFamily="34" charset="-120"/>
              </a:rPr>
              <a:t>Analytics Dashboard</a:t>
            </a:r>
            <a:endParaRPr lang="en-US" sz="1300" dirty="0"/>
          </a:p>
        </p:txBody>
      </p:sp>
      <p:sp>
        <p:nvSpPr>
          <p:cNvPr id="29" name="Text 24"/>
          <p:cNvSpPr/>
          <p:nvPr/>
        </p:nvSpPr>
        <p:spPr>
          <a:xfrm>
            <a:off x="6492240" y="4526280"/>
            <a:ext cx="2743200" cy="1554480"/>
          </a:xfrm>
          <a:prstGeom prst="rect">
            <a:avLst/>
          </a:prstGeom>
          <a:noFill/>
          <a:ln/>
        </p:spPr>
        <p:txBody>
          <a:bodyPr wrap="square" rtlCol="0" anchor="t"/>
          <a:lstStyle/>
          <a:p>
            <a:pPr marL="0" indent="0">
              <a:lnSpc>
                <a:spcPct val="130000"/>
              </a:lnSpc>
              <a:buNone/>
            </a:pPr>
            <a:r>
              <a:rPr lang="en-US" sz="950" dirty="0">
                <a:solidFill>
                  <a:srgbClr val="475569"/>
                </a:solidFill>
                <a:latin typeface="Segoe UI" pitchFamily="34" charset="0"/>
                <a:ea typeface="Segoe UI" pitchFamily="34" charset="-122"/>
                <a:cs typeface="Segoe UI" pitchFamily="34" charset="-120"/>
              </a:rPr>
              <a:t>Aggregation analytics: sector metrics, threat actor trends, and country matrices.</a:t>
            </a:r>
            <a:endParaRPr lang="en-US" sz="950" dirty="0"/>
          </a:p>
        </p:txBody>
      </p:sp>
      <p:pic>
        <p:nvPicPr>
          <p:cNvPr id="30" name="Image 3" descr="C:\Users\shihe\Desktop\Final-Year-Project\predictra-threat-map\rapport-pfe\assets\screenshots\analytics.png"/>
          <p:cNvPicPr>
            <a:picLocks noChangeAspect="1"/>
          </p:cNvPicPr>
          <p:nvPr/>
        </p:nvPicPr>
        <p:blipFill>
          <a:blip r:embed="rId6"/>
          <a:stretch>
            <a:fillRect/>
          </a:stretch>
        </p:blipFill>
        <p:spPr>
          <a:xfrm>
            <a:off x="9326880" y="4114800"/>
            <a:ext cx="2194560" cy="210312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2188952" cy="45720"/>
          </a:xfrm>
          <a:prstGeom prst="rect">
            <a:avLst/>
          </a:prstGeom>
          <a:solidFill>
            <a:srgbClr val="2563EB"/>
          </a:solidFill>
          <a:ln/>
        </p:spPr>
        <p:txBody>
          <a:bodyPr/>
          <a:lstStyle/>
          <a:p>
            <a:endParaRPr lang="fr-TN"/>
          </a:p>
        </p:txBody>
      </p:sp>
      <p:sp>
        <p:nvSpPr>
          <p:cNvPr id="3" name="Shape 1"/>
          <p:cNvSpPr/>
          <p:nvPr/>
        </p:nvSpPr>
        <p:spPr>
          <a:xfrm>
            <a:off x="10972800" y="274320"/>
            <a:ext cx="914400" cy="1829"/>
          </a:xfrm>
          <a:prstGeom prst="rect">
            <a:avLst/>
          </a:prstGeom>
          <a:solidFill>
            <a:srgbClr val="E2E8F0"/>
          </a:solidFill>
          <a:ln/>
        </p:spPr>
        <p:txBody>
          <a:bodyPr/>
          <a:lstStyle/>
          <a:p>
            <a:endParaRPr lang="fr-TN"/>
          </a:p>
        </p:txBody>
      </p:sp>
      <p:sp>
        <p:nvSpPr>
          <p:cNvPr id="4" name="Shape 2"/>
          <p:cNvSpPr/>
          <p:nvPr/>
        </p:nvSpPr>
        <p:spPr>
          <a:xfrm>
            <a:off x="11868912" y="274320"/>
            <a:ext cx="1829" cy="640080"/>
          </a:xfrm>
          <a:prstGeom prst="rect">
            <a:avLst/>
          </a:prstGeom>
          <a:solidFill>
            <a:srgbClr val="E2E8F0"/>
          </a:solidFill>
          <a:ln/>
        </p:spPr>
        <p:txBody>
          <a:bodyPr/>
          <a:lstStyle/>
          <a:p>
            <a:endParaRPr lang="fr-TN"/>
          </a:p>
        </p:txBody>
      </p:sp>
      <p:sp>
        <p:nvSpPr>
          <p:cNvPr id="5" name="Shape 3"/>
          <p:cNvSpPr/>
          <p:nvPr/>
        </p:nvSpPr>
        <p:spPr>
          <a:xfrm>
            <a:off x="320040" y="6537960"/>
            <a:ext cx="1829" cy="274320"/>
          </a:xfrm>
          <a:prstGeom prst="rect">
            <a:avLst/>
          </a:prstGeom>
          <a:solidFill>
            <a:srgbClr val="E2E8F0"/>
          </a:solidFill>
          <a:ln/>
        </p:spPr>
        <p:txBody>
          <a:bodyPr/>
          <a:lstStyle/>
          <a:p>
            <a:endParaRPr lang="fr-TN"/>
          </a:p>
        </p:txBody>
      </p:sp>
      <p:sp>
        <p:nvSpPr>
          <p:cNvPr id="6" name="Shape 4"/>
          <p:cNvSpPr/>
          <p:nvPr/>
        </p:nvSpPr>
        <p:spPr>
          <a:xfrm>
            <a:off x="320040" y="6537960"/>
            <a:ext cx="640080" cy="1829"/>
          </a:xfrm>
          <a:prstGeom prst="rect">
            <a:avLst/>
          </a:prstGeom>
          <a:solidFill>
            <a:srgbClr val="E2E8F0"/>
          </a:solidFill>
          <a:ln/>
        </p:spPr>
        <p:txBody>
          <a:bodyPr/>
          <a:lstStyle/>
          <a:p>
            <a:endParaRPr lang="fr-TN"/>
          </a:p>
        </p:txBody>
      </p:sp>
      <p:sp>
        <p:nvSpPr>
          <p:cNvPr id="7" name="Text 5"/>
          <p:cNvSpPr/>
          <p:nvPr/>
        </p:nvSpPr>
        <p:spPr>
          <a:xfrm>
            <a:off x="731520" y="274320"/>
            <a:ext cx="10515600" cy="256032"/>
          </a:xfrm>
          <a:prstGeom prst="rect">
            <a:avLst/>
          </a:prstGeom>
          <a:noFill/>
          <a:ln/>
        </p:spPr>
        <p:txBody>
          <a:bodyPr wrap="square" rtlCol="0" anchor="ctr"/>
          <a:lstStyle/>
          <a:p>
            <a:pPr marL="0" indent="0">
              <a:buNone/>
            </a:pPr>
            <a:r>
              <a:rPr lang="en-US" sz="900" b="1" dirty="0">
                <a:solidFill>
                  <a:srgbClr val="2563EB"/>
                </a:solidFill>
                <a:latin typeface="Segoe UI" pitchFamily="34" charset="0"/>
                <a:ea typeface="Segoe UI" pitchFamily="34" charset="-122"/>
                <a:cs typeface="Segoe UI" pitchFamily="34" charset="-120"/>
              </a:rPr>
              <a:t>CHAPTER 4 — REALIZATION</a:t>
            </a:r>
            <a:endParaRPr lang="en-US" sz="900" dirty="0"/>
          </a:p>
        </p:txBody>
      </p:sp>
      <p:sp>
        <p:nvSpPr>
          <p:cNvPr id="8" name="Text 6"/>
          <p:cNvSpPr/>
          <p:nvPr/>
        </p:nvSpPr>
        <p:spPr>
          <a:xfrm>
            <a:off x="731520" y="548640"/>
            <a:ext cx="10515600" cy="502920"/>
          </a:xfrm>
          <a:prstGeom prst="rect">
            <a:avLst/>
          </a:prstGeom>
          <a:noFill/>
          <a:ln/>
        </p:spPr>
        <p:txBody>
          <a:bodyPr wrap="square" rtlCol="0" anchor="ctr"/>
          <a:lstStyle/>
          <a:p>
            <a:pPr marL="0" indent="0">
              <a:buNone/>
            </a:pPr>
            <a:r>
              <a:rPr lang="en-US" sz="3000" b="1" dirty="0">
                <a:solidFill>
                  <a:srgbClr val="0F172A"/>
                </a:solidFill>
                <a:latin typeface="Segoe UI" pitchFamily="34" charset="0"/>
                <a:ea typeface="Segoe UI" pitchFamily="34" charset="-122"/>
                <a:cs typeface="Segoe UI" pitchFamily="34" charset="-120"/>
              </a:rPr>
              <a:t>Technical Challenges Resolved</a:t>
            </a:r>
            <a:endParaRPr lang="en-US" sz="3000" dirty="0"/>
          </a:p>
        </p:txBody>
      </p:sp>
      <p:sp>
        <p:nvSpPr>
          <p:cNvPr id="9" name="Shape 7"/>
          <p:cNvSpPr/>
          <p:nvPr/>
        </p:nvSpPr>
        <p:spPr>
          <a:xfrm>
            <a:off x="731520" y="1115568"/>
            <a:ext cx="1828800" cy="32004"/>
          </a:xfrm>
          <a:prstGeom prst="rect">
            <a:avLst/>
          </a:prstGeom>
          <a:solidFill>
            <a:srgbClr val="2563EB"/>
          </a:solidFill>
          <a:ln/>
        </p:spPr>
        <p:txBody>
          <a:bodyPr/>
          <a:lstStyle/>
          <a:p>
            <a:endParaRPr lang="fr-TN"/>
          </a:p>
        </p:txBody>
      </p:sp>
      <p:sp>
        <p:nvSpPr>
          <p:cNvPr id="10" name="Shape 8"/>
          <p:cNvSpPr/>
          <p:nvPr/>
        </p:nvSpPr>
        <p:spPr>
          <a:xfrm>
            <a:off x="2651760" y="1124712"/>
            <a:ext cx="8778240" cy="10973"/>
          </a:xfrm>
          <a:prstGeom prst="rect">
            <a:avLst/>
          </a:prstGeom>
          <a:solidFill>
            <a:srgbClr val="E2E8F0"/>
          </a:solidFill>
          <a:ln/>
        </p:spPr>
        <p:txBody>
          <a:bodyPr/>
          <a:lstStyle/>
          <a:p>
            <a:endParaRPr lang="fr-TN"/>
          </a:p>
        </p:txBody>
      </p:sp>
      <p:sp>
        <p:nvSpPr>
          <p:cNvPr id="11" name="Shape 9"/>
          <p:cNvSpPr/>
          <p:nvPr/>
        </p:nvSpPr>
        <p:spPr>
          <a:xfrm>
            <a:off x="685800" y="1417320"/>
            <a:ext cx="3520440" cy="4892040"/>
          </a:xfrm>
          <a:prstGeom prst="roundRect">
            <a:avLst>
              <a:gd name="adj" fmla="val 3117"/>
            </a:avLst>
          </a:prstGeom>
          <a:solidFill>
            <a:srgbClr val="FFFFFF"/>
          </a:solidFill>
          <a:ln w="7620">
            <a:solidFill>
              <a:srgbClr val="E2E8F0"/>
            </a:solidFill>
            <a:prstDash val="solid"/>
          </a:ln>
          <a:effectLst>
            <a:outerShdw blurRad="152400" dist="38100" dir="12000000" algn="bl" rotWithShape="0">
              <a:srgbClr val="94A3B8">
                <a:alpha val="20000"/>
              </a:srgbClr>
            </a:outerShdw>
          </a:effectLst>
        </p:spPr>
        <p:txBody>
          <a:bodyPr/>
          <a:lstStyle/>
          <a:p>
            <a:endParaRPr lang="fr-TN"/>
          </a:p>
        </p:txBody>
      </p:sp>
      <p:sp>
        <p:nvSpPr>
          <p:cNvPr id="12" name="Shape 10"/>
          <p:cNvSpPr/>
          <p:nvPr/>
        </p:nvSpPr>
        <p:spPr>
          <a:xfrm>
            <a:off x="777240" y="1435608"/>
            <a:ext cx="3337560" cy="36576"/>
          </a:xfrm>
          <a:prstGeom prst="rect">
            <a:avLst/>
          </a:prstGeom>
          <a:solidFill>
            <a:srgbClr val="E11D48"/>
          </a:solidFill>
          <a:ln/>
        </p:spPr>
        <p:txBody>
          <a:bodyPr/>
          <a:lstStyle/>
          <a:p>
            <a:endParaRPr lang="fr-TN"/>
          </a:p>
        </p:txBody>
      </p:sp>
      <p:sp>
        <p:nvSpPr>
          <p:cNvPr id="13" name="Shape 11"/>
          <p:cNvSpPr/>
          <p:nvPr/>
        </p:nvSpPr>
        <p:spPr>
          <a:xfrm>
            <a:off x="3246120" y="1645920"/>
            <a:ext cx="749808" cy="256032"/>
          </a:xfrm>
          <a:prstGeom prst="roundRect">
            <a:avLst>
              <a:gd name="adj" fmla="val 17857"/>
            </a:avLst>
          </a:prstGeom>
          <a:solidFill>
            <a:srgbClr val="059669">
              <a:alpha val="10000"/>
            </a:srgbClr>
          </a:solidFill>
          <a:ln w="6350">
            <a:solidFill>
              <a:srgbClr val="059669"/>
            </a:solidFill>
            <a:prstDash val="solid"/>
          </a:ln>
        </p:spPr>
        <p:txBody>
          <a:bodyPr/>
          <a:lstStyle/>
          <a:p>
            <a:endParaRPr lang="fr-TN"/>
          </a:p>
        </p:txBody>
      </p:sp>
      <p:sp>
        <p:nvSpPr>
          <p:cNvPr id="14" name="Text 12"/>
          <p:cNvSpPr/>
          <p:nvPr/>
        </p:nvSpPr>
        <p:spPr>
          <a:xfrm>
            <a:off x="3246120" y="1645920"/>
            <a:ext cx="749808" cy="256032"/>
          </a:xfrm>
          <a:prstGeom prst="rect">
            <a:avLst/>
          </a:prstGeom>
          <a:noFill/>
          <a:ln/>
        </p:spPr>
        <p:txBody>
          <a:bodyPr wrap="square" rtlCol="0" anchor="ctr"/>
          <a:lstStyle/>
          <a:p>
            <a:pPr marL="0" indent="0" algn="ctr">
              <a:buNone/>
            </a:pPr>
            <a:r>
              <a:rPr lang="en-US" sz="700" b="1" dirty="0">
                <a:solidFill>
                  <a:srgbClr val="059669"/>
                </a:solidFill>
                <a:latin typeface="Segoe UI" pitchFamily="34" charset="0"/>
                <a:ea typeface="Segoe UI" pitchFamily="34" charset="-122"/>
                <a:cs typeface="Segoe UI" pitchFamily="34" charset="-120"/>
              </a:rPr>
              <a:t>RESOLVED</a:t>
            </a:r>
            <a:endParaRPr lang="en-US" sz="700" dirty="0"/>
          </a:p>
        </p:txBody>
      </p:sp>
      <p:sp>
        <p:nvSpPr>
          <p:cNvPr id="15" name="Text 13"/>
          <p:cNvSpPr/>
          <p:nvPr/>
        </p:nvSpPr>
        <p:spPr>
          <a:xfrm>
            <a:off x="868680" y="1645920"/>
            <a:ext cx="2286000" cy="411480"/>
          </a:xfrm>
          <a:prstGeom prst="rect">
            <a:avLst/>
          </a:prstGeom>
          <a:noFill/>
          <a:ln/>
        </p:spPr>
        <p:txBody>
          <a:bodyPr wrap="square" rtlCol="0" anchor="ctr"/>
          <a:lstStyle/>
          <a:p>
            <a:pPr marL="0" indent="0">
              <a:buNone/>
            </a:pPr>
            <a:r>
              <a:rPr lang="en-US" sz="1500" b="1" dirty="0">
                <a:solidFill>
                  <a:srgbClr val="0F172A"/>
                </a:solidFill>
                <a:latin typeface="Segoe UI" pitchFamily="34" charset="0"/>
                <a:ea typeface="Segoe UI" pitchFamily="34" charset="-122"/>
                <a:cs typeface="Segoe UI" pitchFamily="34" charset="-120"/>
              </a:rPr>
              <a:t>Browser Rendering Storms</a:t>
            </a:r>
            <a:endParaRPr lang="en-US" sz="1500" dirty="0"/>
          </a:p>
        </p:txBody>
      </p:sp>
      <p:sp>
        <p:nvSpPr>
          <p:cNvPr id="16" name="Text 14"/>
          <p:cNvSpPr/>
          <p:nvPr/>
        </p:nvSpPr>
        <p:spPr>
          <a:xfrm>
            <a:off x="868680" y="2286000"/>
            <a:ext cx="3154680" cy="228600"/>
          </a:xfrm>
          <a:prstGeom prst="rect">
            <a:avLst/>
          </a:prstGeom>
          <a:noFill/>
          <a:ln/>
        </p:spPr>
        <p:txBody>
          <a:bodyPr wrap="square" rtlCol="0" anchor="ctr"/>
          <a:lstStyle/>
          <a:p>
            <a:pPr marL="0" indent="0">
              <a:buNone/>
            </a:pPr>
            <a:r>
              <a:rPr lang="en-US" sz="700" b="1" dirty="0">
                <a:solidFill>
                  <a:srgbClr val="E11D48"/>
                </a:solidFill>
                <a:latin typeface="Segoe UI" pitchFamily="34" charset="0"/>
                <a:ea typeface="Segoe UI" pitchFamily="34" charset="-122"/>
                <a:cs typeface="Segoe UI" pitchFamily="34" charset="-120"/>
              </a:rPr>
              <a:t>CAUSE</a:t>
            </a:r>
            <a:endParaRPr lang="en-US" sz="700" dirty="0"/>
          </a:p>
        </p:txBody>
      </p:sp>
      <p:sp>
        <p:nvSpPr>
          <p:cNvPr id="17" name="Shape 15"/>
          <p:cNvSpPr/>
          <p:nvPr/>
        </p:nvSpPr>
        <p:spPr>
          <a:xfrm>
            <a:off x="868680" y="2514600"/>
            <a:ext cx="3154680" cy="9144"/>
          </a:xfrm>
          <a:prstGeom prst="rect">
            <a:avLst/>
          </a:prstGeom>
          <a:solidFill>
            <a:srgbClr val="E11D48">
              <a:alpha val="35000"/>
            </a:srgbClr>
          </a:solidFill>
          <a:ln/>
        </p:spPr>
        <p:txBody>
          <a:bodyPr/>
          <a:lstStyle/>
          <a:p>
            <a:endParaRPr lang="fr-TN"/>
          </a:p>
        </p:txBody>
      </p:sp>
      <p:sp>
        <p:nvSpPr>
          <p:cNvPr id="18" name="Text 16"/>
          <p:cNvSpPr/>
          <p:nvPr/>
        </p:nvSpPr>
        <p:spPr>
          <a:xfrm>
            <a:off x="868680" y="2606040"/>
            <a:ext cx="3154680" cy="1188720"/>
          </a:xfrm>
          <a:prstGeom prst="rect">
            <a:avLst/>
          </a:prstGeom>
          <a:noFill/>
          <a:ln/>
        </p:spPr>
        <p:txBody>
          <a:bodyPr wrap="square" rtlCol="0" anchor="ctr"/>
          <a:lstStyle/>
          <a:p>
            <a:pPr marL="0" indent="0">
              <a:lnSpc>
                <a:spcPct val="135000"/>
              </a:lnSpc>
              <a:buNone/>
            </a:pPr>
            <a:r>
              <a:rPr lang="en-US" sz="1050" dirty="0">
                <a:solidFill>
                  <a:srgbClr val="475569"/>
                </a:solidFill>
                <a:latin typeface="Segoe UI" pitchFamily="34" charset="0"/>
                <a:ea typeface="Segoe UI" pitchFamily="34" charset="-122"/>
                <a:cs typeface="Segoe UI" pitchFamily="34" charset="-120"/>
              </a:rPr>
              <a:t>9 scrapers pushing &gt;500 events/sec caused browser canvas bottleneck.</a:t>
            </a:r>
            <a:endParaRPr lang="en-US" sz="1050" dirty="0"/>
          </a:p>
        </p:txBody>
      </p:sp>
      <p:sp>
        <p:nvSpPr>
          <p:cNvPr id="19" name="Text 17"/>
          <p:cNvSpPr/>
          <p:nvPr/>
        </p:nvSpPr>
        <p:spPr>
          <a:xfrm>
            <a:off x="868680" y="3840480"/>
            <a:ext cx="3154680" cy="228600"/>
          </a:xfrm>
          <a:prstGeom prst="rect">
            <a:avLst/>
          </a:prstGeom>
          <a:noFill/>
          <a:ln/>
        </p:spPr>
        <p:txBody>
          <a:bodyPr wrap="square" rtlCol="0" anchor="ctr"/>
          <a:lstStyle/>
          <a:p>
            <a:pPr marL="0" indent="0">
              <a:buNone/>
            </a:pPr>
            <a:r>
              <a:rPr lang="en-US" sz="700" b="1" dirty="0">
                <a:solidFill>
                  <a:srgbClr val="059669"/>
                </a:solidFill>
                <a:latin typeface="Segoe UI" pitchFamily="34" charset="0"/>
                <a:ea typeface="Segoe UI" pitchFamily="34" charset="-122"/>
                <a:cs typeface="Segoe UI" pitchFamily="34" charset="-120"/>
              </a:rPr>
              <a:t>RESOLUTION</a:t>
            </a:r>
            <a:endParaRPr lang="en-US" sz="700" dirty="0"/>
          </a:p>
        </p:txBody>
      </p:sp>
      <p:sp>
        <p:nvSpPr>
          <p:cNvPr id="20" name="Shape 18"/>
          <p:cNvSpPr/>
          <p:nvPr/>
        </p:nvSpPr>
        <p:spPr>
          <a:xfrm>
            <a:off x="868680" y="4069080"/>
            <a:ext cx="3154680" cy="9144"/>
          </a:xfrm>
          <a:prstGeom prst="rect">
            <a:avLst/>
          </a:prstGeom>
          <a:solidFill>
            <a:srgbClr val="059669">
              <a:alpha val="35000"/>
            </a:srgbClr>
          </a:solidFill>
          <a:ln/>
        </p:spPr>
        <p:txBody>
          <a:bodyPr/>
          <a:lstStyle/>
          <a:p>
            <a:endParaRPr lang="fr-TN"/>
          </a:p>
        </p:txBody>
      </p:sp>
      <p:sp>
        <p:nvSpPr>
          <p:cNvPr id="21" name="Text 19"/>
          <p:cNvSpPr/>
          <p:nvPr/>
        </p:nvSpPr>
        <p:spPr>
          <a:xfrm>
            <a:off x="868680" y="4160520"/>
            <a:ext cx="3154680" cy="1828800"/>
          </a:xfrm>
          <a:prstGeom prst="rect">
            <a:avLst/>
          </a:prstGeom>
          <a:noFill/>
          <a:ln/>
        </p:spPr>
        <p:txBody>
          <a:bodyPr wrap="square" rtlCol="0" anchor="ctr"/>
          <a:lstStyle/>
          <a:p>
            <a:pPr marL="0" indent="0">
              <a:lnSpc>
                <a:spcPct val="135000"/>
              </a:lnSpc>
              <a:buNone/>
            </a:pPr>
            <a:r>
              <a:rPr lang="en-US" sz="1050" dirty="0">
                <a:solidFill>
                  <a:srgbClr val="475569"/>
                </a:solidFill>
                <a:latin typeface="Segoe UI" pitchFamily="34" charset="0"/>
                <a:ea typeface="Segoe UI" pitchFamily="34" charset="-122"/>
                <a:cs typeface="Segoe UI" pitchFamily="34" charset="-120"/>
              </a:rPr>
              <a:t>300ms batch flush queue, 150-arc cap, adaptive FPS sampling engine.</a:t>
            </a:r>
            <a:endParaRPr lang="en-US" sz="1050" dirty="0"/>
          </a:p>
        </p:txBody>
      </p:sp>
      <p:sp>
        <p:nvSpPr>
          <p:cNvPr id="22" name="Shape 20"/>
          <p:cNvSpPr/>
          <p:nvPr/>
        </p:nvSpPr>
        <p:spPr>
          <a:xfrm>
            <a:off x="4434840" y="1417320"/>
            <a:ext cx="3520440" cy="4892040"/>
          </a:xfrm>
          <a:prstGeom prst="roundRect">
            <a:avLst>
              <a:gd name="adj" fmla="val 3117"/>
            </a:avLst>
          </a:prstGeom>
          <a:solidFill>
            <a:srgbClr val="FFFFFF"/>
          </a:solidFill>
          <a:ln w="7620">
            <a:solidFill>
              <a:srgbClr val="E2E8F0"/>
            </a:solidFill>
            <a:prstDash val="solid"/>
          </a:ln>
          <a:effectLst>
            <a:outerShdw blurRad="152400" dist="38100" dir="12000000" algn="bl" rotWithShape="0">
              <a:srgbClr val="94A3B8">
                <a:alpha val="20000"/>
              </a:srgbClr>
            </a:outerShdw>
          </a:effectLst>
        </p:spPr>
        <p:txBody>
          <a:bodyPr/>
          <a:lstStyle/>
          <a:p>
            <a:endParaRPr lang="fr-TN"/>
          </a:p>
        </p:txBody>
      </p:sp>
      <p:sp>
        <p:nvSpPr>
          <p:cNvPr id="23" name="Shape 21"/>
          <p:cNvSpPr/>
          <p:nvPr/>
        </p:nvSpPr>
        <p:spPr>
          <a:xfrm>
            <a:off x="4526280" y="1435608"/>
            <a:ext cx="3337560" cy="36576"/>
          </a:xfrm>
          <a:prstGeom prst="rect">
            <a:avLst/>
          </a:prstGeom>
          <a:solidFill>
            <a:srgbClr val="D97706"/>
          </a:solidFill>
          <a:ln/>
        </p:spPr>
        <p:txBody>
          <a:bodyPr/>
          <a:lstStyle/>
          <a:p>
            <a:endParaRPr lang="fr-TN"/>
          </a:p>
        </p:txBody>
      </p:sp>
      <p:sp>
        <p:nvSpPr>
          <p:cNvPr id="24" name="Shape 22"/>
          <p:cNvSpPr/>
          <p:nvPr/>
        </p:nvSpPr>
        <p:spPr>
          <a:xfrm>
            <a:off x="6995160" y="1645920"/>
            <a:ext cx="749808" cy="256032"/>
          </a:xfrm>
          <a:prstGeom prst="roundRect">
            <a:avLst>
              <a:gd name="adj" fmla="val 17857"/>
            </a:avLst>
          </a:prstGeom>
          <a:solidFill>
            <a:srgbClr val="059669">
              <a:alpha val="10000"/>
            </a:srgbClr>
          </a:solidFill>
          <a:ln w="6350">
            <a:solidFill>
              <a:srgbClr val="059669"/>
            </a:solidFill>
            <a:prstDash val="solid"/>
          </a:ln>
        </p:spPr>
        <p:txBody>
          <a:bodyPr/>
          <a:lstStyle/>
          <a:p>
            <a:endParaRPr lang="fr-TN"/>
          </a:p>
        </p:txBody>
      </p:sp>
      <p:sp>
        <p:nvSpPr>
          <p:cNvPr id="25" name="Text 23"/>
          <p:cNvSpPr/>
          <p:nvPr/>
        </p:nvSpPr>
        <p:spPr>
          <a:xfrm>
            <a:off x="6995160" y="1645920"/>
            <a:ext cx="749808" cy="256032"/>
          </a:xfrm>
          <a:prstGeom prst="rect">
            <a:avLst/>
          </a:prstGeom>
          <a:noFill/>
          <a:ln/>
        </p:spPr>
        <p:txBody>
          <a:bodyPr wrap="square" rtlCol="0" anchor="ctr"/>
          <a:lstStyle/>
          <a:p>
            <a:pPr marL="0" indent="0" algn="ctr">
              <a:buNone/>
            </a:pPr>
            <a:r>
              <a:rPr lang="en-US" sz="700" b="1" dirty="0">
                <a:solidFill>
                  <a:srgbClr val="059669"/>
                </a:solidFill>
                <a:latin typeface="Segoe UI" pitchFamily="34" charset="0"/>
                <a:ea typeface="Segoe UI" pitchFamily="34" charset="-122"/>
                <a:cs typeface="Segoe UI" pitchFamily="34" charset="-120"/>
              </a:rPr>
              <a:t>RESOLVED</a:t>
            </a:r>
            <a:endParaRPr lang="en-US" sz="700" dirty="0"/>
          </a:p>
        </p:txBody>
      </p:sp>
      <p:sp>
        <p:nvSpPr>
          <p:cNvPr id="26" name="Text 24"/>
          <p:cNvSpPr/>
          <p:nvPr/>
        </p:nvSpPr>
        <p:spPr>
          <a:xfrm>
            <a:off x="4617720" y="1645920"/>
            <a:ext cx="2286000" cy="411480"/>
          </a:xfrm>
          <a:prstGeom prst="rect">
            <a:avLst/>
          </a:prstGeom>
          <a:noFill/>
          <a:ln/>
        </p:spPr>
        <p:txBody>
          <a:bodyPr wrap="square" rtlCol="0" anchor="ctr"/>
          <a:lstStyle/>
          <a:p>
            <a:pPr marL="0" indent="0">
              <a:buNone/>
            </a:pPr>
            <a:r>
              <a:rPr lang="en-US" sz="1500" b="1" dirty="0">
                <a:solidFill>
                  <a:srgbClr val="0F172A"/>
                </a:solidFill>
                <a:latin typeface="Segoe UI" pitchFamily="34" charset="0"/>
                <a:ea typeface="Segoe UI" pitchFamily="34" charset="-122"/>
                <a:cs typeface="Segoe UI" pitchFamily="34" charset="-120"/>
              </a:rPr>
              <a:t>Database Quota Limits</a:t>
            </a:r>
            <a:endParaRPr lang="en-US" sz="1500" dirty="0"/>
          </a:p>
        </p:txBody>
      </p:sp>
      <p:sp>
        <p:nvSpPr>
          <p:cNvPr id="27" name="Text 25"/>
          <p:cNvSpPr/>
          <p:nvPr/>
        </p:nvSpPr>
        <p:spPr>
          <a:xfrm>
            <a:off x="4617720" y="2286000"/>
            <a:ext cx="3154680" cy="228600"/>
          </a:xfrm>
          <a:prstGeom prst="rect">
            <a:avLst/>
          </a:prstGeom>
          <a:noFill/>
          <a:ln/>
        </p:spPr>
        <p:txBody>
          <a:bodyPr wrap="square" rtlCol="0" anchor="ctr"/>
          <a:lstStyle/>
          <a:p>
            <a:pPr marL="0" indent="0">
              <a:buNone/>
            </a:pPr>
            <a:r>
              <a:rPr lang="en-US" sz="700" b="1" dirty="0">
                <a:solidFill>
                  <a:srgbClr val="D97706"/>
                </a:solidFill>
                <a:latin typeface="Segoe UI" pitchFamily="34" charset="0"/>
                <a:ea typeface="Segoe UI" pitchFamily="34" charset="-122"/>
                <a:cs typeface="Segoe UI" pitchFamily="34" charset="-120"/>
              </a:rPr>
              <a:t>CAUSE</a:t>
            </a:r>
            <a:endParaRPr lang="en-US" sz="700" dirty="0"/>
          </a:p>
        </p:txBody>
      </p:sp>
      <p:sp>
        <p:nvSpPr>
          <p:cNvPr id="28" name="Shape 26"/>
          <p:cNvSpPr/>
          <p:nvPr/>
        </p:nvSpPr>
        <p:spPr>
          <a:xfrm>
            <a:off x="4617720" y="2514600"/>
            <a:ext cx="3154680" cy="9144"/>
          </a:xfrm>
          <a:prstGeom prst="rect">
            <a:avLst/>
          </a:prstGeom>
          <a:solidFill>
            <a:srgbClr val="D97706">
              <a:alpha val="35000"/>
            </a:srgbClr>
          </a:solidFill>
          <a:ln/>
        </p:spPr>
        <p:txBody>
          <a:bodyPr/>
          <a:lstStyle/>
          <a:p>
            <a:endParaRPr lang="fr-TN"/>
          </a:p>
        </p:txBody>
      </p:sp>
      <p:sp>
        <p:nvSpPr>
          <p:cNvPr id="29" name="Text 27"/>
          <p:cNvSpPr/>
          <p:nvPr/>
        </p:nvSpPr>
        <p:spPr>
          <a:xfrm>
            <a:off x="4617720" y="2606040"/>
            <a:ext cx="3154680" cy="1188720"/>
          </a:xfrm>
          <a:prstGeom prst="rect">
            <a:avLst/>
          </a:prstGeom>
          <a:noFill/>
          <a:ln/>
        </p:spPr>
        <p:txBody>
          <a:bodyPr wrap="square" rtlCol="0" anchor="ctr"/>
          <a:lstStyle/>
          <a:p>
            <a:pPr marL="0" indent="0">
              <a:lnSpc>
                <a:spcPct val="135000"/>
              </a:lnSpc>
              <a:buNone/>
            </a:pPr>
            <a:r>
              <a:rPr lang="en-US" sz="1050" dirty="0">
                <a:solidFill>
                  <a:srgbClr val="475569"/>
                </a:solidFill>
                <a:latin typeface="Segoe UI" pitchFamily="34" charset="0"/>
                <a:ea typeface="Segoe UI" pitchFamily="34" charset="-122"/>
                <a:cs typeface="Segoe UI" pitchFamily="34" charset="-120"/>
              </a:rPr>
              <a:t>MongoDB Atlas free tier exhausted by continuous multi-feed ingestion.</a:t>
            </a:r>
            <a:endParaRPr lang="en-US" sz="1050" dirty="0"/>
          </a:p>
        </p:txBody>
      </p:sp>
      <p:sp>
        <p:nvSpPr>
          <p:cNvPr id="30" name="Text 28"/>
          <p:cNvSpPr/>
          <p:nvPr/>
        </p:nvSpPr>
        <p:spPr>
          <a:xfrm>
            <a:off x="4617720" y="3840480"/>
            <a:ext cx="3154680" cy="228600"/>
          </a:xfrm>
          <a:prstGeom prst="rect">
            <a:avLst/>
          </a:prstGeom>
          <a:noFill/>
          <a:ln/>
        </p:spPr>
        <p:txBody>
          <a:bodyPr wrap="square" rtlCol="0" anchor="ctr"/>
          <a:lstStyle/>
          <a:p>
            <a:pPr marL="0" indent="0">
              <a:buNone/>
            </a:pPr>
            <a:r>
              <a:rPr lang="en-US" sz="700" b="1" dirty="0">
                <a:solidFill>
                  <a:srgbClr val="059669"/>
                </a:solidFill>
                <a:latin typeface="Segoe UI" pitchFamily="34" charset="0"/>
                <a:ea typeface="Segoe UI" pitchFamily="34" charset="-122"/>
                <a:cs typeface="Segoe UI" pitchFamily="34" charset="-120"/>
              </a:rPr>
              <a:t>RESOLUTION</a:t>
            </a:r>
            <a:endParaRPr lang="en-US" sz="700" dirty="0"/>
          </a:p>
        </p:txBody>
      </p:sp>
      <p:sp>
        <p:nvSpPr>
          <p:cNvPr id="31" name="Shape 29"/>
          <p:cNvSpPr/>
          <p:nvPr/>
        </p:nvSpPr>
        <p:spPr>
          <a:xfrm>
            <a:off x="4617720" y="4069080"/>
            <a:ext cx="3154680" cy="9144"/>
          </a:xfrm>
          <a:prstGeom prst="rect">
            <a:avLst/>
          </a:prstGeom>
          <a:solidFill>
            <a:srgbClr val="059669">
              <a:alpha val="35000"/>
            </a:srgbClr>
          </a:solidFill>
          <a:ln/>
        </p:spPr>
        <p:txBody>
          <a:bodyPr/>
          <a:lstStyle/>
          <a:p>
            <a:endParaRPr lang="fr-TN"/>
          </a:p>
        </p:txBody>
      </p:sp>
      <p:sp>
        <p:nvSpPr>
          <p:cNvPr id="32" name="Text 30"/>
          <p:cNvSpPr/>
          <p:nvPr/>
        </p:nvSpPr>
        <p:spPr>
          <a:xfrm>
            <a:off x="4617720" y="4160520"/>
            <a:ext cx="3154680" cy="1828800"/>
          </a:xfrm>
          <a:prstGeom prst="rect">
            <a:avLst/>
          </a:prstGeom>
          <a:noFill/>
          <a:ln/>
        </p:spPr>
        <p:txBody>
          <a:bodyPr wrap="square" rtlCol="0" anchor="ctr"/>
          <a:lstStyle/>
          <a:p>
            <a:pPr marL="0" indent="0">
              <a:lnSpc>
                <a:spcPct val="135000"/>
              </a:lnSpc>
              <a:buNone/>
            </a:pPr>
            <a:r>
              <a:rPr lang="en-US" sz="1050" dirty="0">
                <a:solidFill>
                  <a:srgbClr val="475569"/>
                </a:solidFill>
                <a:latin typeface="Segoe UI" pitchFamily="34" charset="0"/>
                <a:ea typeface="Segoe UI" pitchFamily="34" charset="-122"/>
                <a:cs typeface="Segoe UI" pitchFamily="34" charset="-120"/>
              </a:rPr>
              <a:t>BSON field compression (60%), 30-day TTL indexes, 500MB quota guard with in-memory fallback.</a:t>
            </a:r>
            <a:endParaRPr lang="en-US" sz="1050" dirty="0"/>
          </a:p>
        </p:txBody>
      </p:sp>
      <p:sp>
        <p:nvSpPr>
          <p:cNvPr id="33" name="Shape 31"/>
          <p:cNvSpPr/>
          <p:nvPr/>
        </p:nvSpPr>
        <p:spPr>
          <a:xfrm>
            <a:off x="8183880" y="1417320"/>
            <a:ext cx="3520440" cy="4892040"/>
          </a:xfrm>
          <a:prstGeom prst="roundRect">
            <a:avLst>
              <a:gd name="adj" fmla="val 3117"/>
            </a:avLst>
          </a:prstGeom>
          <a:solidFill>
            <a:srgbClr val="FFFFFF"/>
          </a:solidFill>
          <a:ln w="7620">
            <a:solidFill>
              <a:srgbClr val="E2E8F0"/>
            </a:solidFill>
            <a:prstDash val="solid"/>
          </a:ln>
          <a:effectLst>
            <a:outerShdw blurRad="152400" dist="38100" dir="12000000" algn="bl" rotWithShape="0">
              <a:srgbClr val="94A3B8">
                <a:alpha val="20000"/>
              </a:srgbClr>
            </a:outerShdw>
          </a:effectLst>
        </p:spPr>
        <p:txBody>
          <a:bodyPr/>
          <a:lstStyle/>
          <a:p>
            <a:endParaRPr lang="fr-TN"/>
          </a:p>
        </p:txBody>
      </p:sp>
      <p:sp>
        <p:nvSpPr>
          <p:cNvPr id="34" name="Shape 32"/>
          <p:cNvSpPr/>
          <p:nvPr/>
        </p:nvSpPr>
        <p:spPr>
          <a:xfrm>
            <a:off x="8275320" y="1435608"/>
            <a:ext cx="3337560" cy="36576"/>
          </a:xfrm>
          <a:prstGeom prst="rect">
            <a:avLst/>
          </a:prstGeom>
          <a:solidFill>
            <a:srgbClr val="059669"/>
          </a:solidFill>
          <a:ln/>
        </p:spPr>
        <p:txBody>
          <a:bodyPr/>
          <a:lstStyle/>
          <a:p>
            <a:endParaRPr lang="fr-TN"/>
          </a:p>
        </p:txBody>
      </p:sp>
      <p:sp>
        <p:nvSpPr>
          <p:cNvPr id="35" name="Shape 33"/>
          <p:cNvSpPr/>
          <p:nvPr/>
        </p:nvSpPr>
        <p:spPr>
          <a:xfrm>
            <a:off x="10744200" y="1645920"/>
            <a:ext cx="749808" cy="256032"/>
          </a:xfrm>
          <a:prstGeom prst="roundRect">
            <a:avLst>
              <a:gd name="adj" fmla="val 17857"/>
            </a:avLst>
          </a:prstGeom>
          <a:solidFill>
            <a:srgbClr val="059669">
              <a:alpha val="10000"/>
            </a:srgbClr>
          </a:solidFill>
          <a:ln w="6350">
            <a:solidFill>
              <a:srgbClr val="059669"/>
            </a:solidFill>
            <a:prstDash val="solid"/>
          </a:ln>
        </p:spPr>
        <p:txBody>
          <a:bodyPr/>
          <a:lstStyle/>
          <a:p>
            <a:endParaRPr lang="fr-TN"/>
          </a:p>
        </p:txBody>
      </p:sp>
      <p:sp>
        <p:nvSpPr>
          <p:cNvPr id="36" name="Text 34"/>
          <p:cNvSpPr/>
          <p:nvPr/>
        </p:nvSpPr>
        <p:spPr>
          <a:xfrm>
            <a:off x="10744200" y="1645920"/>
            <a:ext cx="749808" cy="256032"/>
          </a:xfrm>
          <a:prstGeom prst="rect">
            <a:avLst/>
          </a:prstGeom>
          <a:noFill/>
          <a:ln/>
        </p:spPr>
        <p:txBody>
          <a:bodyPr wrap="square" rtlCol="0" anchor="ctr"/>
          <a:lstStyle/>
          <a:p>
            <a:pPr marL="0" indent="0" algn="ctr">
              <a:buNone/>
            </a:pPr>
            <a:r>
              <a:rPr lang="en-US" sz="700" b="1" dirty="0">
                <a:solidFill>
                  <a:srgbClr val="059669"/>
                </a:solidFill>
                <a:latin typeface="Segoe UI" pitchFamily="34" charset="0"/>
                <a:ea typeface="Segoe UI" pitchFamily="34" charset="-122"/>
                <a:cs typeface="Segoe UI" pitchFamily="34" charset="-120"/>
              </a:rPr>
              <a:t>RESOLVED</a:t>
            </a:r>
            <a:endParaRPr lang="en-US" sz="700" dirty="0"/>
          </a:p>
        </p:txBody>
      </p:sp>
      <p:sp>
        <p:nvSpPr>
          <p:cNvPr id="37" name="Text 35"/>
          <p:cNvSpPr/>
          <p:nvPr/>
        </p:nvSpPr>
        <p:spPr>
          <a:xfrm>
            <a:off x="8366760" y="1645920"/>
            <a:ext cx="2286000" cy="411480"/>
          </a:xfrm>
          <a:prstGeom prst="rect">
            <a:avLst/>
          </a:prstGeom>
          <a:noFill/>
          <a:ln/>
        </p:spPr>
        <p:txBody>
          <a:bodyPr wrap="square" rtlCol="0" anchor="ctr"/>
          <a:lstStyle/>
          <a:p>
            <a:pPr marL="0" indent="0">
              <a:buNone/>
            </a:pPr>
            <a:r>
              <a:rPr lang="en-US" sz="1500" b="1" dirty="0">
                <a:solidFill>
                  <a:srgbClr val="0F172A"/>
                </a:solidFill>
                <a:latin typeface="Segoe UI" pitchFamily="34" charset="0"/>
                <a:ea typeface="Segoe UI" pitchFamily="34" charset="-122"/>
                <a:cs typeface="Segoe UI" pitchFamily="34" charset="-120"/>
              </a:rPr>
              <a:t>CORS Deployment Blocks</a:t>
            </a:r>
            <a:endParaRPr lang="en-US" sz="1500" dirty="0"/>
          </a:p>
        </p:txBody>
      </p:sp>
      <p:sp>
        <p:nvSpPr>
          <p:cNvPr id="38" name="Text 36"/>
          <p:cNvSpPr/>
          <p:nvPr/>
        </p:nvSpPr>
        <p:spPr>
          <a:xfrm>
            <a:off x="8366760" y="2286000"/>
            <a:ext cx="3154680" cy="228600"/>
          </a:xfrm>
          <a:prstGeom prst="rect">
            <a:avLst/>
          </a:prstGeom>
          <a:noFill/>
          <a:ln/>
        </p:spPr>
        <p:txBody>
          <a:bodyPr wrap="square" rtlCol="0" anchor="ctr"/>
          <a:lstStyle/>
          <a:p>
            <a:pPr marL="0" indent="0">
              <a:buNone/>
            </a:pPr>
            <a:r>
              <a:rPr lang="en-US" sz="700" b="1" dirty="0">
                <a:solidFill>
                  <a:srgbClr val="059669"/>
                </a:solidFill>
                <a:latin typeface="Segoe UI" pitchFamily="34" charset="0"/>
                <a:ea typeface="Segoe UI" pitchFamily="34" charset="-122"/>
                <a:cs typeface="Segoe UI" pitchFamily="34" charset="-120"/>
              </a:rPr>
              <a:t>CAUSE</a:t>
            </a:r>
            <a:endParaRPr lang="en-US" sz="700" dirty="0"/>
          </a:p>
        </p:txBody>
      </p:sp>
      <p:sp>
        <p:nvSpPr>
          <p:cNvPr id="39" name="Shape 37"/>
          <p:cNvSpPr/>
          <p:nvPr/>
        </p:nvSpPr>
        <p:spPr>
          <a:xfrm>
            <a:off x="8366760" y="2514600"/>
            <a:ext cx="3154680" cy="9144"/>
          </a:xfrm>
          <a:prstGeom prst="rect">
            <a:avLst/>
          </a:prstGeom>
          <a:solidFill>
            <a:srgbClr val="059669">
              <a:alpha val="35000"/>
            </a:srgbClr>
          </a:solidFill>
          <a:ln/>
        </p:spPr>
        <p:txBody>
          <a:bodyPr/>
          <a:lstStyle/>
          <a:p>
            <a:endParaRPr lang="fr-TN"/>
          </a:p>
        </p:txBody>
      </p:sp>
      <p:sp>
        <p:nvSpPr>
          <p:cNvPr id="40" name="Text 38"/>
          <p:cNvSpPr/>
          <p:nvPr/>
        </p:nvSpPr>
        <p:spPr>
          <a:xfrm>
            <a:off x="8366760" y="2606040"/>
            <a:ext cx="3154680" cy="1188720"/>
          </a:xfrm>
          <a:prstGeom prst="rect">
            <a:avLst/>
          </a:prstGeom>
          <a:noFill/>
          <a:ln/>
        </p:spPr>
        <p:txBody>
          <a:bodyPr wrap="square" rtlCol="0" anchor="ctr"/>
          <a:lstStyle/>
          <a:p>
            <a:pPr marL="0" indent="0">
              <a:lnSpc>
                <a:spcPct val="135000"/>
              </a:lnSpc>
              <a:buNone/>
            </a:pPr>
            <a:r>
              <a:rPr lang="en-US" sz="1050" dirty="0">
                <a:solidFill>
                  <a:srgbClr val="475569"/>
                </a:solidFill>
                <a:latin typeface="Segoe UI" pitchFamily="34" charset="0"/>
                <a:ea typeface="Segoe UI" pitchFamily="34" charset="-122"/>
                <a:cs typeface="Segoe UI" pitchFamily="34" charset="-120"/>
              </a:rPr>
              <a:t>Browser security prevents React on Vercel from reading Cloud VM API.</a:t>
            </a:r>
            <a:endParaRPr lang="en-US" sz="1050" dirty="0"/>
          </a:p>
        </p:txBody>
      </p:sp>
      <p:sp>
        <p:nvSpPr>
          <p:cNvPr id="41" name="Text 39"/>
          <p:cNvSpPr/>
          <p:nvPr/>
        </p:nvSpPr>
        <p:spPr>
          <a:xfrm>
            <a:off x="8366760" y="3840480"/>
            <a:ext cx="3154680" cy="228600"/>
          </a:xfrm>
          <a:prstGeom prst="rect">
            <a:avLst/>
          </a:prstGeom>
          <a:noFill/>
          <a:ln/>
        </p:spPr>
        <p:txBody>
          <a:bodyPr wrap="square" rtlCol="0" anchor="ctr"/>
          <a:lstStyle/>
          <a:p>
            <a:pPr marL="0" indent="0">
              <a:buNone/>
            </a:pPr>
            <a:r>
              <a:rPr lang="en-US" sz="700" b="1" dirty="0">
                <a:solidFill>
                  <a:srgbClr val="059669"/>
                </a:solidFill>
                <a:latin typeface="Segoe UI" pitchFamily="34" charset="0"/>
                <a:ea typeface="Segoe UI" pitchFamily="34" charset="-122"/>
                <a:cs typeface="Segoe UI" pitchFamily="34" charset="-120"/>
              </a:rPr>
              <a:t>RESOLUTION</a:t>
            </a:r>
            <a:endParaRPr lang="en-US" sz="700" dirty="0"/>
          </a:p>
        </p:txBody>
      </p:sp>
      <p:sp>
        <p:nvSpPr>
          <p:cNvPr id="42" name="Shape 40"/>
          <p:cNvSpPr/>
          <p:nvPr/>
        </p:nvSpPr>
        <p:spPr>
          <a:xfrm>
            <a:off x="8366760" y="4069080"/>
            <a:ext cx="3154680" cy="9144"/>
          </a:xfrm>
          <a:prstGeom prst="rect">
            <a:avLst/>
          </a:prstGeom>
          <a:solidFill>
            <a:srgbClr val="059669">
              <a:alpha val="35000"/>
            </a:srgbClr>
          </a:solidFill>
          <a:ln/>
        </p:spPr>
        <p:txBody>
          <a:bodyPr/>
          <a:lstStyle/>
          <a:p>
            <a:endParaRPr lang="fr-TN"/>
          </a:p>
        </p:txBody>
      </p:sp>
      <p:sp>
        <p:nvSpPr>
          <p:cNvPr id="43" name="Text 41"/>
          <p:cNvSpPr/>
          <p:nvPr/>
        </p:nvSpPr>
        <p:spPr>
          <a:xfrm>
            <a:off x="8366760" y="4160520"/>
            <a:ext cx="3154680" cy="1828800"/>
          </a:xfrm>
          <a:prstGeom prst="rect">
            <a:avLst/>
          </a:prstGeom>
          <a:noFill/>
          <a:ln/>
        </p:spPr>
        <p:txBody>
          <a:bodyPr wrap="square" rtlCol="0" anchor="ctr"/>
          <a:lstStyle/>
          <a:p>
            <a:pPr marL="0" indent="0">
              <a:lnSpc>
                <a:spcPct val="135000"/>
              </a:lnSpc>
              <a:buNone/>
            </a:pPr>
            <a:r>
              <a:rPr lang="en-US" sz="1050" dirty="0">
                <a:solidFill>
                  <a:srgbClr val="475569"/>
                </a:solidFill>
                <a:latin typeface="Segoe UI" pitchFamily="34" charset="0"/>
                <a:ea typeface="Segoe UI" pitchFamily="34" charset="-122"/>
                <a:cs typeface="Segoe UI" pitchFamily="34" charset="-120"/>
              </a:rPr>
              <a:t>Vercel reverse-proxy rules in vercel.json routing /api/* through internal paths.</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12188952" cy="45720"/>
          </a:xfrm>
          <a:prstGeom prst="rect">
            <a:avLst/>
          </a:prstGeom>
          <a:solidFill>
            <a:srgbClr val="2563EB"/>
          </a:solidFill>
          <a:ln/>
        </p:spPr>
        <p:txBody>
          <a:bodyPr/>
          <a:lstStyle/>
          <a:p>
            <a:endParaRPr lang="fr-TN"/>
          </a:p>
        </p:txBody>
      </p:sp>
      <p:sp>
        <p:nvSpPr>
          <p:cNvPr id="3" name="Shape 1"/>
          <p:cNvSpPr/>
          <p:nvPr/>
        </p:nvSpPr>
        <p:spPr>
          <a:xfrm>
            <a:off x="10972800" y="274320"/>
            <a:ext cx="914400" cy="1829"/>
          </a:xfrm>
          <a:prstGeom prst="rect">
            <a:avLst/>
          </a:prstGeom>
          <a:solidFill>
            <a:srgbClr val="E2E8F0"/>
          </a:solidFill>
          <a:ln/>
        </p:spPr>
        <p:txBody>
          <a:bodyPr/>
          <a:lstStyle/>
          <a:p>
            <a:endParaRPr lang="fr-TN"/>
          </a:p>
        </p:txBody>
      </p:sp>
      <p:sp>
        <p:nvSpPr>
          <p:cNvPr id="4" name="Shape 2"/>
          <p:cNvSpPr/>
          <p:nvPr/>
        </p:nvSpPr>
        <p:spPr>
          <a:xfrm>
            <a:off x="11868912" y="274320"/>
            <a:ext cx="1829" cy="640080"/>
          </a:xfrm>
          <a:prstGeom prst="rect">
            <a:avLst/>
          </a:prstGeom>
          <a:solidFill>
            <a:srgbClr val="E2E8F0"/>
          </a:solidFill>
          <a:ln/>
        </p:spPr>
        <p:txBody>
          <a:bodyPr/>
          <a:lstStyle/>
          <a:p>
            <a:endParaRPr lang="fr-TN"/>
          </a:p>
        </p:txBody>
      </p:sp>
      <p:sp>
        <p:nvSpPr>
          <p:cNvPr id="5" name="Shape 3"/>
          <p:cNvSpPr/>
          <p:nvPr/>
        </p:nvSpPr>
        <p:spPr>
          <a:xfrm>
            <a:off x="320040" y="6537960"/>
            <a:ext cx="1829" cy="274320"/>
          </a:xfrm>
          <a:prstGeom prst="rect">
            <a:avLst/>
          </a:prstGeom>
          <a:solidFill>
            <a:srgbClr val="E2E8F0"/>
          </a:solidFill>
          <a:ln/>
        </p:spPr>
        <p:txBody>
          <a:bodyPr/>
          <a:lstStyle/>
          <a:p>
            <a:endParaRPr lang="fr-TN"/>
          </a:p>
        </p:txBody>
      </p:sp>
      <p:sp>
        <p:nvSpPr>
          <p:cNvPr id="6" name="Shape 4"/>
          <p:cNvSpPr/>
          <p:nvPr/>
        </p:nvSpPr>
        <p:spPr>
          <a:xfrm>
            <a:off x="320040" y="6537960"/>
            <a:ext cx="640080" cy="1829"/>
          </a:xfrm>
          <a:prstGeom prst="rect">
            <a:avLst/>
          </a:prstGeom>
          <a:solidFill>
            <a:srgbClr val="E2E8F0"/>
          </a:solidFill>
          <a:ln/>
        </p:spPr>
        <p:txBody>
          <a:bodyPr/>
          <a:lstStyle/>
          <a:p>
            <a:endParaRPr lang="fr-TN"/>
          </a:p>
        </p:txBody>
      </p:sp>
      <p:sp>
        <p:nvSpPr>
          <p:cNvPr id="7" name="Text 5"/>
          <p:cNvSpPr/>
          <p:nvPr/>
        </p:nvSpPr>
        <p:spPr>
          <a:xfrm>
            <a:off x="731520" y="274320"/>
            <a:ext cx="10515600" cy="256032"/>
          </a:xfrm>
          <a:prstGeom prst="rect">
            <a:avLst/>
          </a:prstGeom>
          <a:noFill/>
          <a:ln/>
        </p:spPr>
        <p:txBody>
          <a:bodyPr wrap="square" rtlCol="0" anchor="ctr"/>
          <a:lstStyle/>
          <a:p>
            <a:pPr marL="0" indent="0">
              <a:buNone/>
            </a:pPr>
            <a:r>
              <a:rPr lang="en-US" sz="900" b="1" dirty="0">
                <a:solidFill>
                  <a:srgbClr val="2563EB"/>
                </a:solidFill>
                <a:latin typeface="Segoe UI" pitchFamily="34" charset="0"/>
                <a:ea typeface="Segoe UI" pitchFamily="34" charset="-122"/>
                <a:cs typeface="Segoe UI" pitchFamily="34" charset="-120"/>
              </a:rPr>
              <a:t>CHAPTER 5 — CONCLUSION &amp; PERSPECTIVES</a:t>
            </a:r>
            <a:endParaRPr lang="en-US" sz="900" dirty="0"/>
          </a:p>
        </p:txBody>
      </p:sp>
      <p:sp>
        <p:nvSpPr>
          <p:cNvPr id="8" name="Text 6"/>
          <p:cNvSpPr/>
          <p:nvPr/>
        </p:nvSpPr>
        <p:spPr>
          <a:xfrm>
            <a:off x="731520" y="548640"/>
            <a:ext cx="10515600" cy="502920"/>
          </a:xfrm>
          <a:prstGeom prst="rect">
            <a:avLst/>
          </a:prstGeom>
          <a:noFill/>
          <a:ln/>
        </p:spPr>
        <p:txBody>
          <a:bodyPr wrap="square" rtlCol="0" anchor="ctr"/>
          <a:lstStyle/>
          <a:p>
            <a:pPr marL="0" indent="0">
              <a:buNone/>
            </a:pPr>
            <a:r>
              <a:rPr lang="en-US" sz="3000" b="1" dirty="0">
                <a:solidFill>
                  <a:srgbClr val="0F172A"/>
                </a:solidFill>
                <a:latin typeface="Segoe UI" pitchFamily="34" charset="0"/>
                <a:ea typeface="Segoe UI" pitchFamily="34" charset="-122"/>
                <a:cs typeface="Segoe UI" pitchFamily="34" charset="-120"/>
              </a:rPr>
              <a:t>Future Perspectives &amp; Roadmap</a:t>
            </a:r>
            <a:endParaRPr lang="en-US" sz="3000" dirty="0"/>
          </a:p>
        </p:txBody>
      </p:sp>
      <p:sp>
        <p:nvSpPr>
          <p:cNvPr id="9" name="Shape 7"/>
          <p:cNvSpPr/>
          <p:nvPr/>
        </p:nvSpPr>
        <p:spPr>
          <a:xfrm>
            <a:off x="731520" y="1115568"/>
            <a:ext cx="1828800" cy="32004"/>
          </a:xfrm>
          <a:prstGeom prst="rect">
            <a:avLst/>
          </a:prstGeom>
          <a:solidFill>
            <a:srgbClr val="2563EB"/>
          </a:solidFill>
          <a:ln/>
        </p:spPr>
        <p:txBody>
          <a:bodyPr/>
          <a:lstStyle/>
          <a:p>
            <a:endParaRPr lang="fr-TN"/>
          </a:p>
        </p:txBody>
      </p:sp>
      <p:sp>
        <p:nvSpPr>
          <p:cNvPr id="10" name="Shape 8"/>
          <p:cNvSpPr/>
          <p:nvPr/>
        </p:nvSpPr>
        <p:spPr>
          <a:xfrm>
            <a:off x="2651760" y="1124712"/>
            <a:ext cx="8778240" cy="10973"/>
          </a:xfrm>
          <a:prstGeom prst="rect">
            <a:avLst/>
          </a:prstGeom>
          <a:solidFill>
            <a:srgbClr val="E2E8F0"/>
          </a:solidFill>
          <a:ln/>
        </p:spPr>
        <p:txBody>
          <a:bodyPr/>
          <a:lstStyle/>
          <a:p>
            <a:endParaRPr lang="fr-TN"/>
          </a:p>
        </p:txBody>
      </p:sp>
      <p:sp>
        <p:nvSpPr>
          <p:cNvPr id="11" name="Shape 9"/>
          <p:cNvSpPr/>
          <p:nvPr/>
        </p:nvSpPr>
        <p:spPr>
          <a:xfrm>
            <a:off x="685800" y="1417320"/>
            <a:ext cx="3520440" cy="4892040"/>
          </a:xfrm>
          <a:prstGeom prst="roundRect">
            <a:avLst>
              <a:gd name="adj" fmla="val 3117"/>
            </a:avLst>
          </a:prstGeom>
          <a:solidFill>
            <a:srgbClr val="FFFFFF"/>
          </a:solidFill>
          <a:ln w="7620">
            <a:solidFill>
              <a:srgbClr val="E2E8F0"/>
            </a:solidFill>
            <a:prstDash val="solid"/>
          </a:ln>
          <a:effectLst>
            <a:outerShdw blurRad="152400" dist="38100" dir="12000000" algn="bl" rotWithShape="0">
              <a:srgbClr val="94A3B8">
                <a:alpha val="20000"/>
              </a:srgbClr>
            </a:outerShdw>
          </a:effectLst>
        </p:spPr>
        <p:txBody>
          <a:bodyPr/>
          <a:lstStyle/>
          <a:p>
            <a:endParaRPr lang="fr-TN"/>
          </a:p>
        </p:txBody>
      </p:sp>
      <p:sp>
        <p:nvSpPr>
          <p:cNvPr id="12" name="Shape 10"/>
          <p:cNvSpPr/>
          <p:nvPr/>
        </p:nvSpPr>
        <p:spPr>
          <a:xfrm>
            <a:off x="777240" y="1435608"/>
            <a:ext cx="3337560" cy="36576"/>
          </a:xfrm>
          <a:prstGeom prst="rect">
            <a:avLst/>
          </a:prstGeom>
          <a:solidFill>
            <a:srgbClr val="2563EB"/>
          </a:solidFill>
          <a:ln/>
        </p:spPr>
        <p:txBody>
          <a:bodyPr/>
          <a:lstStyle/>
          <a:p>
            <a:endParaRPr lang="fr-TN"/>
          </a:p>
        </p:txBody>
      </p:sp>
      <p:sp>
        <p:nvSpPr>
          <p:cNvPr id="13" name="Shape 11"/>
          <p:cNvSpPr/>
          <p:nvPr/>
        </p:nvSpPr>
        <p:spPr>
          <a:xfrm>
            <a:off x="850392" y="1645920"/>
            <a:ext cx="690372" cy="256032"/>
          </a:xfrm>
          <a:prstGeom prst="roundRect">
            <a:avLst>
              <a:gd name="adj" fmla="val 17857"/>
            </a:avLst>
          </a:prstGeom>
          <a:solidFill>
            <a:srgbClr val="2563EB">
              <a:alpha val="10000"/>
            </a:srgbClr>
          </a:solidFill>
          <a:ln w="6350">
            <a:solidFill>
              <a:srgbClr val="2563EB"/>
            </a:solidFill>
            <a:prstDash val="solid"/>
          </a:ln>
        </p:spPr>
        <p:txBody>
          <a:bodyPr/>
          <a:lstStyle/>
          <a:p>
            <a:endParaRPr lang="fr-TN"/>
          </a:p>
        </p:txBody>
      </p:sp>
      <p:sp>
        <p:nvSpPr>
          <p:cNvPr id="14" name="Text 12"/>
          <p:cNvSpPr/>
          <p:nvPr/>
        </p:nvSpPr>
        <p:spPr>
          <a:xfrm>
            <a:off x="850392" y="1645920"/>
            <a:ext cx="690372" cy="256032"/>
          </a:xfrm>
          <a:prstGeom prst="rect">
            <a:avLst/>
          </a:prstGeom>
          <a:noFill/>
          <a:ln/>
        </p:spPr>
        <p:txBody>
          <a:bodyPr wrap="square" rtlCol="0" anchor="ctr"/>
          <a:lstStyle/>
          <a:p>
            <a:pPr marL="0" indent="0" algn="ctr">
              <a:buNone/>
            </a:pPr>
            <a:r>
              <a:rPr lang="en-US" sz="700" b="1" dirty="0">
                <a:solidFill>
                  <a:srgbClr val="2563EB"/>
                </a:solidFill>
                <a:latin typeface="Segoe UI" pitchFamily="34" charset="0"/>
                <a:ea typeface="Segoe UI" pitchFamily="34" charset="-122"/>
                <a:cs typeface="Segoe UI" pitchFamily="34" charset="-120"/>
              </a:rPr>
              <a:t>PHASE 1</a:t>
            </a:r>
            <a:endParaRPr lang="en-US" sz="700" dirty="0"/>
          </a:p>
        </p:txBody>
      </p:sp>
      <p:sp>
        <p:nvSpPr>
          <p:cNvPr id="15" name="Text 13"/>
          <p:cNvSpPr/>
          <p:nvPr/>
        </p:nvSpPr>
        <p:spPr>
          <a:xfrm>
            <a:off x="850392" y="2011680"/>
            <a:ext cx="3200400" cy="457200"/>
          </a:xfrm>
          <a:prstGeom prst="rect">
            <a:avLst/>
          </a:prstGeom>
          <a:noFill/>
          <a:ln/>
        </p:spPr>
        <p:txBody>
          <a:bodyPr wrap="square" rtlCol="0" anchor="ctr"/>
          <a:lstStyle/>
          <a:p>
            <a:pPr marL="0" indent="0">
              <a:buNone/>
            </a:pPr>
            <a:r>
              <a:rPr lang="en-US" sz="1500" b="1" dirty="0">
                <a:solidFill>
                  <a:srgbClr val="0F172A"/>
                </a:solidFill>
                <a:latin typeface="Segoe UI" pitchFamily="34" charset="0"/>
                <a:ea typeface="Segoe UI" pitchFamily="34" charset="-122"/>
                <a:cs typeface="Segoe UI" pitchFamily="34" charset="-120"/>
              </a:rPr>
              <a:t>Kafka Distributed Ingestion</a:t>
            </a:r>
            <a:endParaRPr lang="en-US" sz="1500" dirty="0"/>
          </a:p>
        </p:txBody>
      </p:sp>
      <p:sp>
        <p:nvSpPr>
          <p:cNvPr id="16" name="Shape 14"/>
          <p:cNvSpPr/>
          <p:nvPr/>
        </p:nvSpPr>
        <p:spPr>
          <a:xfrm>
            <a:off x="850392" y="2560320"/>
            <a:ext cx="3200400" cy="10973"/>
          </a:xfrm>
          <a:prstGeom prst="rect">
            <a:avLst/>
          </a:prstGeom>
          <a:solidFill>
            <a:srgbClr val="2563EB">
              <a:alpha val="40000"/>
            </a:srgbClr>
          </a:solidFill>
          <a:ln/>
        </p:spPr>
        <p:txBody>
          <a:bodyPr/>
          <a:lstStyle/>
          <a:p>
            <a:endParaRPr lang="fr-TN"/>
          </a:p>
        </p:txBody>
      </p:sp>
      <p:sp>
        <p:nvSpPr>
          <p:cNvPr id="17" name="Text 15"/>
          <p:cNvSpPr/>
          <p:nvPr/>
        </p:nvSpPr>
        <p:spPr>
          <a:xfrm>
            <a:off x="850392" y="2743200"/>
            <a:ext cx="3200400" cy="3200400"/>
          </a:xfrm>
          <a:prstGeom prst="rect">
            <a:avLst/>
          </a:prstGeom>
          <a:noFill/>
          <a:ln/>
        </p:spPr>
        <p:txBody>
          <a:bodyPr wrap="square" rtlCol="0" anchor="t"/>
          <a:lstStyle/>
          <a:p>
            <a:pPr marL="0" indent="0">
              <a:lnSpc>
                <a:spcPct val="140000"/>
              </a:lnSpc>
              <a:buNone/>
            </a:pPr>
            <a:r>
              <a:rPr lang="en-US" sz="1100" dirty="0">
                <a:solidFill>
                  <a:srgbClr val="475569"/>
                </a:solidFill>
                <a:latin typeface="Segoe UI" pitchFamily="34" charset="0"/>
                <a:ea typeface="Segoe UI" pitchFamily="34" charset="-122"/>
                <a:cs typeface="Segoe UI" pitchFamily="34" charset="-120"/>
              </a:rPr>
              <a:t>Decouple scrapers from the server process. Each scraper publishes events to Apache Kafka topics. The Express runtime consumes from Kafka — preventing crashes when scraper volume spikes.</a:t>
            </a:r>
            <a:endParaRPr lang="en-US" sz="1100" dirty="0"/>
          </a:p>
        </p:txBody>
      </p:sp>
      <p:sp>
        <p:nvSpPr>
          <p:cNvPr id="18" name="Text 16"/>
          <p:cNvSpPr/>
          <p:nvPr/>
        </p:nvSpPr>
        <p:spPr>
          <a:xfrm>
            <a:off x="4233672" y="3657600"/>
            <a:ext cx="228600" cy="365760"/>
          </a:xfrm>
          <a:prstGeom prst="rect">
            <a:avLst/>
          </a:prstGeom>
          <a:noFill/>
          <a:ln/>
        </p:spPr>
        <p:txBody>
          <a:bodyPr wrap="square" rtlCol="0" anchor="ctr"/>
          <a:lstStyle/>
          <a:p>
            <a:pPr marL="0" indent="0" algn="ctr">
              <a:buNone/>
            </a:pPr>
            <a:r>
              <a:rPr lang="en-US" sz="1400" dirty="0">
                <a:solidFill>
                  <a:srgbClr val="2563EB"/>
                </a:solidFill>
                <a:latin typeface="Segoe UI" pitchFamily="34" charset="0"/>
                <a:ea typeface="Segoe UI" pitchFamily="34" charset="-122"/>
                <a:cs typeface="Segoe UI" pitchFamily="34" charset="-120"/>
              </a:rPr>
              <a:t>▶</a:t>
            </a:r>
            <a:endParaRPr lang="en-US" sz="1400" dirty="0"/>
          </a:p>
        </p:txBody>
      </p:sp>
      <p:sp>
        <p:nvSpPr>
          <p:cNvPr id="19" name="Shape 17"/>
          <p:cNvSpPr/>
          <p:nvPr/>
        </p:nvSpPr>
        <p:spPr>
          <a:xfrm>
            <a:off x="4434840" y="1417320"/>
            <a:ext cx="3520440" cy="4892040"/>
          </a:xfrm>
          <a:prstGeom prst="roundRect">
            <a:avLst>
              <a:gd name="adj" fmla="val 3117"/>
            </a:avLst>
          </a:prstGeom>
          <a:solidFill>
            <a:srgbClr val="FFFFFF"/>
          </a:solidFill>
          <a:ln w="7620">
            <a:solidFill>
              <a:srgbClr val="E2E8F0"/>
            </a:solidFill>
            <a:prstDash val="solid"/>
          </a:ln>
          <a:effectLst>
            <a:outerShdw blurRad="152400" dist="38100" dir="12000000" algn="bl" rotWithShape="0">
              <a:srgbClr val="94A3B8">
                <a:alpha val="20000"/>
              </a:srgbClr>
            </a:outerShdw>
          </a:effectLst>
        </p:spPr>
        <p:txBody>
          <a:bodyPr/>
          <a:lstStyle/>
          <a:p>
            <a:endParaRPr lang="fr-TN"/>
          </a:p>
        </p:txBody>
      </p:sp>
      <p:sp>
        <p:nvSpPr>
          <p:cNvPr id="20" name="Shape 18"/>
          <p:cNvSpPr/>
          <p:nvPr/>
        </p:nvSpPr>
        <p:spPr>
          <a:xfrm>
            <a:off x="4526280" y="1435608"/>
            <a:ext cx="3337560" cy="36576"/>
          </a:xfrm>
          <a:prstGeom prst="rect">
            <a:avLst/>
          </a:prstGeom>
          <a:solidFill>
            <a:srgbClr val="7C3AED"/>
          </a:solidFill>
          <a:ln/>
        </p:spPr>
        <p:txBody>
          <a:bodyPr/>
          <a:lstStyle/>
          <a:p>
            <a:endParaRPr lang="fr-TN"/>
          </a:p>
        </p:txBody>
      </p:sp>
      <p:sp>
        <p:nvSpPr>
          <p:cNvPr id="21" name="Shape 19"/>
          <p:cNvSpPr/>
          <p:nvPr/>
        </p:nvSpPr>
        <p:spPr>
          <a:xfrm>
            <a:off x="4599432" y="1645920"/>
            <a:ext cx="690372" cy="256032"/>
          </a:xfrm>
          <a:prstGeom prst="roundRect">
            <a:avLst>
              <a:gd name="adj" fmla="val 17857"/>
            </a:avLst>
          </a:prstGeom>
          <a:solidFill>
            <a:srgbClr val="7C3AED">
              <a:alpha val="10000"/>
            </a:srgbClr>
          </a:solidFill>
          <a:ln w="6350">
            <a:solidFill>
              <a:srgbClr val="7C3AED"/>
            </a:solidFill>
            <a:prstDash val="solid"/>
          </a:ln>
        </p:spPr>
        <p:txBody>
          <a:bodyPr/>
          <a:lstStyle/>
          <a:p>
            <a:endParaRPr lang="fr-TN"/>
          </a:p>
        </p:txBody>
      </p:sp>
      <p:sp>
        <p:nvSpPr>
          <p:cNvPr id="22" name="Text 20"/>
          <p:cNvSpPr/>
          <p:nvPr/>
        </p:nvSpPr>
        <p:spPr>
          <a:xfrm>
            <a:off x="4599432" y="1645920"/>
            <a:ext cx="690372" cy="256032"/>
          </a:xfrm>
          <a:prstGeom prst="rect">
            <a:avLst/>
          </a:prstGeom>
          <a:noFill/>
          <a:ln/>
        </p:spPr>
        <p:txBody>
          <a:bodyPr wrap="square" rtlCol="0" anchor="ctr"/>
          <a:lstStyle/>
          <a:p>
            <a:pPr marL="0" indent="0" algn="ctr">
              <a:buNone/>
            </a:pPr>
            <a:r>
              <a:rPr lang="en-US" sz="700" b="1" dirty="0">
                <a:solidFill>
                  <a:srgbClr val="7C3AED"/>
                </a:solidFill>
                <a:latin typeface="Segoe UI" pitchFamily="34" charset="0"/>
                <a:ea typeface="Segoe UI" pitchFamily="34" charset="-122"/>
                <a:cs typeface="Segoe UI" pitchFamily="34" charset="-120"/>
              </a:rPr>
              <a:t>PHASE 2</a:t>
            </a:r>
            <a:endParaRPr lang="en-US" sz="700" dirty="0"/>
          </a:p>
        </p:txBody>
      </p:sp>
      <p:sp>
        <p:nvSpPr>
          <p:cNvPr id="23" name="Text 21"/>
          <p:cNvSpPr/>
          <p:nvPr/>
        </p:nvSpPr>
        <p:spPr>
          <a:xfrm>
            <a:off x="4599432" y="2011680"/>
            <a:ext cx="3200400" cy="457200"/>
          </a:xfrm>
          <a:prstGeom prst="rect">
            <a:avLst/>
          </a:prstGeom>
          <a:noFill/>
          <a:ln/>
        </p:spPr>
        <p:txBody>
          <a:bodyPr wrap="square" rtlCol="0" anchor="ctr"/>
          <a:lstStyle/>
          <a:p>
            <a:pPr marL="0" indent="0">
              <a:buNone/>
            </a:pPr>
            <a:r>
              <a:rPr lang="en-US" sz="1500" b="1" dirty="0">
                <a:solidFill>
                  <a:srgbClr val="0F172A"/>
                </a:solidFill>
                <a:latin typeface="Segoe UI" pitchFamily="34" charset="0"/>
                <a:ea typeface="Segoe UI" pitchFamily="34" charset="-122"/>
                <a:cs typeface="Segoe UI" pitchFamily="34" charset="-120"/>
              </a:rPr>
              <a:t>Predictive ML Extensions</a:t>
            </a:r>
            <a:endParaRPr lang="en-US" sz="1500" dirty="0"/>
          </a:p>
        </p:txBody>
      </p:sp>
      <p:sp>
        <p:nvSpPr>
          <p:cNvPr id="24" name="Shape 22"/>
          <p:cNvSpPr/>
          <p:nvPr/>
        </p:nvSpPr>
        <p:spPr>
          <a:xfrm>
            <a:off x="4599432" y="2560320"/>
            <a:ext cx="3200400" cy="10973"/>
          </a:xfrm>
          <a:prstGeom prst="rect">
            <a:avLst/>
          </a:prstGeom>
          <a:solidFill>
            <a:srgbClr val="7C3AED">
              <a:alpha val="40000"/>
            </a:srgbClr>
          </a:solidFill>
          <a:ln/>
        </p:spPr>
        <p:txBody>
          <a:bodyPr/>
          <a:lstStyle/>
          <a:p>
            <a:endParaRPr lang="fr-TN"/>
          </a:p>
        </p:txBody>
      </p:sp>
      <p:sp>
        <p:nvSpPr>
          <p:cNvPr id="25" name="Text 23"/>
          <p:cNvSpPr/>
          <p:nvPr/>
        </p:nvSpPr>
        <p:spPr>
          <a:xfrm>
            <a:off x="4599432" y="2743200"/>
            <a:ext cx="3200400" cy="3200400"/>
          </a:xfrm>
          <a:prstGeom prst="rect">
            <a:avLst/>
          </a:prstGeom>
          <a:noFill/>
          <a:ln/>
        </p:spPr>
        <p:txBody>
          <a:bodyPr wrap="square" rtlCol="0" anchor="t"/>
          <a:lstStyle/>
          <a:p>
            <a:pPr marL="0" indent="0">
              <a:lnSpc>
                <a:spcPct val="140000"/>
              </a:lnSpc>
              <a:buNone/>
            </a:pPr>
            <a:r>
              <a:rPr lang="en-US" sz="1100" dirty="0">
                <a:solidFill>
                  <a:srgbClr val="475569"/>
                </a:solidFill>
                <a:latin typeface="Segoe UI" pitchFamily="34" charset="0"/>
                <a:ea typeface="Segoe UI" pitchFamily="34" charset="-122"/>
                <a:cs typeface="Segoe UI" pitchFamily="34" charset="-120"/>
              </a:rPr>
              <a:t>Train LSTM/time-series models on historical threat databases to forecast attack spikes and sector-targeted waves. Overlay predictions as visual heatmaps.</a:t>
            </a:r>
            <a:endParaRPr lang="en-US" sz="1100" dirty="0"/>
          </a:p>
        </p:txBody>
      </p:sp>
      <p:sp>
        <p:nvSpPr>
          <p:cNvPr id="26" name="Text 24"/>
          <p:cNvSpPr/>
          <p:nvPr/>
        </p:nvSpPr>
        <p:spPr>
          <a:xfrm>
            <a:off x="7982712" y="3657600"/>
            <a:ext cx="228600" cy="365760"/>
          </a:xfrm>
          <a:prstGeom prst="rect">
            <a:avLst/>
          </a:prstGeom>
          <a:noFill/>
          <a:ln/>
        </p:spPr>
        <p:txBody>
          <a:bodyPr wrap="square" rtlCol="0" anchor="ctr"/>
          <a:lstStyle/>
          <a:p>
            <a:pPr marL="0" indent="0" algn="ctr">
              <a:buNone/>
            </a:pPr>
            <a:r>
              <a:rPr lang="en-US" sz="1400" dirty="0">
                <a:solidFill>
                  <a:srgbClr val="7C3AED"/>
                </a:solidFill>
                <a:latin typeface="Segoe UI" pitchFamily="34" charset="0"/>
                <a:ea typeface="Segoe UI" pitchFamily="34" charset="-122"/>
                <a:cs typeface="Segoe UI" pitchFamily="34" charset="-120"/>
              </a:rPr>
              <a:t>▶</a:t>
            </a:r>
            <a:endParaRPr lang="en-US" sz="1400" dirty="0"/>
          </a:p>
        </p:txBody>
      </p:sp>
      <p:sp>
        <p:nvSpPr>
          <p:cNvPr id="27" name="Shape 25"/>
          <p:cNvSpPr/>
          <p:nvPr/>
        </p:nvSpPr>
        <p:spPr>
          <a:xfrm>
            <a:off x="8183880" y="1417320"/>
            <a:ext cx="3520440" cy="4892040"/>
          </a:xfrm>
          <a:prstGeom prst="roundRect">
            <a:avLst>
              <a:gd name="adj" fmla="val 3117"/>
            </a:avLst>
          </a:prstGeom>
          <a:solidFill>
            <a:srgbClr val="FFFFFF"/>
          </a:solidFill>
          <a:ln w="7620">
            <a:solidFill>
              <a:srgbClr val="E2E8F0"/>
            </a:solidFill>
            <a:prstDash val="solid"/>
          </a:ln>
          <a:effectLst>
            <a:outerShdw blurRad="152400" dist="38100" dir="12000000" algn="bl" rotWithShape="0">
              <a:srgbClr val="94A3B8">
                <a:alpha val="20000"/>
              </a:srgbClr>
            </a:outerShdw>
          </a:effectLst>
        </p:spPr>
        <p:txBody>
          <a:bodyPr/>
          <a:lstStyle/>
          <a:p>
            <a:endParaRPr lang="fr-TN"/>
          </a:p>
        </p:txBody>
      </p:sp>
      <p:sp>
        <p:nvSpPr>
          <p:cNvPr id="28" name="Shape 26"/>
          <p:cNvSpPr/>
          <p:nvPr/>
        </p:nvSpPr>
        <p:spPr>
          <a:xfrm>
            <a:off x="8275320" y="1435608"/>
            <a:ext cx="3337560" cy="36576"/>
          </a:xfrm>
          <a:prstGeom prst="rect">
            <a:avLst/>
          </a:prstGeom>
          <a:solidFill>
            <a:srgbClr val="059669"/>
          </a:solidFill>
          <a:ln/>
        </p:spPr>
        <p:txBody>
          <a:bodyPr/>
          <a:lstStyle/>
          <a:p>
            <a:endParaRPr lang="fr-TN"/>
          </a:p>
        </p:txBody>
      </p:sp>
      <p:sp>
        <p:nvSpPr>
          <p:cNvPr id="29" name="Shape 27"/>
          <p:cNvSpPr/>
          <p:nvPr/>
        </p:nvSpPr>
        <p:spPr>
          <a:xfrm>
            <a:off x="8348472" y="1645920"/>
            <a:ext cx="690372" cy="256032"/>
          </a:xfrm>
          <a:prstGeom prst="roundRect">
            <a:avLst>
              <a:gd name="adj" fmla="val 17857"/>
            </a:avLst>
          </a:prstGeom>
          <a:solidFill>
            <a:srgbClr val="059669">
              <a:alpha val="10000"/>
            </a:srgbClr>
          </a:solidFill>
          <a:ln w="6350">
            <a:solidFill>
              <a:srgbClr val="059669"/>
            </a:solidFill>
            <a:prstDash val="solid"/>
          </a:ln>
        </p:spPr>
        <p:txBody>
          <a:bodyPr/>
          <a:lstStyle/>
          <a:p>
            <a:endParaRPr lang="fr-TN"/>
          </a:p>
        </p:txBody>
      </p:sp>
      <p:sp>
        <p:nvSpPr>
          <p:cNvPr id="30" name="Text 28"/>
          <p:cNvSpPr/>
          <p:nvPr/>
        </p:nvSpPr>
        <p:spPr>
          <a:xfrm>
            <a:off x="8348472" y="1645920"/>
            <a:ext cx="690372" cy="256032"/>
          </a:xfrm>
          <a:prstGeom prst="rect">
            <a:avLst/>
          </a:prstGeom>
          <a:noFill/>
          <a:ln/>
        </p:spPr>
        <p:txBody>
          <a:bodyPr wrap="square" rtlCol="0" anchor="ctr"/>
          <a:lstStyle/>
          <a:p>
            <a:pPr marL="0" indent="0" algn="ctr">
              <a:buNone/>
            </a:pPr>
            <a:r>
              <a:rPr lang="en-US" sz="700" b="1" dirty="0">
                <a:solidFill>
                  <a:srgbClr val="059669"/>
                </a:solidFill>
                <a:latin typeface="Segoe UI" pitchFamily="34" charset="0"/>
                <a:ea typeface="Segoe UI" pitchFamily="34" charset="-122"/>
                <a:cs typeface="Segoe UI" pitchFamily="34" charset="-120"/>
              </a:rPr>
              <a:t>PHASE 3</a:t>
            </a:r>
            <a:endParaRPr lang="en-US" sz="700" dirty="0"/>
          </a:p>
        </p:txBody>
      </p:sp>
      <p:sp>
        <p:nvSpPr>
          <p:cNvPr id="31" name="Text 29"/>
          <p:cNvSpPr/>
          <p:nvPr/>
        </p:nvSpPr>
        <p:spPr>
          <a:xfrm>
            <a:off x="8348472" y="2011680"/>
            <a:ext cx="3200400" cy="457200"/>
          </a:xfrm>
          <a:prstGeom prst="rect">
            <a:avLst/>
          </a:prstGeom>
          <a:noFill/>
          <a:ln/>
        </p:spPr>
        <p:txBody>
          <a:bodyPr wrap="square" rtlCol="0" anchor="ctr"/>
          <a:lstStyle/>
          <a:p>
            <a:pPr marL="0" indent="0">
              <a:buNone/>
            </a:pPr>
            <a:r>
              <a:rPr lang="en-US" sz="1500" b="1" dirty="0">
                <a:solidFill>
                  <a:srgbClr val="0F172A"/>
                </a:solidFill>
                <a:latin typeface="Segoe UI" pitchFamily="34" charset="0"/>
                <a:ea typeface="Segoe UI" pitchFamily="34" charset="-122"/>
                <a:cs typeface="Segoe UI" pitchFamily="34" charset="-120"/>
              </a:rPr>
              <a:t>Sharded Database Clustering</a:t>
            </a:r>
            <a:endParaRPr lang="en-US" sz="1500" dirty="0"/>
          </a:p>
        </p:txBody>
      </p:sp>
      <p:sp>
        <p:nvSpPr>
          <p:cNvPr id="32" name="Shape 30"/>
          <p:cNvSpPr/>
          <p:nvPr/>
        </p:nvSpPr>
        <p:spPr>
          <a:xfrm>
            <a:off x="8348472" y="2560320"/>
            <a:ext cx="3200400" cy="10973"/>
          </a:xfrm>
          <a:prstGeom prst="rect">
            <a:avLst/>
          </a:prstGeom>
          <a:solidFill>
            <a:srgbClr val="059669">
              <a:alpha val="40000"/>
            </a:srgbClr>
          </a:solidFill>
          <a:ln/>
        </p:spPr>
        <p:txBody>
          <a:bodyPr/>
          <a:lstStyle/>
          <a:p>
            <a:endParaRPr lang="fr-TN"/>
          </a:p>
        </p:txBody>
      </p:sp>
      <p:sp>
        <p:nvSpPr>
          <p:cNvPr id="33" name="Text 31"/>
          <p:cNvSpPr/>
          <p:nvPr/>
        </p:nvSpPr>
        <p:spPr>
          <a:xfrm>
            <a:off x="8348472" y="2743200"/>
            <a:ext cx="3200400" cy="3200400"/>
          </a:xfrm>
          <a:prstGeom prst="rect">
            <a:avLst/>
          </a:prstGeom>
          <a:noFill/>
          <a:ln/>
        </p:spPr>
        <p:txBody>
          <a:bodyPr wrap="square" rtlCol="0" anchor="t"/>
          <a:lstStyle/>
          <a:p>
            <a:pPr marL="0" indent="0">
              <a:lnSpc>
                <a:spcPct val="140000"/>
              </a:lnSpc>
              <a:buNone/>
            </a:pPr>
            <a:r>
              <a:rPr lang="en-US" sz="1100" dirty="0">
                <a:solidFill>
                  <a:srgbClr val="475569"/>
                </a:solidFill>
                <a:latin typeface="Segoe UI" pitchFamily="34" charset="0"/>
                <a:ea typeface="Segoe UI" pitchFamily="34" charset="-122"/>
                <a:cs typeface="Segoe UI" pitchFamily="34" charset="-120"/>
              </a:rPr>
              <a:t>Partition MongoDB clusters geographically by country code. Regional queries route to corresponding shards, minimizing latency at scale.</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12188952" cy="45720"/>
          </a:xfrm>
          <a:prstGeom prst="rect">
            <a:avLst/>
          </a:prstGeom>
          <a:solidFill>
            <a:srgbClr val="2563EB"/>
          </a:solidFill>
          <a:ln/>
        </p:spPr>
        <p:txBody>
          <a:bodyPr/>
          <a:lstStyle/>
          <a:p>
            <a:endParaRPr lang="fr-TN"/>
          </a:p>
        </p:txBody>
      </p:sp>
      <p:sp>
        <p:nvSpPr>
          <p:cNvPr id="3" name="Shape 1"/>
          <p:cNvSpPr/>
          <p:nvPr/>
        </p:nvSpPr>
        <p:spPr>
          <a:xfrm>
            <a:off x="10972800" y="274320"/>
            <a:ext cx="914400" cy="1829"/>
          </a:xfrm>
          <a:prstGeom prst="rect">
            <a:avLst/>
          </a:prstGeom>
          <a:solidFill>
            <a:srgbClr val="E2E8F0"/>
          </a:solidFill>
          <a:ln/>
        </p:spPr>
        <p:txBody>
          <a:bodyPr/>
          <a:lstStyle/>
          <a:p>
            <a:endParaRPr lang="fr-TN"/>
          </a:p>
        </p:txBody>
      </p:sp>
      <p:sp>
        <p:nvSpPr>
          <p:cNvPr id="4" name="Shape 2"/>
          <p:cNvSpPr/>
          <p:nvPr/>
        </p:nvSpPr>
        <p:spPr>
          <a:xfrm>
            <a:off x="11868912" y="274320"/>
            <a:ext cx="1829" cy="640080"/>
          </a:xfrm>
          <a:prstGeom prst="rect">
            <a:avLst/>
          </a:prstGeom>
          <a:solidFill>
            <a:srgbClr val="E2E8F0"/>
          </a:solidFill>
          <a:ln/>
        </p:spPr>
        <p:txBody>
          <a:bodyPr/>
          <a:lstStyle/>
          <a:p>
            <a:endParaRPr lang="fr-TN"/>
          </a:p>
        </p:txBody>
      </p:sp>
      <p:sp>
        <p:nvSpPr>
          <p:cNvPr id="5" name="Shape 3"/>
          <p:cNvSpPr/>
          <p:nvPr/>
        </p:nvSpPr>
        <p:spPr>
          <a:xfrm>
            <a:off x="320040" y="6537960"/>
            <a:ext cx="1829" cy="274320"/>
          </a:xfrm>
          <a:prstGeom prst="rect">
            <a:avLst/>
          </a:prstGeom>
          <a:solidFill>
            <a:srgbClr val="E2E8F0"/>
          </a:solidFill>
          <a:ln/>
        </p:spPr>
        <p:txBody>
          <a:bodyPr/>
          <a:lstStyle/>
          <a:p>
            <a:endParaRPr lang="fr-TN"/>
          </a:p>
        </p:txBody>
      </p:sp>
      <p:sp>
        <p:nvSpPr>
          <p:cNvPr id="6" name="Shape 4"/>
          <p:cNvSpPr/>
          <p:nvPr/>
        </p:nvSpPr>
        <p:spPr>
          <a:xfrm>
            <a:off x="320040" y="6537960"/>
            <a:ext cx="640080" cy="1829"/>
          </a:xfrm>
          <a:prstGeom prst="rect">
            <a:avLst/>
          </a:prstGeom>
          <a:solidFill>
            <a:srgbClr val="E2E8F0"/>
          </a:solidFill>
          <a:ln/>
        </p:spPr>
        <p:txBody>
          <a:bodyPr/>
          <a:lstStyle/>
          <a:p>
            <a:endParaRPr lang="fr-TN"/>
          </a:p>
        </p:txBody>
      </p:sp>
      <p:sp>
        <p:nvSpPr>
          <p:cNvPr id="7" name="Text 5"/>
          <p:cNvSpPr/>
          <p:nvPr/>
        </p:nvSpPr>
        <p:spPr>
          <a:xfrm>
            <a:off x="731520" y="274320"/>
            <a:ext cx="10515600" cy="256032"/>
          </a:xfrm>
          <a:prstGeom prst="rect">
            <a:avLst/>
          </a:prstGeom>
          <a:noFill/>
          <a:ln/>
        </p:spPr>
        <p:txBody>
          <a:bodyPr wrap="square" rtlCol="0" anchor="ctr"/>
          <a:lstStyle/>
          <a:p>
            <a:pPr marL="0" indent="0">
              <a:buNone/>
            </a:pPr>
            <a:r>
              <a:rPr lang="en-US" sz="900" b="1" dirty="0">
                <a:solidFill>
                  <a:srgbClr val="2563EB"/>
                </a:solidFill>
                <a:latin typeface="Segoe UI" pitchFamily="34" charset="0"/>
                <a:ea typeface="Segoe UI" pitchFamily="34" charset="-122"/>
                <a:cs typeface="Segoe UI" pitchFamily="34" charset="-120"/>
              </a:rPr>
              <a:t>CHAPTER 5 — CONCLUSION &amp; PERSPECTIVES</a:t>
            </a:r>
            <a:endParaRPr lang="en-US" sz="900" dirty="0"/>
          </a:p>
        </p:txBody>
      </p:sp>
      <p:sp>
        <p:nvSpPr>
          <p:cNvPr id="8" name="Text 6"/>
          <p:cNvSpPr/>
          <p:nvPr/>
        </p:nvSpPr>
        <p:spPr>
          <a:xfrm>
            <a:off x="731520" y="548640"/>
            <a:ext cx="10515600" cy="502920"/>
          </a:xfrm>
          <a:prstGeom prst="rect">
            <a:avLst/>
          </a:prstGeom>
          <a:noFill/>
          <a:ln/>
        </p:spPr>
        <p:txBody>
          <a:bodyPr wrap="square" rtlCol="0" anchor="ctr"/>
          <a:lstStyle/>
          <a:p>
            <a:pPr marL="0" indent="0">
              <a:buNone/>
            </a:pPr>
            <a:r>
              <a:rPr lang="en-US" sz="3000" b="1" dirty="0">
                <a:solidFill>
                  <a:srgbClr val="0F172A"/>
                </a:solidFill>
                <a:latin typeface="Segoe UI" pitchFamily="34" charset="0"/>
                <a:ea typeface="Segoe UI" pitchFamily="34" charset="-122"/>
                <a:cs typeface="Segoe UI" pitchFamily="34" charset="-120"/>
              </a:rPr>
              <a:t>General Conclusion</a:t>
            </a:r>
            <a:endParaRPr lang="en-US" sz="3000" dirty="0"/>
          </a:p>
        </p:txBody>
      </p:sp>
      <p:sp>
        <p:nvSpPr>
          <p:cNvPr id="9" name="Shape 7"/>
          <p:cNvSpPr/>
          <p:nvPr/>
        </p:nvSpPr>
        <p:spPr>
          <a:xfrm>
            <a:off x="731520" y="1115568"/>
            <a:ext cx="1828800" cy="32004"/>
          </a:xfrm>
          <a:prstGeom prst="rect">
            <a:avLst/>
          </a:prstGeom>
          <a:solidFill>
            <a:srgbClr val="2563EB"/>
          </a:solidFill>
          <a:ln/>
        </p:spPr>
        <p:txBody>
          <a:bodyPr/>
          <a:lstStyle/>
          <a:p>
            <a:endParaRPr lang="fr-TN"/>
          </a:p>
        </p:txBody>
      </p:sp>
      <p:sp>
        <p:nvSpPr>
          <p:cNvPr id="10" name="Shape 8"/>
          <p:cNvSpPr/>
          <p:nvPr/>
        </p:nvSpPr>
        <p:spPr>
          <a:xfrm>
            <a:off x="2651760" y="1124712"/>
            <a:ext cx="8778240" cy="10973"/>
          </a:xfrm>
          <a:prstGeom prst="rect">
            <a:avLst/>
          </a:prstGeom>
          <a:solidFill>
            <a:srgbClr val="E2E8F0"/>
          </a:solidFill>
          <a:ln/>
        </p:spPr>
        <p:txBody>
          <a:bodyPr/>
          <a:lstStyle/>
          <a:p>
            <a:endParaRPr lang="fr-TN"/>
          </a:p>
        </p:txBody>
      </p:sp>
      <p:sp>
        <p:nvSpPr>
          <p:cNvPr id="11" name="Shape 9"/>
          <p:cNvSpPr/>
          <p:nvPr/>
        </p:nvSpPr>
        <p:spPr>
          <a:xfrm>
            <a:off x="685800" y="1417320"/>
            <a:ext cx="5212080" cy="4114800"/>
          </a:xfrm>
          <a:prstGeom prst="roundRect">
            <a:avLst>
              <a:gd name="adj" fmla="val 2667"/>
            </a:avLst>
          </a:prstGeom>
          <a:solidFill>
            <a:srgbClr val="FFFFFF"/>
          </a:solidFill>
          <a:ln w="8890">
            <a:solidFill>
              <a:srgbClr val="E2E8F0"/>
            </a:solidFill>
            <a:prstDash val="solid"/>
          </a:ln>
          <a:effectLst>
            <a:outerShdw blurRad="152400" dist="38100" dir="12000000" algn="bl" rotWithShape="0">
              <a:srgbClr val="94A3B8">
                <a:alpha val="25000"/>
              </a:srgbClr>
            </a:outerShdw>
          </a:effectLst>
        </p:spPr>
        <p:txBody>
          <a:bodyPr/>
          <a:lstStyle/>
          <a:p>
            <a:endParaRPr lang="fr-TN"/>
          </a:p>
        </p:txBody>
      </p:sp>
      <p:sp>
        <p:nvSpPr>
          <p:cNvPr id="12" name="Shape 10"/>
          <p:cNvSpPr/>
          <p:nvPr/>
        </p:nvSpPr>
        <p:spPr>
          <a:xfrm>
            <a:off x="795528" y="1435608"/>
            <a:ext cx="4992624" cy="36576"/>
          </a:xfrm>
          <a:prstGeom prst="rect">
            <a:avLst/>
          </a:prstGeom>
          <a:solidFill>
            <a:srgbClr val="2563EB"/>
          </a:solidFill>
          <a:ln/>
        </p:spPr>
        <p:txBody>
          <a:bodyPr/>
          <a:lstStyle/>
          <a:p>
            <a:endParaRPr lang="fr-TN"/>
          </a:p>
        </p:txBody>
      </p:sp>
      <p:sp>
        <p:nvSpPr>
          <p:cNvPr id="13" name="Text 11"/>
          <p:cNvSpPr/>
          <p:nvPr/>
        </p:nvSpPr>
        <p:spPr>
          <a:xfrm>
            <a:off x="886968" y="1581912"/>
            <a:ext cx="4809744" cy="365760"/>
          </a:xfrm>
          <a:prstGeom prst="rect">
            <a:avLst/>
          </a:prstGeom>
          <a:noFill/>
          <a:ln/>
        </p:spPr>
        <p:txBody>
          <a:bodyPr wrap="square" rtlCol="0" anchor="ctr"/>
          <a:lstStyle/>
          <a:p>
            <a:pPr marL="0" indent="0">
              <a:buNone/>
            </a:pPr>
            <a:r>
              <a:rPr lang="en-US" sz="1400" b="1" dirty="0">
                <a:solidFill>
                  <a:srgbClr val="0F172A"/>
                </a:solidFill>
                <a:latin typeface="Segoe UI" pitchFamily="34" charset="0"/>
                <a:ea typeface="Segoe UI" pitchFamily="34" charset="-122"/>
                <a:cs typeface="Segoe UI" pitchFamily="34" charset="-120"/>
              </a:rPr>
              <a:t>Technical &amp; Operational Impact</a:t>
            </a:r>
            <a:endParaRPr lang="en-US" sz="1400" dirty="0"/>
          </a:p>
        </p:txBody>
      </p:sp>
      <p:sp>
        <p:nvSpPr>
          <p:cNvPr id="14" name="Text 12"/>
          <p:cNvSpPr/>
          <p:nvPr/>
        </p:nvSpPr>
        <p:spPr>
          <a:xfrm>
            <a:off x="886968" y="1984248"/>
            <a:ext cx="4809744" cy="3337560"/>
          </a:xfrm>
          <a:prstGeom prst="rect">
            <a:avLst/>
          </a:prstGeom>
          <a:noFill/>
          <a:ln/>
        </p:spPr>
        <p:txBody>
          <a:bodyPr wrap="square" rtlCol="0" anchor="t"/>
          <a:lstStyle/>
          <a:p>
            <a:pPr marL="0" indent="0">
              <a:lnSpc>
                <a:spcPct val="135000"/>
              </a:lnSpc>
              <a:buNone/>
            </a:pPr>
            <a:r>
              <a:rPr lang="en-US" sz="1050" dirty="0">
                <a:solidFill>
                  <a:srgbClr val="475569"/>
                </a:solidFill>
                <a:latin typeface="Segoe UI" pitchFamily="34" charset="0"/>
                <a:ea typeface="Segoe UI" pitchFamily="34" charset="-122"/>
                <a:cs typeface="Segoe UI" pitchFamily="34" charset="-120"/>
              </a:rPr>
              <a:t>▸ Multi-Feed Ingestion:</a:t>
            </a:r>
            <a:endParaRPr lang="en-US" sz="1050" dirty="0"/>
          </a:p>
          <a:p>
            <a:pPr marL="0" indent="0">
              <a:lnSpc>
                <a:spcPct val="135000"/>
              </a:lnSpc>
              <a:buNone/>
            </a:pPr>
            <a:r>
              <a:rPr lang="en-US" sz="1050" dirty="0">
                <a:solidFill>
                  <a:srgbClr val="475569"/>
                </a:solidFill>
                <a:latin typeface="Segoe UI" pitchFamily="34" charset="0"/>
                <a:ea typeface="Segoe UI" pitchFamily="34" charset="-122"/>
                <a:cs typeface="Segoe UI" pitchFamily="34" charset="-120"/>
              </a:rPr>
              <a:t>9 parallel scrapers (SSE, WebSocket, REST) unified into a single BSON schema with 60% compression.</a:t>
            </a:r>
            <a:endParaRPr lang="en-US" sz="1050" dirty="0"/>
          </a:p>
          <a:p>
            <a:pPr marL="0" indent="0">
              <a:lnSpc>
                <a:spcPct val="135000"/>
              </a:lnSpc>
              <a:buNone/>
            </a:pPr>
            <a:endParaRPr lang="en-US" sz="1050" dirty="0"/>
          </a:p>
          <a:p>
            <a:pPr marL="0" indent="0">
              <a:lnSpc>
                <a:spcPct val="135000"/>
              </a:lnSpc>
              <a:buNone/>
            </a:pPr>
            <a:r>
              <a:rPr lang="en-US" sz="1050" dirty="0">
                <a:solidFill>
                  <a:srgbClr val="475569"/>
                </a:solidFill>
                <a:latin typeface="Segoe UI" pitchFamily="34" charset="0"/>
                <a:ea typeface="Segoe UI" pitchFamily="34" charset="-122"/>
                <a:cs typeface="Segoe UI" pitchFamily="34" charset="-120"/>
              </a:rPr>
              <a:t>▸ 5-Layer Enrichment:</a:t>
            </a:r>
            <a:endParaRPr lang="en-US" sz="1050" dirty="0"/>
          </a:p>
          <a:p>
            <a:pPr marL="0" indent="0">
              <a:lnSpc>
                <a:spcPct val="135000"/>
              </a:lnSpc>
              <a:buNone/>
            </a:pPr>
            <a:r>
              <a:rPr lang="en-US" sz="1050" dirty="0">
                <a:solidFill>
                  <a:srgbClr val="475569"/>
                </a:solidFill>
                <a:latin typeface="Segoe UI" pitchFamily="34" charset="0"/>
                <a:ea typeface="Segoe UI" pitchFamily="34" charset="-122"/>
                <a:cs typeface="Segoe UI" pitchFamily="34" charset="-120"/>
              </a:rPr>
              <a:t>Keyword matching, RDAP lookups, port inference, MISP Galaxy sectors, and source-API fallback classify every attack.</a:t>
            </a:r>
            <a:endParaRPr lang="en-US" sz="1050" dirty="0"/>
          </a:p>
          <a:p>
            <a:pPr marL="0" indent="0">
              <a:lnSpc>
                <a:spcPct val="135000"/>
              </a:lnSpc>
              <a:buNone/>
            </a:pPr>
            <a:endParaRPr lang="en-US" sz="1050" dirty="0"/>
          </a:p>
          <a:p>
            <a:pPr marL="0" indent="0">
              <a:lnSpc>
                <a:spcPct val="135000"/>
              </a:lnSpc>
              <a:buNone/>
            </a:pPr>
            <a:r>
              <a:rPr lang="en-US" sz="1050" dirty="0">
                <a:solidFill>
                  <a:srgbClr val="475569"/>
                </a:solidFill>
                <a:latin typeface="Segoe UI" pitchFamily="34" charset="0"/>
                <a:ea typeface="Segoe UI" pitchFamily="34" charset="-122"/>
                <a:cs typeface="Segoe UI" pitchFamily="34" charset="-120"/>
              </a:rPr>
              <a:t>▸ SOC Analyst Efficiency:</a:t>
            </a:r>
            <a:endParaRPr lang="en-US" sz="1050" dirty="0"/>
          </a:p>
          <a:p>
            <a:pPr marL="0" indent="0">
              <a:lnSpc>
                <a:spcPct val="135000"/>
              </a:lnSpc>
              <a:buNone/>
            </a:pPr>
            <a:r>
              <a:rPr lang="en-US" sz="1050" dirty="0">
                <a:solidFill>
                  <a:srgbClr val="475569"/>
                </a:solidFill>
                <a:latin typeface="Segoe UI" pitchFamily="34" charset="0"/>
                <a:ea typeface="Segoe UI" pitchFamily="34" charset="-122"/>
                <a:cs typeface="Segoe UI" pitchFamily="34" charset="-120"/>
              </a:rPr>
              <a:t>Reduces compromise dwell time from 200+ days to seconds by replacing spreadsheets with spatial visualization.</a:t>
            </a:r>
            <a:endParaRPr lang="en-US" sz="1050" dirty="0"/>
          </a:p>
        </p:txBody>
      </p:sp>
      <p:sp>
        <p:nvSpPr>
          <p:cNvPr id="15" name="Shape 13"/>
          <p:cNvSpPr/>
          <p:nvPr/>
        </p:nvSpPr>
        <p:spPr>
          <a:xfrm>
            <a:off x="6263640" y="1417320"/>
            <a:ext cx="5257800" cy="4114800"/>
          </a:xfrm>
          <a:prstGeom prst="roundRect">
            <a:avLst>
              <a:gd name="adj" fmla="val 2667"/>
            </a:avLst>
          </a:prstGeom>
          <a:solidFill>
            <a:srgbClr val="FFFFFF"/>
          </a:solidFill>
          <a:ln w="8890">
            <a:solidFill>
              <a:srgbClr val="E2E8F0"/>
            </a:solidFill>
            <a:prstDash val="solid"/>
          </a:ln>
          <a:effectLst>
            <a:outerShdw blurRad="152400" dist="38100" dir="12000000" algn="bl" rotWithShape="0">
              <a:srgbClr val="94A3B8">
                <a:alpha val="25000"/>
              </a:srgbClr>
            </a:outerShdw>
          </a:effectLst>
        </p:spPr>
        <p:txBody>
          <a:bodyPr/>
          <a:lstStyle/>
          <a:p>
            <a:endParaRPr lang="fr-TN"/>
          </a:p>
        </p:txBody>
      </p:sp>
      <p:sp>
        <p:nvSpPr>
          <p:cNvPr id="16" name="Shape 14"/>
          <p:cNvSpPr/>
          <p:nvPr/>
        </p:nvSpPr>
        <p:spPr>
          <a:xfrm>
            <a:off x="6373368" y="1435608"/>
            <a:ext cx="5038344" cy="36576"/>
          </a:xfrm>
          <a:prstGeom prst="rect">
            <a:avLst/>
          </a:prstGeom>
          <a:solidFill>
            <a:srgbClr val="7C3AED"/>
          </a:solidFill>
          <a:ln/>
        </p:spPr>
        <p:txBody>
          <a:bodyPr/>
          <a:lstStyle/>
          <a:p>
            <a:endParaRPr lang="fr-TN"/>
          </a:p>
        </p:txBody>
      </p:sp>
      <p:sp>
        <p:nvSpPr>
          <p:cNvPr id="17" name="Text 15"/>
          <p:cNvSpPr/>
          <p:nvPr/>
        </p:nvSpPr>
        <p:spPr>
          <a:xfrm>
            <a:off x="6464808" y="1581912"/>
            <a:ext cx="4855464" cy="365760"/>
          </a:xfrm>
          <a:prstGeom prst="rect">
            <a:avLst/>
          </a:prstGeom>
          <a:noFill/>
          <a:ln/>
        </p:spPr>
        <p:txBody>
          <a:bodyPr wrap="square" rtlCol="0" anchor="ctr"/>
          <a:lstStyle/>
          <a:p>
            <a:pPr marL="0" indent="0">
              <a:buNone/>
            </a:pPr>
            <a:r>
              <a:rPr lang="en-US" sz="1400" b="1" dirty="0">
                <a:solidFill>
                  <a:srgbClr val="0F172A"/>
                </a:solidFill>
                <a:latin typeface="Segoe UI" pitchFamily="34" charset="0"/>
                <a:ea typeface="Segoe UI" pitchFamily="34" charset="-122"/>
                <a:cs typeface="Segoe UI" pitchFamily="34" charset="-120"/>
              </a:rPr>
              <a:t>Academic &amp; Professional Growth</a:t>
            </a:r>
            <a:endParaRPr lang="en-US" sz="1400" dirty="0"/>
          </a:p>
        </p:txBody>
      </p:sp>
      <p:sp>
        <p:nvSpPr>
          <p:cNvPr id="18" name="Text 16"/>
          <p:cNvSpPr/>
          <p:nvPr/>
        </p:nvSpPr>
        <p:spPr>
          <a:xfrm>
            <a:off x="6464808" y="1984248"/>
            <a:ext cx="4855464" cy="3337560"/>
          </a:xfrm>
          <a:prstGeom prst="rect">
            <a:avLst/>
          </a:prstGeom>
          <a:noFill/>
          <a:ln/>
        </p:spPr>
        <p:txBody>
          <a:bodyPr wrap="square" rtlCol="0" anchor="t"/>
          <a:lstStyle/>
          <a:p>
            <a:pPr marL="0" indent="0">
              <a:lnSpc>
                <a:spcPct val="135000"/>
              </a:lnSpc>
              <a:buNone/>
            </a:pPr>
            <a:r>
              <a:rPr lang="en-US" sz="1050" dirty="0">
                <a:solidFill>
                  <a:srgbClr val="475569"/>
                </a:solidFill>
                <a:latin typeface="Segoe UI" pitchFamily="34" charset="0"/>
                <a:ea typeface="Segoe UI" pitchFamily="34" charset="-122"/>
                <a:cs typeface="Segoe UI" pitchFamily="34" charset="-120"/>
              </a:rPr>
              <a:t>▸ Agile Scrum Application:</a:t>
            </a:r>
            <a:endParaRPr lang="en-US" sz="1050" dirty="0"/>
          </a:p>
          <a:p>
            <a:pPr marL="0" indent="0">
              <a:lnSpc>
                <a:spcPct val="135000"/>
              </a:lnSpc>
              <a:buNone/>
            </a:pPr>
            <a:r>
              <a:rPr lang="en-US" sz="1050" dirty="0">
                <a:solidFill>
                  <a:srgbClr val="475569"/>
                </a:solidFill>
                <a:latin typeface="Segoe UI" pitchFamily="34" charset="0"/>
                <a:ea typeface="Segoe UI" pitchFamily="34" charset="-122"/>
                <a:cs typeface="Segoe UI" pitchFamily="34" charset="-120"/>
              </a:rPr>
              <a:t>Twice-weekly rituals, code merges, story points, and demonstrable increments.</a:t>
            </a:r>
            <a:endParaRPr lang="en-US" sz="1050" dirty="0"/>
          </a:p>
          <a:p>
            <a:pPr marL="0" indent="0">
              <a:lnSpc>
                <a:spcPct val="135000"/>
              </a:lnSpc>
              <a:buNone/>
            </a:pPr>
            <a:endParaRPr lang="en-US" sz="1050" dirty="0"/>
          </a:p>
          <a:p>
            <a:pPr marL="0" indent="0">
              <a:lnSpc>
                <a:spcPct val="135000"/>
              </a:lnSpc>
              <a:buNone/>
            </a:pPr>
            <a:r>
              <a:rPr lang="en-US" sz="1050" dirty="0">
                <a:solidFill>
                  <a:srgbClr val="475569"/>
                </a:solidFill>
                <a:latin typeface="Segoe UI" pitchFamily="34" charset="0"/>
                <a:ea typeface="Segoe UI" pitchFamily="34" charset="-122"/>
                <a:cs typeface="Segoe UI" pitchFamily="34" charset="-120"/>
              </a:rPr>
              <a:t>▸ Systems Engineering:</a:t>
            </a:r>
            <a:endParaRPr lang="en-US" sz="1050" dirty="0"/>
          </a:p>
          <a:p>
            <a:pPr marL="0" indent="0">
              <a:lnSpc>
                <a:spcPct val="135000"/>
              </a:lnSpc>
              <a:buNone/>
            </a:pPr>
            <a:r>
              <a:rPr lang="en-US" sz="1050" dirty="0">
                <a:solidFill>
                  <a:srgbClr val="475569"/>
                </a:solidFill>
                <a:latin typeface="Segoe UI" pitchFamily="34" charset="0"/>
                <a:ea typeface="Segoe UI" pitchFamily="34" charset="-122"/>
                <a:cs typeface="Segoe UI" pitchFamily="34" charset="-120"/>
              </a:rPr>
              <a:t>Rigorous architectural structures, state store abstractions, database optimization strategies.</a:t>
            </a:r>
            <a:endParaRPr lang="en-US" sz="1050" dirty="0"/>
          </a:p>
          <a:p>
            <a:pPr marL="0" indent="0">
              <a:lnSpc>
                <a:spcPct val="135000"/>
              </a:lnSpc>
              <a:buNone/>
            </a:pPr>
            <a:endParaRPr lang="en-US" sz="1050" dirty="0"/>
          </a:p>
          <a:p>
            <a:pPr marL="0" indent="0">
              <a:lnSpc>
                <a:spcPct val="135000"/>
              </a:lnSpc>
              <a:buNone/>
            </a:pPr>
            <a:r>
              <a:rPr lang="en-US" sz="1050" dirty="0">
                <a:solidFill>
                  <a:srgbClr val="475569"/>
                </a:solidFill>
                <a:latin typeface="Segoe UI" pitchFamily="34" charset="0"/>
                <a:ea typeface="Segoe UI" pitchFamily="34" charset="-122"/>
                <a:cs typeface="Segoe UI" pitchFamily="34" charset="-120"/>
              </a:rPr>
              <a:t>▸ Cybersecurity Focus:</a:t>
            </a:r>
            <a:endParaRPr lang="en-US" sz="1050" dirty="0"/>
          </a:p>
          <a:p>
            <a:pPr marL="0" indent="0">
              <a:lnSpc>
                <a:spcPct val="135000"/>
              </a:lnSpc>
              <a:buNone/>
            </a:pPr>
            <a:r>
              <a:rPr lang="en-US" sz="1050" dirty="0">
                <a:solidFill>
                  <a:srgbClr val="475569"/>
                </a:solidFill>
                <a:latin typeface="Segoe UI" pitchFamily="34" charset="0"/>
                <a:ea typeface="Segoe UI" pitchFamily="34" charset="-122"/>
                <a:cs typeface="Segoe UI" pitchFamily="34" charset="-120"/>
              </a:rPr>
              <a:t>Deep study of IOC types, STIX 2.1 schemas, and MITRE ATT&amp;CK kill chain matrices.</a:t>
            </a:r>
            <a:endParaRPr lang="en-US" sz="1050" dirty="0"/>
          </a:p>
        </p:txBody>
      </p:sp>
      <p:sp>
        <p:nvSpPr>
          <p:cNvPr id="19" name="Shape 17"/>
          <p:cNvSpPr/>
          <p:nvPr/>
        </p:nvSpPr>
        <p:spPr>
          <a:xfrm>
            <a:off x="685800" y="5760720"/>
            <a:ext cx="10817352" cy="640080"/>
          </a:xfrm>
          <a:prstGeom prst="roundRect">
            <a:avLst>
              <a:gd name="adj" fmla="val 14286"/>
            </a:avLst>
          </a:prstGeom>
          <a:solidFill>
            <a:srgbClr val="2563EB"/>
          </a:solidFill>
          <a:ln/>
          <a:effectLst>
            <a:outerShdw blurRad="177800" dist="38100" dir="12000000" algn="bl" rotWithShape="0">
              <a:srgbClr val="2563EB">
                <a:alpha val="30000"/>
              </a:srgbClr>
            </a:outerShdw>
          </a:effectLst>
        </p:spPr>
        <p:txBody>
          <a:bodyPr/>
          <a:lstStyle/>
          <a:p>
            <a:endParaRPr lang="fr-TN"/>
          </a:p>
        </p:txBody>
      </p:sp>
      <p:sp>
        <p:nvSpPr>
          <p:cNvPr id="20" name="Text 18"/>
          <p:cNvSpPr/>
          <p:nvPr/>
        </p:nvSpPr>
        <p:spPr>
          <a:xfrm>
            <a:off x="685800" y="5760720"/>
            <a:ext cx="10817352" cy="640080"/>
          </a:xfrm>
          <a:prstGeom prst="rect">
            <a:avLst/>
          </a:prstGeom>
          <a:noFill/>
          <a:ln/>
        </p:spPr>
        <p:txBody>
          <a:bodyPr wrap="square" rtlCol="0" anchor="ctr"/>
          <a:lstStyle/>
          <a:p>
            <a:pPr marL="0" indent="0" algn="ctr">
              <a:buNone/>
            </a:pPr>
            <a:r>
              <a:rPr lang="en-US" sz="1600" b="1" dirty="0">
                <a:solidFill>
                  <a:srgbClr val="FFFFFF"/>
                </a:solidFill>
                <a:latin typeface="Segoe UI" pitchFamily="34" charset="0"/>
                <a:ea typeface="Segoe UI" pitchFamily="34" charset="-122"/>
                <a:cs typeface="Segoe UI" pitchFamily="34" charset="-120"/>
              </a:rPr>
              <a:t>Thank You for Your Attention  —  Questions Welcome</a:t>
            </a:r>
            <a:endParaRPr lang="en-US" sz="1600" dirty="0"/>
          </a:p>
        </p:txBody>
      </p:sp>
      <p:sp>
        <p:nvSpPr>
          <p:cNvPr id="21" name="Shape 19"/>
          <p:cNvSpPr/>
          <p:nvPr/>
        </p:nvSpPr>
        <p:spPr>
          <a:xfrm>
            <a:off x="0" y="6803136"/>
            <a:ext cx="12188952" cy="54864"/>
          </a:xfrm>
          <a:prstGeom prst="rect">
            <a:avLst/>
          </a:prstGeom>
          <a:solidFill>
            <a:srgbClr val="2563EB"/>
          </a:solidFill>
          <a:ln/>
        </p:spPr>
        <p:txBody>
          <a:bodyPr/>
          <a:lstStyle/>
          <a:p>
            <a:endParaRPr lang="fr-TN"/>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52</TotalTime>
  <Words>4203</Words>
  <Application>Microsoft Office PowerPoint</Application>
  <PresentationFormat>Personnalisé</PresentationFormat>
  <Paragraphs>425</Paragraphs>
  <Slides>20</Slides>
  <Notes>20</Notes>
  <HiddenSlides>0</HiddenSlides>
  <MMClips>0</MMClips>
  <ScaleCrop>false</ScaleCrop>
  <HeadingPairs>
    <vt:vector size="6" baseType="variant">
      <vt:variant>
        <vt:lpstr>Polices utilisées</vt:lpstr>
      </vt:variant>
      <vt:variant>
        <vt:i4>2</vt:i4>
      </vt:variant>
      <vt:variant>
        <vt:lpstr>Thème</vt:lpstr>
      </vt:variant>
      <vt:variant>
        <vt:i4>1</vt:i4>
      </vt:variant>
      <vt:variant>
        <vt:lpstr>Titres des diapositives</vt:lpstr>
      </vt:variant>
      <vt:variant>
        <vt:i4>20</vt:i4>
      </vt:variant>
    </vt:vector>
  </HeadingPairs>
  <TitlesOfParts>
    <vt:vector size="23" baseType="lpstr">
      <vt:lpstr>Arial</vt:lpstr>
      <vt:lpstr>Segoe UI</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Predictra Cybersecurity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Predictra Threat Map — Graduation Defense 2025/2026</dc:title>
  <dc:subject>PptxGenJS Presentation</dc:subject>
  <dc:creator>Brahim JABALLI &amp; Chiheb AMRI</dc:creator>
  <cp:lastModifiedBy>chiheb amri</cp:lastModifiedBy>
  <cp:revision>2</cp:revision>
  <dcterms:created xsi:type="dcterms:W3CDTF">2026-06-16T10:39:18Z</dcterms:created>
  <dcterms:modified xsi:type="dcterms:W3CDTF">2026-06-16T11:31:52Z</dcterms:modified>
</cp:coreProperties>
</file>