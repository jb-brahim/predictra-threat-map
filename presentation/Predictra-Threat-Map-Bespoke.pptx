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Good morning, ladies and gentlemen of the jury. Welcome to our graduation defense for our Bachelor’s Degree in Information Technology. My name is Brahim Jaballi, and alongside my colleague Chiheb Amri, we are proud to present our final year project: the 'Predictra Threat Map'. This project, conducted under the supervision of Mr. Anis Dhahri at ISET Gafsa, and in collaboration with host company Predictra Cybersecurity, focuses on the design and development of a real-time spatialized threat intelligence visualization platform. We would also like to thank Ms. Hadhami Issaoui and Mr. Walid Hammemi for presiding and reporting on our defense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To guide you through our presentation, we have structured our defense into five key chapters. I will begin with the Introduction and the Pre-Study, outlining the cybersecurity landscape, our problematic, and the Agile Scrum methodology. Next, we will present our Conceptual Study, including system actors, requirements, use cases, and architecture. We will then dive into the Realization phase, detailing Sprints 1 to 4 and showcasing the system interfaces. Finally, we will conclude with a retrospective, technical challenges resolved, and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Let us start with the introduction. Today, corporate networks and cloud platforms are faced with an expanded attack surface. Highly coordinated threat groups launch disruptive operations globally. As Sun Tzu wrote in The Art of War: 'If you know the enemy and know yourself, you need not fear the result of a hundred battles.' In cybersecurity, this means shifting from a reactive posture to a proactive threat intelligence model, where we understand external adversary infrastructure before a breach occurs.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Our host organization, Predictra Cybersecurity, is an AI-driven Cyber Threat Intelligence firm. Their goal is to democratize threat intelligence, transforming raw feeds into actionable visual insights. A critical industry metric is the compromise dwell time, which globally averages over 200 days. Security teams often detect breaches months after they occur. Our Threat Map aims to shrink this window from months to seconds by providing immediate, real-time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The core problem we address is threefold. First, spreadsheet overload. SOC analysts suffer from visual fatigue reading thousands of static logs. Second, a lack of spatial context. Traditional dashboards fail to show attack origins, targets, and trajectories geographically. Third, data heterogeneity. Threat feeds are scattered across multiple vendors in incompatible formats. This makes manual correlation slow, leading to delayed responses.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To solve this, we propose the Predictra Threat Map, built on a four-layer architecture. First, the Ingestion Layer harvests data asynchronously from 9+ feeds. Second, the Enrichment Layer geolocates attacks and classifies victims into 9 critical sectors. Third, the Streaming Layer broadcasts events using Server-Sent Events with a 300ms batching queue. Fourth, the Visualization Layer displays curved attack arcs on an interactive 3D WebGL Earth, alongside a STIX parser and MITRE ATT&amp;CK grid.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We adopted the Agile Scrum methodology, organizing our work into 4 sprints over a 12-week period. Sprint 1 focused on backend ingestion and schemas. Sprint 2 implemented the SSE stream and the 3D globe. Sprint 3 integrated the STIX 2.1 parser and MITRE ATT&amp;CK grid. Sprint 4 added the history browser, Target My IP, and performance guardrails. We held twice-weekly rituals on Thursdays for code merges and profiling, and Sundays for architectural consolidation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This is our Global Use Case diagram, showing the system boundaries and interactions. The primary system actor is the set of External Threat Feeds, which automatically trigger backend ingestion. The human actor is the Security Analyst, who monitors the 3D globe and dashboard, filters threat logs, searches historical data, uploads STIX bundles, and exports reports. This diagram establishes the foundational boundaries of the Predictra Threat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We defined 9 functional requirements, denoted RF-1 to RF-9. These include multi-feed ingestion, geolocation enrichment, target sector classification, real-time SSE streaming, the 3D WebGL globe, client-side STIX parsing, MITRE ATT&amp;CK mapping, historical log searching, and the 'Target My IP' feature. Our non-functional requirements cover 60fps fluidity, circular memory buffer, 30-day database TTL, a 500MB quota guard, and a premium dark glassmorphism layout to reduce SOC analyst fatigue.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This is our Global Class Diagram, showing the structural design of the platform. In the Backend tier, the Express Server schedules multiple Scraper Services, which feed into the Enrichment Service to resolve geolocations and sectors. The Zustand Store manages frontend state with a circular RingBuffer and performance telemetry. The React Views, such as the Dashboard, STIX Workspace, and Analytics page, subscribe directly to Zustand slices for reactivity.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For the backend runtime, we selected Node.js and Express 5 over Java Spring Boot due to its non-blocking asynchronous event loop, which is perfect for streaming SSE connections under low memory footprints. For state management, we chose Zustand 5 over Redux for high-speed reactive updates outside the React DOM tree, preserving WebGL rendering cycles. For graphics, we used Three.js and React Three Fiber to build custom shaders with GPU acceleration. For the database, we chose MongoDB Atlas for its schemaless 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Our system architecture is split into three main tiers. The Frontend is built in React and served via Vercel CDN, utilizing API routing proxies to eliminate cross-origin resource sharing blocks. The Backend runs on a Cloud VM using PM2 process clustering across CPU cores for automatic crash recovery. The Database tier uses MongoDB Atlas with a replicated cluster, automatic TTL pruning, and size-based quota guards.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In Sprints 1 and 2, we built the core ingestion and 3D visualization. We integrated 9 distinct feeds and compressed the BSON schema from 200 bytes to 80 bytes. The enrichment logic resolves geocoding and victim sector using a 5-layer engine. For the 3D globe, geographic coordinates are converted to Cartesian vectors, and attack arcs are animated using SLERP and Bezier elevation math.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To make the globe visually stunning, we wrote custom WebGL shaders. The Atmospheric Glow uses a Fresnel-effect vertex and fragment shader. Neon Country Borders are rendered using 5 overlapping TopoJSON vector layers with decreasing opacities. Finally, Bloom Post-Processing applies a luminosity threshold to make severity-colored attack arcs glow like neon light fibers.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Sprints 3 and 4 introduced STIX parsing, MITRE mapping, and performance guards. The STIX 2.1 parser runs completely in the browser for privacy, mapping techniques to 12 MITRE phases. The D3 graph uses Verlet integration to layout nodes. To maintain 60fps, we built a circular RingBuffer and an Adaptive Event Sampling loop that drops up to 75% of visual events under heavy CPU load.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Here is an overview of our application interfaces. The 3D Live Threat Map displays the rotating Earth with glowing arcs. The System Dashboard provides real-time metrics, country statistics, and a 2D flat map. The STIX Intelligence Workspace features the D3 graph and the MITRE ATT&amp;CK grid. Finally, the Analytics Dashboard aggregates threat metrics, sector distributions, and trends.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Brahim: During the realization, we successfully resolved three major technical hurdles. First, visual lag was mitigated by event batching, arc limits, and adaptive sampling. Second, database capacity constraints were addressed using BSON compression, MongoDB TTLs, and a 500MB write guard. Third, CORS deployment blocks were resolved via Vercel proxy configuration rules.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Looking ahead, we have designed a future roadmap focusing on three phases. First, Kafka Distributed Ingestion to decouple backend scraping from the client streaming runtime. Second, Predictive ML Extensions to forecast attack waves and overlay predictive heatmaps on the Earth. Third, Sharded Geo-Database Clustering to partition MongoDB by country code to speed up regional queries.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Chiheb: In conclusion, the Predictra Threat Map successfully bridges the visibility gap in cyber defense. It integrates 9+ feeds, feeds a 3D WebGL globe at 60fps, and features a STIX 2.1 parser. It reduces dwell time from months to seconds. This project demonstrates a rigorous academic and engineering contribution. Thank you for your time, and we welcome any questions you may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914400" y="1371600"/>
            <a:ext cx="10360152" cy="1645920"/>
          </a:xfrm>
          <a:prstGeom prst="rect">
            <a:avLst/>
          </a:prstGeom>
          <a:noFill/>
        </p:spPr>
        <p:txBody>
          <a:bodyPr wrap="square" lIns="0" rIns="0" tIns="0" bIns="0">
            <a:spAutoFit/>
          </a:bodyPr>
          <a:lstStyle/>
          <a:p>
            <a:pPr algn="ctr">
              <a:defRPr sz="4800" b="1">
                <a:solidFill>
                  <a:srgbClr val="00F0FF"/>
                </a:solidFill>
                <a:latin typeface="Segoe UI"/>
              </a:defRPr>
            </a:pPr>
            <a:r>
              <a:t>PREDICTRA THREAT MAP</a:t>
            </a:r>
          </a:p>
          <a:p>
            <a:pPr algn="ctr">
              <a:defRPr sz="1600">
                <a:solidFill>
                  <a:srgbClr val="CBD5E1"/>
                </a:solidFill>
                <a:latin typeface="Segoe UI"/>
              </a:defRPr>
            </a:pPr>
            <a:r>
              <a:t>Design and Development of a Real-Time Spatialized Threat Intelligence Visualization Platform</a:t>
            </a:r>
          </a:p>
        </p:txBody>
      </p:sp>
      <p:sp>
        <p:nvSpPr>
          <p:cNvPr id="3" name="Rectangle 2"/>
          <p:cNvSpPr/>
          <p:nvPr/>
        </p:nvSpPr>
        <p:spPr>
          <a:xfrm>
            <a:off x="1371600" y="3291840"/>
            <a:ext cx="438912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3474720"/>
            <a:ext cx="4023360" cy="1645920"/>
          </a:xfrm>
          <a:prstGeom prst="rect">
            <a:avLst/>
          </a:prstGeom>
          <a:noFill/>
        </p:spPr>
        <p:txBody>
          <a:bodyPr wrap="square" lIns="0" rIns="0" tIns="0" bIns="0">
            <a:spAutoFit/>
          </a:bodyPr>
          <a:lstStyle/>
          <a:p>
            <a:pPr>
              <a:defRPr sz="1100" b="1">
                <a:solidFill>
                  <a:srgbClr val="00F0FF"/>
                </a:solidFill>
                <a:latin typeface="Segoe UI"/>
              </a:defRPr>
            </a:pPr>
            <a:r>
              <a:t>AUTHORS</a:t>
            </a:r>
          </a:p>
          <a:p>
            <a:pPr>
              <a:defRPr sz="1400" b="1">
                <a:solidFill>
                  <a:srgbClr val="FFFFFF"/>
                </a:solidFill>
                <a:latin typeface="Segoe UI"/>
              </a:defRPr>
            </a:pPr>
            <a:r>
              <a:t>Brahim JABALLI &amp; Chiheb AMRI</a:t>
            </a:r>
          </a:p>
          <a:p>
            <a:br/>
            <a:pPr>
              <a:defRPr sz="1100" b="1">
                <a:solidFill>
                  <a:srgbClr val="00F0FF"/>
                </a:solidFill>
                <a:latin typeface="Segoe UI"/>
              </a:defRPr>
            </a:pPr>
            <a:r>
              <a:t>SUPERVISOR</a:t>
            </a:r>
          </a:p>
          <a:p>
            <a:pPr>
              <a:defRPr sz="1300">
                <a:solidFill>
                  <a:srgbClr val="CBD5E1"/>
                </a:solidFill>
                <a:latin typeface="Segoe UI"/>
              </a:defRPr>
            </a:pPr>
            <a:r>
              <a:t>Mr. Anis DHAHRI — ISET Gafsa</a:t>
            </a:r>
          </a:p>
        </p:txBody>
      </p:sp>
      <p:sp>
        <p:nvSpPr>
          <p:cNvPr id="5" name="Rectangle 4"/>
          <p:cNvSpPr/>
          <p:nvPr/>
        </p:nvSpPr>
        <p:spPr>
          <a:xfrm>
            <a:off x="6428232" y="3291840"/>
            <a:ext cx="438912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11112" y="3474720"/>
            <a:ext cx="4023360" cy="1645920"/>
          </a:xfrm>
          <a:prstGeom prst="rect">
            <a:avLst/>
          </a:prstGeom>
          <a:noFill/>
        </p:spPr>
        <p:txBody>
          <a:bodyPr wrap="square" lIns="0" rIns="0" tIns="0" bIns="0">
            <a:spAutoFit/>
          </a:bodyPr>
          <a:lstStyle/>
          <a:p>
            <a:pPr>
              <a:defRPr sz="1100" b="1">
                <a:solidFill>
                  <a:srgbClr val="00F0FF"/>
                </a:solidFill>
                <a:latin typeface="Segoe UI"/>
              </a:defRPr>
            </a:pPr>
            <a:r>
              <a:t>HOST FIRM</a:t>
            </a:r>
          </a:p>
          <a:p>
            <a:pPr>
              <a:defRPr sz="1400" b="1">
                <a:solidFill>
                  <a:srgbClr val="FFFFFF"/>
                </a:solidFill>
                <a:latin typeface="Segoe UI"/>
              </a:defRPr>
            </a:pPr>
            <a:r>
              <a:t>Predictra Cybersecurity</a:t>
            </a:r>
          </a:p>
          <a:p>
            <a:br/>
            <a:pPr>
              <a:defRPr sz="1100" b="1">
                <a:solidFill>
                  <a:srgbClr val="00F0FF"/>
                </a:solidFill>
                <a:latin typeface="Segoe UI"/>
              </a:defRPr>
            </a:pPr>
            <a:r>
              <a:t>ACADEMIC YEAR &amp; OPTION</a:t>
            </a:r>
          </a:p>
          <a:p>
            <a:pPr>
              <a:defRPr sz="1200">
                <a:solidFill>
                  <a:srgbClr val="CBD5E1"/>
                </a:solidFill>
                <a:latin typeface="Segoe UI"/>
              </a:defRPr>
            </a:pPr>
            <a:r>
              <a:t>2025 / 2026  ·  Option: Computer System Development</a:t>
            </a:r>
          </a:p>
        </p:txBody>
      </p:sp>
      <p:sp>
        <p:nvSpPr>
          <p:cNvPr id="7" name="TextBox 6"/>
          <p:cNvSpPr txBox="1"/>
          <p:nvPr/>
        </p:nvSpPr>
        <p:spPr>
          <a:xfrm>
            <a:off x="1371600" y="5486400"/>
            <a:ext cx="9445752" cy="731520"/>
          </a:xfrm>
          <a:prstGeom prst="rect">
            <a:avLst/>
          </a:prstGeom>
          <a:noFill/>
        </p:spPr>
        <p:txBody>
          <a:bodyPr wrap="none">
            <a:spAutoFit/>
          </a:bodyPr>
          <a:lstStyle/>
          <a:p>
            <a:pPr algn="ctr">
              <a:defRPr sz="1100" i="1">
                <a:solidFill>
                  <a:srgbClr val="A8B2D1"/>
                </a:solidFill>
                <a:latin typeface="Segoe UI"/>
              </a:defRPr>
            </a:pPr>
            <a:r>
              <a:t>Jury: Ms. Hadhami ISSAOUI (President)  ·  Mr. Walid HAMMEMI (Reporter)</a:t>
            </a:r>
          </a:p>
        </p:txBody>
      </p:sp>
    </p:spTree>
  </p:cSld>
  <p:transition spd="slow">
    <p:fade/>
  </p:transition>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AGENDA</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Presentation Outline</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19659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600200" cy="3749040"/>
          </a:xfrm>
          <a:prstGeom prst="rect">
            <a:avLst/>
          </a:prstGeom>
          <a:noFill/>
        </p:spPr>
        <p:txBody>
          <a:bodyPr wrap="square" lIns="0" rIns="0" tIns="0" bIns="0">
            <a:spAutoFit/>
          </a:bodyPr>
          <a:lstStyle/>
          <a:p>
            <a:pPr>
              <a:defRPr sz="1400" b="1">
                <a:solidFill>
                  <a:srgbClr val="FFFFFF"/>
                </a:solidFill>
                <a:latin typeface="Segoe UI"/>
              </a:defRPr>
            </a:pPr>
            <a:r>
              <a:t>01  Intro</a:t>
            </a:r>
          </a:p>
          <a:p>
            <a:pPr>
              <a:spcBef>
                <a:spcPts val="400"/>
              </a:spcBef>
              <a:defRPr sz="1100">
                <a:solidFill>
                  <a:srgbClr val="CBD5E1"/>
                </a:solidFill>
                <a:latin typeface="Segoe UI"/>
              </a:defRPr>
            </a:pPr>
            <a:r>
              <a:t>• Global landscape</a:t>
            </a:r>
          </a:p>
          <a:p>
            <a:pPr>
              <a:spcBef>
                <a:spcPts val="400"/>
              </a:spcBef>
              <a:defRPr sz="1100">
                <a:solidFill>
                  <a:srgbClr val="CBD5E1"/>
                </a:solidFill>
                <a:latin typeface="Segoe UI"/>
              </a:defRPr>
            </a:pPr>
            <a:r>
              <a:t>• Attack surface</a:t>
            </a:r>
          </a:p>
          <a:p>
            <a:pPr>
              <a:spcBef>
                <a:spcPts val="400"/>
              </a:spcBef>
              <a:defRPr sz="1100">
                <a:solidFill>
                  <a:srgbClr val="CBD5E1"/>
                </a:solidFill>
                <a:latin typeface="Segoe UI"/>
              </a:defRPr>
            </a:pPr>
            <a:r>
              <a:t>• Strategic threat intel motivation</a:t>
            </a:r>
          </a:p>
        </p:txBody>
      </p:sp>
      <p:sp>
        <p:nvSpPr>
          <p:cNvPr id="7" name="Rectangle 6"/>
          <p:cNvSpPr/>
          <p:nvPr/>
        </p:nvSpPr>
        <p:spPr>
          <a:xfrm>
            <a:off x="2926080" y="1828800"/>
            <a:ext cx="19659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011680"/>
            <a:ext cx="1600200" cy="3749040"/>
          </a:xfrm>
          <a:prstGeom prst="rect">
            <a:avLst/>
          </a:prstGeom>
          <a:noFill/>
        </p:spPr>
        <p:txBody>
          <a:bodyPr wrap="square" lIns="0" rIns="0" tIns="0" bIns="0">
            <a:spAutoFit/>
          </a:bodyPr>
          <a:lstStyle/>
          <a:p>
            <a:pPr>
              <a:defRPr sz="1400" b="1">
                <a:solidFill>
                  <a:srgbClr val="FFFFFF"/>
                </a:solidFill>
                <a:latin typeface="Segoe UI"/>
              </a:defRPr>
            </a:pPr>
            <a:r>
              <a:t>02  Pre-Study</a:t>
            </a:r>
          </a:p>
          <a:p>
            <a:pPr>
              <a:spcBef>
                <a:spcPts val="400"/>
              </a:spcBef>
              <a:defRPr sz="1100">
                <a:solidFill>
                  <a:srgbClr val="CBD5E1"/>
                </a:solidFill>
                <a:latin typeface="Segoe UI"/>
              </a:defRPr>
            </a:pPr>
            <a:r>
              <a:t>• Host company</a:t>
            </a:r>
          </a:p>
          <a:p>
            <a:pPr>
              <a:spcBef>
                <a:spcPts val="400"/>
              </a:spcBef>
              <a:defRPr sz="1100">
                <a:solidFill>
                  <a:srgbClr val="CBD5E1"/>
                </a:solidFill>
                <a:latin typeface="Segoe UI"/>
              </a:defRPr>
            </a:pPr>
            <a:r>
              <a:t>• The problematic</a:t>
            </a:r>
          </a:p>
          <a:p>
            <a:pPr>
              <a:spcBef>
                <a:spcPts val="400"/>
              </a:spcBef>
              <a:defRPr sz="1100">
                <a:solidFill>
                  <a:srgbClr val="CBD5E1"/>
                </a:solidFill>
                <a:latin typeface="Segoe UI"/>
              </a:defRPr>
            </a:pPr>
            <a:r>
              <a:t>• Proposed solution</a:t>
            </a:r>
          </a:p>
          <a:p>
            <a:pPr>
              <a:spcBef>
                <a:spcPts val="400"/>
              </a:spcBef>
              <a:defRPr sz="1100">
                <a:solidFill>
                  <a:srgbClr val="CBD5E1"/>
                </a:solidFill>
                <a:latin typeface="Segoe UI"/>
              </a:defRPr>
            </a:pPr>
            <a:r>
              <a:t>• Agile Scrum model</a:t>
            </a:r>
          </a:p>
        </p:txBody>
      </p:sp>
      <p:sp>
        <p:nvSpPr>
          <p:cNvPr id="9" name="Rectangle 8"/>
          <p:cNvSpPr/>
          <p:nvPr/>
        </p:nvSpPr>
        <p:spPr>
          <a:xfrm>
            <a:off x="5120640" y="1828800"/>
            <a:ext cx="19659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2011680"/>
            <a:ext cx="1600200" cy="3749040"/>
          </a:xfrm>
          <a:prstGeom prst="rect">
            <a:avLst/>
          </a:prstGeom>
          <a:noFill/>
        </p:spPr>
        <p:txBody>
          <a:bodyPr wrap="square" lIns="0" rIns="0" tIns="0" bIns="0">
            <a:spAutoFit/>
          </a:bodyPr>
          <a:lstStyle/>
          <a:p>
            <a:pPr>
              <a:defRPr sz="1400" b="1">
                <a:solidFill>
                  <a:srgbClr val="FFFFFF"/>
                </a:solidFill>
                <a:latin typeface="Segoe UI"/>
              </a:defRPr>
            </a:pPr>
            <a:r>
              <a:t>03  Conceptual</a:t>
            </a:r>
          </a:p>
          <a:p>
            <a:pPr>
              <a:spcBef>
                <a:spcPts val="400"/>
              </a:spcBef>
              <a:defRPr sz="1100">
                <a:solidFill>
                  <a:srgbClr val="CBD5E1"/>
                </a:solidFill>
                <a:latin typeface="Segoe UI"/>
              </a:defRPr>
            </a:pPr>
            <a:r>
              <a:t>• System actors</a:t>
            </a:r>
          </a:p>
          <a:p>
            <a:pPr>
              <a:spcBef>
                <a:spcPts val="400"/>
              </a:spcBef>
              <a:defRPr sz="1100">
                <a:solidFill>
                  <a:srgbClr val="CBD5E1"/>
                </a:solidFill>
                <a:latin typeface="Segoe UI"/>
              </a:defRPr>
            </a:pPr>
            <a:r>
              <a:t>• Requirements</a:t>
            </a:r>
          </a:p>
          <a:p>
            <a:pPr>
              <a:spcBef>
                <a:spcPts val="400"/>
              </a:spcBef>
              <a:defRPr sz="1100">
                <a:solidFill>
                  <a:srgbClr val="CBD5E1"/>
                </a:solidFill>
                <a:latin typeface="Segoe UI"/>
              </a:defRPr>
            </a:pPr>
            <a:r>
              <a:t>• Use Case model</a:t>
            </a:r>
          </a:p>
          <a:p>
            <a:pPr>
              <a:spcBef>
                <a:spcPts val="400"/>
              </a:spcBef>
              <a:defRPr sz="1100">
                <a:solidFill>
                  <a:srgbClr val="CBD5E1"/>
                </a:solidFill>
                <a:latin typeface="Segoe UI"/>
              </a:defRPr>
            </a:pPr>
            <a:r>
              <a:t>• Stack comparison</a:t>
            </a:r>
          </a:p>
          <a:p>
            <a:pPr>
              <a:spcBef>
                <a:spcPts val="400"/>
              </a:spcBef>
              <a:defRPr sz="1100">
                <a:solidFill>
                  <a:srgbClr val="CBD5E1"/>
                </a:solidFill>
                <a:latin typeface="Segoe UI"/>
              </a:defRPr>
            </a:pPr>
            <a:r>
              <a:t>• Architecture</a:t>
            </a:r>
          </a:p>
        </p:txBody>
      </p:sp>
      <p:sp>
        <p:nvSpPr>
          <p:cNvPr id="11" name="Rectangle 10"/>
          <p:cNvSpPr/>
          <p:nvPr/>
        </p:nvSpPr>
        <p:spPr>
          <a:xfrm>
            <a:off x="7315200" y="1828800"/>
            <a:ext cx="19659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2011680"/>
            <a:ext cx="1600200" cy="3749040"/>
          </a:xfrm>
          <a:prstGeom prst="rect">
            <a:avLst/>
          </a:prstGeom>
          <a:noFill/>
        </p:spPr>
        <p:txBody>
          <a:bodyPr wrap="square" lIns="0" rIns="0" tIns="0" bIns="0">
            <a:spAutoFit/>
          </a:bodyPr>
          <a:lstStyle/>
          <a:p>
            <a:pPr>
              <a:defRPr sz="1400" b="1">
                <a:solidFill>
                  <a:srgbClr val="FFFFFF"/>
                </a:solidFill>
                <a:latin typeface="Segoe UI"/>
              </a:defRPr>
            </a:pPr>
            <a:r>
              <a:t>04  Realization</a:t>
            </a:r>
          </a:p>
          <a:p>
            <a:pPr>
              <a:spcBef>
                <a:spcPts val="400"/>
              </a:spcBef>
              <a:defRPr sz="1100">
                <a:solidFill>
                  <a:srgbClr val="CBD5E1"/>
                </a:solidFill>
                <a:latin typeface="Segoe UI"/>
              </a:defRPr>
            </a:pPr>
            <a:r>
              <a:t>• Ingestion pipelines</a:t>
            </a:r>
          </a:p>
          <a:p>
            <a:pPr>
              <a:spcBef>
                <a:spcPts val="400"/>
              </a:spcBef>
              <a:defRPr sz="1100">
                <a:solidFill>
                  <a:srgbClr val="CBD5E1"/>
                </a:solidFill>
                <a:latin typeface="Segoe UI"/>
              </a:defRPr>
            </a:pPr>
            <a:r>
              <a:t>• SSE streaming math</a:t>
            </a:r>
          </a:p>
          <a:p>
            <a:pPr>
              <a:spcBef>
                <a:spcPts val="400"/>
              </a:spcBef>
              <a:defRPr sz="1100">
                <a:solidFill>
                  <a:srgbClr val="CBD5E1"/>
                </a:solidFill>
                <a:latin typeface="Segoe UI"/>
              </a:defRPr>
            </a:pPr>
            <a:r>
              <a:t>• WebGL Shaders</a:t>
            </a:r>
          </a:p>
          <a:p>
            <a:pPr>
              <a:spcBef>
                <a:spcPts val="400"/>
              </a:spcBef>
              <a:defRPr sz="1100">
                <a:solidFill>
                  <a:srgbClr val="CBD5E1"/>
                </a:solidFill>
                <a:latin typeface="Segoe UI"/>
              </a:defRPr>
            </a:pPr>
            <a:r>
              <a:t>• STIX &amp; MITRE Map</a:t>
            </a:r>
          </a:p>
          <a:p>
            <a:pPr>
              <a:spcBef>
                <a:spcPts val="400"/>
              </a:spcBef>
              <a:defRPr sz="1100">
                <a:solidFill>
                  <a:srgbClr val="CBD5E1"/>
                </a:solidFill>
                <a:latin typeface="Segoe UI"/>
              </a:defRPr>
            </a:pPr>
            <a:r>
              <a:t>• Guardrails</a:t>
            </a:r>
          </a:p>
        </p:txBody>
      </p:sp>
      <p:sp>
        <p:nvSpPr>
          <p:cNvPr id="13" name="Rectangle 12"/>
          <p:cNvSpPr/>
          <p:nvPr/>
        </p:nvSpPr>
        <p:spPr>
          <a:xfrm>
            <a:off x="9509760" y="1828800"/>
            <a:ext cx="19659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0" y="2011680"/>
            <a:ext cx="1600200" cy="3749040"/>
          </a:xfrm>
          <a:prstGeom prst="rect">
            <a:avLst/>
          </a:prstGeom>
          <a:noFill/>
        </p:spPr>
        <p:txBody>
          <a:bodyPr wrap="square" lIns="0" rIns="0" tIns="0" bIns="0">
            <a:spAutoFit/>
          </a:bodyPr>
          <a:lstStyle/>
          <a:p>
            <a:pPr>
              <a:defRPr sz="1400" b="1">
                <a:solidFill>
                  <a:srgbClr val="FFFFFF"/>
                </a:solidFill>
                <a:latin typeface="Segoe UI"/>
              </a:defRPr>
            </a:pPr>
            <a:r>
              <a:t>05  Conclusion</a:t>
            </a:r>
          </a:p>
          <a:p>
            <a:pPr>
              <a:spcBef>
                <a:spcPts val="400"/>
              </a:spcBef>
              <a:defRPr sz="1100">
                <a:solidFill>
                  <a:srgbClr val="CBD5E1"/>
                </a:solidFill>
                <a:latin typeface="Segoe UI"/>
              </a:defRPr>
            </a:pPr>
            <a:r>
              <a:t>• Achievement summary</a:t>
            </a:r>
          </a:p>
          <a:p>
            <a:pPr>
              <a:spcBef>
                <a:spcPts val="400"/>
              </a:spcBef>
              <a:defRPr sz="1100">
                <a:solidFill>
                  <a:srgbClr val="CBD5E1"/>
                </a:solidFill>
                <a:latin typeface="Segoe UI"/>
              </a:defRPr>
            </a:pPr>
            <a:r>
              <a:t>• Retro velocity</a:t>
            </a:r>
          </a:p>
          <a:p>
            <a:pPr>
              <a:spcBef>
                <a:spcPts val="400"/>
              </a:spcBef>
              <a:defRPr sz="1100">
                <a:solidFill>
                  <a:srgbClr val="CBD5E1"/>
                </a:solidFill>
                <a:latin typeface="Segoe UI"/>
              </a:defRPr>
            </a:pPr>
            <a:r>
              <a:t>• Kafka &amp; ML scalability roadmap</a:t>
            </a:r>
          </a:p>
        </p:txBody>
      </p:sp>
    </p:spTree>
  </p:cSld>
  <p:transition spd="slow">
    <p:fade/>
  </p:transition>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1 — INTRODUCTION</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General Introduction</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45720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206240" cy="3749040"/>
          </a:xfrm>
          <a:prstGeom prst="rect">
            <a:avLst/>
          </a:prstGeom>
          <a:noFill/>
        </p:spPr>
        <p:txBody>
          <a:bodyPr wrap="square" lIns="0" rIns="0" tIns="0" bIns="0">
            <a:spAutoFit/>
          </a:bodyPr>
          <a:lstStyle/>
          <a:p>
            <a:pPr>
              <a:defRPr sz="1400" b="1">
                <a:solidFill>
                  <a:srgbClr val="FFFFFF"/>
                </a:solidFill>
                <a:latin typeface="Segoe UI"/>
              </a:defRPr>
            </a:pPr>
            <a:r>
              <a:t>The Strategic Shift to Proactive Defense</a:t>
            </a:r>
          </a:p>
          <a:p>
            <a:pPr>
              <a:spcBef>
                <a:spcPts val="400"/>
              </a:spcBef>
              <a:defRPr sz="1100">
                <a:solidFill>
                  <a:srgbClr val="CBD5E1"/>
                </a:solidFill>
                <a:latin typeface="Segoe UI"/>
              </a:defRPr>
            </a:pPr>
            <a:r>
              <a:t>Sun Tzu, The Art of War:</a:t>
            </a:r>
          </a:p>
          <a:p>
            <a:pPr>
              <a:spcBef>
                <a:spcPts val="400"/>
              </a:spcBef>
              <a:defRPr sz="1100">
                <a:solidFill>
                  <a:srgbClr val="CBD5E1"/>
                </a:solidFill>
                <a:latin typeface="Segoe UI"/>
              </a:defRPr>
            </a:pPr>
            <a:r>
              <a:t>"If you know the enemy and know yourself, you need not fear the result of a hundred battles."</a:t>
            </a:r>
          </a:p>
          <a:p>
            <a:br/>
            <a:pPr>
              <a:spcBef>
                <a:spcPts val="400"/>
              </a:spcBef>
              <a:defRPr sz="1100">
                <a:solidFill>
                  <a:srgbClr val="CBD5E1"/>
                </a:solidFill>
                <a:latin typeface="Segoe UI"/>
              </a:defRPr>
            </a:pPr>
            <a:r>
              <a:t>Defenders must pivot from reactive, perimeter-based alerts (Firewalls &amp; antivirus) to proactive external visibility. By collecting, normalizing, and spatializing threat feeds, we anticipate campaigns before they penetrate our perimeter.</a:t>
            </a:r>
          </a:p>
        </p:txBody>
      </p:sp>
      <p:sp>
        <p:nvSpPr>
          <p:cNvPr id="7" name="Rectangle 6"/>
          <p:cNvSpPr/>
          <p:nvPr/>
        </p:nvSpPr>
        <p:spPr>
          <a:xfrm>
            <a:off x="5760720" y="1828800"/>
            <a:ext cx="5669280" cy="192024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2011680"/>
            <a:ext cx="5303520" cy="1554480"/>
          </a:xfrm>
          <a:prstGeom prst="rect">
            <a:avLst/>
          </a:prstGeom>
          <a:noFill/>
        </p:spPr>
        <p:txBody>
          <a:bodyPr wrap="square" lIns="0" rIns="0" tIns="0" bIns="0">
            <a:spAutoFit/>
          </a:bodyPr>
          <a:lstStyle/>
          <a:p>
            <a:pPr>
              <a:defRPr sz="1400" b="1">
                <a:solidFill>
                  <a:srgbClr val="FFFFFF"/>
                </a:solidFill>
                <a:latin typeface="Segoe UI"/>
              </a:defRPr>
            </a:pPr>
            <a:r>
              <a:t>1. Expanded Attack Surface</a:t>
            </a:r>
          </a:p>
          <a:p>
            <a:pPr>
              <a:spcBef>
                <a:spcPts val="400"/>
              </a:spcBef>
              <a:defRPr sz="1100">
                <a:solidFill>
                  <a:srgbClr val="CBD5E1"/>
                </a:solidFill>
                <a:latin typeface="Segoe UI"/>
              </a:defRPr>
            </a:pPr>
            <a:r>
              <a:t>Hyper-connectivity, cloud infrastructure, and distributed microservices have multiplied threat exposure points, making manual tracking impossible.</a:t>
            </a:r>
          </a:p>
        </p:txBody>
      </p:sp>
      <p:sp>
        <p:nvSpPr>
          <p:cNvPr id="9" name="Rectangle 8"/>
          <p:cNvSpPr/>
          <p:nvPr/>
        </p:nvSpPr>
        <p:spPr>
          <a:xfrm>
            <a:off x="5760720" y="4023360"/>
            <a:ext cx="5669280" cy="192024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4206240"/>
            <a:ext cx="5303520" cy="1554480"/>
          </a:xfrm>
          <a:prstGeom prst="rect">
            <a:avLst/>
          </a:prstGeom>
          <a:noFill/>
        </p:spPr>
        <p:txBody>
          <a:bodyPr wrap="square" lIns="0" rIns="0" tIns="0" bIns="0">
            <a:spAutoFit/>
          </a:bodyPr>
          <a:lstStyle/>
          <a:p>
            <a:pPr>
              <a:defRPr sz="1400" b="1">
                <a:solidFill>
                  <a:srgbClr val="FFFFFF"/>
                </a:solidFill>
                <a:latin typeface="Segoe UI"/>
              </a:defRPr>
            </a:pPr>
            <a:r>
              <a:t>2. Evolved Adversaries</a:t>
            </a:r>
          </a:p>
          <a:p>
            <a:pPr>
              <a:spcBef>
                <a:spcPts val="400"/>
              </a:spcBef>
              <a:defRPr sz="1100">
                <a:solidFill>
                  <a:srgbClr val="CBD5E1"/>
                </a:solidFill>
                <a:latin typeface="Segoe UI"/>
              </a:defRPr>
            </a:pPr>
            <a:r>
              <a:t>Attackers are no longer lone hackers but structured cartels, nation-states, and automated botnets operating rapid campaigns at scale.</a:t>
            </a:r>
          </a:p>
        </p:txBody>
      </p:sp>
    </p:spTree>
  </p:cSld>
  <p:transition spd="slow">
    <p:fade/>
  </p:transition>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1 — PRE-STUDY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Project Context &amp; Host Organization</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4572000" cy="192024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206240" cy="1554480"/>
          </a:xfrm>
          <a:prstGeom prst="rect">
            <a:avLst/>
          </a:prstGeom>
          <a:noFill/>
        </p:spPr>
        <p:txBody>
          <a:bodyPr wrap="square" lIns="0" rIns="0" tIns="0" bIns="0">
            <a:spAutoFit/>
          </a:bodyPr>
          <a:lstStyle/>
          <a:p>
            <a:pPr>
              <a:defRPr sz="1400" b="1">
                <a:solidFill>
                  <a:srgbClr val="FFFFFF"/>
                </a:solidFill>
                <a:latin typeface="Segoe UI"/>
              </a:defRPr>
            </a:pPr>
            <a:r>
              <a:t>Host: Predictra Cybersecurity</a:t>
            </a:r>
          </a:p>
          <a:p>
            <a:pPr>
              <a:spcBef>
                <a:spcPts val="400"/>
              </a:spcBef>
              <a:defRPr sz="1100">
                <a:solidFill>
                  <a:srgbClr val="CBD5E1"/>
                </a:solidFill>
                <a:latin typeface="Segoe UI"/>
              </a:defRPr>
            </a:pPr>
            <a:r>
              <a:t>An AI-driven Cyber Threat Intelligence (CTI) firm that focuses on democratizing raw threat datasets into immediate, visually actionable insights for enterprise SOCs.</a:t>
            </a:r>
          </a:p>
        </p:txBody>
      </p:sp>
      <p:sp>
        <p:nvSpPr>
          <p:cNvPr id="7" name="Rectangle 6"/>
          <p:cNvSpPr/>
          <p:nvPr/>
        </p:nvSpPr>
        <p:spPr>
          <a:xfrm>
            <a:off x="731520" y="4023360"/>
            <a:ext cx="4572000" cy="192024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06240"/>
            <a:ext cx="4206240" cy="1554480"/>
          </a:xfrm>
          <a:prstGeom prst="rect">
            <a:avLst/>
          </a:prstGeom>
          <a:noFill/>
        </p:spPr>
        <p:txBody>
          <a:bodyPr wrap="square" lIns="0" rIns="0" tIns="0" bIns="0">
            <a:spAutoFit/>
          </a:bodyPr>
          <a:lstStyle/>
          <a:p>
            <a:pPr>
              <a:defRPr sz="1400" b="1">
                <a:solidFill>
                  <a:srgbClr val="FFFFFF"/>
                </a:solidFill>
                <a:latin typeface="Segoe UI"/>
              </a:defRPr>
            </a:pPr>
            <a:r>
              <a:t>The Dwell Time Target</a:t>
            </a:r>
          </a:p>
          <a:p>
            <a:pPr>
              <a:spcBef>
                <a:spcPts val="400"/>
              </a:spcBef>
              <a:defRPr sz="1100">
                <a:solidFill>
                  <a:srgbClr val="CBD5E1"/>
                </a:solidFill>
                <a:latin typeface="Segoe UI"/>
              </a:defRPr>
            </a:pPr>
            <a:r>
              <a:t>The global average dwell time for compromise detection exceeds 200 days. The primary goal of the Threat Map is to shrink this window from months to real-time seconds.</a:t>
            </a:r>
          </a:p>
        </p:txBody>
      </p:sp>
      <p:pic>
        <p:nvPicPr>
          <p:cNvPr id="9" name="Picture 8" descr="slide_4_shape_4.png"/>
          <p:cNvPicPr>
            <a:picLocks noChangeAspect="1"/>
          </p:cNvPicPr>
          <p:nvPr/>
        </p:nvPicPr>
        <p:blipFill>
          <a:blip r:embed="rId2"/>
          <a:stretch>
            <a:fillRect/>
          </a:stretch>
        </p:blipFill>
        <p:spPr>
          <a:xfrm>
            <a:off x="5760720" y="1828800"/>
            <a:ext cx="5669280" cy="4114800"/>
          </a:xfrm>
          <a:prstGeom prst="rect">
            <a:avLst/>
          </a:prstGeom>
        </p:spPr>
      </p:pic>
    </p:spTree>
  </p:cSld>
  <p:transition spd="slow">
    <p:fade/>
  </p:transition>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1 — PRE-STUDY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The Critical Problematic</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Spreadsheet Overload</a:t>
            </a:r>
          </a:p>
          <a:p>
            <a:pPr>
              <a:spcBef>
                <a:spcPts val="400"/>
              </a:spcBef>
              <a:defRPr sz="1100">
                <a:solidFill>
                  <a:srgbClr val="CBD5E1"/>
                </a:solidFill>
                <a:latin typeface="Segoe UI"/>
              </a:defRPr>
            </a:pPr>
            <a:r>
              <a:t>SOC analysts are overwhelmed by raw, static text logs. Staring at thousands of text rows causes fatigue and delays the detection of critical correlation anomalies.</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Lack of Spatial Context</a:t>
            </a:r>
          </a:p>
          <a:p>
            <a:pPr>
              <a:spcBef>
                <a:spcPts val="400"/>
              </a:spcBef>
              <a:defRPr sz="1100">
                <a:solidFill>
                  <a:srgbClr val="CBD5E1"/>
                </a:solidFill>
                <a:latin typeface="Segoe UI"/>
              </a:defRPr>
            </a:pPr>
            <a:r>
              <a:t>Traditional grids omit geography. Security teams cannot visualize where attacks originate, which sectors are targeted, or the real-time vectors of global campaigns.</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Data Heterogeneity</a:t>
            </a:r>
          </a:p>
          <a:p>
            <a:pPr>
              <a:spcBef>
                <a:spcPts val="400"/>
              </a:spcBef>
              <a:defRPr sz="1100">
                <a:solidFill>
                  <a:srgbClr val="CBD5E1"/>
                </a:solidFill>
                <a:latin typeface="Segoe UI"/>
              </a:defRPr>
            </a:pPr>
            <a:r>
              <a:t>Threat feeds are scattered across separate APIs, WebSocket channels, and raw CSV files. Formats, schemas, and protocols are incompatible, blocking immediate analysis.</a:t>
            </a:r>
          </a:p>
        </p:txBody>
      </p:sp>
    </p:spTree>
  </p:cSld>
  <p:transition spd="slow">
    <p:fade/>
  </p:transition>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1 — PRE-STUDY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The Proposed Solution: 4-Layer Architecture</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246888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03120" cy="3749040"/>
          </a:xfrm>
          <a:prstGeom prst="rect">
            <a:avLst/>
          </a:prstGeom>
          <a:noFill/>
        </p:spPr>
        <p:txBody>
          <a:bodyPr wrap="square" lIns="0" rIns="0" tIns="0" bIns="0">
            <a:spAutoFit/>
          </a:bodyPr>
          <a:lstStyle/>
          <a:p>
            <a:pPr>
              <a:defRPr sz="1400" b="1">
                <a:solidFill>
                  <a:srgbClr val="FFFFFF"/>
                </a:solidFill>
                <a:latin typeface="Segoe UI"/>
              </a:defRPr>
            </a:pPr>
            <a:r>
              <a:t>1. Ingestion Layer</a:t>
            </a:r>
          </a:p>
          <a:p>
            <a:pPr>
              <a:spcBef>
                <a:spcPts val="400"/>
              </a:spcBef>
              <a:defRPr sz="1100">
                <a:solidFill>
                  <a:srgbClr val="CBD5E1"/>
                </a:solidFill>
                <a:latin typeface="Segoe UI"/>
              </a:defRPr>
            </a:pPr>
            <a:r>
              <a:t>Asynchronous, non-blocking ingestion scraping from 9+ parallel feeds (AlienVault, URLhaus, Bitdefender, Checkpoint, etc.).</a:t>
            </a:r>
          </a:p>
        </p:txBody>
      </p:sp>
      <p:sp>
        <p:nvSpPr>
          <p:cNvPr id="7" name="Rectangle 6"/>
          <p:cNvSpPr/>
          <p:nvPr/>
        </p:nvSpPr>
        <p:spPr>
          <a:xfrm>
            <a:off x="3474720" y="1828800"/>
            <a:ext cx="246888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2011680"/>
            <a:ext cx="2103120" cy="3749040"/>
          </a:xfrm>
          <a:prstGeom prst="rect">
            <a:avLst/>
          </a:prstGeom>
          <a:noFill/>
        </p:spPr>
        <p:txBody>
          <a:bodyPr wrap="square" lIns="0" rIns="0" tIns="0" bIns="0">
            <a:spAutoFit/>
          </a:bodyPr>
          <a:lstStyle/>
          <a:p>
            <a:pPr>
              <a:defRPr sz="1400" b="1">
                <a:solidFill>
                  <a:srgbClr val="FFFFFF"/>
                </a:solidFill>
                <a:latin typeface="Segoe UI"/>
              </a:defRPr>
            </a:pPr>
            <a:r>
              <a:t>2. Enrichment Layer</a:t>
            </a:r>
          </a:p>
          <a:p>
            <a:pPr>
              <a:spcBef>
                <a:spcPts val="400"/>
              </a:spcBef>
              <a:defRPr sz="1100">
                <a:solidFill>
                  <a:srgbClr val="CBD5E1"/>
                </a:solidFill>
                <a:latin typeface="Segoe UI"/>
              </a:defRPr>
            </a:pPr>
            <a:r>
              <a:t>Local geolocation dictionary mapping and 5-layer classification engine tagging targets into 9 critical industries.</a:t>
            </a:r>
          </a:p>
        </p:txBody>
      </p:sp>
      <p:sp>
        <p:nvSpPr>
          <p:cNvPr id="9" name="Rectangle 8"/>
          <p:cNvSpPr/>
          <p:nvPr/>
        </p:nvSpPr>
        <p:spPr>
          <a:xfrm>
            <a:off x="6217920" y="1828800"/>
            <a:ext cx="246888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011680"/>
            <a:ext cx="2103120" cy="3749040"/>
          </a:xfrm>
          <a:prstGeom prst="rect">
            <a:avLst/>
          </a:prstGeom>
          <a:noFill/>
        </p:spPr>
        <p:txBody>
          <a:bodyPr wrap="square" lIns="0" rIns="0" tIns="0" bIns="0">
            <a:spAutoFit/>
          </a:bodyPr>
          <a:lstStyle/>
          <a:p>
            <a:pPr>
              <a:defRPr sz="1400" b="1">
                <a:solidFill>
                  <a:srgbClr val="FFFFFF"/>
                </a:solidFill>
                <a:latin typeface="Segoe UI"/>
              </a:defRPr>
            </a:pPr>
            <a:r>
              <a:t>3. Streaming Layer</a:t>
            </a:r>
          </a:p>
          <a:p>
            <a:pPr>
              <a:spcBef>
                <a:spcPts val="400"/>
              </a:spcBef>
              <a:defRPr sz="1100">
                <a:solidFill>
                  <a:srgbClr val="CBD5E1"/>
                </a:solidFill>
                <a:latin typeface="Segoe UI"/>
              </a:defRPr>
            </a:pPr>
            <a:r>
              <a:t>Server-Sent Events (SSE) broadcasting queue with a 300ms batch flush that prevents browser rendering overhead.</a:t>
            </a:r>
          </a:p>
        </p:txBody>
      </p:sp>
      <p:sp>
        <p:nvSpPr>
          <p:cNvPr id="11" name="Rectangle 10"/>
          <p:cNvSpPr/>
          <p:nvPr/>
        </p:nvSpPr>
        <p:spPr>
          <a:xfrm>
            <a:off x="8961120" y="1828800"/>
            <a:ext cx="246888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0" y="2011680"/>
            <a:ext cx="2103120" cy="3749040"/>
          </a:xfrm>
          <a:prstGeom prst="rect">
            <a:avLst/>
          </a:prstGeom>
          <a:noFill/>
        </p:spPr>
        <p:txBody>
          <a:bodyPr wrap="square" lIns="0" rIns="0" tIns="0" bIns="0">
            <a:spAutoFit/>
          </a:bodyPr>
          <a:lstStyle/>
          <a:p>
            <a:pPr>
              <a:defRPr sz="1400" b="1">
                <a:solidFill>
                  <a:srgbClr val="FFFFFF"/>
                </a:solidFill>
                <a:latin typeface="Segoe UI"/>
              </a:defRPr>
            </a:pPr>
            <a:r>
              <a:t>4. Visualization Layer</a:t>
            </a:r>
          </a:p>
          <a:p>
            <a:pPr>
              <a:spcBef>
                <a:spcPts val="400"/>
              </a:spcBef>
              <a:defRPr sz="1100">
                <a:solidFill>
                  <a:srgbClr val="CBD5E1"/>
                </a:solidFill>
                <a:latin typeface="Segoe UI"/>
              </a:defRPr>
            </a:pPr>
            <a:r>
              <a:t>WebGL 3D Earth rendered via Three.js at 60fps with glowing bezier arcs, D3 force graph, and MITRE ATT&amp;CK grid.</a:t>
            </a:r>
          </a:p>
        </p:txBody>
      </p:sp>
    </p:spTree>
  </p:cSld>
  <p:transition spd="slow">
    <p:fade/>
  </p:transition>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1 — PRE-STUDY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Agile Scrum Methodology</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50292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663440" cy="3749040"/>
          </a:xfrm>
          <a:prstGeom prst="rect">
            <a:avLst/>
          </a:prstGeom>
          <a:noFill/>
        </p:spPr>
        <p:txBody>
          <a:bodyPr wrap="square" lIns="0" rIns="0" tIns="0" bIns="0">
            <a:spAutoFit/>
          </a:bodyPr>
          <a:lstStyle/>
          <a:p>
            <a:pPr>
              <a:defRPr sz="1400" b="1">
                <a:solidFill>
                  <a:srgbClr val="FFFFFF"/>
                </a:solidFill>
                <a:latin typeface="Segoe UI"/>
              </a:defRPr>
            </a:pPr>
            <a:r>
              <a:t>4 Sprints &amp; Agile Rituals</a:t>
            </a:r>
          </a:p>
          <a:p>
            <a:pPr>
              <a:spcBef>
                <a:spcPts val="400"/>
              </a:spcBef>
              <a:defRPr sz="1100">
                <a:solidFill>
                  <a:srgbClr val="CBD5E1"/>
                </a:solidFill>
                <a:latin typeface="Segoe UI"/>
              </a:defRPr>
            </a:pPr>
            <a:r>
              <a:t>We ran a 12-week development cycle with clear team velocity metrics (25-30 SP/sprint).</a:t>
            </a:r>
          </a:p>
          <a:p>
            <a:br/>
            <a:pPr>
              <a:spcBef>
                <a:spcPts val="400"/>
              </a:spcBef>
              <a:defRPr sz="1100">
                <a:solidFill>
                  <a:srgbClr val="CBD5E1"/>
                </a:solidFill>
                <a:latin typeface="Segoe UI"/>
              </a:defRPr>
            </a:pPr>
            <a:r>
              <a:t>Twice-Weekly Rituals:</a:t>
            </a:r>
          </a:p>
          <a:p>
            <a:pPr>
              <a:spcBef>
                <a:spcPts val="400"/>
              </a:spcBef>
              <a:defRPr sz="1100">
                <a:solidFill>
                  <a:srgbClr val="CBD5E1"/>
                </a:solidFill>
                <a:latin typeface="Segoe UI"/>
              </a:defRPr>
            </a:pPr>
            <a:r>
              <a:t>• Thursdays: Code integrations, WebGL profiling, performance checks.</a:t>
            </a:r>
          </a:p>
          <a:p>
            <a:pPr>
              <a:spcBef>
                <a:spcPts val="400"/>
              </a:spcBef>
              <a:defRPr sz="1100">
                <a:solidFill>
                  <a:srgbClr val="CBD5E1"/>
                </a:solidFill>
                <a:latin typeface="Segoe UI"/>
              </a:defRPr>
            </a:pPr>
            <a:r>
              <a:t>• Sundays: Architectural consolidations, LaTeX report reviews.</a:t>
            </a:r>
          </a:p>
          <a:p>
            <a:br/>
            <a:pPr>
              <a:spcBef>
                <a:spcPts val="400"/>
              </a:spcBef>
              <a:defRPr sz="1100">
                <a:solidFill>
                  <a:srgbClr val="CBD5E1"/>
                </a:solidFill>
                <a:latin typeface="Segoe UI"/>
              </a:defRPr>
            </a:pPr>
            <a:r>
              <a:t>Result: 48+ collaborative sessions delivering a fully testable, production-ready release increment at each review.</a:t>
            </a:r>
          </a:p>
        </p:txBody>
      </p:sp>
      <p:sp>
        <p:nvSpPr>
          <p:cNvPr id="7" name="Rectangle 6"/>
          <p:cNvSpPr/>
          <p:nvPr/>
        </p:nvSpPr>
        <p:spPr>
          <a:xfrm>
            <a:off x="6126480" y="1828800"/>
            <a:ext cx="5303520" cy="82296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2011680"/>
            <a:ext cx="4937760" cy="457200"/>
          </a:xfrm>
          <a:prstGeom prst="rect">
            <a:avLst/>
          </a:prstGeom>
          <a:noFill/>
        </p:spPr>
        <p:txBody>
          <a:bodyPr wrap="square" lIns="0" rIns="0" tIns="0" bIns="0">
            <a:spAutoFit/>
          </a:bodyPr>
          <a:lstStyle/>
          <a:p>
            <a:pPr>
              <a:defRPr sz="1400" b="1">
                <a:solidFill>
                  <a:srgbClr val="FFFFFF"/>
                </a:solidFill>
                <a:latin typeface="Segoe UI"/>
              </a:defRPr>
            </a:pPr>
            <a:r>
              <a:t>Sprint 1: Backend</a:t>
            </a:r>
          </a:p>
          <a:p>
            <a:pPr>
              <a:spcBef>
                <a:spcPts val="400"/>
              </a:spcBef>
              <a:defRPr sz="1100">
                <a:solidFill>
                  <a:srgbClr val="CBD5E1"/>
                </a:solidFill>
                <a:latin typeface="Segoe UI"/>
              </a:defRPr>
            </a:pPr>
            <a:r>
              <a:t>Ingestion engine, 9 scrapers, MongoDB schema, enrichment rules.</a:t>
            </a:r>
          </a:p>
        </p:txBody>
      </p:sp>
      <p:sp>
        <p:nvSpPr>
          <p:cNvPr id="9" name="Rectangle 8"/>
          <p:cNvSpPr/>
          <p:nvPr/>
        </p:nvSpPr>
        <p:spPr>
          <a:xfrm>
            <a:off x="6126480" y="2834640"/>
            <a:ext cx="5303520" cy="82296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3017520"/>
            <a:ext cx="4937760" cy="457200"/>
          </a:xfrm>
          <a:prstGeom prst="rect">
            <a:avLst/>
          </a:prstGeom>
          <a:noFill/>
        </p:spPr>
        <p:txBody>
          <a:bodyPr wrap="square" lIns="0" rIns="0" tIns="0" bIns="0">
            <a:spAutoFit/>
          </a:bodyPr>
          <a:lstStyle/>
          <a:p>
            <a:pPr>
              <a:defRPr sz="1400" b="1">
                <a:solidFill>
                  <a:srgbClr val="FFFFFF"/>
                </a:solidFill>
                <a:latin typeface="Segoe UI"/>
              </a:defRPr>
            </a:pPr>
            <a:r>
              <a:t>Sprint 2: Stream &amp; 3D</a:t>
            </a:r>
          </a:p>
          <a:p>
            <a:pPr>
              <a:spcBef>
                <a:spcPts val="400"/>
              </a:spcBef>
              <a:defRPr sz="1100">
                <a:solidFill>
                  <a:srgbClr val="CBD5E1"/>
                </a:solidFill>
                <a:latin typeface="Segoe UI"/>
              </a:defRPr>
            </a:pPr>
            <a:r>
              <a:t>GET /api/feed SSE endpoint, Zustand store, Three.js 3D Globe.</a:t>
            </a:r>
          </a:p>
        </p:txBody>
      </p:sp>
      <p:sp>
        <p:nvSpPr>
          <p:cNvPr id="11" name="Rectangle 10"/>
          <p:cNvSpPr/>
          <p:nvPr/>
        </p:nvSpPr>
        <p:spPr>
          <a:xfrm>
            <a:off x="6126480" y="3840480"/>
            <a:ext cx="5303520" cy="82296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4023360"/>
            <a:ext cx="4937760" cy="457200"/>
          </a:xfrm>
          <a:prstGeom prst="rect">
            <a:avLst/>
          </a:prstGeom>
          <a:noFill/>
        </p:spPr>
        <p:txBody>
          <a:bodyPr wrap="square" lIns="0" rIns="0" tIns="0" bIns="0">
            <a:spAutoFit/>
          </a:bodyPr>
          <a:lstStyle/>
          <a:p>
            <a:pPr>
              <a:defRPr sz="1400" b="1">
                <a:solidFill>
                  <a:srgbClr val="FFFFFF"/>
                </a:solidFill>
                <a:latin typeface="Segoe UI"/>
              </a:defRPr>
            </a:pPr>
            <a:r>
              <a:t>Sprint 3: STIX Workspace</a:t>
            </a:r>
          </a:p>
          <a:p>
            <a:pPr>
              <a:spcBef>
                <a:spcPts val="400"/>
              </a:spcBef>
              <a:defRPr sz="1100">
                <a:solidFill>
                  <a:srgbClr val="CBD5E1"/>
                </a:solidFill>
                <a:latin typeface="Segoe UI"/>
              </a:defRPr>
            </a:pPr>
            <a:r>
              <a:t>Client-side parser, D3 relationship force graph, MITRE ATT&amp;CK matrix.</a:t>
            </a:r>
          </a:p>
        </p:txBody>
      </p:sp>
      <p:sp>
        <p:nvSpPr>
          <p:cNvPr id="13" name="Rectangle 12"/>
          <p:cNvSpPr/>
          <p:nvPr/>
        </p:nvSpPr>
        <p:spPr>
          <a:xfrm>
            <a:off x="6126480" y="4846320"/>
            <a:ext cx="5303520" cy="82296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5029200"/>
            <a:ext cx="4937760" cy="457200"/>
          </a:xfrm>
          <a:prstGeom prst="rect">
            <a:avLst/>
          </a:prstGeom>
          <a:noFill/>
        </p:spPr>
        <p:txBody>
          <a:bodyPr wrap="square" lIns="0" rIns="0" tIns="0" bIns="0">
            <a:spAutoFit/>
          </a:bodyPr>
          <a:lstStyle/>
          <a:p>
            <a:pPr>
              <a:defRPr sz="1400" b="1">
                <a:solidFill>
                  <a:srgbClr val="FFFFFF"/>
                </a:solidFill>
                <a:latin typeface="Segoe UI"/>
              </a:defRPr>
            </a:pPr>
            <a:r>
              <a:t>Sprint 4: Analytics &amp; Guards</a:t>
            </a:r>
          </a:p>
          <a:p>
            <a:pPr>
              <a:spcBef>
                <a:spcPts val="400"/>
              </a:spcBef>
              <a:defRPr sz="1100">
                <a:solidFill>
                  <a:srgbClr val="CBD5E1"/>
                </a:solidFill>
                <a:latin typeface="Segoe UI"/>
              </a:defRPr>
            </a:pPr>
            <a:r>
              <a:t>Paginated logs, Target My IP, Excel export, Adaptive FPS sampling.</a:t>
            </a:r>
          </a:p>
        </p:txBody>
      </p:sp>
    </p:spTree>
  </p:cSld>
  <p:transition spd="slow">
    <p:fade/>
  </p:transition>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2 — CONCEPTUAL 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System Boundaries &amp; Global Use Case</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41148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749040" cy="3749040"/>
          </a:xfrm>
          <a:prstGeom prst="rect">
            <a:avLst/>
          </a:prstGeom>
          <a:noFill/>
        </p:spPr>
        <p:txBody>
          <a:bodyPr wrap="square" lIns="0" rIns="0" tIns="0" bIns="0">
            <a:spAutoFit/>
          </a:bodyPr>
          <a:lstStyle/>
          <a:p>
            <a:pPr>
              <a:defRPr sz="1400" b="1">
                <a:solidFill>
                  <a:srgbClr val="FFFFFF"/>
                </a:solidFill>
                <a:latin typeface="Segoe UI"/>
              </a:defRPr>
            </a:pPr>
            <a:r>
              <a:t>Actors &amp; Use Case Boundaries</a:t>
            </a:r>
          </a:p>
          <a:p>
            <a:pPr>
              <a:spcBef>
                <a:spcPts val="400"/>
              </a:spcBef>
              <a:defRPr sz="1100">
                <a:solidFill>
                  <a:srgbClr val="CBD5E1"/>
                </a:solidFill>
                <a:latin typeface="Segoe UI"/>
              </a:defRPr>
            </a:pPr>
            <a:r>
              <a:t>This model structures system actors and boundaries:</a:t>
            </a:r>
          </a:p>
          <a:p>
            <a:br/>
            <a:pPr>
              <a:spcBef>
                <a:spcPts val="400"/>
              </a:spcBef>
              <a:defRPr sz="1100">
                <a:solidFill>
                  <a:srgbClr val="CBD5E1"/>
                </a:solidFill>
                <a:latin typeface="Segoe UI"/>
              </a:defRPr>
            </a:pPr>
            <a:r>
              <a:t>• System Actor: External Threat Feeds</a:t>
            </a:r>
          </a:p>
          <a:p>
            <a:pPr>
              <a:spcBef>
                <a:spcPts val="400"/>
              </a:spcBef>
              <a:defRPr sz="1100">
                <a:solidFill>
                  <a:srgbClr val="CBD5E1"/>
                </a:solidFill>
                <a:latin typeface="Segoe UI"/>
              </a:defRPr>
            </a:pPr>
            <a:r>
              <a:t>Continuously pushes Indicators of Compromise (IOCs) to trigger ingestion without human intervention.</a:t>
            </a:r>
          </a:p>
          <a:p>
            <a:br/>
            <a:pPr>
              <a:spcBef>
                <a:spcPts val="400"/>
              </a:spcBef>
              <a:defRPr sz="1100">
                <a:solidFill>
                  <a:srgbClr val="CBD5E1"/>
                </a:solidFill>
                <a:latin typeface="Segoe UI"/>
              </a:defRPr>
            </a:pPr>
            <a:r>
              <a:t>• Human Actor: Security Analyst</a:t>
            </a:r>
          </a:p>
          <a:p>
            <a:pPr>
              <a:spcBef>
                <a:spcPts val="400"/>
              </a:spcBef>
              <a:defRPr sz="1100">
                <a:solidFill>
                  <a:srgbClr val="CBD5E1"/>
                </a:solidFill>
                <a:latin typeface="Segoe UI"/>
              </a:defRPr>
            </a:pPr>
            <a:r>
              <a:t>Interacts with the Web UI to monitor live feeds, search history, upload local STIX files, and export reports.</a:t>
            </a:r>
          </a:p>
        </p:txBody>
      </p:sp>
      <p:sp>
        <p:nvSpPr>
          <p:cNvPr id="7" name="Rectangle 6"/>
          <p:cNvSpPr/>
          <p:nvPr/>
        </p:nvSpPr>
        <p:spPr>
          <a:xfrm>
            <a:off x="5943600" y="1645920"/>
            <a:ext cx="5486400" cy="448056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lobal_usecase.png"/>
          <p:cNvPicPr>
            <a:picLocks noChangeAspect="1"/>
          </p:cNvPicPr>
          <p:nvPr/>
        </p:nvPicPr>
        <p:blipFill>
          <a:blip r:embed="rId2"/>
          <a:stretch>
            <a:fillRect/>
          </a:stretch>
        </p:blipFill>
        <p:spPr>
          <a:xfrm>
            <a:off x="7589520" y="1737360"/>
            <a:ext cx="2194560" cy="4297680"/>
          </a:xfrm>
          <a:prstGeom prst="rect">
            <a:avLst/>
          </a:prstGeom>
        </p:spPr>
      </p:pic>
    </p:spTree>
  </p:cSld>
  <p:transition spd="slow">
    <p:fade/>
  </p:transition>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2 — CONCEPTUAL 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System Requirements</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50292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663440" cy="3749040"/>
          </a:xfrm>
          <a:prstGeom prst="rect">
            <a:avLst/>
          </a:prstGeom>
          <a:noFill/>
        </p:spPr>
        <p:txBody>
          <a:bodyPr wrap="square" lIns="0" rIns="0" tIns="0" bIns="0">
            <a:spAutoFit/>
          </a:bodyPr>
          <a:lstStyle/>
          <a:p>
            <a:pPr>
              <a:defRPr sz="1400" b="1">
                <a:solidFill>
                  <a:srgbClr val="FFFFFF"/>
                </a:solidFill>
                <a:latin typeface="Segoe UI"/>
              </a:defRPr>
            </a:pPr>
            <a:r>
              <a:t>Functional Requirements (RF-1 to RF-9)</a:t>
            </a:r>
          </a:p>
          <a:p>
            <a:pPr>
              <a:spcBef>
                <a:spcPts val="400"/>
              </a:spcBef>
              <a:defRPr sz="1100">
                <a:solidFill>
                  <a:srgbClr val="CBD5E1"/>
                </a:solidFill>
                <a:latin typeface="Segoe UI"/>
              </a:defRPr>
            </a:pPr>
            <a:r>
              <a:t>• Ingest from 9+ feeds asynchronously.</a:t>
            </a:r>
          </a:p>
          <a:p>
            <a:pPr>
              <a:spcBef>
                <a:spcPts val="400"/>
              </a:spcBef>
              <a:defRPr sz="1100">
                <a:solidFill>
                  <a:srgbClr val="CBD5E1"/>
                </a:solidFill>
                <a:latin typeface="Segoe UI"/>
              </a:defRPr>
            </a:pPr>
            <a:r>
              <a:t>• Resolve IP geolocation and 5-layer target sector.</a:t>
            </a:r>
          </a:p>
          <a:p>
            <a:pPr>
              <a:spcBef>
                <a:spcPts val="400"/>
              </a:spcBef>
              <a:defRPr sz="1100">
                <a:solidFill>
                  <a:srgbClr val="CBD5E1"/>
                </a:solidFill>
                <a:latin typeface="Segoe UI"/>
              </a:defRPr>
            </a:pPr>
            <a:r>
              <a:t>• Stream real-time data using SSE heartbeat.</a:t>
            </a:r>
          </a:p>
          <a:p>
            <a:pPr>
              <a:spcBef>
                <a:spcPts val="400"/>
              </a:spcBef>
              <a:defRPr sz="1100">
                <a:solidFill>
                  <a:srgbClr val="CBD5E1"/>
                </a:solidFill>
                <a:latin typeface="Segoe UI"/>
              </a:defRPr>
            </a:pPr>
            <a:r>
              <a:t>• Render WebGL 3D Globe with animated attack arcs.</a:t>
            </a:r>
          </a:p>
          <a:p>
            <a:pPr>
              <a:spcBef>
                <a:spcPts val="400"/>
              </a:spcBef>
              <a:defRPr sz="1100">
                <a:solidFill>
                  <a:srgbClr val="CBD5E1"/>
                </a:solidFill>
                <a:latin typeface="Segoe UI"/>
              </a:defRPr>
            </a:pPr>
            <a:r>
              <a:t>• Client-side STIX 2.1 parsing &amp; MITRE ATT&amp;CK map.</a:t>
            </a:r>
          </a:p>
          <a:p>
            <a:pPr>
              <a:spcBef>
                <a:spcPts val="400"/>
              </a:spcBef>
              <a:defRPr sz="1100">
                <a:solidFill>
                  <a:srgbClr val="CBD5E1"/>
                </a:solidFill>
                <a:latin typeface="Segoe UI"/>
              </a:defRPr>
            </a:pPr>
            <a:r>
              <a:t>• Searchable log browser with pagination &amp; filters.</a:t>
            </a:r>
          </a:p>
          <a:p>
            <a:pPr>
              <a:spcBef>
                <a:spcPts val="400"/>
              </a:spcBef>
              <a:defRPr sz="1100">
                <a:solidFill>
                  <a:srgbClr val="CBD5E1"/>
                </a:solidFill>
                <a:latin typeface="Segoe UI"/>
              </a:defRPr>
            </a:pPr>
            <a:r>
              <a:t>• "Target My IP" geolocation and Excel export.</a:t>
            </a:r>
          </a:p>
        </p:txBody>
      </p:sp>
      <p:sp>
        <p:nvSpPr>
          <p:cNvPr id="7" name="Rectangle 6"/>
          <p:cNvSpPr/>
          <p:nvPr/>
        </p:nvSpPr>
        <p:spPr>
          <a:xfrm>
            <a:off x="6400800" y="1828800"/>
            <a:ext cx="50292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011680"/>
            <a:ext cx="4663440" cy="3749040"/>
          </a:xfrm>
          <a:prstGeom prst="rect">
            <a:avLst/>
          </a:prstGeom>
          <a:noFill/>
        </p:spPr>
        <p:txBody>
          <a:bodyPr wrap="square" lIns="0" rIns="0" tIns="0" bIns="0">
            <a:spAutoFit/>
          </a:bodyPr>
          <a:lstStyle/>
          <a:p>
            <a:pPr>
              <a:defRPr sz="1400" b="1">
                <a:solidFill>
                  <a:srgbClr val="FFFFFF"/>
                </a:solidFill>
                <a:latin typeface="Segoe UI"/>
              </a:defRPr>
            </a:pPr>
            <a:r>
              <a:t>Non-Functional Requirements (RNF-1 to RNF-5)</a:t>
            </a:r>
          </a:p>
          <a:p>
            <a:pPr>
              <a:spcBef>
                <a:spcPts val="400"/>
              </a:spcBef>
              <a:defRPr sz="1100">
                <a:solidFill>
                  <a:srgbClr val="CBD5E1"/>
                </a:solidFill>
                <a:latin typeface="Segoe UI"/>
              </a:defRPr>
            </a:pPr>
            <a:r>
              <a:t>• RNF-1 (Fluidity): Maintain 60fps Earth rendering.</a:t>
            </a:r>
          </a:p>
          <a:p>
            <a:pPr>
              <a:spcBef>
                <a:spcPts val="400"/>
              </a:spcBef>
              <a:defRPr sz="1100">
                <a:solidFill>
                  <a:srgbClr val="CBD5E1"/>
                </a:solidFill>
                <a:latin typeface="Segoe UI"/>
              </a:defRPr>
            </a:pPr>
            <a:r>
              <a:t>• RNF-2 (Memory): 10,000-event circular RingBuffer.</a:t>
            </a:r>
          </a:p>
          <a:p>
            <a:pPr>
              <a:spcBef>
                <a:spcPts val="400"/>
              </a:spcBef>
              <a:defRPr sz="1100">
                <a:solidFill>
                  <a:srgbClr val="CBD5E1"/>
                </a:solidFill>
                <a:latin typeface="Segoe UI"/>
              </a:defRPr>
            </a:pPr>
            <a:r>
              <a:t>• RNF-3 (Database): MongoDB 30-day TTL auto-expire.</a:t>
            </a:r>
          </a:p>
          <a:p>
            <a:pPr>
              <a:spcBef>
                <a:spcPts val="400"/>
              </a:spcBef>
              <a:defRPr sz="1100">
                <a:solidFill>
                  <a:srgbClr val="CBD5E1"/>
                </a:solidFill>
                <a:latin typeface="Segoe UI"/>
              </a:defRPr>
            </a:pPr>
            <a:r>
              <a:t>• RNF-4 (Limit Guard): switch to in-memory streaming and stop DB writes if MongoDB exceeds 500MB.</a:t>
            </a:r>
          </a:p>
          <a:p>
            <a:pPr>
              <a:spcBef>
                <a:spcPts val="400"/>
              </a:spcBef>
              <a:defRPr sz="1100">
                <a:solidFill>
                  <a:srgbClr val="CBD5E1"/>
                </a:solidFill>
                <a:latin typeface="Segoe UI"/>
              </a:defRPr>
            </a:pPr>
            <a:r>
              <a:t>• RNF-5 (Design): Premium dark glassmorphism interface to prevent visual analyst strain.</a:t>
            </a:r>
          </a:p>
        </p:txBody>
      </p:sp>
    </p:spTree>
  </p:cSld>
  <p:transition spd="slow">
    <p:fade/>
  </p:transition>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2 — CONCEPTUAL 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Structural Modeling: Global Class Diagram</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411480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749040" cy="3749040"/>
          </a:xfrm>
          <a:prstGeom prst="rect">
            <a:avLst/>
          </a:prstGeom>
          <a:noFill/>
        </p:spPr>
        <p:txBody>
          <a:bodyPr wrap="square" lIns="0" rIns="0" tIns="0" bIns="0">
            <a:spAutoFit/>
          </a:bodyPr>
          <a:lstStyle/>
          <a:p>
            <a:pPr>
              <a:defRPr sz="1400" b="1">
                <a:solidFill>
                  <a:srgbClr val="FFFFFF"/>
                </a:solidFill>
                <a:latin typeface="Segoe UI"/>
              </a:defRPr>
            </a:pPr>
            <a:r>
              <a:t>System Object Architecture</a:t>
            </a:r>
          </a:p>
          <a:p>
            <a:pPr>
              <a:spcBef>
                <a:spcPts val="400"/>
              </a:spcBef>
              <a:defRPr sz="1100">
                <a:solidFill>
                  <a:srgbClr val="CBD5E1"/>
                </a:solidFill>
                <a:latin typeface="Segoe UI"/>
              </a:defRPr>
            </a:pPr>
            <a:r>
              <a:t>The static structure consists of three key architectural blocks:</a:t>
            </a:r>
          </a:p>
          <a:p>
            <a:br/>
            <a:pPr>
              <a:spcBef>
                <a:spcPts val="400"/>
              </a:spcBef>
              <a:defRPr sz="1100">
                <a:solidFill>
                  <a:srgbClr val="CBD5E1"/>
                </a:solidFill>
                <a:latin typeface="Segoe UI"/>
              </a:defRPr>
            </a:pPr>
            <a:r>
              <a:t>1. Ingestion &amp; Service Tier (Backend):</a:t>
            </a:r>
          </a:p>
          <a:p>
            <a:pPr>
              <a:spcBef>
                <a:spcPts val="400"/>
              </a:spcBef>
              <a:defRPr sz="1100">
                <a:solidFill>
                  <a:srgbClr val="CBD5E1"/>
                </a:solidFill>
                <a:latin typeface="Segoe UI"/>
              </a:defRPr>
            </a:pPr>
            <a:r>
              <a:t>ExpressServer, ScraperService subclasses, EnrichmentService, Mongoose models.</a:t>
            </a:r>
          </a:p>
          <a:p>
            <a:br/>
            <a:pPr>
              <a:spcBef>
                <a:spcPts val="400"/>
              </a:spcBef>
              <a:defRPr sz="1100">
                <a:solidFill>
                  <a:srgbClr val="CBD5E1"/>
                </a:solidFill>
                <a:latin typeface="Segoe UI"/>
              </a:defRPr>
            </a:pPr>
            <a:r>
              <a:t>2. State Store Tier (Frontend):</a:t>
            </a:r>
          </a:p>
          <a:p>
            <a:pPr>
              <a:spcBef>
                <a:spcPts val="400"/>
              </a:spcBef>
              <a:defRPr sz="1100">
                <a:solidFill>
                  <a:srgbClr val="CBD5E1"/>
                </a:solidFill>
                <a:latin typeface="Segoe UI"/>
              </a:defRPr>
            </a:pPr>
            <a:r>
              <a:t>Zustand useStreamStore holding a circular RingBuffer and perfTelemetry loop.</a:t>
            </a:r>
          </a:p>
          <a:p>
            <a:br/>
            <a:pPr>
              <a:spcBef>
                <a:spcPts val="400"/>
              </a:spcBef>
              <a:defRPr sz="1100">
                <a:solidFill>
                  <a:srgbClr val="CBD5E1"/>
                </a:solidFill>
                <a:latin typeface="Segoe UI"/>
              </a:defRPr>
            </a:pPr>
            <a:r>
              <a:t>3. React Views Layer:</a:t>
            </a:r>
          </a:p>
          <a:p>
            <a:pPr>
              <a:spcBef>
                <a:spcPts val="400"/>
              </a:spcBef>
              <a:defRPr sz="1100">
                <a:solidFill>
                  <a:srgbClr val="CBD5E1"/>
                </a:solidFill>
                <a:latin typeface="Segoe UI"/>
              </a:defRPr>
            </a:pPr>
            <a:r>
              <a:t>Dashboard, STIXWorkspace, AnalyticsPage subscribing to store slices.</a:t>
            </a:r>
          </a:p>
        </p:txBody>
      </p:sp>
      <p:sp>
        <p:nvSpPr>
          <p:cNvPr id="7" name="Rectangle 6"/>
          <p:cNvSpPr/>
          <p:nvPr/>
        </p:nvSpPr>
        <p:spPr>
          <a:xfrm>
            <a:off x="5120640" y="1645920"/>
            <a:ext cx="6309360" cy="411480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lobal_class_diagram.png"/>
          <p:cNvPicPr>
            <a:picLocks noChangeAspect="1"/>
          </p:cNvPicPr>
          <p:nvPr/>
        </p:nvPicPr>
        <p:blipFill>
          <a:blip r:embed="rId2"/>
          <a:stretch>
            <a:fillRect/>
          </a:stretch>
        </p:blipFill>
        <p:spPr>
          <a:xfrm>
            <a:off x="5303520" y="1828800"/>
            <a:ext cx="5943600" cy="3749039"/>
          </a:xfrm>
          <a:prstGeom prst="rect">
            <a:avLst/>
          </a:prstGeom>
        </p:spPr>
      </p:pic>
    </p:spTree>
  </p:cSld>
  <p:transition spd="slow">
    <p:fade/>
  </p:transition>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2 — CONCEPTUAL 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Technology Stack Comparative Analysis</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03120" cy="365760"/>
          </a:xfrm>
          <a:prstGeom prst="rect">
            <a:avLst/>
          </a:prstGeom>
          <a:noFill/>
        </p:spPr>
        <p:txBody>
          <a:bodyPr wrap="square" lIns="0" rIns="0" tIns="0" bIns="0">
            <a:spAutoFit/>
          </a:bodyPr>
          <a:lstStyle/>
          <a:p>
            <a:pPr>
              <a:defRPr sz="1400" b="1">
                <a:solidFill>
                  <a:srgbClr val="FFFFFF"/>
                </a:solidFill>
                <a:latin typeface="Segoe UI"/>
              </a:defRPr>
            </a:pPr>
            <a:r>
              <a:t>Layer</a:t>
            </a:r>
          </a:p>
        </p:txBody>
      </p:sp>
      <p:sp>
        <p:nvSpPr>
          <p:cNvPr id="7" name="Rectangle 6"/>
          <p:cNvSpPr/>
          <p:nvPr/>
        </p:nvSpPr>
        <p:spPr>
          <a:xfrm>
            <a:off x="3291840" y="182880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2011680"/>
            <a:ext cx="2103120" cy="365760"/>
          </a:xfrm>
          <a:prstGeom prst="rect">
            <a:avLst/>
          </a:prstGeom>
          <a:noFill/>
        </p:spPr>
        <p:txBody>
          <a:bodyPr wrap="square" lIns="0" rIns="0" tIns="0" bIns="0">
            <a:spAutoFit/>
          </a:bodyPr>
          <a:lstStyle/>
          <a:p>
            <a:pPr>
              <a:defRPr sz="1400" b="1">
                <a:solidFill>
                  <a:srgbClr val="FFFFFF"/>
                </a:solidFill>
                <a:latin typeface="Segoe UI"/>
              </a:defRPr>
            </a:pPr>
            <a:r>
              <a:t>Selected Stack</a:t>
            </a:r>
          </a:p>
        </p:txBody>
      </p:sp>
      <p:sp>
        <p:nvSpPr>
          <p:cNvPr id="9" name="Rectangle 8"/>
          <p:cNvSpPr/>
          <p:nvPr/>
        </p:nvSpPr>
        <p:spPr>
          <a:xfrm>
            <a:off x="5852160" y="182880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2011680"/>
            <a:ext cx="2103120" cy="365760"/>
          </a:xfrm>
          <a:prstGeom prst="rect">
            <a:avLst/>
          </a:prstGeom>
          <a:noFill/>
        </p:spPr>
        <p:txBody>
          <a:bodyPr wrap="square" lIns="0" rIns="0" tIns="0" bIns="0">
            <a:spAutoFit/>
          </a:bodyPr>
          <a:lstStyle/>
          <a:p>
            <a:pPr>
              <a:defRPr sz="1400" b="1">
                <a:solidFill>
                  <a:srgbClr val="FFFFFF"/>
                </a:solidFill>
                <a:latin typeface="Segoe UI"/>
              </a:defRPr>
            </a:pPr>
            <a:r>
              <a:t>Alternative</a:t>
            </a:r>
          </a:p>
        </p:txBody>
      </p:sp>
      <p:sp>
        <p:nvSpPr>
          <p:cNvPr id="11" name="Rectangle 10"/>
          <p:cNvSpPr/>
          <p:nvPr/>
        </p:nvSpPr>
        <p:spPr>
          <a:xfrm>
            <a:off x="8412480" y="1828800"/>
            <a:ext cx="301752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011680"/>
            <a:ext cx="2651760" cy="365760"/>
          </a:xfrm>
          <a:prstGeom prst="rect">
            <a:avLst/>
          </a:prstGeom>
          <a:noFill/>
        </p:spPr>
        <p:txBody>
          <a:bodyPr wrap="square" lIns="0" rIns="0" tIns="0" bIns="0">
            <a:spAutoFit/>
          </a:bodyPr>
          <a:lstStyle/>
          <a:p>
            <a:pPr>
              <a:defRPr sz="1400" b="1">
                <a:solidFill>
                  <a:srgbClr val="FFFFFF"/>
                </a:solidFill>
                <a:latin typeface="Segoe UI"/>
              </a:defRPr>
            </a:pPr>
            <a:r>
              <a:t>Architectural Rationale</a:t>
            </a:r>
          </a:p>
        </p:txBody>
      </p:sp>
      <p:sp>
        <p:nvSpPr>
          <p:cNvPr id="13" name="Rectangle 12"/>
          <p:cNvSpPr/>
          <p:nvPr/>
        </p:nvSpPr>
        <p:spPr>
          <a:xfrm>
            <a:off x="731520" y="265176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34640"/>
            <a:ext cx="2103120" cy="365760"/>
          </a:xfrm>
          <a:prstGeom prst="rect">
            <a:avLst/>
          </a:prstGeom>
          <a:noFill/>
        </p:spPr>
        <p:txBody>
          <a:bodyPr wrap="square" lIns="0" rIns="0" tIns="0" bIns="0">
            <a:spAutoFit/>
          </a:bodyPr>
          <a:lstStyle/>
          <a:p>
            <a:pPr>
              <a:defRPr sz="1400" b="1">
                <a:solidFill>
                  <a:srgbClr val="FFFFFF"/>
                </a:solidFill>
                <a:latin typeface="Segoe UI"/>
              </a:defRPr>
            </a:pPr>
            <a:r>
              <a:t>Backend Runtime</a:t>
            </a:r>
          </a:p>
        </p:txBody>
      </p:sp>
      <p:sp>
        <p:nvSpPr>
          <p:cNvPr id="15" name="Rectangle 14"/>
          <p:cNvSpPr/>
          <p:nvPr/>
        </p:nvSpPr>
        <p:spPr>
          <a:xfrm>
            <a:off x="3291840" y="265176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2834640"/>
            <a:ext cx="2103120" cy="365760"/>
          </a:xfrm>
          <a:prstGeom prst="rect">
            <a:avLst/>
          </a:prstGeom>
          <a:noFill/>
        </p:spPr>
        <p:txBody>
          <a:bodyPr wrap="square" lIns="0" rIns="0" tIns="0" bIns="0">
            <a:spAutoFit/>
          </a:bodyPr>
          <a:lstStyle/>
          <a:p>
            <a:pPr>
              <a:defRPr sz="1400" b="1">
                <a:solidFill>
                  <a:srgbClr val="FFFFFF"/>
                </a:solidFill>
                <a:latin typeface="Segoe UI"/>
              </a:defRPr>
            </a:pPr>
            <a:r>
              <a:t>Node.js / Express 5</a:t>
            </a:r>
          </a:p>
        </p:txBody>
      </p:sp>
      <p:sp>
        <p:nvSpPr>
          <p:cNvPr id="17" name="Rectangle 16"/>
          <p:cNvSpPr/>
          <p:nvPr/>
        </p:nvSpPr>
        <p:spPr>
          <a:xfrm>
            <a:off x="5852160" y="265176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2834640"/>
            <a:ext cx="2103120" cy="365760"/>
          </a:xfrm>
          <a:prstGeom prst="rect">
            <a:avLst/>
          </a:prstGeom>
          <a:noFill/>
        </p:spPr>
        <p:txBody>
          <a:bodyPr wrap="square" lIns="0" rIns="0" tIns="0" bIns="0">
            <a:spAutoFit/>
          </a:bodyPr>
          <a:lstStyle/>
          <a:p>
            <a:pPr>
              <a:defRPr sz="1400" b="1">
                <a:solidFill>
                  <a:srgbClr val="FFFFFF"/>
                </a:solidFill>
                <a:latin typeface="Segoe UI"/>
              </a:defRPr>
            </a:pPr>
            <a:r>
              <a:t>Java Spring Boot</a:t>
            </a:r>
          </a:p>
        </p:txBody>
      </p:sp>
      <p:sp>
        <p:nvSpPr>
          <p:cNvPr id="19" name="Rectangle 18"/>
          <p:cNvSpPr/>
          <p:nvPr/>
        </p:nvSpPr>
        <p:spPr>
          <a:xfrm>
            <a:off x="8412480" y="2651760"/>
            <a:ext cx="301752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2834640"/>
            <a:ext cx="2651760" cy="365760"/>
          </a:xfrm>
          <a:prstGeom prst="rect">
            <a:avLst/>
          </a:prstGeom>
          <a:noFill/>
        </p:spPr>
        <p:txBody>
          <a:bodyPr wrap="square" lIns="0" rIns="0" tIns="0" bIns="0">
            <a:spAutoFit/>
          </a:bodyPr>
          <a:lstStyle/>
          <a:p>
            <a:pPr>
              <a:defRPr sz="1400" b="1">
                <a:solidFill>
                  <a:srgbClr val="FFFFFF"/>
                </a:solidFill>
                <a:latin typeface="Segoe UI"/>
              </a:defRPr>
            </a:pPr>
            <a:r>
              <a:t>Asynchronous loop; high SSE concurrency</a:t>
            </a:r>
          </a:p>
        </p:txBody>
      </p:sp>
      <p:sp>
        <p:nvSpPr>
          <p:cNvPr id="21" name="Rectangle 20"/>
          <p:cNvSpPr/>
          <p:nvPr/>
        </p:nvSpPr>
        <p:spPr>
          <a:xfrm>
            <a:off x="731520" y="347472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657600"/>
            <a:ext cx="2103120" cy="365760"/>
          </a:xfrm>
          <a:prstGeom prst="rect">
            <a:avLst/>
          </a:prstGeom>
          <a:noFill/>
        </p:spPr>
        <p:txBody>
          <a:bodyPr wrap="square" lIns="0" rIns="0" tIns="0" bIns="0">
            <a:spAutoFit/>
          </a:bodyPr>
          <a:lstStyle/>
          <a:p>
            <a:pPr>
              <a:defRPr sz="1400" b="1">
                <a:solidFill>
                  <a:srgbClr val="FFFFFF"/>
                </a:solidFill>
                <a:latin typeface="Segoe UI"/>
              </a:defRPr>
            </a:pPr>
            <a:r>
              <a:t>State Management</a:t>
            </a:r>
          </a:p>
        </p:txBody>
      </p:sp>
      <p:sp>
        <p:nvSpPr>
          <p:cNvPr id="23" name="Rectangle 22"/>
          <p:cNvSpPr/>
          <p:nvPr/>
        </p:nvSpPr>
        <p:spPr>
          <a:xfrm>
            <a:off x="3291840" y="347472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74720" y="3657600"/>
            <a:ext cx="2103120" cy="365760"/>
          </a:xfrm>
          <a:prstGeom prst="rect">
            <a:avLst/>
          </a:prstGeom>
          <a:noFill/>
        </p:spPr>
        <p:txBody>
          <a:bodyPr wrap="square" lIns="0" rIns="0" tIns="0" bIns="0">
            <a:spAutoFit/>
          </a:bodyPr>
          <a:lstStyle/>
          <a:p>
            <a:pPr>
              <a:defRPr sz="1400" b="1">
                <a:solidFill>
                  <a:srgbClr val="FFFFFF"/>
                </a:solidFill>
                <a:latin typeface="Segoe UI"/>
              </a:defRPr>
            </a:pPr>
            <a:r>
              <a:t>Zustand 5</a:t>
            </a:r>
          </a:p>
        </p:txBody>
      </p:sp>
      <p:sp>
        <p:nvSpPr>
          <p:cNvPr id="25" name="Rectangle 24"/>
          <p:cNvSpPr/>
          <p:nvPr/>
        </p:nvSpPr>
        <p:spPr>
          <a:xfrm>
            <a:off x="5852160" y="347472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3657600"/>
            <a:ext cx="2103120" cy="365760"/>
          </a:xfrm>
          <a:prstGeom prst="rect">
            <a:avLst/>
          </a:prstGeom>
          <a:noFill/>
        </p:spPr>
        <p:txBody>
          <a:bodyPr wrap="square" lIns="0" rIns="0" tIns="0" bIns="0">
            <a:spAutoFit/>
          </a:bodyPr>
          <a:lstStyle/>
          <a:p>
            <a:pPr>
              <a:defRPr sz="1400" b="1">
                <a:solidFill>
                  <a:srgbClr val="FFFFFF"/>
                </a:solidFill>
                <a:latin typeface="Segoe UI"/>
              </a:defRPr>
            </a:pPr>
            <a:r>
              <a:t>Redux Toolkit</a:t>
            </a:r>
          </a:p>
        </p:txBody>
      </p:sp>
      <p:sp>
        <p:nvSpPr>
          <p:cNvPr id="27" name="Rectangle 26"/>
          <p:cNvSpPr/>
          <p:nvPr/>
        </p:nvSpPr>
        <p:spPr>
          <a:xfrm>
            <a:off x="8412480" y="3474720"/>
            <a:ext cx="301752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0" y="3657600"/>
            <a:ext cx="2651760" cy="365760"/>
          </a:xfrm>
          <a:prstGeom prst="rect">
            <a:avLst/>
          </a:prstGeom>
          <a:noFill/>
        </p:spPr>
        <p:txBody>
          <a:bodyPr wrap="square" lIns="0" rIns="0" tIns="0" bIns="0">
            <a:spAutoFit/>
          </a:bodyPr>
          <a:lstStyle/>
          <a:p>
            <a:pPr>
              <a:defRPr sz="1400" b="1">
                <a:solidFill>
                  <a:srgbClr val="FFFFFF"/>
                </a:solidFill>
                <a:latin typeface="Segoe UI"/>
              </a:defRPr>
            </a:pPr>
            <a:r>
              <a:t>Reactive store outside React render loop</a:t>
            </a:r>
          </a:p>
        </p:txBody>
      </p:sp>
      <p:sp>
        <p:nvSpPr>
          <p:cNvPr id="29" name="Rectangle 28"/>
          <p:cNvSpPr/>
          <p:nvPr/>
        </p:nvSpPr>
        <p:spPr>
          <a:xfrm>
            <a:off x="731520" y="429768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480560"/>
            <a:ext cx="2103120" cy="365760"/>
          </a:xfrm>
          <a:prstGeom prst="rect">
            <a:avLst/>
          </a:prstGeom>
          <a:noFill/>
        </p:spPr>
        <p:txBody>
          <a:bodyPr wrap="square" lIns="0" rIns="0" tIns="0" bIns="0">
            <a:spAutoFit/>
          </a:bodyPr>
          <a:lstStyle/>
          <a:p>
            <a:pPr>
              <a:defRPr sz="1400" b="1">
                <a:solidFill>
                  <a:srgbClr val="FFFFFF"/>
                </a:solidFill>
                <a:latin typeface="Segoe UI"/>
              </a:defRPr>
            </a:pPr>
            <a:r>
              <a:t>3D Graphics engine</a:t>
            </a:r>
          </a:p>
        </p:txBody>
      </p:sp>
      <p:sp>
        <p:nvSpPr>
          <p:cNvPr id="31" name="Rectangle 30"/>
          <p:cNvSpPr/>
          <p:nvPr/>
        </p:nvSpPr>
        <p:spPr>
          <a:xfrm>
            <a:off x="3291840" y="429768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4480560"/>
            <a:ext cx="2103120" cy="365760"/>
          </a:xfrm>
          <a:prstGeom prst="rect">
            <a:avLst/>
          </a:prstGeom>
          <a:noFill/>
        </p:spPr>
        <p:txBody>
          <a:bodyPr wrap="square" lIns="0" rIns="0" tIns="0" bIns="0">
            <a:spAutoFit/>
          </a:bodyPr>
          <a:lstStyle/>
          <a:p>
            <a:pPr>
              <a:defRPr sz="1400" b="1">
                <a:solidFill>
                  <a:srgbClr val="FFFFFF"/>
                </a:solidFill>
                <a:latin typeface="Segoe UI"/>
              </a:defRPr>
            </a:pPr>
            <a:r>
              <a:t>Three.js / React Three Fiber</a:t>
            </a:r>
          </a:p>
        </p:txBody>
      </p:sp>
      <p:sp>
        <p:nvSpPr>
          <p:cNvPr id="33" name="Rectangle 32"/>
          <p:cNvSpPr/>
          <p:nvPr/>
        </p:nvSpPr>
        <p:spPr>
          <a:xfrm>
            <a:off x="5852160" y="429768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480560"/>
            <a:ext cx="2103120" cy="365760"/>
          </a:xfrm>
          <a:prstGeom prst="rect">
            <a:avLst/>
          </a:prstGeom>
          <a:noFill/>
        </p:spPr>
        <p:txBody>
          <a:bodyPr wrap="square" lIns="0" rIns="0" tIns="0" bIns="0">
            <a:spAutoFit/>
          </a:bodyPr>
          <a:lstStyle/>
          <a:p>
            <a:pPr>
              <a:defRPr sz="1400" b="1">
                <a:solidFill>
                  <a:srgbClr val="FFFFFF"/>
                </a:solidFill>
                <a:latin typeface="Segoe UI"/>
              </a:defRPr>
            </a:pPr>
            <a:r>
              <a:t>Vanilla HTML Canvas</a:t>
            </a:r>
          </a:p>
        </p:txBody>
      </p:sp>
      <p:sp>
        <p:nvSpPr>
          <p:cNvPr id="35" name="Rectangle 34"/>
          <p:cNvSpPr/>
          <p:nvPr/>
        </p:nvSpPr>
        <p:spPr>
          <a:xfrm>
            <a:off x="8412480" y="4297680"/>
            <a:ext cx="301752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5360" y="4480560"/>
            <a:ext cx="2651760" cy="365760"/>
          </a:xfrm>
          <a:prstGeom prst="rect">
            <a:avLst/>
          </a:prstGeom>
          <a:noFill/>
        </p:spPr>
        <p:txBody>
          <a:bodyPr wrap="square" lIns="0" rIns="0" tIns="0" bIns="0">
            <a:spAutoFit/>
          </a:bodyPr>
          <a:lstStyle/>
          <a:p>
            <a:pPr>
              <a:defRPr sz="1400" b="1">
                <a:solidFill>
                  <a:srgbClr val="FFFFFF"/>
                </a:solidFill>
                <a:latin typeface="Segoe UI"/>
              </a:defRPr>
            </a:pPr>
            <a:r>
              <a:t>GPU acceleration, custom GLSL shaders</a:t>
            </a:r>
          </a:p>
        </p:txBody>
      </p:sp>
      <p:sp>
        <p:nvSpPr>
          <p:cNvPr id="37" name="Rectangle 36"/>
          <p:cNvSpPr/>
          <p:nvPr/>
        </p:nvSpPr>
        <p:spPr>
          <a:xfrm>
            <a:off x="731520" y="512064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303520"/>
            <a:ext cx="2103120" cy="365760"/>
          </a:xfrm>
          <a:prstGeom prst="rect">
            <a:avLst/>
          </a:prstGeom>
          <a:noFill/>
        </p:spPr>
        <p:txBody>
          <a:bodyPr wrap="square" lIns="0" rIns="0" tIns="0" bIns="0">
            <a:spAutoFit/>
          </a:bodyPr>
          <a:lstStyle/>
          <a:p>
            <a:pPr>
              <a:defRPr sz="1400" b="1">
                <a:solidFill>
                  <a:srgbClr val="FFFFFF"/>
                </a:solidFill>
                <a:latin typeface="Segoe UI"/>
              </a:defRPr>
            </a:pPr>
            <a:r>
              <a:t>Database Tier</a:t>
            </a:r>
          </a:p>
        </p:txBody>
      </p:sp>
      <p:sp>
        <p:nvSpPr>
          <p:cNvPr id="39" name="Rectangle 38"/>
          <p:cNvSpPr/>
          <p:nvPr/>
        </p:nvSpPr>
        <p:spPr>
          <a:xfrm>
            <a:off x="3291840" y="512064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74720" y="5303520"/>
            <a:ext cx="2103120" cy="365760"/>
          </a:xfrm>
          <a:prstGeom prst="rect">
            <a:avLst/>
          </a:prstGeom>
          <a:noFill/>
        </p:spPr>
        <p:txBody>
          <a:bodyPr wrap="square" lIns="0" rIns="0" tIns="0" bIns="0">
            <a:spAutoFit/>
          </a:bodyPr>
          <a:lstStyle/>
          <a:p>
            <a:pPr>
              <a:defRPr sz="1400" b="1">
                <a:solidFill>
                  <a:srgbClr val="FFFFFF"/>
                </a:solidFill>
                <a:latin typeface="Segoe UI"/>
              </a:defRPr>
            </a:pPr>
            <a:r>
              <a:t>MongoDB Atlas (BSON)</a:t>
            </a:r>
          </a:p>
        </p:txBody>
      </p:sp>
      <p:sp>
        <p:nvSpPr>
          <p:cNvPr id="41" name="Rectangle 40"/>
          <p:cNvSpPr/>
          <p:nvPr/>
        </p:nvSpPr>
        <p:spPr>
          <a:xfrm>
            <a:off x="5852160" y="5120640"/>
            <a:ext cx="246888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5303520"/>
            <a:ext cx="2103120" cy="365760"/>
          </a:xfrm>
          <a:prstGeom prst="rect">
            <a:avLst/>
          </a:prstGeom>
          <a:noFill/>
        </p:spPr>
        <p:txBody>
          <a:bodyPr wrap="square" lIns="0" rIns="0" tIns="0" bIns="0">
            <a:spAutoFit/>
          </a:bodyPr>
          <a:lstStyle/>
          <a:p>
            <a:pPr>
              <a:defRPr sz="1400" b="1">
                <a:solidFill>
                  <a:srgbClr val="FFFFFF"/>
                </a:solidFill>
                <a:latin typeface="Segoe UI"/>
              </a:defRPr>
            </a:pPr>
            <a:r>
              <a:t>PostgreSQL</a:t>
            </a:r>
          </a:p>
        </p:txBody>
      </p:sp>
      <p:sp>
        <p:nvSpPr>
          <p:cNvPr id="43" name="Rectangle 42"/>
          <p:cNvSpPr/>
          <p:nvPr/>
        </p:nvSpPr>
        <p:spPr>
          <a:xfrm>
            <a:off x="8412480" y="5120640"/>
            <a:ext cx="3017520" cy="73152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0" y="5303520"/>
            <a:ext cx="2651760" cy="365760"/>
          </a:xfrm>
          <a:prstGeom prst="rect">
            <a:avLst/>
          </a:prstGeom>
          <a:noFill/>
        </p:spPr>
        <p:txBody>
          <a:bodyPr wrap="square" lIns="0" rIns="0" tIns="0" bIns="0">
            <a:spAutoFit/>
          </a:bodyPr>
          <a:lstStyle/>
          <a:p>
            <a:pPr>
              <a:defRPr sz="1400" b="1">
                <a:solidFill>
                  <a:srgbClr val="FFFFFF"/>
                </a:solidFill>
                <a:latin typeface="Segoe UI"/>
              </a:defRPr>
            </a:pPr>
            <a:r>
              <a:t>Flexible schemaless BSON for raw feeds</a:t>
            </a:r>
          </a:p>
        </p:txBody>
      </p:sp>
    </p:spTree>
  </p:cSld>
  <p:transition spd="slow">
    <p:fade/>
  </p:transition>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2 — CONCEPTUAL STUDY</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System Architecture</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Frontend (Vercel CDN)</a:t>
            </a:r>
          </a:p>
          <a:p>
            <a:pPr>
              <a:spcBef>
                <a:spcPts val="400"/>
              </a:spcBef>
              <a:defRPr sz="1100">
                <a:solidFill>
                  <a:srgbClr val="CBD5E1"/>
                </a:solidFill>
                <a:latin typeface="Segoe UI"/>
              </a:defRPr>
            </a:pPr>
            <a:r>
              <a:t>• React Single Page App served via global Edge networks.</a:t>
            </a:r>
          </a:p>
          <a:p>
            <a:br/>
            <a:pPr>
              <a:spcBef>
                <a:spcPts val="400"/>
              </a:spcBef>
              <a:defRPr sz="1100">
                <a:solidFill>
                  <a:srgbClr val="CBD5E1"/>
                </a:solidFill>
                <a:latin typeface="Segoe UI"/>
              </a:defRPr>
            </a:pPr>
            <a:r>
              <a:t>• Zustand state-store for real-time reactivity.</a:t>
            </a:r>
          </a:p>
          <a:p>
            <a:br/>
            <a:pPr>
              <a:spcBef>
                <a:spcPts val="400"/>
              </a:spcBef>
              <a:defRPr sz="1100">
                <a:solidFill>
                  <a:srgbClr val="CBD5E1"/>
                </a:solidFill>
                <a:latin typeface="Segoe UI"/>
              </a:defRPr>
            </a:pPr>
            <a:r>
              <a:t>• Vercel configuration proxy routing rules to prevent CORS blocks.</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Backend (Cloud VM)</a:t>
            </a:r>
          </a:p>
          <a:p>
            <a:pPr>
              <a:spcBef>
                <a:spcPts val="400"/>
              </a:spcBef>
              <a:defRPr sz="1100">
                <a:solidFill>
                  <a:srgbClr val="CBD5E1"/>
                </a:solidFill>
                <a:latin typeface="Segoe UI"/>
              </a:defRPr>
            </a:pPr>
            <a:r>
              <a:t>• Express REST APIs + SSE event broadcast loop.</a:t>
            </a:r>
          </a:p>
          <a:p>
            <a:br/>
            <a:pPr>
              <a:spcBef>
                <a:spcPts val="400"/>
              </a:spcBef>
              <a:defRPr sz="1100">
                <a:solidFill>
                  <a:srgbClr val="CBD5E1"/>
                </a:solidFill>
                <a:latin typeface="Segoe UI"/>
              </a:defRPr>
            </a:pPr>
            <a:r>
              <a:t>• PM2 Clustering to distribute scraping workload across multiple CPU cores.</a:t>
            </a:r>
          </a:p>
          <a:p>
            <a:br/>
            <a:pPr>
              <a:spcBef>
                <a:spcPts val="400"/>
              </a:spcBef>
              <a:defRPr sz="1100">
                <a:solidFill>
                  <a:srgbClr val="CBD5E1"/>
                </a:solidFill>
                <a:latin typeface="Segoe UI"/>
              </a:defRPr>
            </a:pPr>
            <a:r>
              <a:t>• Ingestion schedulers managing 9 parallel scrapers.</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Database (MongoDB)</a:t>
            </a:r>
          </a:p>
          <a:p>
            <a:pPr>
              <a:spcBef>
                <a:spcPts val="400"/>
              </a:spcBef>
              <a:defRPr sz="1100">
                <a:solidFill>
                  <a:srgbClr val="CBD5E1"/>
                </a:solidFill>
                <a:latin typeface="Segoe UI"/>
              </a:defRPr>
            </a:pPr>
            <a:r>
              <a:t>• Cloud-hosted replicated BSON cluster.</a:t>
            </a:r>
          </a:p>
          <a:p>
            <a:br/>
            <a:pPr>
              <a:spcBef>
                <a:spcPts val="400"/>
              </a:spcBef>
              <a:defRPr sz="1100">
                <a:solidFill>
                  <a:srgbClr val="CBD5E1"/>
                </a:solidFill>
                <a:latin typeface="Segoe UI"/>
              </a:defRPr>
            </a:pPr>
            <a:r>
              <a:t>• Automated 30-day Time-To-Live (TTL) storage pruning indexes.</a:t>
            </a:r>
          </a:p>
          <a:p>
            <a:br/>
            <a:pPr>
              <a:spcBef>
                <a:spcPts val="400"/>
              </a:spcBef>
              <a:defRPr sz="1100">
                <a:solidFill>
                  <a:srgbClr val="CBD5E1"/>
                </a:solidFill>
                <a:latin typeface="Segoe UI"/>
              </a:defRPr>
            </a:pPr>
            <a:r>
              <a:t>• Storage monitoring: switches to in-memory streaming if DB size hits 500MB.</a:t>
            </a:r>
          </a:p>
        </p:txBody>
      </p:sp>
    </p:spTree>
  </p:cSld>
  <p:transition spd="slow">
    <p:fade/>
  </p:transition>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3 — SPRINTS 1 &amp; 2</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Sprint 1 &amp; 2: Ingestion &amp; 3D Math</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Ingestion Scrapers (9 Feeds)</a:t>
            </a:r>
          </a:p>
          <a:p>
            <a:pPr>
              <a:spcBef>
                <a:spcPts val="400"/>
              </a:spcBef>
              <a:defRPr sz="1100">
                <a:solidFill>
                  <a:srgbClr val="CBD5E1"/>
                </a:solidFill>
                <a:latin typeface="Segoe UI"/>
              </a:defRPr>
            </a:pPr>
            <a:r>
              <a:t>• Feeds: Checkpoint SSE, Bitdefender WebSockets, FortiGuard REST, URLhaus, Kaspersky, OTX, RansomWatch, C2 Tracker, MISP Galaxy.</a:t>
            </a:r>
          </a:p>
          <a:p>
            <a:br/>
            <a:pPr>
              <a:spcBef>
                <a:spcPts val="400"/>
              </a:spcBef>
              <a:defRPr sz="1100">
                <a:solidFill>
                  <a:srgbClr val="CBD5E1"/>
                </a:solidFill>
                <a:latin typeface="Segoe UI"/>
              </a:defRPr>
            </a:pPr>
            <a:r>
              <a:t>• Compact BSON schema compresses JSON models, shrinking database footprint by 60% (200B → 80B per threat document).</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5-Layer Enrichment logic</a:t>
            </a:r>
          </a:p>
          <a:p>
            <a:pPr>
              <a:spcBef>
                <a:spcPts val="400"/>
              </a:spcBef>
              <a:defRPr sz="1100">
                <a:solidFill>
                  <a:srgbClr val="CBD5E1"/>
                </a:solidFill>
                <a:latin typeface="Segoe UI"/>
              </a:defRPr>
            </a:pPr>
            <a:r>
              <a:t>• Layered classification rules (port map, keywords, regex tags, MISP actors, feed defaults).</a:t>
            </a:r>
          </a:p>
          <a:p>
            <a:br/>
            <a:pPr>
              <a:spcBef>
                <a:spcPts val="400"/>
              </a:spcBef>
              <a:defRPr sz="1100">
                <a:solidFill>
                  <a:srgbClr val="CBD5E1"/>
                </a:solidFill>
                <a:latin typeface="Segoe UI"/>
              </a:defRPr>
            </a:pPr>
            <a:r>
              <a:t>• Asynchronous RDAP owner lookups with a 3-second timeout cache to prevent API blocks.</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3D Spherical Coordinate Math</a:t>
            </a:r>
          </a:p>
          <a:p>
            <a:pPr>
              <a:spcBef>
                <a:spcPts val="400"/>
              </a:spcBef>
              <a:defRPr sz="1100">
                <a:solidFill>
                  <a:srgbClr val="CBD5E1"/>
                </a:solidFill>
                <a:latin typeface="Segoe UI"/>
              </a:defRPr>
            </a:pPr>
            <a:r>
              <a:t>• Convert coordinates (lat/lon) to 3D vectors via spherical trig.</a:t>
            </a:r>
          </a:p>
          <a:p>
            <a:br/>
            <a:pPr>
              <a:spcBef>
                <a:spcPts val="400"/>
              </a:spcBef>
              <a:defRPr sz="1100">
                <a:solidFill>
                  <a:srgbClr val="CBD5E1"/>
                </a:solidFill>
                <a:latin typeface="Segoe UI"/>
              </a:defRPr>
            </a:pPr>
            <a:r>
              <a:t>• Attack arcs compute using Spherical Linear Interpolation (SLERP), combined with quadratic Bezier curves lifting longer paths higher above Earth.</a:t>
            </a:r>
          </a:p>
        </p:txBody>
      </p:sp>
    </p:spTree>
  </p:cSld>
  <p:transition spd="slow">
    <p:fade/>
  </p:transition>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3 — SPRINT 2</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Sprint 2: WebGL Custom Shaders</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1. Atmospheric Glow</a:t>
            </a:r>
          </a:p>
          <a:p>
            <a:pPr>
              <a:spcBef>
                <a:spcPts val="400"/>
              </a:spcBef>
              <a:defRPr sz="1100">
                <a:solidFill>
                  <a:srgbClr val="CBD5E1"/>
                </a:solidFill>
                <a:latin typeface="Segoe UI"/>
              </a:defRPr>
            </a:pPr>
            <a:r>
              <a:t>• Custom Fresnel-effect vertex and fragment shaders.</a:t>
            </a:r>
          </a:p>
          <a:p>
            <a:br/>
            <a:pPr>
              <a:spcBef>
                <a:spcPts val="400"/>
              </a:spcBef>
              <a:defRPr sz="1100">
                <a:solidFill>
                  <a:srgbClr val="CBD5E1"/>
                </a:solidFill>
                <a:latin typeface="Segoe UI"/>
              </a:defRPr>
            </a:pPr>
            <a:r>
              <a:t>• Dot-product vector math computes viewing angle falloff, rendering a neon cyberblue glow around the Earth's silhouette.</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2. Neon Country Borders</a:t>
            </a:r>
          </a:p>
          <a:p>
            <a:pPr>
              <a:spcBef>
                <a:spcPts val="400"/>
              </a:spcBef>
              <a:defRPr sz="1100">
                <a:solidFill>
                  <a:srgbClr val="CBD5E1"/>
                </a:solidFill>
                <a:latin typeface="Segoe UI"/>
              </a:defRPr>
            </a:pPr>
            <a:r>
              <a:t>• 5 overlapping TopoJSON vector layers placed at microscopic radial scales (R = 1.002 to 1.010).</a:t>
            </a:r>
          </a:p>
          <a:p>
            <a:br/>
            <a:pPr>
              <a:spcBef>
                <a:spcPts val="400"/>
              </a:spcBef>
              <a:defRPr sz="1100">
                <a:solidFill>
                  <a:srgbClr val="CBD5E1"/>
                </a:solidFill>
                <a:latin typeface="Segoe UI"/>
              </a:defRPr>
            </a:pPr>
            <a:r>
              <a:t>• Decreasing opacity scales simulate a glowing country border outline effect on the globe mesh.</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3. Bloom Post-Processing</a:t>
            </a:r>
          </a:p>
          <a:p>
            <a:pPr>
              <a:spcBef>
                <a:spcPts val="400"/>
              </a:spcBef>
              <a:defRPr sz="1100">
                <a:solidFill>
                  <a:srgbClr val="CBD5E1"/>
                </a:solidFill>
                <a:latin typeface="Segoe UI"/>
              </a:defRPr>
            </a:pPr>
            <a:r>
              <a:t>• Three.js EffectComposer with UnrealBloomPass shader.</a:t>
            </a:r>
          </a:p>
          <a:p>
            <a:br/>
            <a:pPr>
              <a:spcBef>
                <a:spcPts val="400"/>
              </a:spcBef>
              <a:defRPr sz="1100">
                <a:solidFill>
                  <a:srgbClr val="CBD5E1"/>
                </a:solidFill>
                <a:latin typeface="Segoe UI"/>
              </a:defRPr>
            </a:pPr>
            <a:r>
              <a:t>• Luminance threshold set to 0.15 makes the severity-colored attack arcs glow like fiber-optic light strings.</a:t>
            </a:r>
          </a:p>
        </p:txBody>
      </p:sp>
    </p:spTree>
  </p:cSld>
  <p:transition spd="slow">
    <p:fade/>
  </p:transition>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4 — SPRINTS 3 &amp; 4</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Sprint 3 &amp; 4: STIX, MITRE &amp; Performance</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STIX 2.1 Workspace</a:t>
            </a:r>
          </a:p>
          <a:p>
            <a:pPr>
              <a:spcBef>
                <a:spcPts val="400"/>
              </a:spcBef>
              <a:defRPr sz="1100">
                <a:solidFill>
                  <a:srgbClr val="CBD5E1"/>
                </a:solidFill>
                <a:latin typeface="Segoe UI"/>
              </a:defRPr>
            </a:pPr>
            <a:r>
              <a:t>• Client-side JSON parser processes files in browser (zero server upload ensures analyst privacy).</a:t>
            </a:r>
          </a:p>
          <a:p>
            <a:br/>
            <a:pPr>
              <a:spcBef>
                <a:spcPts val="400"/>
              </a:spcBef>
              <a:defRPr sz="1100">
                <a:solidFill>
                  <a:srgbClr val="CBD5E1"/>
                </a:solidFill>
                <a:latin typeface="Segoe UI"/>
              </a:defRPr>
            </a:pPr>
            <a:r>
              <a:t>• Interactive D3 Force-Directed Graph shows relationships (Verlet integration).</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MITRE ATT&amp;CK Matrix</a:t>
            </a:r>
          </a:p>
          <a:p>
            <a:pPr>
              <a:spcBef>
                <a:spcPts val="400"/>
              </a:spcBef>
              <a:defRPr sz="1100">
                <a:solidFill>
                  <a:srgbClr val="CBD5E1"/>
                </a:solidFill>
                <a:latin typeface="Segoe UI"/>
              </a:defRPr>
            </a:pPr>
            <a:r>
              <a:t>• Maps parsed STIX indicators to 12 ATT&amp;CK kill chain phases.</a:t>
            </a:r>
          </a:p>
          <a:p>
            <a:br/>
            <a:pPr>
              <a:spcBef>
                <a:spcPts val="400"/>
              </a:spcBef>
              <a:defRPr sz="1100">
                <a:solidFill>
                  <a:srgbClr val="CBD5E1"/>
                </a:solidFill>
                <a:latin typeface="Segoe UI"/>
              </a:defRPr>
            </a:pPr>
            <a:r>
              <a:t>• Real-time aggregations highlight critical adversary tactics.</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Performance Guardrails</a:t>
            </a:r>
          </a:p>
          <a:p>
            <a:pPr>
              <a:spcBef>
                <a:spcPts val="400"/>
              </a:spcBef>
              <a:defRPr sz="1100">
                <a:solidFill>
                  <a:srgbClr val="CBD5E1"/>
                </a:solidFill>
                <a:latin typeface="Segoe UI"/>
              </a:defRPr>
            </a:pPr>
            <a:r>
              <a:t>• Circular RingBuffer manages memory allocation in O(1) time.</a:t>
            </a:r>
          </a:p>
          <a:p>
            <a:br/>
            <a:pPr>
              <a:spcBef>
                <a:spcPts val="400"/>
              </a:spcBef>
              <a:defRPr sz="1100">
                <a:solidFill>
                  <a:srgbClr val="CBD5E1"/>
                </a:solidFill>
                <a:latin typeface="Segoe UI"/>
              </a:defRPr>
            </a:pPr>
            <a:r>
              <a:t>• Adaptive Event Sampling checks FPS. If FPS drops below 55, it drops 50% of visual arcs; if below 30, it drops 75% to preserve smoothness.</a:t>
            </a:r>
          </a:p>
        </p:txBody>
      </p:sp>
    </p:spTree>
  </p:cSld>
  <p:transition spd="slow">
    <p:fade/>
  </p:transition>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4 — REALIZATION</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Application Interfaces Overview</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512064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26080" cy="1645920"/>
          </a:xfrm>
          <a:prstGeom prst="rect">
            <a:avLst/>
          </a:prstGeom>
          <a:noFill/>
        </p:spPr>
        <p:txBody>
          <a:bodyPr wrap="square">
            <a:spAutoFit/>
          </a:bodyPr>
          <a:lstStyle/>
          <a:p>
            <a:pPr>
              <a:defRPr sz="1400" b="1">
                <a:solidFill>
                  <a:srgbClr val="00F0FF"/>
                </a:solidFill>
                <a:latin typeface="Segoe UI"/>
              </a:defRPr>
            </a:pPr>
            <a:r>
              <a:t>1. 3D Live Threat Map</a:t>
            </a:r>
          </a:p>
          <a:p>
            <a:br/>
            <a:pPr>
              <a:defRPr sz="1100">
                <a:solidFill>
                  <a:srgbClr val="A8B2D1"/>
                </a:solidFill>
                <a:latin typeface="Segoe UI"/>
              </a:defRPr>
            </a:pPr>
            <a:r>
              <a:t>Interactive WebGL Earth showing real-time arcs, glowing outlines, and country highlight panels.</a:t>
            </a:r>
          </a:p>
        </p:txBody>
      </p:sp>
      <p:pic>
        <p:nvPicPr>
          <p:cNvPr id="7" name="Picture 6" descr="slide_23_shape_2.png"/>
          <p:cNvPicPr>
            <a:picLocks noChangeAspect="1"/>
          </p:cNvPicPr>
          <p:nvPr/>
        </p:nvPicPr>
        <p:blipFill>
          <a:blip r:embed="rId2"/>
          <a:stretch>
            <a:fillRect/>
          </a:stretch>
        </p:blipFill>
        <p:spPr>
          <a:xfrm>
            <a:off x="3931920" y="1737360"/>
            <a:ext cx="1828800" cy="1828800"/>
          </a:xfrm>
          <a:prstGeom prst="rect">
            <a:avLst/>
          </a:prstGeom>
        </p:spPr>
      </p:pic>
      <p:sp>
        <p:nvSpPr>
          <p:cNvPr id="8" name="Rectangle 7"/>
          <p:cNvSpPr/>
          <p:nvPr/>
        </p:nvSpPr>
        <p:spPr>
          <a:xfrm>
            <a:off x="6336792" y="1645920"/>
            <a:ext cx="512064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828800"/>
            <a:ext cx="2926080" cy="1645920"/>
          </a:xfrm>
          <a:prstGeom prst="rect">
            <a:avLst/>
          </a:prstGeom>
          <a:noFill/>
        </p:spPr>
        <p:txBody>
          <a:bodyPr wrap="square">
            <a:spAutoFit/>
          </a:bodyPr>
          <a:lstStyle/>
          <a:p>
            <a:pPr>
              <a:defRPr sz="1400" b="1">
                <a:solidFill>
                  <a:srgbClr val="00F0FF"/>
                </a:solidFill>
                <a:latin typeface="Segoe UI"/>
              </a:defRPr>
            </a:pPr>
            <a:r>
              <a:t>2. System Dashboard</a:t>
            </a:r>
          </a:p>
          <a:p>
            <a:br/>
            <a:pPr>
              <a:defRPr sz="1100">
                <a:solidFill>
                  <a:srgbClr val="A8B2D1"/>
                </a:solidFill>
                <a:latin typeface="Segoe UI"/>
              </a:defRPr>
            </a:pPr>
            <a:r>
              <a:t>Tactical command center displaying volume sparklines, 2D flat map toggles, and country statistics.</a:t>
            </a:r>
          </a:p>
        </p:txBody>
      </p:sp>
      <p:pic>
        <p:nvPicPr>
          <p:cNvPr id="10" name="Picture 9" descr="slide_23_shape_5.png"/>
          <p:cNvPicPr>
            <a:picLocks noChangeAspect="1"/>
          </p:cNvPicPr>
          <p:nvPr/>
        </p:nvPicPr>
        <p:blipFill>
          <a:blip r:embed="rId3"/>
          <a:stretch>
            <a:fillRect/>
          </a:stretch>
        </p:blipFill>
        <p:spPr>
          <a:xfrm>
            <a:off x="9537192" y="1737360"/>
            <a:ext cx="1828800" cy="1828800"/>
          </a:xfrm>
          <a:prstGeom prst="rect">
            <a:avLst/>
          </a:prstGeom>
        </p:spPr>
      </p:pic>
      <p:sp>
        <p:nvSpPr>
          <p:cNvPr id="11" name="Rectangle 10"/>
          <p:cNvSpPr/>
          <p:nvPr/>
        </p:nvSpPr>
        <p:spPr>
          <a:xfrm>
            <a:off x="731520" y="4023360"/>
            <a:ext cx="512064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06240"/>
            <a:ext cx="2926080" cy="1645920"/>
          </a:xfrm>
          <a:prstGeom prst="rect">
            <a:avLst/>
          </a:prstGeom>
          <a:noFill/>
        </p:spPr>
        <p:txBody>
          <a:bodyPr wrap="square">
            <a:spAutoFit/>
          </a:bodyPr>
          <a:lstStyle/>
          <a:p>
            <a:pPr>
              <a:defRPr sz="1400" b="1">
                <a:solidFill>
                  <a:srgbClr val="00F0FF"/>
                </a:solidFill>
                <a:latin typeface="Segoe UI"/>
              </a:defRPr>
            </a:pPr>
            <a:r>
              <a:t>3. STIX Workspace</a:t>
            </a:r>
          </a:p>
          <a:p>
            <a:br/>
            <a:pPr>
              <a:defRPr sz="1100">
                <a:solidFill>
                  <a:srgbClr val="A8B2D1"/>
                </a:solidFill>
                <a:latin typeface="Segoe UI"/>
              </a:defRPr>
            </a:pPr>
            <a:r>
              <a:t>JSON bundle ingestion, relationship force graphs, and technique mapping grids.</a:t>
            </a:r>
          </a:p>
        </p:txBody>
      </p:sp>
      <p:pic>
        <p:nvPicPr>
          <p:cNvPr id="13" name="Picture 12" descr="slide_23_shape_8.png"/>
          <p:cNvPicPr>
            <a:picLocks noChangeAspect="1"/>
          </p:cNvPicPr>
          <p:nvPr/>
        </p:nvPicPr>
        <p:blipFill>
          <a:blip r:embed="rId4"/>
          <a:stretch>
            <a:fillRect/>
          </a:stretch>
        </p:blipFill>
        <p:spPr>
          <a:xfrm>
            <a:off x="3931920" y="4114800"/>
            <a:ext cx="1828800" cy="1828800"/>
          </a:xfrm>
          <a:prstGeom prst="rect">
            <a:avLst/>
          </a:prstGeom>
        </p:spPr>
      </p:pic>
      <p:sp>
        <p:nvSpPr>
          <p:cNvPr id="14" name="Rectangle 13"/>
          <p:cNvSpPr/>
          <p:nvPr/>
        </p:nvSpPr>
        <p:spPr>
          <a:xfrm>
            <a:off x="6336792" y="4023360"/>
            <a:ext cx="5120640" cy="2011680"/>
          </a:xfrm>
          <a:prstGeom prst="rect">
            <a:avLst/>
          </a:prstGeom>
          <a:solidFill>
            <a:srgbClr val="111625"/>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206240"/>
            <a:ext cx="2926080" cy="1645920"/>
          </a:xfrm>
          <a:prstGeom prst="rect">
            <a:avLst/>
          </a:prstGeom>
          <a:noFill/>
        </p:spPr>
        <p:txBody>
          <a:bodyPr wrap="square">
            <a:spAutoFit/>
          </a:bodyPr>
          <a:lstStyle/>
          <a:p>
            <a:pPr>
              <a:defRPr sz="1400" b="1">
                <a:solidFill>
                  <a:srgbClr val="00F0FF"/>
                </a:solidFill>
                <a:latin typeface="Segoe UI"/>
              </a:defRPr>
            </a:pPr>
            <a:r>
              <a:t>4. Analytics Dashboard</a:t>
            </a:r>
          </a:p>
          <a:p>
            <a:br/>
            <a:pPr>
              <a:defRPr sz="1100">
                <a:solidFill>
                  <a:srgbClr val="A8B2D1"/>
                </a:solidFill>
                <a:latin typeface="Segoe UI"/>
              </a:defRPr>
            </a:pPr>
            <a:r>
              <a:t>Aggregation analytics showing targeted sector metrics, actor trends, and country matrices.</a:t>
            </a:r>
          </a:p>
        </p:txBody>
      </p:sp>
      <p:pic>
        <p:nvPicPr>
          <p:cNvPr id="16" name="Picture 15" descr="slide_23_shape_11.png"/>
          <p:cNvPicPr>
            <a:picLocks noChangeAspect="1"/>
          </p:cNvPicPr>
          <p:nvPr/>
        </p:nvPicPr>
        <p:blipFill>
          <a:blip r:embed="rId5"/>
          <a:stretch>
            <a:fillRect/>
          </a:stretch>
        </p:blipFill>
        <p:spPr>
          <a:xfrm>
            <a:off x="9537192" y="4114800"/>
            <a:ext cx="1828800" cy="1828800"/>
          </a:xfrm>
          <a:prstGeom prst="rect">
            <a:avLst/>
          </a:prstGeom>
        </p:spPr>
      </p:pic>
    </p:spTree>
  </p:cSld>
  <p:transition spd="slow">
    <p:fade/>
  </p:transition>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4 — REALIZATION</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Technical Challenges Resolved</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1. Visual Interface Lag</a:t>
            </a:r>
          </a:p>
          <a:p>
            <a:pPr>
              <a:spcBef>
                <a:spcPts val="400"/>
              </a:spcBef>
              <a:defRPr sz="1100">
                <a:solidFill>
                  <a:srgbClr val="CBD5E1"/>
                </a:solidFill>
                <a:latin typeface="Segoe UI"/>
              </a:defRPr>
            </a:pPr>
            <a:r>
              <a:t>Cause: Browser canvas bottleneck when processing &gt;500 attacks per second.</a:t>
            </a:r>
          </a:p>
          <a:p>
            <a:br/>
            <a:pPr>
              <a:spcBef>
                <a:spcPts val="400"/>
              </a:spcBef>
              <a:defRPr sz="1100">
                <a:solidFill>
                  <a:srgbClr val="CBD5E1"/>
                </a:solidFill>
                <a:latin typeface="Segoe UI"/>
              </a:defRPr>
            </a:pPr>
            <a:r>
              <a:t>Fix: Implemented a 300ms event grouping queue, capped active arcs to 150, and created our custom adaptive FPS sampling engine to drop visual arcs under heavy CPU load.</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2. Database Limits</a:t>
            </a:r>
          </a:p>
          <a:p>
            <a:pPr>
              <a:spcBef>
                <a:spcPts val="400"/>
              </a:spcBef>
              <a:defRPr sz="1100">
                <a:solidFill>
                  <a:srgbClr val="CBD5E1"/>
                </a:solidFill>
                <a:latin typeface="Segoe UI"/>
              </a:defRPr>
            </a:pPr>
            <a:r>
              <a:t>Cause: MongoDB Atlas free tier quotas are easily exhausted by continuous threat feeds.</a:t>
            </a:r>
          </a:p>
          <a:p>
            <a:br/>
            <a:pPr>
              <a:spcBef>
                <a:spcPts val="400"/>
              </a:spcBef>
              <a:defRPr sz="1100">
                <a:solidFill>
                  <a:srgbClr val="CBD5E1"/>
                </a:solidFill>
                <a:latin typeface="Segoe UI"/>
              </a:defRPr>
            </a:pPr>
            <a:r>
              <a:t>Fix: Field name compression (BSON models), automated 30-day index TTL pruning, and a 500MB quota guard that stops DB writes to stream data in-memory only.</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3. CORS Deployment Blocks</a:t>
            </a:r>
          </a:p>
          <a:p>
            <a:pPr>
              <a:spcBef>
                <a:spcPts val="400"/>
              </a:spcBef>
              <a:defRPr sz="1100">
                <a:solidFill>
                  <a:srgbClr val="CBD5E1"/>
                </a:solidFill>
                <a:latin typeface="Segoe UI"/>
              </a:defRPr>
            </a:pPr>
            <a:r>
              <a:t>Cause: Browser security prevents React on localhost/Vercel from reading the API on a separate cloud VM.</a:t>
            </a:r>
          </a:p>
          <a:p>
            <a:br/>
            <a:pPr>
              <a:spcBef>
                <a:spcPts val="400"/>
              </a:spcBef>
              <a:defRPr sz="1100">
                <a:solidFill>
                  <a:srgbClr val="CBD5E1"/>
                </a:solidFill>
                <a:latin typeface="Segoe UI"/>
              </a:defRPr>
            </a:pPr>
            <a:r>
              <a:t>Fix: Implemented Vercel reverse-proxy redirect rules (`vercel.json`), routing all backend API calls through internal paths to bypass CORS headers.</a:t>
            </a:r>
          </a:p>
        </p:txBody>
      </p:sp>
    </p:spTree>
  </p:cSld>
  <p:transition spd="slow">
    <p:fade/>
  </p:transition>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5 — CONCLUSION &amp; PERSPECTIVES</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Future Perspectives &amp; Roadmap</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Kafka Distributed Ingestion</a:t>
            </a:r>
          </a:p>
          <a:p>
            <a:pPr>
              <a:spcBef>
                <a:spcPts val="400"/>
              </a:spcBef>
              <a:defRPr sz="1100">
                <a:solidFill>
                  <a:srgbClr val="CBD5E1"/>
                </a:solidFill>
                <a:latin typeface="Segoe UI"/>
              </a:defRPr>
            </a:pPr>
            <a:r>
              <a:t>Decouple scrapers from the server. Scrapers publish events directly to Apache Kafka topics, and the Express runtime consumes streams from Kafka. This prevents server crashes during high traffic.</a:t>
            </a:r>
          </a:p>
        </p:txBody>
      </p:sp>
      <p:sp>
        <p:nvSpPr>
          <p:cNvPr id="7" name="Rectangle 6"/>
          <p:cNvSpPr/>
          <p:nvPr/>
        </p:nvSpPr>
        <p:spPr>
          <a:xfrm>
            <a:off x="4297680" y="1828800"/>
            <a:ext cx="329184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011680"/>
            <a:ext cx="2926080" cy="3749040"/>
          </a:xfrm>
          <a:prstGeom prst="rect">
            <a:avLst/>
          </a:prstGeom>
          <a:noFill/>
        </p:spPr>
        <p:txBody>
          <a:bodyPr wrap="square" lIns="0" rIns="0" tIns="0" bIns="0">
            <a:spAutoFit/>
          </a:bodyPr>
          <a:lstStyle/>
          <a:p>
            <a:pPr>
              <a:defRPr sz="1400" b="1">
                <a:solidFill>
                  <a:srgbClr val="FFFFFF"/>
                </a:solidFill>
                <a:latin typeface="Segoe UI"/>
              </a:defRPr>
            </a:pPr>
            <a:r>
              <a:t>Predictive ML Extensions</a:t>
            </a:r>
          </a:p>
          <a:p>
            <a:pPr>
              <a:spcBef>
                <a:spcPts val="400"/>
              </a:spcBef>
              <a:defRPr sz="1100">
                <a:solidFill>
                  <a:srgbClr val="CBD5E1"/>
                </a:solidFill>
                <a:latin typeface="Segoe UI"/>
              </a:defRPr>
            </a:pPr>
            <a:r>
              <a:t>Train ML models (LSTM/time-series) on historical threat databases to forecast attack spikes and sector-targeted waves. These predictions can be overlayed as visual heatmaps on the 3D globe.</a:t>
            </a:r>
          </a:p>
        </p:txBody>
      </p:sp>
      <p:sp>
        <p:nvSpPr>
          <p:cNvPr id="9" name="Rectangle 8"/>
          <p:cNvSpPr/>
          <p:nvPr/>
        </p:nvSpPr>
        <p:spPr>
          <a:xfrm>
            <a:off x="7863840" y="1828800"/>
            <a:ext cx="3566160" cy="411480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2011680"/>
            <a:ext cx="3200400" cy="3749040"/>
          </a:xfrm>
          <a:prstGeom prst="rect">
            <a:avLst/>
          </a:prstGeom>
          <a:noFill/>
        </p:spPr>
        <p:txBody>
          <a:bodyPr wrap="square" lIns="0" rIns="0" tIns="0" bIns="0">
            <a:spAutoFit/>
          </a:bodyPr>
          <a:lstStyle/>
          <a:p>
            <a:pPr>
              <a:defRPr sz="1400" b="1">
                <a:solidFill>
                  <a:srgbClr val="FFFFFF"/>
                </a:solidFill>
                <a:latin typeface="Segoe UI"/>
              </a:defRPr>
            </a:pPr>
            <a:r>
              <a:t>Sharded Database Clustering</a:t>
            </a:r>
          </a:p>
          <a:p>
            <a:pPr>
              <a:spcBef>
                <a:spcPts val="400"/>
              </a:spcBef>
              <a:defRPr sz="1100">
                <a:solidFill>
                  <a:srgbClr val="CBD5E1"/>
                </a:solidFill>
                <a:latin typeface="Segoe UI"/>
              </a:defRPr>
            </a:pPr>
            <a:r>
              <a:t>Partition MongoDB clusters geographically by country code. Queries for regional metrics will route only to the corresponding server slice, minimizing indexing latency and scaling indefinitely.</a:t>
            </a:r>
          </a:p>
        </p:txBody>
      </p:sp>
    </p:spTree>
  </p:cSld>
  <p:transition spd="slow">
    <p:fade/>
  </p:transition>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080F"/>
        </a:solidFill>
        <a:effectLst/>
      </p:bgPr>
    </p:bg>
    <p:spTree>
      <p:nvGrpSpPr>
        <p:cNvPr id="1" name=""/>
        <p:cNvGrpSpPr/>
        <p:nvPr/>
      </p:nvGrpSpPr>
      <p:grpSpPr/>
      <p:sp>
        <p:nvSpPr>
          <p:cNvPr id="2" name="TextBox 1"/>
          <p:cNvSpPr txBox="1"/>
          <p:nvPr/>
        </p:nvSpPr>
        <p:spPr>
          <a:xfrm>
            <a:off x="731520" y="365760"/>
            <a:ext cx="10725912" cy="274320"/>
          </a:xfrm>
          <a:prstGeom prst="rect">
            <a:avLst/>
          </a:prstGeom>
          <a:noFill/>
        </p:spPr>
        <p:txBody>
          <a:bodyPr wrap="none" lIns="0" rIns="0" tIns="0" bIns="0">
            <a:spAutoFit/>
          </a:bodyPr>
          <a:lstStyle/>
          <a:p>
            <a:pPr>
              <a:defRPr sz="1100" b="1">
                <a:solidFill>
                  <a:srgbClr val="00F0FF"/>
                </a:solidFill>
                <a:latin typeface="Segoe UI"/>
              </a:defRPr>
            </a:pPr>
            <a:r>
              <a:t>CHAPTER 5 — CONCLUSION &amp; PERSPECTIVES</a:t>
            </a:r>
          </a:p>
        </p:txBody>
      </p:sp>
      <p:sp>
        <p:nvSpPr>
          <p:cNvPr id="3" name="TextBox 2"/>
          <p:cNvSpPr txBox="1"/>
          <p:nvPr/>
        </p:nvSpPr>
        <p:spPr>
          <a:xfrm>
            <a:off x="731520" y="640080"/>
            <a:ext cx="10725912" cy="548640"/>
          </a:xfrm>
          <a:prstGeom prst="rect">
            <a:avLst/>
          </a:prstGeom>
          <a:noFill/>
        </p:spPr>
        <p:txBody>
          <a:bodyPr wrap="none" lIns="0" rIns="0" tIns="0" bIns="0">
            <a:spAutoFit/>
          </a:bodyPr>
          <a:lstStyle/>
          <a:p>
            <a:pPr>
              <a:defRPr sz="2800" b="1">
                <a:solidFill>
                  <a:srgbClr val="FFFFFF"/>
                </a:solidFill>
                <a:latin typeface="Segoe UI"/>
              </a:defRPr>
            </a:pPr>
            <a:r>
              <a:t>General Conclusion</a:t>
            </a:r>
          </a:p>
        </p:txBody>
      </p:sp>
      <p:sp>
        <p:nvSpPr>
          <p:cNvPr id="4" name="Rectangle 3"/>
          <p:cNvSpPr/>
          <p:nvPr/>
        </p:nvSpPr>
        <p:spPr>
          <a:xfrm>
            <a:off x="731520" y="1280160"/>
            <a:ext cx="10725912" cy="18288"/>
          </a:xfrm>
          <a:prstGeom prst="rect">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5029200" cy="384048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663440" cy="3474720"/>
          </a:xfrm>
          <a:prstGeom prst="rect">
            <a:avLst/>
          </a:prstGeom>
          <a:noFill/>
        </p:spPr>
        <p:txBody>
          <a:bodyPr wrap="square" lIns="0" rIns="0" tIns="0" bIns="0">
            <a:spAutoFit/>
          </a:bodyPr>
          <a:lstStyle/>
          <a:p>
            <a:pPr>
              <a:defRPr sz="1400" b="1">
                <a:solidFill>
                  <a:srgbClr val="FFFFFF"/>
                </a:solidFill>
                <a:latin typeface="Segoe UI"/>
              </a:defRPr>
            </a:pPr>
            <a:r>
              <a:t>Technical &amp; Operational Impact</a:t>
            </a:r>
          </a:p>
          <a:p>
            <a:pPr>
              <a:spcBef>
                <a:spcPts val="400"/>
              </a:spcBef>
              <a:defRPr sz="1100">
                <a:solidFill>
                  <a:srgbClr val="CBD5E1"/>
                </a:solidFill>
                <a:latin typeface="Segoe UI"/>
              </a:defRPr>
            </a:pPr>
            <a:r>
              <a:t>• Ingestion &amp; Streaming:</a:t>
            </a:r>
          </a:p>
          <a:p>
            <a:pPr>
              <a:spcBef>
                <a:spcPts val="400"/>
              </a:spcBef>
              <a:defRPr sz="1100">
                <a:solidFill>
                  <a:srgbClr val="CBD5E1"/>
                </a:solidFill>
                <a:latin typeface="Segoe UI"/>
              </a:defRPr>
            </a:pPr>
            <a:r>
              <a:t>Successful integration of 9+ live threat APIs, normalized schema, and high-performance Server-Sent Events stream.</a:t>
            </a:r>
          </a:p>
          <a:p>
            <a:br/>
            <a:pPr>
              <a:spcBef>
                <a:spcPts val="400"/>
              </a:spcBef>
              <a:defRPr sz="1100">
                <a:solidFill>
                  <a:srgbClr val="CBD5E1"/>
                </a:solidFill>
                <a:latin typeface="Segoe UI"/>
              </a:defRPr>
            </a:pPr>
            <a:r>
              <a:t>• 3D WebGL UI Visuals:</a:t>
            </a:r>
          </a:p>
          <a:p>
            <a:pPr>
              <a:spcBef>
                <a:spcPts val="400"/>
              </a:spcBef>
              <a:defRPr sz="1100">
                <a:solidFill>
                  <a:srgbClr val="CBD5E1"/>
                </a:solidFill>
                <a:latin typeface="Segoe UI"/>
              </a:defRPr>
            </a:pPr>
            <a:r>
              <a:t>A premium 60fps interactive Earth showing curved attack vectors, neon outlines, and custom GLSL atmospheric glows.</a:t>
            </a:r>
          </a:p>
          <a:p>
            <a:br/>
            <a:pPr>
              <a:spcBef>
                <a:spcPts val="400"/>
              </a:spcBef>
              <a:defRPr sz="1100">
                <a:solidFill>
                  <a:srgbClr val="CBD5E1"/>
                </a:solidFill>
                <a:latin typeface="Segoe UI"/>
              </a:defRPr>
            </a:pPr>
            <a:r>
              <a:t>• SOC Analyst Efficiency:</a:t>
            </a:r>
          </a:p>
          <a:p>
            <a:pPr>
              <a:spcBef>
                <a:spcPts val="400"/>
              </a:spcBef>
              <a:defRPr sz="1100">
                <a:solidFill>
                  <a:srgbClr val="CBD5E1"/>
                </a:solidFill>
                <a:latin typeface="Segoe UI"/>
              </a:defRPr>
            </a:pPr>
            <a:r>
              <a:t>Reduces compromise dwell time from 200+ days to seconds by replacing spreadsheet lists with high-impact visual spatial coordinates.</a:t>
            </a:r>
          </a:p>
        </p:txBody>
      </p:sp>
      <p:sp>
        <p:nvSpPr>
          <p:cNvPr id="7" name="Rectangle 6"/>
          <p:cNvSpPr/>
          <p:nvPr/>
        </p:nvSpPr>
        <p:spPr>
          <a:xfrm>
            <a:off x="6400800" y="1828800"/>
            <a:ext cx="5029200" cy="3840480"/>
          </a:xfrm>
          <a:prstGeom prst="rect">
            <a:avLst/>
          </a:prstGeom>
          <a:solidFill>
            <a:srgbClr val="111625"/>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011680"/>
            <a:ext cx="4663440" cy="3474720"/>
          </a:xfrm>
          <a:prstGeom prst="rect">
            <a:avLst/>
          </a:prstGeom>
          <a:noFill/>
        </p:spPr>
        <p:txBody>
          <a:bodyPr wrap="square" lIns="0" rIns="0" tIns="0" bIns="0">
            <a:spAutoFit/>
          </a:bodyPr>
          <a:lstStyle/>
          <a:p>
            <a:pPr>
              <a:defRPr sz="1400" b="1">
                <a:solidFill>
                  <a:srgbClr val="FFFFFF"/>
                </a:solidFill>
                <a:latin typeface="Segoe UI"/>
              </a:defRPr>
            </a:pPr>
            <a:r>
              <a:t>Academic &amp; Professional Growth</a:t>
            </a:r>
          </a:p>
          <a:p>
            <a:pPr>
              <a:spcBef>
                <a:spcPts val="400"/>
              </a:spcBef>
              <a:defRPr sz="1100">
                <a:solidFill>
                  <a:srgbClr val="CBD5E1"/>
                </a:solidFill>
                <a:latin typeface="Segoe UI"/>
              </a:defRPr>
            </a:pPr>
            <a:r>
              <a:t>• Agile Scrum Application:</a:t>
            </a:r>
          </a:p>
          <a:p>
            <a:pPr>
              <a:spcBef>
                <a:spcPts val="400"/>
              </a:spcBef>
              <a:defRPr sz="1100">
                <a:solidFill>
                  <a:srgbClr val="CBD5E1"/>
                </a:solidFill>
                <a:latin typeface="Segoe UI"/>
              </a:defRPr>
            </a:pPr>
            <a:r>
              <a:t>Twice-weekly rituals, code merges, story points track, and demonstrable increments delivered at each review.</a:t>
            </a:r>
          </a:p>
          <a:p>
            <a:br/>
            <a:pPr>
              <a:spcBef>
                <a:spcPts val="400"/>
              </a:spcBef>
              <a:defRPr sz="1100">
                <a:solidFill>
                  <a:srgbClr val="CBD5E1"/>
                </a:solidFill>
                <a:latin typeface="Segoe UI"/>
              </a:defRPr>
            </a:pPr>
            <a:r>
              <a:t>• Systems Engineering:</a:t>
            </a:r>
          </a:p>
          <a:p>
            <a:pPr>
              <a:spcBef>
                <a:spcPts val="400"/>
              </a:spcBef>
              <a:defRPr sz="1100">
                <a:solidFill>
                  <a:srgbClr val="CBD5E1"/>
                </a:solidFill>
                <a:latin typeface="Segoe UI"/>
              </a:defRPr>
            </a:pPr>
            <a:r>
              <a:t>Applied rigorous architectural structures, state store abstractions, and database optimization strategies.</a:t>
            </a:r>
          </a:p>
          <a:p>
            <a:br/>
            <a:pPr>
              <a:spcBef>
                <a:spcPts val="400"/>
              </a:spcBef>
              <a:defRPr sz="1100">
                <a:solidFill>
                  <a:srgbClr val="CBD5E1"/>
                </a:solidFill>
                <a:latin typeface="Segoe UI"/>
              </a:defRPr>
            </a:pPr>
            <a:r>
              <a:t>• Cybersecurity Focus:</a:t>
            </a:r>
          </a:p>
          <a:p>
            <a:pPr>
              <a:spcBef>
                <a:spcPts val="400"/>
              </a:spcBef>
              <a:defRPr sz="1100">
                <a:solidFill>
                  <a:srgbClr val="CBD5E1"/>
                </a:solidFill>
                <a:latin typeface="Segoe UI"/>
              </a:defRPr>
            </a:pPr>
            <a:r>
              <a:t>Deep study of Indicator of Compromise (IOC) types, STIX 2.1 schemas, and MITRE ATT&amp;CK kill chain matrices.</a:t>
            </a:r>
          </a:p>
        </p:txBody>
      </p:sp>
      <p:sp>
        <p:nvSpPr>
          <p:cNvPr id="9" name="Rectangle 8"/>
          <p:cNvSpPr/>
          <p:nvPr/>
        </p:nvSpPr>
        <p:spPr>
          <a:xfrm>
            <a:off x="731520" y="5852160"/>
            <a:ext cx="10725912" cy="548640"/>
          </a:xfrm>
          <a:prstGeom prst="rect">
            <a:avLst/>
          </a:prstGeom>
          <a:solidFill>
            <a:srgbClr val="111625"/>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Thank You for Your Attention  —  Questions Welcome</a:t>
            </a:r>
          </a:p>
        </p:txBody>
      </p:sp>
    </p:spTree>
  </p:cSld>
  <p:transition spd="slow">
    <p:fade/>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