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embeddedFontLst>
    <p:embeddedFont>
      <p:font typeface="Consolas" panose="020B0609020204030204" pitchFamily="49" charset="0"/>
      <p:regular r:id="rId29"/>
      <p:bold r:id="rId30"/>
      <p:italic r:id="rId31"/>
      <p:boldItalic r:id="rId32"/>
    </p:embeddedFont>
    <p:embeddedFont>
      <p:font typeface="Corben" panose="020B0604020202020204" charset="0"/>
      <p:regular r:id="rId33"/>
    </p:embeddedFont>
    <p:embeddedFont>
      <p:font typeface="Nobile" panose="020B0604020202020204" charset="0"/>
      <p:regular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50" d="100"/>
          <a:sy n="150" d="100"/>
        </p:scale>
        <p:origin x="4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405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txBody>
          <a:bodyPr/>
          <a:lstStyle/>
          <a:p>
            <a:endParaRPr lang="fr-T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960760"/>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Predictra Threat Map</a:t>
            </a:r>
            <a:endParaRPr lang="en-US" sz="2400" dirty="0"/>
          </a:p>
        </p:txBody>
      </p:sp>
      <p:sp>
        <p:nvSpPr>
          <p:cNvPr id="3" name="Text 1"/>
          <p:cNvSpPr/>
          <p:nvPr/>
        </p:nvSpPr>
        <p:spPr>
          <a:xfrm>
            <a:off x="496119" y="1596330"/>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Design and Development of a Real-Time Spatialized Threat Intelligence Visualization Platform</a:t>
            </a:r>
            <a:endParaRPr lang="en-US" sz="950" dirty="0"/>
          </a:p>
        </p:txBody>
      </p:sp>
      <p:sp>
        <p:nvSpPr>
          <p:cNvPr id="4" name="Shape 2"/>
          <p:cNvSpPr/>
          <p:nvPr/>
        </p:nvSpPr>
        <p:spPr>
          <a:xfrm>
            <a:off x="496119" y="1934319"/>
            <a:ext cx="4013895" cy="724198"/>
          </a:xfrm>
          <a:prstGeom prst="roundRect">
            <a:avLst>
              <a:gd name="adj" fmla="val 7194"/>
            </a:avLst>
          </a:prstGeom>
          <a:solidFill>
            <a:srgbClr val="D2D9F9"/>
          </a:solidFill>
          <a:ln w="4763">
            <a:solidFill>
              <a:srgbClr val="B8BFDF"/>
            </a:solidFill>
            <a:prstDash val="solid"/>
          </a:ln>
        </p:spPr>
        <p:txBody>
          <a:bodyPr/>
          <a:lstStyle/>
          <a:p>
            <a:endParaRPr lang="fr-TN"/>
          </a:p>
        </p:txBody>
      </p:sp>
      <p:sp>
        <p:nvSpPr>
          <p:cNvPr id="5" name="Text 3"/>
          <p:cNvSpPr/>
          <p:nvPr/>
        </p:nvSpPr>
        <p:spPr>
          <a:xfrm>
            <a:off x="624855" y="206305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Authors</a:t>
            </a:r>
            <a:endParaRPr lang="en-US" sz="1200" dirty="0"/>
          </a:p>
        </p:txBody>
      </p:sp>
      <p:sp>
        <p:nvSpPr>
          <p:cNvPr id="6" name="Text 4"/>
          <p:cNvSpPr/>
          <p:nvPr/>
        </p:nvSpPr>
        <p:spPr>
          <a:xfrm>
            <a:off x="624855" y="2331318"/>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Brahim JABALLI &amp; Chiheb AMRI</a:t>
            </a:r>
            <a:endParaRPr lang="en-US" sz="950" dirty="0"/>
          </a:p>
        </p:txBody>
      </p:sp>
      <p:sp>
        <p:nvSpPr>
          <p:cNvPr id="7" name="Shape 5"/>
          <p:cNvSpPr/>
          <p:nvPr/>
        </p:nvSpPr>
        <p:spPr>
          <a:xfrm>
            <a:off x="4633987" y="1934319"/>
            <a:ext cx="4013895" cy="724198"/>
          </a:xfrm>
          <a:prstGeom prst="roundRect">
            <a:avLst>
              <a:gd name="adj" fmla="val 7194"/>
            </a:avLst>
          </a:prstGeom>
          <a:solidFill>
            <a:srgbClr val="D2D9F9"/>
          </a:solidFill>
          <a:ln w="4763">
            <a:solidFill>
              <a:srgbClr val="B8BFDF"/>
            </a:solidFill>
            <a:prstDash val="solid"/>
          </a:ln>
        </p:spPr>
        <p:txBody>
          <a:bodyPr/>
          <a:lstStyle/>
          <a:p>
            <a:endParaRPr lang="fr-TN"/>
          </a:p>
        </p:txBody>
      </p:sp>
      <p:sp>
        <p:nvSpPr>
          <p:cNvPr id="8" name="Text 6"/>
          <p:cNvSpPr/>
          <p:nvPr/>
        </p:nvSpPr>
        <p:spPr>
          <a:xfrm>
            <a:off x="4762723" y="206305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Supervisor</a:t>
            </a:r>
            <a:endParaRPr lang="en-US" sz="1200" dirty="0"/>
          </a:p>
        </p:txBody>
      </p:sp>
      <p:sp>
        <p:nvSpPr>
          <p:cNvPr id="9" name="Text 7"/>
          <p:cNvSpPr/>
          <p:nvPr/>
        </p:nvSpPr>
        <p:spPr>
          <a:xfrm>
            <a:off x="4762723" y="2331318"/>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Mr. Anis DHAHRI — ISET Gafsa</a:t>
            </a:r>
            <a:endParaRPr lang="en-US" sz="950" dirty="0"/>
          </a:p>
        </p:txBody>
      </p:sp>
      <p:sp>
        <p:nvSpPr>
          <p:cNvPr id="10" name="Shape 8"/>
          <p:cNvSpPr/>
          <p:nvPr/>
        </p:nvSpPr>
        <p:spPr>
          <a:xfrm>
            <a:off x="496119" y="2782491"/>
            <a:ext cx="4013895" cy="724198"/>
          </a:xfrm>
          <a:prstGeom prst="roundRect">
            <a:avLst>
              <a:gd name="adj" fmla="val 7194"/>
            </a:avLst>
          </a:prstGeom>
          <a:solidFill>
            <a:srgbClr val="D2D9F9"/>
          </a:solidFill>
          <a:ln w="4763">
            <a:solidFill>
              <a:srgbClr val="B8BFDF"/>
            </a:solidFill>
            <a:prstDash val="solid"/>
          </a:ln>
        </p:spPr>
        <p:txBody>
          <a:bodyPr/>
          <a:lstStyle/>
          <a:p>
            <a:endParaRPr lang="fr-TN"/>
          </a:p>
        </p:txBody>
      </p:sp>
      <p:sp>
        <p:nvSpPr>
          <p:cNvPr id="11" name="Text 9"/>
          <p:cNvSpPr/>
          <p:nvPr/>
        </p:nvSpPr>
        <p:spPr>
          <a:xfrm>
            <a:off x="624855" y="29112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Host Company</a:t>
            </a:r>
            <a:endParaRPr lang="en-US" sz="1200" dirty="0"/>
          </a:p>
        </p:txBody>
      </p:sp>
      <p:sp>
        <p:nvSpPr>
          <p:cNvPr id="12" name="Text 10"/>
          <p:cNvSpPr/>
          <p:nvPr/>
        </p:nvSpPr>
        <p:spPr>
          <a:xfrm>
            <a:off x="624855" y="3179490"/>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Predictra Cybersecurity</a:t>
            </a:r>
            <a:endParaRPr lang="en-US" sz="950" dirty="0"/>
          </a:p>
        </p:txBody>
      </p:sp>
      <p:sp>
        <p:nvSpPr>
          <p:cNvPr id="13" name="Shape 11"/>
          <p:cNvSpPr/>
          <p:nvPr/>
        </p:nvSpPr>
        <p:spPr>
          <a:xfrm>
            <a:off x="4633987" y="2782491"/>
            <a:ext cx="4013895" cy="724198"/>
          </a:xfrm>
          <a:prstGeom prst="roundRect">
            <a:avLst>
              <a:gd name="adj" fmla="val 7194"/>
            </a:avLst>
          </a:prstGeom>
          <a:solidFill>
            <a:srgbClr val="D2D9F9"/>
          </a:solidFill>
          <a:ln w="4763">
            <a:solidFill>
              <a:srgbClr val="B8BFDF"/>
            </a:solidFill>
            <a:prstDash val="solid"/>
          </a:ln>
        </p:spPr>
        <p:txBody>
          <a:bodyPr/>
          <a:lstStyle/>
          <a:p>
            <a:endParaRPr lang="fr-TN"/>
          </a:p>
        </p:txBody>
      </p:sp>
      <p:sp>
        <p:nvSpPr>
          <p:cNvPr id="14" name="Text 12"/>
          <p:cNvSpPr/>
          <p:nvPr/>
        </p:nvSpPr>
        <p:spPr>
          <a:xfrm>
            <a:off x="4762723" y="2911227"/>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Academic Year</a:t>
            </a:r>
            <a:endParaRPr lang="en-US" sz="1200" dirty="0"/>
          </a:p>
        </p:txBody>
      </p:sp>
      <p:sp>
        <p:nvSpPr>
          <p:cNvPr id="15" name="Text 13"/>
          <p:cNvSpPr/>
          <p:nvPr/>
        </p:nvSpPr>
        <p:spPr>
          <a:xfrm>
            <a:off x="4762723" y="3179490"/>
            <a:ext cx="3756422"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2025 / 2026</a:t>
            </a:r>
            <a:endParaRPr lang="en-US" sz="950" dirty="0"/>
          </a:p>
        </p:txBody>
      </p:sp>
      <p:sp>
        <p:nvSpPr>
          <p:cNvPr id="16" name="Text 14"/>
          <p:cNvSpPr/>
          <p:nvPr/>
        </p:nvSpPr>
        <p:spPr>
          <a:xfrm>
            <a:off x="496119" y="3646215"/>
            <a:ext cx="8151763" cy="536451"/>
          </a:xfrm>
          <a:prstGeom prst="rect">
            <a:avLst/>
          </a:prstGeom>
          <a:noFill/>
          <a:ln/>
        </p:spPr>
        <p:txBody>
          <a:bodyPr wrap="square" lIns="0" tIns="0" rIns="0" bIns="0" rtlCol="0" anchor="t"/>
          <a:lstStyle/>
          <a:p>
            <a:pPr marL="0" indent="0" algn="l">
              <a:lnSpc>
                <a:spcPct val="133000"/>
              </a:lnSpc>
              <a:spcAft>
                <a:spcPts val="1050"/>
              </a:spcAft>
              <a:buNone/>
            </a:pPr>
            <a:r>
              <a:rPr lang="en-US" sz="950" i="1" dirty="0">
                <a:solidFill>
                  <a:srgbClr val="404155"/>
                </a:solidFill>
                <a:latin typeface="Nobile" pitchFamily="34" charset="0"/>
                <a:ea typeface="Nobile" pitchFamily="34" charset="-122"/>
                <a:cs typeface="Nobile" pitchFamily="34" charset="-120"/>
              </a:rPr>
              <a:t>PFE — Bachelor's Degree in Information Technology · Option: Computer System Development · ISET Gafsa</a:t>
            </a:r>
            <a:endParaRPr lang="en-US" sz="950" dirty="0"/>
          </a:p>
          <a:p>
            <a:pPr marL="0" indent="0" algn="l">
              <a:lnSpc>
                <a:spcPct val="133000"/>
              </a:lnSpc>
              <a:buNone/>
            </a:pPr>
            <a:r>
              <a:rPr lang="en-US" sz="950" b="1" dirty="0">
                <a:solidFill>
                  <a:srgbClr val="404155"/>
                </a:solidFill>
                <a:latin typeface="Nobile" pitchFamily="34" charset="0"/>
                <a:ea typeface="Nobile" pitchFamily="34" charset="-122"/>
                <a:cs typeface="Nobile" pitchFamily="34" charset="-120"/>
              </a:rPr>
              <a:t>Jury:</a:t>
            </a:r>
            <a:r>
              <a:rPr lang="en-US" sz="950" dirty="0">
                <a:solidFill>
                  <a:srgbClr val="404155"/>
                </a:solidFill>
                <a:latin typeface="Nobile" pitchFamily="34" charset="0"/>
                <a:ea typeface="Nobile" pitchFamily="34" charset="-122"/>
                <a:cs typeface="Nobile" pitchFamily="34" charset="-120"/>
              </a:rPr>
              <a:t> Ms. Hadhami ISSAOUI (President) · Mr. Walid HAMMEMI (Reporter)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54509"/>
            <a:ext cx="3170709" cy="339179"/>
          </a:xfrm>
          <a:prstGeom prst="rect">
            <a:avLst/>
          </a:prstGeom>
          <a:noFill/>
          <a:ln/>
        </p:spPr>
        <p:txBody>
          <a:bodyPr wrap="none" lIns="0" tIns="0" rIns="0" bIns="0" rtlCol="0" anchor="t"/>
          <a:lstStyle/>
          <a:p>
            <a:pPr marL="0" indent="0" algn="l">
              <a:lnSpc>
                <a:spcPct val="104000"/>
              </a:lnSpc>
              <a:buNone/>
            </a:pPr>
            <a:r>
              <a:rPr lang="en-US" sz="2100" dirty="0">
                <a:solidFill>
                  <a:srgbClr val="1B1B27"/>
                </a:solidFill>
                <a:latin typeface="Corben" pitchFamily="34" charset="0"/>
                <a:ea typeface="Corben" pitchFamily="34" charset="-122"/>
                <a:cs typeface="Corben" pitchFamily="34" charset="-120"/>
              </a:rPr>
              <a:t>Presentation Outline</a:t>
            </a:r>
            <a:endParaRPr lang="en-US" sz="2100" dirty="0"/>
          </a:p>
        </p:txBody>
      </p:sp>
      <p:sp>
        <p:nvSpPr>
          <p:cNvPr id="3" name="Text 1"/>
          <p:cNvSpPr/>
          <p:nvPr/>
        </p:nvSpPr>
        <p:spPr>
          <a:xfrm>
            <a:off x="496119" y="883593"/>
            <a:ext cx="8608963"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A structured journey from problem definition to full platform realization.</a:t>
            </a:r>
            <a:endParaRPr lang="en-US" sz="8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153195"/>
            <a:ext cx="8151763" cy="651197"/>
          </a:xfrm>
          <a:prstGeom prst="rect">
            <a:avLst/>
          </a:prstGeom>
        </p:spPr>
      </p:pic>
      <p:sp>
        <p:nvSpPr>
          <p:cNvPr id="5" name="Text 2"/>
          <p:cNvSpPr/>
          <p:nvPr/>
        </p:nvSpPr>
        <p:spPr>
          <a:xfrm>
            <a:off x="643682" y="1377032"/>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404155"/>
                </a:solidFill>
                <a:latin typeface="Corben" pitchFamily="34" charset="0"/>
                <a:ea typeface="Corben" pitchFamily="34" charset="-122"/>
                <a:cs typeface="Corben" pitchFamily="34" charset="-120"/>
              </a:rPr>
              <a:t>1</a:t>
            </a:r>
            <a:endParaRPr lang="en-US" sz="1250" dirty="0"/>
          </a:p>
        </p:txBody>
      </p:sp>
      <p:sp>
        <p:nvSpPr>
          <p:cNvPr id="6" name="Text 3"/>
          <p:cNvSpPr/>
          <p:nvPr/>
        </p:nvSpPr>
        <p:spPr>
          <a:xfrm>
            <a:off x="1039490" y="1275978"/>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Introduction</a:t>
            </a:r>
            <a:endParaRPr lang="en-US" sz="1050" dirty="0"/>
          </a:p>
        </p:txBody>
      </p:sp>
      <p:sp>
        <p:nvSpPr>
          <p:cNvPr id="7" name="Text 4"/>
          <p:cNvSpPr/>
          <p:nvPr/>
        </p:nvSpPr>
        <p:spPr>
          <a:xfrm>
            <a:off x="1039490" y="1502420"/>
            <a:ext cx="7485608"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Global cybersecurity landscape, threat evolution, and project motivation.</a:t>
            </a:r>
            <a:endParaRPr lang="en-US" sz="8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899345"/>
            <a:ext cx="8151763" cy="651197"/>
          </a:xfrm>
          <a:prstGeom prst="rect">
            <a:avLst/>
          </a:prstGeom>
        </p:spPr>
      </p:pic>
      <p:sp>
        <p:nvSpPr>
          <p:cNvPr id="9" name="Text 5"/>
          <p:cNvSpPr/>
          <p:nvPr/>
        </p:nvSpPr>
        <p:spPr>
          <a:xfrm>
            <a:off x="643682" y="2123182"/>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404155"/>
                </a:solidFill>
                <a:latin typeface="Corben" pitchFamily="34" charset="0"/>
                <a:ea typeface="Corben" pitchFamily="34" charset="-122"/>
                <a:cs typeface="Corben" pitchFamily="34" charset="-120"/>
              </a:rPr>
              <a:t>2</a:t>
            </a:r>
            <a:endParaRPr lang="en-US" sz="1250" dirty="0"/>
          </a:p>
        </p:txBody>
      </p:sp>
      <p:sp>
        <p:nvSpPr>
          <p:cNvPr id="10" name="Text 6"/>
          <p:cNvSpPr/>
          <p:nvPr/>
        </p:nvSpPr>
        <p:spPr>
          <a:xfrm>
            <a:off x="1039490" y="2022128"/>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Pre-Study</a:t>
            </a:r>
            <a:endParaRPr lang="en-US" sz="1050" dirty="0"/>
          </a:p>
        </p:txBody>
      </p:sp>
      <p:sp>
        <p:nvSpPr>
          <p:cNvPr id="11" name="Text 7"/>
          <p:cNvSpPr/>
          <p:nvPr/>
        </p:nvSpPr>
        <p:spPr>
          <a:xfrm>
            <a:off x="1039490" y="2248570"/>
            <a:ext cx="7485608"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Host profile (Predictra), project context, problematic, proposed solution, and Agile Scrum methodology.</a:t>
            </a:r>
            <a:endParaRPr lang="en-US" sz="8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645494"/>
            <a:ext cx="8151763" cy="651197"/>
          </a:xfrm>
          <a:prstGeom prst="rect">
            <a:avLst/>
          </a:prstGeom>
        </p:spPr>
      </p:pic>
      <p:sp>
        <p:nvSpPr>
          <p:cNvPr id="13" name="Text 8"/>
          <p:cNvSpPr/>
          <p:nvPr/>
        </p:nvSpPr>
        <p:spPr>
          <a:xfrm>
            <a:off x="643682" y="2869332"/>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404155"/>
                </a:solidFill>
                <a:latin typeface="Corben" pitchFamily="34" charset="0"/>
                <a:ea typeface="Corben" pitchFamily="34" charset="-122"/>
                <a:cs typeface="Corben" pitchFamily="34" charset="-120"/>
              </a:rPr>
              <a:t>3</a:t>
            </a:r>
            <a:endParaRPr lang="en-US" sz="1250" dirty="0"/>
          </a:p>
        </p:txBody>
      </p:sp>
      <p:sp>
        <p:nvSpPr>
          <p:cNvPr id="14" name="Text 9"/>
          <p:cNvSpPr/>
          <p:nvPr/>
        </p:nvSpPr>
        <p:spPr>
          <a:xfrm>
            <a:off x="1039490" y="2768278"/>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Conceptual Study</a:t>
            </a:r>
            <a:endParaRPr lang="en-US" sz="1050" dirty="0"/>
          </a:p>
        </p:txBody>
      </p:sp>
      <p:sp>
        <p:nvSpPr>
          <p:cNvPr id="15" name="Text 10"/>
          <p:cNvSpPr/>
          <p:nvPr/>
        </p:nvSpPr>
        <p:spPr>
          <a:xfrm>
            <a:off x="1039490" y="2994720"/>
            <a:ext cx="7485608"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Actors, functional &amp; non-functional requirements, UML use cases, tech stack, and system architecture.</a:t>
            </a:r>
            <a:endParaRPr lang="en-US" sz="8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391644"/>
            <a:ext cx="8151763" cy="651197"/>
          </a:xfrm>
          <a:prstGeom prst="rect">
            <a:avLst/>
          </a:prstGeom>
        </p:spPr>
      </p:pic>
      <p:sp>
        <p:nvSpPr>
          <p:cNvPr id="17" name="Text 11"/>
          <p:cNvSpPr/>
          <p:nvPr/>
        </p:nvSpPr>
        <p:spPr>
          <a:xfrm>
            <a:off x="643682" y="3615482"/>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404155"/>
                </a:solidFill>
                <a:latin typeface="Corben" pitchFamily="34" charset="0"/>
                <a:ea typeface="Corben" pitchFamily="34" charset="-122"/>
                <a:cs typeface="Corben" pitchFamily="34" charset="-120"/>
              </a:rPr>
              <a:t>4</a:t>
            </a:r>
            <a:endParaRPr lang="en-US" sz="1250" dirty="0"/>
          </a:p>
        </p:txBody>
      </p:sp>
      <p:sp>
        <p:nvSpPr>
          <p:cNvPr id="18" name="Text 12"/>
          <p:cNvSpPr/>
          <p:nvPr/>
        </p:nvSpPr>
        <p:spPr>
          <a:xfrm>
            <a:off x="1039490" y="3514427"/>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Realization</a:t>
            </a:r>
            <a:endParaRPr lang="en-US" sz="1050" dirty="0"/>
          </a:p>
        </p:txBody>
      </p:sp>
      <p:sp>
        <p:nvSpPr>
          <p:cNvPr id="19" name="Text 13"/>
          <p:cNvSpPr/>
          <p:nvPr/>
        </p:nvSpPr>
        <p:spPr>
          <a:xfrm>
            <a:off x="1039490" y="3740869"/>
            <a:ext cx="7485608"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Detailed Sprints 1–4: backlogs, UML diagrams, scraper implementations, and UI dashboards.</a:t>
            </a:r>
            <a:endParaRPr lang="en-US" sz="85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4137794"/>
            <a:ext cx="8151763" cy="651197"/>
          </a:xfrm>
          <a:prstGeom prst="rect">
            <a:avLst/>
          </a:prstGeom>
        </p:spPr>
      </p:pic>
      <p:sp>
        <p:nvSpPr>
          <p:cNvPr id="21" name="Text 14"/>
          <p:cNvSpPr/>
          <p:nvPr/>
        </p:nvSpPr>
        <p:spPr>
          <a:xfrm>
            <a:off x="643682" y="4361631"/>
            <a:ext cx="162744" cy="203448"/>
          </a:xfrm>
          <a:prstGeom prst="rect">
            <a:avLst/>
          </a:prstGeom>
          <a:noFill/>
          <a:ln/>
        </p:spPr>
        <p:txBody>
          <a:bodyPr wrap="none" lIns="0" tIns="0" rIns="0" bIns="0" rtlCol="0" anchor="ctr"/>
          <a:lstStyle/>
          <a:p>
            <a:pPr marL="0" indent="0" algn="ctr">
              <a:lnSpc>
                <a:spcPct val="100000"/>
              </a:lnSpc>
              <a:buNone/>
            </a:pPr>
            <a:r>
              <a:rPr lang="en-US" sz="1250" dirty="0">
                <a:solidFill>
                  <a:srgbClr val="404155"/>
                </a:solidFill>
                <a:latin typeface="Corben" pitchFamily="34" charset="0"/>
                <a:ea typeface="Corben" pitchFamily="34" charset="-122"/>
                <a:cs typeface="Corben" pitchFamily="34" charset="-120"/>
              </a:rPr>
              <a:t>5</a:t>
            </a:r>
            <a:endParaRPr lang="en-US" sz="1250" dirty="0"/>
          </a:p>
        </p:txBody>
      </p:sp>
      <p:sp>
        <p:nvSpPr>
          <p:cNvPr id="22" name="Text 15"/>
          <p:cNvSpPr/>
          <p:nvPr/>
        </p:nvSpPr>
        <p:spPr>
          <a:xfrm>
            <a:off x="1039490" y="4260577"/>
            <a:ext cx="1683246"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Conclusion &amp; Perspectives</a:t>
            </a:r>
            <a:endParaRPr lang="en-US" sz="1050" dirty="0"/>
          </a:p>
        </p:txBody>
      </p:sp>
      <p:sp>
        <p:nvSpPr>
          <p:cNvPr id="23" name="Text 16"/>
          <p:cNvSpPr/>
          <p:nvPr/>
        </p:nvSpPr>
        <p:spPr>
          <a:xfrm>
            <a:off x="1039490" y="4487019"/>
            <a:ext cx="7485608" cy="162818"/>
          </a:xfrm>
          <a:prstGeom prst="rect">
            <a:avLst/>
          </a:prstGeom>
          <a:noFill/>
          <a:ln/>
        </p:spPr>
        <p:txBody>
          <a:bodyPr wrap="none" lIns="0" tIns="0" rIns="0" bIns="0" rtlCol="0" anchor="t"/>
          <a:lstStyle/>
          <a:p>
            <a:pPr marL="0" indent="0" algn="l">
              <a:lnSpc>
                <a:spcPct val="125000"/>
              </a:lnSpc>
              <a:buNone/>
            </a:pPr>
            <a:r>
              <a:rPr lang="en-US" sz="850" dirty="0">
                <a:solidFill>
                  <a:srgbClr val="404155"/>
                </a:solidFill>
                <a:latin typeface="Nobile" pitchFamily="34" charset="0"/>
                <a:ea typeface="Nobile" pitchFamily="34" charset="-122"/>
                <a:cs typeface="Nobile" pitchFamily="34" charset="-120"/>
              </a:rPr>
              <a:t>Achievements, retrospective, and future scalability roadmap.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993502"/>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General Introduction</a:t>
            </a:r>
            <a:endParaRPr lang="en-US" sz="2400" dirty="0"/>
          </a:p>
        </p:txBody>
      </p:sp>
      <p:sp>
        <p:nvSpPr>
          <p:cNvPr id="3" name="Text 1"/>
          <p:cNvSpPr/>
          <p:nvPr/>
        </p:nvSpPr>
        <p:spPr>
          <a:xfrm>
            <a:off x="496119" y="1691060"/>
            <a:ext cx="2301701"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Expanded Attack Surface</a:t>
            </a:r>
            <a:endParaRPr lang="en-US" sz="1200" dirty="0"/>
          </a:p>
        </p:txBody>
      </p:sp>
      <p:sp>
        <p:nvSpPr>
          <p:cNvPr id="4" name="Text 2"/>
          <p:cNvSpPr/>
          <p:nvPr/>
        </p:nvSpPr>
        <p:spPr>
          <a:xfrm>
            <a:off x="496119" y="2008882"/>
            <a:ext cx="392459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The hyper-connectivity of corporate networks, cloud platforms, and critical infrastructures has created an unprecedented and volatile attack surface. Modern organizations rely entirely on software and network availability, making them highly attractive targets.</a:t>
            </a:r>
            <a:endParaRPr lang="en-US" sz="950" dirty="0"/>
          </a:p>
        </p:txBody>
      </p:sp>
      <p:sp>
        <p:nvSpPr>
          <p:cNvPr id="5" name="Text 3"/>
          <p:cNvSpPr/>
          <p:nvPr/>
        </p:nvSpPr>
        <p:spPr>
          <a:xfrm>
            <a:off x="496119" y="3125167"/>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Evolved Adversaries</a:t>
            </a:r>
            <a:endParaRPr lang="en-US" sz="1200" dirty="0"/>
          </a:p>
        </p:txBody>
      </p:sp>
      <p:sp>
        <p:nvSpPr>
          <p:cNvPr id="6" name="Text 4"/>
          <p:cNvSpPr/>
          <p:nvPr/>
        </p:nvSpPr>
        <p:spPr>
          <a:xfrm>
            <a:off x="496119" y="3442990"/>
            <a:ext cx="392459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Threat actors have evolved from opportunistic scripts into highly coordinated campaigns — ransomware cartels, nation-state APTs, and hacktivists launching disruptive operations at scale.</a:t>
            </a:r>
            <a:endParaRPr lang="en-US" sz="950" dirty="0"/>
          </a:p>
        </p:txBody>
      </p:sp>
      <p:sp>
        <p:nvSpPr>
          <p:cNvPr id="7" name="Shape 5"/>
          <p:cNvSpPr/>
          <p:nvPr/>
        </p:nvSpPr>
        <p:spPr>
          <a:xfrm>
            <a:off x="4728046" y="1706612"/>
            <a:ext cx="3924598" cy="880542"/>
          </a:xfrm>
          <a:prstGeom prst="roundRect">
            <a:avLst>
              <a:gd name="adj" fmla="val 5917"/>
            </a:avLst>
          </a:prstGeom>
          <a:solidFill>
            <a:srgbClr val="FCF2B5"/>
          </a:solidFill>
          <a:ln/>
        </p:spPr>
        <p:txBody>
          <a:bodyPr/>
          <a:lstStyle/>
          <a:p>
            <a:endParaRPr lang="fr-TN"/>
          </a:p>
        </p:txBody>
      </p:sp>
      <p:pic>
        <p:nvPicPr>
          <p:cNvPr id="8" name="Image 0" descr="preencoded.png"/>
          <p:cNvPicPr>
            <a:picLocks noChangeAspect="1"/>
          </p:cNvPicPr>
          <p:nvPr/>
        </p:nvPicPr>
        <p:blipFill>
          <a:blip r:embed="rId3"/>
          <a:stretch>
            <a:fillRect/>
          </a:stretch>
        </p:blipFill>
        <p:spPr>
          <a:xfrm>
            <a:off x="4852020" y="1886396"/>
            <a:ext cx="155004" cy="123974"/>
          </a:xfrm>
          <a:prstGeom prst="rect">
            <a:avLst/>
          </a:prstGeom>
        </p:spPr>
      </p:pic>
      <p:sp>
        <p:nvSpPr>
          <p:cNvPr id="9" name="Text 6"/>
          <p:cNvSpPr/>
          <p:nvPr/>
        </p:nvSpPr>
        <p:spPr>
          <a:xfrm>
            <a:off x="5130998" y="1849189"/>
            <a:ext cx="3397672" cy="595387"/>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000000"/>
                </a:solidFill>
                <a:latin typeface="Nobile" pitchFamily="34" charset="0"/>
                <a:ea typeface="Nobile" pitchFamily="34" charset="-122"/>
                <a:cs typeface="Nobile" pitchFamily="34" charset="-120"/>
              </a:rPr>
              <a:t>Sun Tzu, The Art of War:</a:t>
            </a:r>
            <a:r>
              <a:rPr lang="en-US" sz="950" dirty="0">
                <a:solidFill>
                  <a:srgbClr val="000000"/>
                </a:solidFill>
                <a:latin typeface="Nobile" pitchFamily="34" charset="0"/>
                <a:ea typeface="Nobile" pitchFamily="34" charset="-122"/>
                <a:cs typeface="Nobile" pitchFamily="34" charset="-120"/>
              </a:rPr>
              <a:t> "If you know the enemy and know yourself, you need not fear the result of a hundred battles." </a:t>
            </a:r>
            <a:endParaRPr lang="en-US" sz="950" dirty="0"/>
          </a:p>
        </p:txBody>
      </p:sp>
      <p:sp>
        <p:nvSpPr>
          <p:cNvPr id="10" name="Text 7"/>
          <p:cNvSpPr/>
          <p:nvPr/>
        </p:nvSpPr>
        <p:spPr>
          <a:xfrm>
            <a:off x="4728046" y="2726680"/>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Shift to Proactivity</a:t>
            </a:r>
            <a:endParaRPr lang="en-US" sz="1200" dirty="0"/>
          </a:p>
        </p:txBody>
      </p:sp>
      <p:sp>
        <p:nvSpPr>
          <p:cNvPr id="11" name="Text 8"/>
          <p:cNvSpPr/>
          <p:nvPr/>
        </p:nvSpPr>
        <p:spPr>
          <a:xfrm>
            <a:off x="4728046" y="3044503"/>
            <a:ext cx="392459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Traditional perimeter defenses — firewalls and antivirus — are no longer sufficient. Organizations must transition from reactive incident response to </a:t>
            </a:r>
            <a:r>
              <a:rPr lang="en-US" sz="950" b="1" dirty="0">
                <a:solidFill>
                  <a:srgbClr val="404155"/>
                </a:solidFill>
                <a:latin typeface="Nobile" pitchFamily="34" charset="0"/>
                <a:ea typeface="Nobile" pitchFamily="34" charset="-122"/>
                <a:cs typeface="Nobile" pitchFamily="34" charset="-120"/>
              </a:rPr>
              <a:t>proactive threat intelligence</a:t>
            </a:r>
            <a:r>
              <a:rPr lang="en-US" sz="950" dirty="0">
                <a:solidFill>
                  <a:srgbClr val="404155"/>
                </a:solidFill>
                <a:latin typeface="Nobile" pitchFamily="34" charset="0"/>
                <a:ea typeface="Nobile" pitchFamily="34" charset="-122"/>
                <a:cs typeface="Nobile" pitchFamily="34" charset="-120"/>
              </a:rPr>
              <a:t>, gaining external visibility into adversary infrastructure before breaches occur.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72814"/>
            <a:ext cx="1342430"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410021"/>
            <a:ext cx="1650802"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1 — PRE-STUDY</a:t>
            </a:r>
            <a:endParaRPr lang="en-US" sz="750" dirty="0"/>
          </a:p>
        </p:txBody>
      </p:sp>
      <p:sp>
        <p:nvSpPr>
          <p:cNvPr id="4" name="Text 2"/>
          <p:cNvSpPr/>
          <p:nvPr/>
        </p:nvSpPr>
        <p:spPr>
          <a:xfrm>
            <a:off x="496119" y="655588"/>
            <a:ext cx="5774978"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Project Context &amp; Host Organization</a:t>
            </a:r>
            <a:endParaRPr lang="en-US" sz="2400" dirty="0"/>
          </a:p>
        </p:txBody>
      </p:sp>
      <p:pic>
        <p:nvPicPr>
          <p:cNvPr id="5" name="Image 0" descr="preencoded.png"/>
          <p:cNvPicPr>
            <a:picLocks noChangeAspect="1"/>
          </p:cNvPicPr>
          <p:nvPr/>
        </p:nvPicPr>
        <p:blipFill>
          <a:blip r:embed="rId3"/>
          <a:stretch>
            <a:fillRect/>
          </a:stretch>
        </p:blipFill>
        <p:spPr>
          <a:xfrm>
            <a:off x="496119" y="1229171"/>
            <a:ext cx="5186660" cy="1883941"/>
          </a:xfrm>
          <a:prstGeom prst="rect">
            <a:avLst/>
          </a:prstGeom>
        </p:spPr>
      </p:pic>
      <p:sp>
        <p:nvSpPr>
          <p:cNvPr id="6" name="Shape 3"/>
          <p:cNvSpPr/>
          <p:nvPr/>
        </p:nvSpPr>
        <p:spPr>
          <a:xfrm>
            <a:off x="496119" y="3252639"/>
            <a:ext cx="2634555" cy="1518047"/>
          </a:xfrm>
          <a:prstGeom prst="roundRect">
            <a:avLst>
              <a:gd name="adj" fmla="val 3432"/>
            </a:avLst>
          </a:prstGeom>
          <a:solidFill>
            <a:srgbClr val="D2D9F9"/>
          </a:solidFill>
          <a:ln w="4763">
            <a:solidFill>
              <a:srgbClr val="B8BFDF"/>
            </a:solidFill>
            <a:prstDash val="solid"/>
          </a:ln>
        </p:spPr>
        <p:txBody>
          <a:bodyPr/>
          <a:lstStyle/>
          <a:p>
            <a:endParaRPr lang="fr-TN"/>
          </a:p>
        </p:txBody>
      </p:sp>
      <p:sp>
        <p:nvSpPr>
          <p:cNvPr id="7" name="Text 4"/>
          <p:cNvSpPr/>
          <p:nvPr/>
        </p:nvSpPr>
        <p:spPr>
          <a:xfrm>
            <a:off x="624855" y="338137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Predictra Profile</a:t>
            </a:r>
            <a:endParaRPr lang="en-US" sz="1200" dirty="0"/>
          </a:p>
        </p:txBody>
      </p:sp>
      <p:sp>
        <p:nvSpPr>
          <p:cNvPr id="8" name="Text 5"/>
          <p:cNvSpPr/>
          <p:nvPr/>
        </p:nvSpPr>
        <p:spPr>
          <a:xfrm>
            <a:off x="624855" y="3649638"/>
            <a:ext cx="237708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Next-generation AI-driven Cyber Threat Intelligence firm. Democratizes threat intelligence by converting raw data into real-time, visually actionable insights for SOCs and enterprise security teams.</a:t>
            </a:r>
            <a:endParaRPr lang="en-US" sz="950" dirty="0"/>
          </a:p>
        </p:txBody>
      </p:sp>
      <p:sp>
        <p:nvSpPr>
          <p:cNvPr id="9" name="Shape 6"/>
          <p:cNvSpPr/>
          <p:nvPr/>
        </p:nvSpPr>
        <p:spPr>
          <a:xfrm>
            <a:off x="3254648" y="3252639"/>
            <a:ext cx="2634630" cy="1518047"/>
          </a:xfrm>
          <a:prstGeom prst="roundRect">
            <a:avLst>
              <a:gd name="adj" fmla="val 3432"/>
            </a:avLst>
          </a:prstGeom>
          <a:solidFill>
            <a:srgbClr val="D2D9F9"/>
          </a:solidFill>
          <a:ln w="4763">
            <a:solidFill>
              <a:srgbClr val="B8BFDF"/>
            </a:solidFill>
            <a:prstDash val="solid"/>
          </a:ln>
        </p:spPr>
        <p:txBody>
          <a:bodyPr/>
          <a:lstStyle/>
          <a:p>
            <a:endParaRPr lang="fr-TN"/>
          </a:p>
        </p:txBody>
      </p:sp>
      <p:sp>
        <p:nvSpPr>
          <p:cNvPr id="10" name="Text 7"/>
          <p:cNvSpPr/>
          <p:nvPr/>
        </p:nvSpPr>
        <p:spPr>
          <a:xfrm>
            <a:off x="3383384" y="3381375"/>
            <a:ext cx="1827535"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Organizational Structure</a:t>
            </a:r>
            <a:endParaRPr lang="en-US" sz="1200" dirty="0"/>
          </a:p>
        </p:txBody>
      </p:sp>
      <p:sp>
        <p:nvSpPr>
          <p:cNvPr id="11" name="Text 8"/>
          <p:cNvSpPr/>
          <p:nvPr/>
        </p:nvSpPr>
        <p:spPr>
          <a:xfrm>
            <a:off x="3383384" y="3649638"/>
            <a:ext cx="2377157" cy="992312"/>
          </a:xfrm>
          <a:prstGeom prst="rect">
            <a:avLst/>
          </a:prstGeom>
          <a:noFill/>
          <a:ln/>
        </p:spPr>
        <p:txBody>
          <a:bodyPr wrap="square" lIns="0" tIns="0" rIns="0" bIns="0" rtlCol="0" anchor="t">
            <a:normAutofit/>
          </a:bodyPr>
          <a:lstStyle/>
          <a:p>
            <a:pPr marL="0" indent="0" algn="l">
              <a:lnSpc>
                <a:spcPct val="133000"/>
              </a:lnSpc>
              <a:buNone/>
            </a:pPr>
            <a:r>
              <a:rPr lang="en-US" sz="950" b="1" dirty="0">
                <a:solidFill>
                  <a:srgbClr val="404155"/>
                </a:solidFill>
                <a:latin typeface="Nobile" pitchFamily="34" charset="0"/>
                <a:ea typeface="Nobile" pitchFamily="34" charset="-122"/>
                <a:cs typeface="Nobile" pitchFamily="34" charset="-120"/>
              </a:rPr>
              <a:t>Threat Research:</a:t>
            </a:r>
            <a:r>
              <a:rPr lang="en-US" sz="950" dirty="0">
                <a:solidFill>
                  <a:srgbClr val="404155"/>
                </a:solidFill>
                <a:latin typeface="Nobile" pitchFamily="34" charset="0"/>
                <a:ea typeface="Nobile" pitchFamily="34" charset="-122"/>
                <a:cs typeface="Nobile" pitchFamily="34" charset="-120"/>
              </a:rPr>
              <a:t> Analysts tracking campaigns &amp; malware. </a:t>
            </a:r>
            <a:r>
              <a:rPr lang="en-US" sz="950" b="1" dirty="0">
                <a:solidFill>
                  <a:srgbClr val="404155"/>
                </a:solidFill>
                <a:latin typeface="Nobile" pitchFamily="34" charset="0"/>
                <a:ea typeface="Nobile" pitchFamily="34" charset="-122"/>
                <a:cs typeface="Nobile" pitchFamily="34" charset="-120"/>
              </a:rPr>
              <a:t>Security Engineering:</a:t>
            </a:r>
            <a:r>
              <a:rPr lang="en-US" sz="950" dirty="0">
                <a:solidFill>
                  <a:srgbClr val="404155"/>
                </a:solidFill>
                <a:latin typeface="Nobile" pitchFamily="34" charset="0"/>
                <a:ea typeface="Nobile" pitchFamily="34" charset="-122"/>
                <a:cs typeface="Nobile" pitchFamily="34" charset="-120"/>
              </a:rPr>
              <a:t> Ingestion pipelines &amp; UI (our team). </a:t>
            </a:r>
            <a:r>
              <a:rPr lang="en-US" sz="950" b="1" dirty="0">
                <a:solidFill>
                  <a:srgbClr val="404155"/>
                </a:solidFill>
                <a:latin typeface="Nobile" pitchFamily="34" charset="0"/>
                <a:ea typeface="Nobile" pitchFamily="34" charset="-122"/>
                <a:cs typeface="Nobile" pitchFamily="34" charset="-120"/>
              </a:rPr>
              <a:t>Sales &amp; Operations:</a:t>
            </a:r>
            <a:r>
              <a:rPr lang="en-US" sz="950" dirty="0">
                <a:solidFill>
                  <a:srgbClr val="404155"/>
                </a:solidFill>
                <a:latin typeface="Nobile" pitchFamily="34" charset="0"/>
                <a:ea typeface="Nobile" pitchFamily="34" charset="-122"/>
                <a:cs typeface="Nobile" pitchFamily="34" charset="-120"/>
              </a:rPr>
              <a:t> Client relations &amp; enterprise deployments.</a:t>
            </a:r>
            <a:endParaRPr lang="en-US" sz="950" dirty="0"/>
          </a:p>
        </p:txBody>
      </p:sp>
      <p:sp>
        <p:nvSpPr>
          <p:cNvPr id="12" name="Shape 9"/>
          <p:cNvSpPr/>
          <p:nvPr/>
        </p:nvSpPr>
        <p:spPr>
          <a:xfrm>
            <a:off x="6013252" y="3252639"/>
            <a:ext cx="2634555" cy="1518047"/>
          </a:xfrm>
          <a:prstGeom prst="roundRect">
            <a:avLst>
              <a:gd name="adj" fmla="val 3432"/>
            </a:avLst>
          </a:prstGeom>
          <a:solidFill>
            <a:srgbClr val="D2D9F9"/>
          </a:solidFill>
          <a:ln w="4763">
            <a:solidFill>
              <a:srgbClr val="B8BFDF"/>
            </a:solidFill>
            <a:prstDash val="solid"/>
          </a:ln>
        </p:spPr>
        <p:txBody>
          <a:bodyPr/>
          <a:lstStyle/>
          <a:p>
            <a:endParaRPr lang="fr-TN"/>
          </a:p>
        </p:txBody>
      </p:sp>
      <p:sp>
        <p:nvSpPr>
          <p:cNvPr id="13" name="Text 10"/>
          <p:cNvSpPr/>
          <p:nvPr/>
        </p:nvSpPr>
        <p:spPr>
          <a:xfrm>
            <a:off x="6141988" y="3381375"/>
            <a:ext cx="1675581"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Key Metric: Dwell Time</a:t>
            </a:r>
            <a:endParaRPr lang="en-US" sz="1200" dirty="0"/>
          </a:p>
        </p:txBody>
      </p:sp>
      <p:sp>
        <p:nvSpPr>
          <p:cNvPr id="14" name="Text 11"/>
          <p:cNvSpPr/>
          <p:nvPr/>
        </p:nvSpPr>
        <p:spPr>
          <a:xfrm>
            <a:off x="6141988" y="3649638"/>
            <a:ext cx="2377083"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Global average compromise dwell time exceeds </a:t>
            </a:r>
            <a:r>
              <a:rPr lang="en-US" sz="950" b="1" dirty="0">
                <a:solidFill>
                  <a:srgbClr val="404155"/>
                </a:solidFill>
                <a:latin typeface="Nobile" pitchFamily="34" charset="0"/>
                <a:ea typeface="Nobile" pitchFamily="34" charset="-122"/>
                <a:cs typeface="Nobile" pitchFamily="34" charset="-120"/>
              </a:rPr>
              <a:t>200 days</a:t>
            </a:r>
            <a:r>
              <a:rPr lang="en-US" sz="950" dirty="0">
                <a:solidFill>
                  <a:srgbClr val="404155"/>
                </a:solidFill>
                <a:latin typeface="Nobile" pitchFamily="34" charset="0"/>
                <a:ea typeface="Nobile" pitchFamily="34" charset="-122"/>
                <a:cs typeface="Nobile" pitchFamily="34" charset="-120"/>
              </a:rPr>
              <a:t>. Defenders only detect breaches after internal alerts trigger. The Threat Map shrinks this window from months to </a:t>
            </a:r>
            <a:r>
              <a:rPr lang="en-US" sz="950" b="1" dirty="0">
                <a:solidFill>
                  <a:srgbClr val="404155"/>
                </a:solidFill>
                <a:latin typeface="Nobile" pitchFamily="34" charset="0"/>
                <a:ea typeface="Nobile" pitchFamily="34" charset="-122"/>
                <a:cs typeface="Nobile" pitchFamily="34" charset="-120"/>
              </a:rPr>
              <a:t>seconds</a:t>
            </a:r>
            <a:r>
              <a:rPr lang="en-US" sz="950" dirty="0">
                <a:solidFill>
                  <a:srgbClr val="404155"/>
                </a:solidFill>
                <a:latin typeface="Nobile" pitchFamily="34" charset="0"/>
                <a:ea typeface="Nobile" pitchFamily="34" charset="-122"/>
                <a:cs typeface="Nobile" pitchFamily="34" charset="-120"/>
              </a:rPr>
              <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27336" y="376089"/>
            <a:ext cx="1027212" cy="164157"/>
          </a:xfrm>
          <a:prstGeom prst="roundRect">
            <a:avLst>
              <a:gd name="adj" fmla="val 19439"/>
            </a:avLst>
          </a:prstGeom>
          <a:solidFill>
            <a:srgbClr val="D2D9F9"/>
          </a:solidFill>
          <a:ln/>
        </p:spPr>
        <p:txBody>
          <a:bodyPr/>
          <a:lstStyle/>
          <a:p>
            <a:endParaRPr lang="fr-TN"/>
          </a:p>
        </p:txBody>
      </p:sp>
      <p:sp>
        <p:nvSpPr>
          <p:cNvPr id="3" name="Text 1"/>
          <p:cNvSpPr/>
          <p:nvPr/>
        </p:nvSpPr>
        <p:spPr>
          <a:xfrm>
            <a:off x="884262" y="404515"/>
            <a:ext cx="1370558" cy="107305"/>
          </a:xfrm>
          <a:prstGeom prst="rect">
            <a:avLst/>
          </a:prstGeom>
          <a:noFill/>
          <a:ln/>
        </p:spPr>
        <p:txBody>
          <a:bodyPr wrap="none" lIns="0" tIns="0" rIns="0" bIns="0" rtlCol="0" anchor="t"/>
          <a:lstStyle/>
          <a:p>
            <a:pPr marL="0" indent="0" algn="l">
              <a:lnSpc>
                <a:spcPct val="118000"/>
              </a:lnSpc>
              <a:buNone/>
            </a:pPr>
            <a:r>
              <a:rPr lang="en-US" sz="550" dirty="0">
                <a:solidFill>
                  <a:srgbClr val="404155"/>
                </a:solidFill>
                <a:latin typeface="Nobile" pitchFamily="34" charset="0"/>
                <a:ea typeface="Nobile" pitchFamily="34" charset="-122"/>
                <a:cs typeface="Nobile" pitchFamily="34" charset="-120"/>
              </a:rPr>
              <a:t>CHAPTER 1 — PRE-STUDY</a:t>
            </a:r>
            <a:endParaRPr lang="en-US" sz="550" dirty="0"/>
          </a:p>
        </p:txBody>
      </p:sp>
      <p:sp>
        <p:nvSpPr>
          <p:cNvPr id="4" name="Text 2"/>
          <p:cNvSpPr/>
          <p:nvPr/>
        </p:nvSpPr>
        <p:spPr>
          <a:xfrm>
            <a:off x="827336" y="569268"/>
            <a:ext cx="3148608" cy="296763"/>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The Critical Problematic</a:t>
            </a:r>
            <a:endParaRPr lang="en-US" sz="185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1056829"/>
            <a:ext cx="3638252" cy="832247"/>
          </a:xfrm>
          <a:prstGeom prst="rect">
            <a:avLst/>
          </a:prstGeom>
        </p:spPr>
      </p:pic>
      <p:sp>
        <p:nvSpPr>
          <p:cNvPr id="6" name="Text 3"/>
          <p:cNvSpPr/>
          <p:nvPr/>
        </p:nvSpPr>
        <p:spPr>
          <a:xfrm>
            <a:off x="960388" y="1161306"/>
            <a:ext cx="1218307"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Spreadsheet Overload</a:t>
            </a:r>
            <a:endParaRPr lang="en-US" sz="900" dirty="0"/>
          </a:p>
        </p:txBody>
      </p:sp>
      <p:sp>
        <p:nvSpPr>
          <p:cNvPr id="7" name="Text 4"/>
          <p:cNvSpPr/>
          <p:nvPr/>
        </p:nvSpPr>
        <p:spPr>
          <a:xfrm>
            <a:off x="960388" y="1382316"/>
            <a:ext cx="3391198" cy="402282"/>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SOC analysts suffer from visual fatigue reading thousands of static, textual log lines in spreadsheets and simple dashboards. There is no intuitive interface for immediate situational awareness.</a:t>
            </a:r>
            <a:endParaRPr lang="en-US" sz="7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1961778"/>
            <a:ext cx="3638252" cy="832247"/>
          </a:xfrm>
          <a:prstGeom prst="rect">
            <a:avLst/>
          </a:prstGeom>
        </p:spPr>
      </p:pic>
      <p:sp>
        <p:nvSpPr>
          <p:cNvPr id="9" name="Text 5"/>
          <p:cNvSpPr/>
          <p:nvPr/>
        </p:nvSpPr>
        <p:spPr>
          <a:xfrm>
            <a:off x="960388" y="2066255"/>
            <a:ext cx="1293837"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Lack of Spatial Context</a:t>
            </a:r>
            <a:endParaRPr lang="en-US" sz="900" dirty="0"/>
          </a:p>
        </p:txBody>
      </p:sp>
      <p:sp>
        <p:nvSpPr>
          <p:cNvPr id="10" name="Text 6"/>
          <p:cNvSpPr/>
          <p:nvPr/>
        </p:nvSpPr>
        <p:spPr>
          <a:xfrm>
            <a:off x="960388" y="2287265"/>
            <a:ext cx="3391198" cy="402282"/>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No geographic representation of threat origins, targets, and trajectories in real-time. Defenders cannot visualize </a:t>
            </a:r>
            <a:r>
              <a:rPr lang="en-US" sz="700" i="1" dirty="0">
                <a:solidFill>
                  <a:srgbClr val="404155"/>
                </a:solidFill>
                <a:latin typeface="Nobile" pitchFamily="34" charset="0"/>
                <a:ea typeface="Nobile" pitchFamily="34" charset="-122"/>
                <a:cs typeface="Nobile" pitchFamily="34" charset="-120"/>
              </a:rPr>
              <a:t>where</a:t>
            </a:r>
            <a:r>
              <a:rPr lang="en-US" sz="700" dirty="0">
                <a:solidFill>
                  <a:srgbClr val="404155"/>
                </a:solidFill>
                <a:latin typeface="Nobile" pitchFamily="34" charset="0"/>
                <a:ea typeface="Nobile" pitchFamily="34" charset="-122"/>
                <a:cs typeface="Nobile" pitchFamily="34" charset="-120"/>
              </a:rPr>
              <a:t> attacks originate or which sectors are being targeted globally.</a:t>
            </a:r>
            <a:endParaRPr lang="en-US" sz="7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7811" y="2866727"/>
            <a:ext cx="3638252" cy="832247"/>
          </a:xfrm>
          <a:prstGeom prst="rect">
            <a:avLst/>
          </a:prstGeom>
        </p:spPr>
      </p:pic>
      <p:sp>
        <p:nvSpPr>
          <p:cNvPr id="12" name="Text 7"/>
          <p:cNvSpPr/>
          <p:nvPr/>
        </p:nvSpPr>
        <p:spPr>
          <a:xfrm>
            <a:off x="960388" y="2971205"/>
            <a:ext cx="1187128"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Data Heterogeneity</a:t>
            </a:r>
            <a:endParaRPr lang="en-US" sz="900" dirty="0"/>
          </a:p>
        </p:txBody>
      </p:sp>
      <p:sp>
        <p:nvSpPr>
          <p:cNvPr id="13" name="Text 8"/>
          <p:cNvSpPr/>
          <p:nvPr/>
        </p:nvSpPr>
        <p:spPr>
          <a:xfrm>
            <a:off x="960388" y="3192214"/>
            <a:ext cx="3391198" cy="402282"/>
          </a:xfrm>
          <a:prstGeom prst="rect">
            <a:avLst/>
          </a:prstGeom>
          <a:noFill/>
          <a:ln/>
        </p:spPr>
        <p:txBody>
          <a:bodyPr wrap="square" lIns="0" tIns="0" rIns="0" bIns="0" rtlCol="0" anchor="t">
            <a:normAutofit/>
          </a:bodyPr>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Raw feeds are fragmented across diverse security vendors using incompatible data formats, protocols, and schemas — making unified analysis slow and manual.</a:t>
            </a:r>
            <a:endParaRPr lang="en-US" sz="700" dirty="0"/>
          </a:p>
        </p:txBody>
      </p:sp>
      <p:pic>
        <p:nvPicPr>
          <p:cNvPr id="14" name="Image 3" descr="preencoded.png"/>
          <p:cNvPicPr>
            <a:picLocks noChangeAspect="1"/>
          </p:cNvPicPr>
          <p:nvPr/>
        </p:nvPicPr>
        <p:blipFill>
          <a:blip r:embed="rId4"/>
          <a:stretch>
            <a:fillRect/>
          </a:stretch>
        </p:blipFill>
        <p:spPr>
          <a:xfrm>
            <a:off x="4692551" y="1056829"/>
            <a:ext cx="3628727" cy="36287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66861"/>
            <a:ext cx="1342430"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404068"/>
            <a:ext cx="1650802"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1 — PRE-STUDY</a:t>
            </a:r>
            <a:endParaRPr lang="en-US" sz="750" dirty="0"/>
          </a:p>
        </p:txBody>
      </p:sp>
      <p:sp>
        <p:nvSpPr>
          <p:cNvPr id="4" name="Text 2"/>
          <p:cNvSpPr/>
          <p:nvPr/>
        </p:nvSpPr>
        <p:spPr>
          <a:xfrm>
            <a:off x="496119" y="649635"/>
            <a:ext cx="6896174"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The Proposed Solution: Predictra Threat Map</a:t>
            </a:r>
            <a:endParaRPr lang="en-US" sz="2400" dirty="0"/>
          </a:p>
        </p:txBody>
      </p:sp>
      <p:sp>
        <p:nvSpPr>
          <p:cNvPr id="5" name="Text 3"/>
          <p:cNvSpPr/>
          <p:nvPr/>
        </p:nvSpPr>
        <p:spPr>
          <a:xfrm>
            <a:off x="496119" y="1223218"/>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A four-layer architecture transforming raw cyber threat data into a live, interactive 3D visual intelligence platform.</a:t>
            </a:r>
            <a:endParaRPr lang="en-US" sz="950" dirty="0"/>
          </a:p>
        </p:txBody>
      </p:sp>
      <p:pic>
        <p:nvPicPr>
          <p:cNvPr id="6" name="Image 0" descr="preencoded.png"/>
          <p:cNvPicPr>
            <a:picLocks noChangeAspect="1"/>
          </p:cNvPicPr>
          <p:nvPr/>
        </p:nvPicPr>
        <p:blipFill>
          <a:blip r:embed="rId3"/>
          <a:stretch>
            <a:fillRect/>
          </a:stretch>
        </p:blipFill>
        <p:spPr>
          <a:xfrm>
            <a:off x="496119" y="1561207"/>
            <a:ext cx="4075881" cy="496119"/>
          </a:xfrm>
          <a:prstGeom prst="rect">
            <a:avLst/>
          </a:prstGeom>
        </p:spPr>
      </p:pic>
      <p:sp>
        <p:nvSpPr>
          <p:cNvPr id="7" name="Text 4"/>
          <p:cNvSpPr/>
          <p:nvPr/>
        </p:nvSpPr>
        <p:spPr>
          <a:xfrm>
            <a:off x="620092" y="218129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Ingestion Layer</a:t>
            </a:r>
            <a:endParaRPr lang="en-US" sz="1200" dirty="0"/>
          </a:p>
        </p:txBody>
      </p:sp>
      <p:sp>
        <p:nvSpPr>
          <p:cNvPr id="8" name="Text 5"/>
          <p:cNvSpPr/>
          <p:nvPr/>
        </p:nvSpPr>
        <p:spPr>
          <a:xfrm>
            <a:off x="620092" y="2449562"/>
            <a:ext cx="382793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Asynchronous harvesting from </a:t>
            </a:r>
            <a:r>
              <a:rPr lang="en-US" sz="950" b="1" dirty="0">
                <a:solidFill>
                  <a:srgbClr val="404155"/>
                </a:solidFill>
                <a:latin typeface="Nobile" pitchFamily="34" charset="0"/>
                <a:ea typeface="Nobile" pitchFamily="34" charset="-122"/>
                <a:cs typeface="Nobile" pitchFamily="34" charset="-120"/>
              </a:rPr>
              <a:t>9+ parallel threat feeds</a:t>
            </a:r>
            <a:r>
              <a:rPr lang="en-US" sz="950" dirty="0">
                <a:solidFill>
                  <a:srgbClr val="404155"/>
                </a:solidFill>
                <a:latin typeface="Nobile" pitchFamily="34" charset="0"/>
                <a:ea typeface="Nobile" pitchFamily="34" charset="-122"/>
                <a:cs typeface="Nobile" pitchFamily="34" charset="-120"/>
              </a:rPr>
              <a:t> (AlienVault, URLhaus, Checkpoint, Bitdefender, Fortinet, Kaspersky Feodo, RansomWatch, C2 Tracker, MISP Galaxy).</a:t>
            </a:r>
            <a:endParaRPr lang="en-US" sz="950" dirty="0"/>
          </a:p>
        </p:txBody>
      </p:sp>
      <p:pic>
        <p:nvPicPr>
          <p:cNvPr id="9" name="Image 1" descr="preencoded.png"/>
          <p:cNvPicPr>
            <a:picLocks noChangeAspect="1"/>
          </p:cNvPicPr>
          <p:nvPr/>
        </p:nvPicPr>
        <p:blipFill>
          <a:blip r:embed="rId4"/>
          <a:stretch>
            <a:fillRect/>
          </a:stretch>
        </p:blipFill>
        <p:spPr>
          <a:xfrm>
            <a:off x="4572000" y="1561207"/>
            <a:ext cx="4075881" cy="496119"/>
          </a:xfrm>
          <a:prstGeom prst="rect">
            <a:avLst/>
          </a:prstGeom>
        </p:spPr>
      </p:pic>
      <p:sp>
        <p:nvSpPr>
          <p:cNvPr id="10" name="Text 6"/>
          <p:cNvSpPr/>
          <p:nvPr/>
        </p:nvSpPr>
        <p:spPr>
          <a:xfrm>
            <a:off x="4695974" y="218129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Enrichment Layer</a:t>
            </a:r>
            <a:endParaRPr lang="en-US" sz="1200" dirty="0"/>
          </a:p>
        </p:txBody>
      </p:sp>
      <p:sp>
        <p:nvSpPr>
          <p:cNvPr id="11" name="Text 7"/>
          <p:cNvSpPr/>
          <p:nvPr/>
        </p:nvSpPr>
        <p:spPr>
          <a:xfrm>
            <a:off x="4695974" y="2449562"/>
            <a:ext cx="382793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Instant IP geolocation via local geocoding library and </a:t>
            </a:r>
            <a:r>
              <a:rPr lang="en-US" sz="950" b="1" dirty="0">
                <a:solidFill>
                  <a:srgbClr val="404155"/>
                </a:solidFill>
                <a:latin typeface="Nobile" pitchFamily="34" charset="0"/>
                <a:ea typeface="Nobile" pitchFamily="34" charset="-122"/>
                <a:cs typeface="Nobile" pitchFamily="34" charset="-120"/>
              </a:rPr>
              <a:t>5-layer target sector classification</a:t>
            </a:r>
            <a:r>
              <a:rPr lang="en-US" sz="950" dirty="0">
                <a:solidFill>
                  <a:srgbClr val="404155"/>
                </a:solidFill>
                <a:latin typeface="Nobile" pitchFamily="34" charset="0"/>
                <a:ea typeface="Nobile" pitchFamily="34" charset="-122"/>
                <a:cs typeface="Nobile" pitchFamily="34" charset="-120"/>
              </a:rPr>
              <a:t> engine covering 9 critical business sectors.</a:t>
            </a:r>
            <a:endParaRPr lang="en-US" sz="950" dirty="0"/>
          </a:p>
        </p:txBody>
      </p:sp>
      <p:pic>
        <p:nvPicPr>
          <p:cNvPr id="12" name="Image 2" descr="preencoded.png"/>
          <p:cNvPicPr>
            <a:picLocks noChangeAspect="1"/>
          </p:cNvPicPr>
          <p:nvPr/>
        </p:nvPicPr>
        <p:blipFill>
          <a:blip r:embed="rId5"/>
          <a:stretch>
            <a:fillRect/>
          </a:stretch>
        </p:blipFill>
        <p:spPr>
          <a:xfrm>
            <a:off x="496119" y="3168923"/>
            <a:ext cx="4075881" cy="496119"/>
          </a:xfrm>
          <a:prstGeom prst="rect">
            <a:avLst/>
          </a:prstGeom>
        </p:spPr>
      </p:pic>
      <p:sp>
        <p:nvSpPr>
          <p:cNvPr id="13" name="Text 8"/>
          <p:cNvSpPr/>
          <p:nvPr/>
        </p:nvSpPr>
        <p:spPr>
          <a:xfrm>
            <a:off x="620092" y="378901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Streaming Layer</a:t>
            </a:r>
            <a:endParaRPr lang="en-US" sz="1200" dirty="0"/>
          </a:p>
        </p:txBody>
      </p:sp>
      <p:sp>
        <p:nvSpPr>
          <p:cNvPr id="14" name="Text 9"/>
          <p:cNvSpPr/>
          <p:nvPr/>
        </p:nvSpPr>
        <p:spPr>
          <a:xfrm>
            <a:off x="620092" y="4057278"/>
            <a:ext cx="382793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Unidirectional event broadcasting via </a:t>
            </a:r>
            <a:r>
              <a:rPr lang="en-US" sz="950" b="1" dirty="0">
                <a:solidFill>
                  <a:srgbClr val="404155"/>
                </a:solidFill>
                <a:latin typeface="Nobile" pitchFamily="34" charset="0"/>
                <a:ea typeface="Nobile" pitchFamily="34" charset="-122"/>
                <a:cs typeface="Nobile" pitchFamily="34" charset="-120"/>
              </a:rPr>
              <a:t>Server-Sent Events (SSE)</a:t>
            </a:r>
            <a:r>
              <a:rPr lang="en-US" sz="950" dirty="0">
                <a:solidFill>
                  <a:srgbClr val="404155"/>
                </a:solidFill>
                <a:latin typeface="Nobile" pitchFamily="34" charset="0"/>
                <a:ea typeface="Nobile" pitchFamily="34" charset="-122"/>
                <a:cs typeface="Nobile" pitchFamily="34" charset="-120"/>
              </a:rPr>
              <a:t> with a 300ms batching queue — keeping browser rendering smooth.</a:t>
            </a:r>
            <a:endParaRPr lang="en-US" sz="950" dirty="0"/>
          </a:p>
        </p:txBody>
      </p:sp>
      <p:pic>
        <p:nvPicPr>
          <p:cNvPr id="15" name="Image 3" descr="preencoded.png"/>
          <p:cNvPicPr>
            <a:picLocks noChangeAspect="1"/>
          </p:cNvPicPr>
          <p:nvPr/>
        </p:nvPicPr>
        <p:blipFill>
          <a:blip r:embed="rId6"/>
          <a:stretch>
            <a:fillRect/>
          </a:stretch>
        </p:blipFill>
        <p:spPr>
          <a:xfrm>
            <a:off x="4572000" y="3168923"/>
            <a:ext cx="4075881" cy="496119"/>
          </a:xfrm>
          <a:prstGeom prst="rect">
            <a:avLst/>
          </a:prstGeom>
        </p:spPr>
      </p:pic>
      <p:sp>
        <p:nvSpPr>
          <p:cNvPr id="16" name="Text 10"/>
          <p:cNvSpPr/>
          <p:nvPr/>
        </p:nvSpPr>
        <p:spPr>
          <a:xfrm>
            <a:off x="4695974" y="378901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Visualization Layer</a:t>
            </a:r>
            <a:endParaRPr lang="en-US" sz="1200" dirty="0"/>
          </a:p>
        </p:txBody>
      </p:sp>
      <p:sp>
        <p:nvSpPr>
          <p:cNvPr id="17" name="Text 11"/>
          <p:cNvSpPr/>
          <p:nvPr/>
        </p:nvSpPr>
        <p:spPr>
          <a:xfrm>
            <a:off x="4695974" y="4057278"/>
            <a:ext cx="382793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Interactive </a:t>
            </a:r>
            <a:r>
              <a:rPr lang="en-US" sz="950" b="1" dirty="0">
                <a:solidFill>
                  <a:srgbClr val="404155"/>
                </a:solidFill>
                <a:latin typeface="Nobile" pitchFamily="34" charset="0"/>
                <a:ea typeface="Nobile" pitchFamily="34" charset="-122"/>
                <a:cs typeface="Nobile" pitchFamily="34" charset="-120"/>
              </a:rPr>
              <a:t>3D WebGL Earth</a:t>
            </a:r>
            <a:r>
              <a:rPr lang="en-US" sz="950" dirty="0">
                <a:solidFill>
                  <a:srgbClr val="404155"/>
                </a:solidFill>
                <a:latin typeface="Nobile" pitchFamily="34" charset="0"/>
                <a:ea typeface="Nobile" pitchFamily="34" charset="-122"/>
                <a:cs typeface="Nobile" pitchFamily="34" charset="-120"/>
              </a:rPr>
              <a:t> with curved attack arcs, plus STIX 2.1 parser and MITRE ATT&amp;CK workspace for deep analysis.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27336" y="350267"/>
            <a:ext cx="1027212" cy="164157"/>
          </a:xfrm>
          <a:prstGeom prst="roundRect">
            <a:avLst>
              <a:gd name="adj" fmla="val 19439"/>
            </a:avLst>
          </a:prstGeom>
          <a:solidFill>
            <a:srgbClr val="D2D9F9"/>
          </a:solidFill>
          <a:ln/>
        </p:spPr>
        <p:txBody>
          <a:bodyPr/>
          <a:lstStyle/>
          <a:p>
            <a:endParaRPr lang="fr-TN"/>
          </a:p>
        </p:txBody>
      </p:sp>
      <p:sp>
        <p:nvSpPr>
          <p:cNvPr id="3" name="Text 1"/>
          <p:cNvSpPr/>
          <p:nvPr/>
        </p:nvSpPr>
        <p:spPr>
          <a:xfrm>
            <a:off x="884262" y="378693"/>
            <a:ext cx="1370558" cy="107305"/>
          </a:xfrm>
          <a:prstGeom prst="rect">
            <a:avLst/>
          </a:prstGeom>
          <a:noFill/>
          <a:ln/>
        </p:spPr>
        <p:txBody>
          <a:bodyPr wrap="none" lIns="0" tIns="0" rIns="0" bIns="0" rtlCol="0" anchor="t"/>
          <a:lstStyle/>
          <a:p>
            <a:pPr marL="0" indent="0" algn="l">
              <a:lnSpc>
                <a:spcPct val="118000"/>
              </a:lnSpc>
              <a:buNone/>
            </a:pPr>
            <a:r>
              <a:rPr lang="en-US" sz="550" dirty="0">
                <a:solidFill>
                  <a:srgbClr val="404155"/>
                </a:solidFill>
                <a:latin typeface="Nobile" pitchFamily="34" charset="0"/>
                <a:ea typeface="Nobile" pitchFamily="34" charset="-122"/>
                <a:cs typeface="Nobile" pitchFamily="34" charset="-120"/>
              </a:rPr>
              <a:t>CHAPTER 1 — PRE-STUDY</a:t>
            </a:r>
            <a:endParaRPr lang="en-US" sz="550" dirty="0"/>
          </a:p>
        </p:txBody>
      </p:sp>
      <p:sp>
        <p:nvSpPr>
          <p:cNvPr id="4" name="Text 2"/>
          <p:cNvSpPr/>
          <p:nvPr/>
        </p:nvSpPr>
        <p:spPr>
          <a:xfrm>
            <a:off x="827336" y="543446"/>
            <a:ext cx="3305026" cy="296763"/>
          </a:xfrm>
          <a:prstGeom prst="rect">
            <a:avLst/>
          </a:prstGeom>
          <a:noFill/>
          <a:ln/>
        </p:spPr>
        <p:txBody>
          <a:bodyPr wrap="none" lIns="0" tIns="0" rIns="0" bIns="0" rtlCol="0" anchor="t"/>
          <a:lstStyle/>
          <a:p>
            <a:pPr marL="0" indent="0" algn="l">
              <a:lnSpc>
                <a:spcPct val="104000"/>
              </a:lnSpc>
              <a:buNone/>
            </a:pPr>
            <a:r>
              <a:rPr lang="en-US" sz="1850" dirty="0">
                <a:solidFill>
                  <a:srgbClr val="1B1B27"/>
                </a:solidFill>
                <a:latin typeface="Corben" pitchFamily="34" charset="0"/>
                <a:ea typeface="Corben" pitchFamily="34" charset="-122"/>
                <a:cs typeface="Corben" pitchFamily="34" charset="-120"/>
              </a:rPr>
              <a:t>Agile Scrum Methodology</a:t>
            </a:r>
            <a:endParaRPr lang="en-US" sz="1850" dirty="0"/>
          </a:p>
        </p:txBody>
      </p:sp>
      <p:sp>
        <p:nvSpPr>
          <p:cNvPr id="5" name="Text 3"/>
          <p:cNvSpPr/>
          <p:nvPr/>
        </p:nvSpPr>
        <p:spPr>
          <a:xfrm>
            <a:off x="827336" y="1014636"/>
            <a:ext cx="4085927" cy="134094"/>
          </a:xfrm>
          <a:prstGeom prst="rect">
            <a:avLst/>
          </a:prstGeom>
          <a:noFill/>
          <a:ln/>
        </p:spPr>
        <p:txBody>
          <a:bodyPr wrap="none" lIns="0" tIns="0" rIns="0" bIns="0" rtlCol="0" anchor="t"/>
          <a:lstStyle/>
          <a:p>
            <a:pPr marL="0" indent="0" algn="l">
              <a:lnSpc>
                <a:spcPct val="118000"/>
              </a:lnSpc>
              <a:buNone/>
            </a:pPr>
            <a:endParaRPr lang="en-US" sz="700" dirty="0"/>
          </a:p>
        </p:txBody>
      </p:sp>
      <p:sp>
        <p:nvSpPr>
          <p:cNvPr id="6" name="Text 4"/>
          <p:cNvSpPr/>
          <p:nvPr/>
        </p:nvSpPr>
        <p:spPr>
          <a:xfrm>
            <a:off x="4692551" y="1021928"/>
            <a:ext cx="1744489" cy="148307"/>
          </a:xfrm>
          <a:prstGeom prst="rect">
            <a:avLst/>
          </a:prstGeom>
          <a:noFill/>
          <a:ln/>
        </p:spPr>
        <p:txBody>
          <a:bodyPr wrap="none" lIns="0" tIns="0" rIns="0" bIns="0" rtlCol="0" anchor="t"/>
          <a:lstStyle/>
          <a:p>
            <a:pPr marL="0" indent="0" algn="l">
              <a:lnSpc>
                <a:spcPct val="104000"/>
              </a:lnSpc>
              <a:buNone/>
            </a:pPr>
            <a:r>
              <a:rPr lang="en-US" sz="900" dirty="0">
                <a:solidFill>
                  <a:srgbClr val="1B1B27"/>
                </a:solidFill>
                <a:latin typeface="Corben" pitchFamily="34" charset="0"/>
                <a:ea typeface="Corben" pitchFamily="34" charset="-122"/>
                <a:cs typeface="Corben" pitchFamily="34" charset="-120"/>
              </a:rPr>
              <a:t>4 Sprints over 12 Weeks</a:t>
            </a:r>
            <a:endParaRPr lang="en-US" sz="900" dirty="0"/>
          </a:p>
        </p:txBody>
      </p:sp>
      <p:sp>
        <p:nvSpPr>
          <p:cNvPr id="7" name="Text 5"/>
          <p:cNvSpPr/>
          <p:nvPr/>
        </p:nvSpPr>
        <p:spPr>
          <a:xfrm>
            <a:off x="4692551" y="1252017"/>
            <a:ext cx="189905" cy="118690"/>
          </a:xfrm>
          <a:prstGeom prst="rect">
            <a:avLst/>
          </a:prstGeom>
          <a:noFill/>
          <a:ln/>
        </p:spPr>
        <p:txBody>
          <a:bodyPr wrap="none" lIns="0" tIns="0" rIns="0" bIns="0" rtlCol="0" anchor="ctr"/>
          <a:lstStyle/>
          <a:p>
            <a:pPr marL="0" indent="0" algn="l">
              <a:lnSpc>
                <a:spcPct val="100000"/>
              </a:lnSpc>
              <a:buNone/>
            </a:pPr>
            <a:r>
              <a:rPr lang="en-US" sz="700" dirty="0">
                <a:solidFill>
                  <a:srgbClr val="404155"/>
                </a:solidFill>
                <a:latin typeface="Corben Light" pitchFamily="34" charset="0"/>
                <a:ea typeface="Corben Light" pitchFamily="34" charset="-122"/>
                <a:cs typeface="Corben Light" pitchFamily="34" charset="-120"/>
              </a:rPr>
              <a:t>01</a:t>
            </a:r>
            <a:endParaRPr lang="en-US" sz="700" dirty="0"/>
          </a:p>
        </p:txBody>
      </p:sp>
      <p:sp>
        <p:nvSpPr>
          <p:cNvPr id="8" name="Shape 6"/>
          <p:cNvSpPr/>
          <p:nvPr/>
        </p:nvSpPr>
        <p:spPr>
          <a:xfrm>
            <a:off x="4692551" y="1403896"/>
            <a:ext cx="3628727" cy="9525"/>
          </a:xfrm>
          <a:prstGeom prst="rect">
            <a:avLst/>
          </a:prstGeom>
          <a:solidFill>
            <a:srgbClr val="4967E9"/>
          </a:solidFill>
          <a:ln/>
        </p:spPr>
        <p:txBody>
          <a:bodyPr/>
          <a:lstStyle/>
          <a:p>
            <a:endParaRPr lang="fr-TN"/>
          </a:p>
        </p:txBody>
      </p:sp>
      <p:sp>
        <p:nvSpPr>
          <p:cNvPr id="9" name="Text 7"/>
          <p:cNvSpPr/>
          <p:nvPr/>
        </p:nvSpPr>
        <p:spPr>
          <a:xfrm>
            <a:off x="4692551" y="1470422"/>
            <a:ext cx="1187128"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Sprint 1</a:t>
            </a:r>
            <a:endParaRPr lang="en-US" sz="900" dirty="0"/>
          </a:p>
        </p:txBody>
      </p:sp>
      <p:sp>
        <p:nvSpPr>
          <p:cNvPr id="10" name="Text 8"/>
          <p:cNvSpPr/>
          <p:nvPr/>
        </p:nvSpPr>
        <p:spPr>
          <a:xfrm>
            <a:off x="4692551" y="1691432"/>
            <a:ext cx="3628727" cy="134094"/>
          </a:xfrm>
          <a:prstGeom prst="rect">
            <a:avLst/>
          </a:prstGeom>
          <a:noFill/>
          <a:ln/>
        </p:spPr>
        <p:txBody>
          <a:bodyPr wrap="none" lIns="0" tIns="0" rIns="0" bIns="0" rtlCol="0" anchor="t"/>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Backend ingestion: 9 scrapers, MongoDB schemas, enrichment pipeline.</a:t>
            </a:r>
            <a:endParaRPr lang="en-US" sz="700" dirty="0"/>
          </a:p>
        </p:txBody>
      </p:sp>
      <p:sp>
        <p:nvSpPr>
          <p:cNvPr id="11" name="Text 9"/>
          <p:cNvSpPr/>
          <p:nvPr/>
        </p:nvSpPr>
        <p:spPr>
          <a:xfrm>
            <a:off x="4692551" y="1969443"/>
            <a:ext cx="189905" cy="118690"/>
          </a:xfrm>
          <a:prstGeom prst="rect">
            <a:avLst/>
          </a:prstGeom>
          <a:noFill/>
          <a:ln/>
        </p:spPr>
        <p:txBody>
          <a:bodyPr wrap="none" lIns="0" tIns="0" rIns="0" bIns="0" rtlCol="0" anchor="ctr"/>
          <a:lstStyle/>
          <a:p>
            <a:pPr marL="0" indent="0" algn="l">
              <a:lnSpc>
                <a:spcPct val="100000"/>
              </a:lnSpc>
              <a:buNone/>
            </a:pPr>
            <a:r>
              <a:rPr lang="en-US" sz="700" dirty="0">
                <a:solidFill>
                  <a:srgbClr val="404155"/>
                </a:solidFill>
                <a:latin typeface="Corben Light" pitchFamily="34" charset="0"/>
                <a:ea typeface="Corben Light" pitchFamily="34" charset="-122"/>
                <a:cs typeface="Corben Light" pitchFamily="34" charset="-120"/>
              </a:rPr>
              <a:t>02</a:t>
            </a:r>
            <a:endParaRPr lang="en-US" sz="700" dirty="0"/>
          </a:p>
        </p:txBody>
      </p:sp>
      <p:sp>
        <p:nvSpPr>
          <p:cNvPr id="12" name="Shape 10"/>
          <p:cNvSpPr/>
          <p:nvPr/>
        </p:nvSpPr>
        <p:spPr>
          <a:xfrm>
            <a:off x="4692551" y="2121322"/>
            <a:ext cx="3628727" cy="9525"/>
          </a:xfrm>
          <a:prstGeom prst="rect">
            <a:avLst/>
          </a:prstGeom>
          <a:solidFill>
            <a:srgbClr val="4967E9"/>
          </a:solidFill>
          <a:ln/>
        </p:spPr>
        <p:txBody>
          <a:bodyPr/>
          <a:lstStyle/>
          <a:p>
            <a:endParaRPr lang="fr-TN"/>
          </a:p>
        </p:txBody>
      </p:sp>
      <p:sp>
        <p:nvSpPr>
          <p:cNvPr id="13" name="Text 11"/>
          <p:cNvSpPr/>
          <p:nvPr/>
        </p:nvSpPr>
        <p:spPr>
          <a:xfrm>
            <a:off x="4692551" y="2187848"/>
            <a:ext cx="1187128"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Sprint 2</a:t>
            </a:r>
            <a:endParaRPr lang="en-US" sz="900" dirty="0"/>
          </a:p>
        </p:txBody>
      </p:sp>
      <p:sp>
        <p:nvSpPr>
          <p:cNvPr id="14" name="Text 12"/>
          <p:cNvSpPr/>
          <p:nvPr/>
        </p:nvSpPr>
        <p:spPr>
          <a:xfrm>
            <a:off x="4692551" y="2408858"/>
            <a:ext cx="3628727" cy="134094"/>
          </a:xfrm>
          <a:prstGeom prst="rect">
            <a:avLst/>
          </a:prstGeom>
          <a:noFill/>
          <a:ln/>
        </p:spPr>
        <p:txBody>
          <a:bodyPr wrap="none" lIns="0" tIns="0" rIns="0" bIns="0" rtlCol="0" anchor="t"/>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SSE stream endpoint, Zustand store, 3D WebGL Earth at 60fps.</a:t>
            </a:r>
            <a:endParaRPr lang="en-US" sz="700" dirty="0"/>
          </a:p>
        </p:txBody>
      </p:sp>
      <p:sp>
        <p:nvSpPr>
          <p:cNvPr id="15" name="Text 13"/>
          <p:cNvSpPr/>
          <p:nvPr/>
        </p:nvSpPr>
        <p:spPr>
          <a:xfrm>
            <a:off x="4692551" y="2686869"/>
            <a:ext cx="189905" cy="118690"/>
          </a:xfrm>
          <a:prstGeom prst="rect">
            <a:avLst/>
          </a:prstGeom>
          <a:noFill/>
          <a:ln/>
        </p:spPr>
        <p:txBody>
          <a:bodyPr wrap="none" lIns="0" tIns="0" rIns="0" bIns="0" rtlCol="0" anchor="ctr"/>
          <a:lstStyle/>
          <a:p>
            <a:pPr marL="0" indent="0" algn="l">
              <a:lnSpc>
                <a:spcPct val="100000"/>
              </a:lnSpc>
              <a:buNone/>
            </a:pPr>
            <a:r>
              <a:rPr lang="en-US" sz="700" dirty="0">
                <a:solidFill>
                  <a:srgbClr val="404155"/>
                </a:solidFill>
                <a:latin typeface="Corben Light" pitchFamily="34" charset="0"/>
                <a:ea typeface="Corben Light" pitchFamily="34" charset="-122"/>
                <a:cs typeface="Corben Light" pitchFamily="34" charset="-120"/>
              </a:rPr>
              <a:t>03</a:t>
            </a:r>
            <a:endParaRPr lang="en-US" sz="700" dirty="0"/>
          </a:p>
        </p:txBody>
      </p:sp>
      <p:sp>
        <p:nvSpPr>
          <p:cNvPr id="16" name="Shape 14"/>
          <p:cNvSpPr/>
          <p:nvPr/>
        </p:nvSpPr>
        <p:spPr>
          <a:xfrm>
            <a:off x="4692551" y="2838748"/>
            <a:ext cx="3628727" cy="9525"/>
          </a:xfrm>
          <a:prstGeom prst="rect">
            <a:avLst/>
          </a:prstGeom>
          <a:solidFill>
            <a:srgbClr val="4967E9"/>
          </a:solidFill>
          <a:ln/>
        </p:spPr>
        <p:txBody>
          <a:bodyPr/>
          <a:lstStyle/>
          <a:p>
            <a:endParaRPr lang="fr-TN"/>
          </a:p>
        </p:txBody>
      </p:sp>
      <p:sp>
        <p:nvSpPr>
          <p:cNvPr id="17" name="Text 15"/>
          <p:cNvSpPr/>
          <p:nvPr/>
        </p:nvSpPr>
        <p:spPr>
          <a:xfrm>
            <a:off x="4692551" y="2905274"/>
            <a:ext cx="1187128"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Sprint 3</a:t>
            </a:r>
            <a:endParaRPr lang="en-US" sz="900" dirty="0"/>
          </a:p>
        </p:txBody>
      </p:sp>
      <p:sp>
        <p:nvSpPr>
          <p:cNvPr id="18" name="Text 16"/>
          <p:cNvSpPr/>
          <p:nvPr/>
        </p:nvSpPr>
        <p:spPr>
          <a:xfrm>
            <a:off x="4692551" y="3126284"/>
            <a:ext cx="3628727" cy="134094"/>
          </a:xfrm>
          <a:prstGeom prst="rect">
            <a:avLst/>
          </a:prstGeom>
          <a:noFill/>
          <a:ln/>
        </p:spPr>
        <p:txBody>
          <a:bodyPr wrap="none" lIns="0" tIns="0" rIns="0" bIns="0" rtlCol="0" anchor="t"/>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STIX 2.1 JSON parser and MITRE ATT&amp;CK Kill Chain mapping grid.</a:t>
            </a:r>
            <a:endParaRPr lang="en-US" sz="700" dirty="0"/>
          </a:p>
        </p:txBody>
      </p:sp>
      <p:sp>
        <p:nvSpPr>
          <p:cNvPr id="19" name="Text 17"/>
          <p:cNvSpPr/>
          <p:nvPr/>
        </p:nvSpPr>
        <p:spPr>
          <a:xfrm>
            <a:off x="4692551" y="3404295"/>
            <a:ext cx="189905" cy="118690"/>
          </a:xfrm>
          <a:prstGeom prst="rect">
            <a:avLst/>
          </a:prstGeom>
          <a:noFill/>
          <a:ln/>
        </p:spPr>
        <p:txBody>
          <a:bodyPr wrap="none" lIns="0" tIns="0" rIns="0" bIns="0" rtlCol="0" anchor="ctr"/>
          <a:lstStyle/>
          <a:p>
            <a:pPr marL="0" indent="0" algn="l">
              <a:lnSpc>
                <a:spcPct val="100000"/>
              </a:lnSpc>
              <a:buNone/>
            </a:pPr>
            <a:r>
              <a:rPr lang="en-US" sz="700" dirty="0">
                <a:solidFill>
                  <a:srgbClr val="404155"/>
                </a:solidFill>
                <a:latin typeface="Corben Light" pitchFamily="34" charset="0"/>
                <a:ea typeface="Corben Light" pitchFamily="34" charset="-122"/>
                <a:cs typeface="Corben Light" pitchFamily="34" charset="-120"/>
              </a:rPr>
              <a:t>04</a:t>
            </a:r>
            <a:endParaRPr lang="en-US" sz="700" dirty="0"/>
          </a:p>
        </p:txBody>
      </p:sp>
      <p:sp>
        <p:nvSpPr>
          <p:cNvPr id="20" name="Shape 18"/>
          <p:cNvSpPr/>
          <p:nvPr/>
        </p:nvSpPr>
        <p:spPr>
          <a:xfrm>
            <a:off x="4692551" y="3556174"/>
            <a:ext cx="3628727" cy="9525"/>
          </a:xfrm>
          <a:prstGeom prst="rect">
            <a:avLst/>
          </a:prstGeom>
          <a:solidFill>
            <a:srgbClr val="4967E9"/>
          </a:solidFill>
          <a:ln/>
        </p:spPr>
        <p:txBody>
          <a:bodyPr/>
          <a:lstStyle/>
          <a:p>
            <a:endParaRPr lang="fr-TN"/>
          </a:p>
        </p:txBody>
      </p:sp>
      <p:sp>
        <p:nvSpPr>
          <p:cNvPr id="21" name="Text 19"/>
          <p:cNvSpPr/>
          <p:nvPr/>
        </p:nvSpPr>
        <p:spPr>
          <a:xfrm>
            <a:off x="4692551" y="3622700"/>
            <a:ext cx="1187128" cy="148307"/>
          </a:xfrm>
          <a:prstGeom prst="rect">
            <a:avLst/>
          </a:prstGeom>
          <a:noFill/>
          <a:ln/>
        </p:spPr>
        <p:txBody>
          <a:bodyPr wrap="none" lIns="0" tIns="0" rIns="0" bIns="0" rtlCol="0" anchor="t"/>
          <a:lstStyle/>
          <a:p>
            <a:pPr marL="0" indent="0" algn="l">
              <a:lnSpc>
                <a:spcPct val="104000"/>
              </a:lnSpc>
              <a:buNone/>
            </a:pPr>
            <a:r>
              <a:rPr lang="en-US" sz="900" dirty="0">
                <a:solidFill>
                  <a:srgbClr val="404155"/>
                </a:solidFill>
                <a:latin typeface="Corben" pitchFamily="34" charset="0"/>
                <a:ea typeface="Corben" pitchFamily="34" charset="-122"/>
                <a:cs typeface="Corben" pitchFamily="34" charset="-120"/>
              </a:rPr>
              <a:t>Sprint 4</a:t>
            </a:r>
            <a:endParaRPr lang="en-US" sz="900" dirty="0"/>
          </a:p>
        </p:txBody>
      </p:sp>
      <p:sp>
        <p:nvSpPr>
          <p:cNvPr id="22" name="Text 20"/>
          <p:cNvSpPr/>
          <p:nvPr/>
        </p:nvSpPr>
        <p:spPr>
          <a:xfrm>
            <a:off x="4692551" y="3843710"/>
            <a:ext cx="3628727" cy="134094"/>
          </a:xfrm>
          <a:prstGeom prst="rect">
            <a:avLst/>
          </a:prstGeom>
          <a:noFill/>
          <a:ln/>
        </p:spPr>
        <p:txBody>
          <a:bodyPr wrap="none" lIns="0" tIns="0" rIns="0" bIns="0" rtlCol="0" anchor="t"/>
          <a:lstStyle/>
          <a:p>
            <a:pPr marL="0" indent="0" algn="l">
              <a:lnSpc>
                <a:spcPct val="118000"/>
              </a:lnSpc>
              <a:buNone/>
            </a:pPr>
            <a:r>
              <a:rPr lang="en-US" sz="700" dirty="0">
                <a:solidFill>
                  <a:srgbClr val="404155"/>
                </a:solidFill>
                <a:latin typeface="Nobile" pitchFamily="34" charset="0"/>
                <a:ea typeface="Nobile" pitchFamily="34" charset="-122"/>
                <a:cs typeface="Nobile" pitchFamily="34" charset="-120"/>
              </a:rPr>
              <a:t>History browser, Target My IP, RingBuffer, adaptive FPS sampling.</a:t>
            </a:r>
            <a:endParaRPr lang="en-US" sz="700" dirty="0"/>
          </a:p>
        </p:txBody>
      </p:sp>
      <p:sp>
        <p:nvSpPr>
          <p:cNvPr id="23" name="Shape 21"/>
          <p:cNvSpPr/>
          <p:nvPr/>
        </p:nvSpPr>
        <p:spPr>
          <a:xfrm>
            <a:off x="4692551" y="4130799"/>
            <a:ext cx="3628727" cy="580579"/>
          </a:xfrm>
          <a:prstGeom prst="roundRect">
            <a:avLst>
              <a:gd name="adj" fmla="val 6871"/>
            </a:avLst>
          </a:prstGeom>
          <a:solidFill>
            <a:srgbClr val="B6D6FC"/>
          </a:solidFill>
          <a:ln/>
        </p:spPr>
        <p:txBody>
          <a:bodyPr/>
          <a:lstStyle/>
          <a:p>
            <a:endParaRPr lang="fr-TN"/>
          </a:p>
        </p:txBody>
      </p:sp>
      <p:pic>
        <p:nvPicPr>
          <p:cNvPr id="24" name="Image 0" descr="preencoded.png"/>
          <p:cNvPicPr>
            <a:picLocks noChangeAspect="1"/>
          </p:cNvPicPr>
          <p:nvPr/>
        </p:nvPicPr>
        <p:blipFill>
          <a:blip r:embed="rId3"/>
          <a:stretch>
            <a:fillRect/>
          </a:stretch>
        </p:blipFill>
        <p:spPr>
          <a:xfrm>
            <a:off x="4787503" y="4256856"/>
            <a:ext cx="118690" cy="94952"/>
          </a:xfrm>
          <a:prstGeom prst="rect">
            <a:avLst/>
          </a:prstGeom>
        </p:spPr>
      </p:pic>
      <p:sp>
        <p:nvSpPr>
          <p:cNvPr id="25" name="Text 22"/>
          <p:cNvSpPr/>
          <p:nvPr/>
        </p:nvSpPr>
        <p:spPr>
          <a:xfrm>
            <a:off x="5001146" y="4219947"/>
            <a:ext cx="3225180" cy="402282"/>
          </a:xfrm>
          <a:prstGeom prst="rect">
            <a:avLst/>
          </a:prstGeom>
          <a:noFill/>
          <a:ln/>
        </p:spPr>
        <p:txBody>
          <a:bodyPr wrap="square" lIns="0" tIns="0" rIns="0" bIns="0" rtlCol="0" anchor="t">
            <a:normAutofit/>
          </a:bodyPr>
          <a:lstStyle/>
          <a:p>
            <a:pPr marL="0" indent="0" algn="l">
              <a:lnSpc>
                <a:spcPct val="118000"/>
              </a:lnSpc>
              <a:buNone/>
            </a:pPr>
            <a:r>
              <a:rPr lang="en-US" sz="700" b="1" dirty="0">
                <a:solidFill>
                  <a:srgbClr val="000000"/>
                </a:solidFill>
                <a:latin typeface="Nobile" pitchFamily="34" charset="0"/>
                <a:ea typeface="Nobile" pitchFamily="34" charset="-122"/>
                <a:cs typeface="Nobile" pitchFamily="34" charset="-120"/>
              </a:rPr>
              <a:t>Twice-weekly rituals:</a:t>
            </a:r>
            <a:r>
              <a:rPr lang="en-US" sz="700" dirty="0">
                <a:solidFill>
                  <a:srgbClr val="000000"/>
                </a:solidFill>
                <a:latin typeface="Nobile" pitchFamily="34" charset="0"/>
                <a:ea typeface="Nobile" pitchFamily="34" charset="-122"/>
                <a:cs typeface="Nobile" pitchFamily="34" charset="-120"/>
              </a:rPr>
              <a:t> Thursdays (code merge &amp; WebGL profiling) and Sundays (architectural consolidation &amp; LaTeX documentation) — 48+ sessions over 6 months.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472008"/>
            <a:ext cx="2160463" cy="4199483"/>
          </a:xfrm>
          <a:prstGeom prst="rect">
            <a:avLst/>
          </a:prstGeom>
        </p:spPr>
      </p:pic>
      <p:sp>
        <p:nvSpPr>
          <p:cNvPr id="3" name="Text 0"/>
          <p:cNvSpPr/>
          <p:nvPr/>
        </p:nvSpPr>
        <p:spPr>
          <a:xfrm>
            <a:off x="3621956" y="447452"/>
            <a:ext cx="5487814" cy="180231"/>
          </a:xfrm>
          <a:prstGeom prst="rect">
            <a:avLst/>
          </a:prstGeom>
          <a:noFill/>
          <a:ln/>
        </p:spPr>
        <p:txBody>
          <a:bodyPr wrap="none" lIns="0" tIns="0" rIns="0" bIns="0" rtlCol="0" anchor="t"/>
          <a:lstStyle/>
          <a:p>
            <a:pPr marL="0" indent="0" algn="l">
              <a:lnSpc>
                <a:spcPct val="129000"/>
              </a:lnSpc>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1063749"/>
            <a:ext cx="1808783"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1100956"/>
            <a:ext cx="2117154"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1346522"/>
            <a:ext cx="4925764"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Identification of System Actors</a:t>
            </a:r>
            <a:endParaRPr lang="en-US" sz="2400" dirty="0"/>
          </a:p>
        </p:txBody>
      </p:sp>
      <p:sp>
        <p:nvSpPr>
          <p:cNvPr id="5" name="Shape 3"/>
          <p:cNvSpPr/>
          <p:nvPr/>
        </p:nvSpPr>
        <p:spPr>
          <a:xfrm>
            <a:off x="406822" y="1920106"/>
            <a:ext cx="4103191" cy="2159571"/>
          </a:xfrm>
          <a:prstGeom prst="roundRect">
            <a:avLst>
              <a:gd name="adj" fmla="val 4136"/>
            </a:avLst>
          </a:prstGeom>
          <a:solidFill>
            <a:srgbClr val="4967E9">
              <a:alpha val="95000"/>
            </a:srgbClr>
          </a:solidFill>
          <a:ln/>
        </p:spPr>
        <p:txBody>
          <a:bodyPr/>
          <a:lstStyle/>
          <a:p>
            <a:endParaRPr lang="fr-TN"/>
          </a:p>
        </p:txBody>
      </p:sp>
      <p:sp>
        <p:nvSpPr>
          <p:cNvPr id="6" name="Text 4"/>
          <p:cNvSpPr/>
          <p:nvPr/>
        </p:nvSpPr>
        <p:spPr>
          <a:xfrm>
            <a:off x="530796" y="2044080"/>
            <a:ext cx="3074715"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Corben" pitchFamily="34" charset="0"/>
                <a:ea typeface="Corben" pitchFamily="34" charset="-122"/>
                <a:cs typeface="Corben" pitchFamily="34" charset="-120"/>
              </a:rPr>
              <a:t>System Actor: External Threat Feeds</a:t>
            </a:r>
            <a:endParaRPr lang="en-US" sz="1200" dirty="0"/>
          </a:p>
        </p:txBody>
      </p:sp>
      <p:sp>
        <p:nvSpPr>
          <p:cNvPr id="7" name="Text 5"/>
          <p:cNvSpPr/>
          <p:nvPr/>
        </p:nvSpPr>
        <p:spPr>
          <a:xfrm>
            <a:off x="530796" y="2361902"/>
            <a:ext cx="3855244"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Nobile" pitchFamily="34" charset="0"/>
                <a:ea typeface="Nobile" pitchFamily="34" charset="-122"/>
                <a:cs typeface="Nobile" pitchFamily="34" charset="-120"/>
              </a:rPr>
              <a:t>Automatically pushes Indicators of Compromise (IOCs) — malicious IPs, domains, malware hashes — via HTTP REST APIs, SSE feeds, and WebSockets.</a:t>
            </a:r>
            <a:endParaRPr lang="en-US" sz="950" dirty="0"/>
          </a:p>
        </p:txBody>
      </p:sp>
      <p:sp>
        <p:nvSpPr>
          <p:cNvPr id="8" name="Text 6"/>
          <p:cNvSpPr/>
          <p:nvPr/>
        </p:nvSpPr>
        <p:spPr>
          <a:xfrm>
            <a:off x="530796" y="3068910"/>
            <a:ext cx="3855244"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FFFFFF"/>
                </a:solidFill>
                <a:latin typeface="Nobile" pitchFamily="34" charset="0"/>
                <a:ea typeface="Nobile" pitchFamily="34" charset="-122"/>
                <a:cs typeface="Nobile" pitchFamily="34" charset="-120"/>
              </a:rPr>
              <a:t>Triggers backend ingestion asynchronously</a:t>
            </a:r>
            <a:endParaRPr lang="en-US" sz="950" dirty="0"/>
          </a:p>
          <a:p>
            <a:pPr marL="342900" indent="-342900" algn="l">
              <a:lnSpc>
                <a:spcPct val="133000"/>
              </a:lnSpc>
              <a:buSzPct val="100000"/>
              <a:buChar char="•"/>
            </a:pPr>
            <a:r>
              <a:rPr lang="en-US" sz="950" dirty="0">
                <a:solidFill>
                  <a:srgbClr val="FFFFFF"/>
                </a:solidFill>
                <a:latin typeface="Nobile" pitchFamily="34" charset="0"/>
                <a:ea typeface="Nobile" pitchFamily="34" charset="-122"/>
                <a:cs typeface="Nobile" pitchFamily="34" charset="-120"/>
              </a:rPr>
              <a:t>9+ distinct feed sources integrated</a:t>
            </a:r>
            <a:endParaRPr lang="en-US" sz="950" dirty="0"/>
          </a:p>
          <a:p>
            <a:pPr marL="342900" indent="-342900" algn="l">
              <a:lnSpc>
                <a:spcPct val="133000"/>
              </a:lnSpc>
              <a:buSzPct val="100000"/>
              <a:buChar char="•"/>
            </a:pPr>
            <a:r>
              <a:rPr lang="en-US" sz="950" dirty="0">
                <a:solidFill>
                  <a:srgbClr val="FFFFFF"/>
                </a:solidFill>
                <a:latin typeface="Nobile" pitchFamily="34" charset="0"/>
                <a:ea typeface="Nobile" pitchFamily="34" charset="-122"/>
                <a:cs typeface="Nobile" pitchFamily="34" charset="-120"/>
              </a:rPr>
              <a:t>Operates continuously without human intervention</a:t>
            </a:r>
            <a:endParaRPr lang="en-US" sz="950" dirty="0"/>
          </a:p>
        </p:txBody>
      </p:sp>
      <p:sp>
        <p:nvSpPr>
          <p:cNvPr id="9" name="Text 7"/>
          <p:cNvSpPr/>
          <p:nvPr/>
        </p:nvSpPr>
        <p:spPr>
          <a:xfrm>
            <a:off x="4728046" y="2044080"/>
            <a:ext cx="3174057"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Human Actor: Security Analyst (SOC)</a:t>
            </a:r>
            <a:endParaRPr lang="en-US" sz="1200" dirty="0"/>
          </a:p>
        </p:txBody>
      </p:sp>
      <p:sp>
        <p:nvSpPr>
          <p:cNvPr id="10" name="Text 8"/>
          <p:cNvSpPr/>
          <p:nvPr/>
        </p:nvSpPr>
        <p:spPr>
          <a:xfrm>
            <a:off x="4728046" y="2361902"/>
            <a:ext cx="392459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Interacts with the frontend dashboard to monitor, investigate, and export threat intelligence.</a:t>
            </a:r>
            <a:endParaRPr lang="en-US" sz="950" dirty="0"/>
          </a:p>
        </p:txBody>
      </p:sp>
      <p:sp>
        <p:nvSpPr>
          <p:cNvPr id="11" name="Text 9"/>
          <p:cNvSpPr/>
          <p:nvPr/>
        </p:nvSpPr>
        <p:spPr>
          <a:xfrm>
            <a:off x="4728046" y="2870448"/>
            <a:ext cx="3924598"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404155"/>
                </a:solidFill>
                <a:latin typeface="Nobile" pitchFamily="34" charset="0"/>
                <a:ea typeface="Nobile" pitchFamily="34" charset="-122"/>
                <a:cs typeface="Nobile" pitchFamily="34" charset="-120"/>
              </a:rPr>
              <a:t>Monitors the 3D globe and 2D dashboard in real-time</a:t>
            </a:r>
            <a:endParaRPr lang="en-US" sz="950" dirty="0"/>
          </a:p>
          <a:p>
            <a:pPr marL="342900" indent="-342900" algn="l">
              <a:lnSpc>
                <a:spcPct val="133000"/>
              </a:lnSpc>
              <a:buSzPct val="100000"/>
              <a:buChar char="•"/>
            </a:pPr>
            <a:r>
              <a:rPr lang="en-US" sz="950" dirty="0">
                <a:solidFill>
                  <a:srgbClr val="404155"/>
                </a:solidFill>
                <a:latin typeface="Nobile" pitchFamily="34" charset="0"/>
                <a:ea typeface="Nobile" pitchFamily="34" charset="-122"/>
                <a:cs typeface="Nobile" pitchFamily="34" charset="-120"/>
              </a:rPr>
              <a:t>Filters alerts by country, sector, and malware type</a:t>
            </a:r>
            <a:endParaRPr lang="en-US" sz="950" dirty="0"/>
          </a:p>
          <a:p>
            <a:pPr marL="342900" indent="-342900" algn="l">
              <a:lnSpc>
                <a:spcPct val="133000"/>
              </a:lnSpc>
              <a:buSzPct val="100000"/>
              <a:buChar char="•"/>
            </a:pPr>
            <a:r>
              <a:rPr lang="en-US" sz="950" dirty="0">
                <a:solidFill>
                  <a:srgbClr val="404155"/>
                </a:solidFill>
                <a:latin typeface="Nobile" pitchFamily="34" charset="0"/>
                <a:ea typeface="Nobile" pitchFamily="34" charset="-122"/>
                <a:cs typeface="Nobile" pitchFamily="34" charset="-120"/>
              </a:rPr>
              <a:t>Searches historical logs and exports to Excel</a:t>
            </a:r>
            <a:endParaRPr lang="en-US" sz="950" dirty="0"/>
          </a:p>
          <a:p>
            <a:pPr marL="342900" indent="-342900" algn="l">
              <a:lnSpc>
                <a:spcPct val="133000"/>
              </a:lnSpc>
              <a:buSzPct val="100000"/>
              <a:buChar char="•"/>
            </a:pPr>
            <a:r>
              <a:rPr lang="en-US" sz="950" dirty="0">
                <a:solidFill>
                  <a:srgbClr val="404155"/>
                </a:solidFill>
                <a:latin typeface="Nobile" pitchFamily="34" charset="0"/>
                <a:ea typeface="Nobile" pitchFamily="34" charset="-122"/>
                <a:cs typeface="Nobile" pitchFamily="34" charset="-120"/>
              </a:rPr>
              <a:t>Uploads and parses local STIX 2.1 intelligence bundles</a:t>
            </a:r>
            <a:endParaRPr lang="en-US" sz="950" dirty="0"/>
          </a:p>
          <a:p>
            <a:pPr marL="342900" indent="-342900" algn="l">
              <a:lnSpc>
                <a:spcPct val="133000"/>
              </a:lnSpc>
              <a:buSzPct val="100000"/>
              <a:buChar char="•"/>
            </a:pPr>
            <a:r>
              <a:rPr lang="en-US" sz="950" dirty="0">
                <a:solidFill>
                  <a:srgbClr val="404155"/>
                </a:solidFill>
                <a:latin typeface="Nobile" pitchFamily="34" charset="0"/>
                <a:ea typeface="Nobile" pitchFamily="34" charset="-122"/>
                <a:cs typeface="Nobile" pitchFamily="34" charset="-120"/>
              </a:rPr>
              <a:t>Geolocates their own public IP via "Target My IP"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437108"/>
            <a:ext cx="1808783"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474315"/>
            <a:ext cx="2117154"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719882"/>
            <a:ext cx="6180906"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Functional Requirements (RF-1 to RF-9)</a:t>
            </a:r>
            <a:endParaRPr lang="en-US" sz="2400" dirty="0"/>
          </a:p>
        </p:txBody>
      </p:sp>
      <p:sp>
        <p:nvSpPr>
          <p:cNvPr id="5" name="Shape 3"/>
          <p:cNvSpPr/>
          <p:nvPr/>
        </p:nvSpPr>
        <p:spPr>
          <a:xfrm>
            <a:off x="496119" y="1293465"/>
            <a:ext cx="1944960" cy="1121122"/>
          </a:xfrm>
          <a:prstGeom prst="roundRect">
            <a:avLst>
              <a:gd name="adj" fmla="val 4647"/>
            </a:avLst>
          </a:prstGeom>
          <a:solidFill>
            <a:srgbClr val="D2D9F9"/>
          </a:solidFill>
          <a:ln w="4763">
            <a:solidFill>
              <a:srgbClr val="B8BFDF"/>
            </a:solidFill>
            <a:prstDash val="solid"/>
          </a:ln>
        </p:spPr>
        <p:txBody>
          <a:bodyPr/>
          <a:lstStyle/>
          <a:p>
            <a:endParaRPr lang="fr-TN"/>
          </a:p>
        </p:txBody>
      </p:sp>
      <p:sp>
        <p:nvSpPr>
          <p:cNvPr id="6" name="Text 4"/>
          <p:cNvSpPr/>
          <p:nvPr/>
        </p:nvSpPr>
        <p:spPr>
          <a:xfrm>
            <a:off x="624855" y="142220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RF-1</a:t>
            </a:r>
            <a:endParaRPr lang="en-US" sz="1200" dirty="0"/>
          </a:p>
        </p:txBody>
      </p:sp>
      <p:sp>
        <p:nvSpPr>
          <p:cNvPr id="7" name="Text 5"/>
          <p:cNvSpPr/>
          <p:nvPr/>
        </p:nvSpPr>
        <p:spPr>
          <a:xfrm>
            <a:off x="624855" y="1690464"/>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Multi-feed ingestion from 9+ sources (AlienVault, URLhaus, Checkpoint, etc.)</a:t>
            </a:r>
            <a:endParaRPr lang="en-US" sz="950" dirty="0"/>
          </a:p>
        </p:txBody>
      </p:sp>
      <p:sp>
        <p:nvSpPr>
          <p:cNvPr id="8" name="Shape 6"/>
          <p:cNvSpPr/>
          <p:nvPr/>
        </p:nvSpPr>
        <p:spPr>
          <a:xfrm>
            <a:off x="2565053" y="1293465"/>
            <a:ext cx="1944960" cy="1121122"/>
          </a:xfrm>
          <a:prstGeom prst="roundRect">
            <a:avLst>
              <a:gd name="adj" fmla="val 4647"/>
            </a:avLst>
          </a:prstGeom>
          <a:solidFill>
            <a:srgbClr val="D2D9F9"/>
          </a:solidFill>
          <a:ln w="4763">
            <a:solidFill>
              <a:srgbClr val="B8BFDF"/>
            </a:solidFill>
            <a:prstDash val="solid"/>
          </a:ln>
        </p:spPr>
        <p:txBody>
          <a:bodyPr/>
          <a:lstStyle/>
          <a:p>
            <a:endParaRPr lang="fr-TN"/>
          </a:p>
        </p:txBody>
      </p:sp>
      <p:sp>
        <p:nvSpPr>
          <p:cNvPr id="9" name="Text 7"/>
          <p:cNvSpPr/>
          <p:nvPr/>
        </p:nvSpPr>
        <p:spPr>
          <a:xfrm>
            <a:off x="2693789" y="142220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RF-2</a:t>
            </a:r>
            <a:endParaRPr lang="en-US" sz="1200" dirty="0"/>
          </a:p>
        </p:txBody>
      </p:sp>
      <p:sp>
        <p:nvSpPr>
          <p:cNvPr id="10" name="Text 8"/>
          <p:cNvSpPr/>
          <p:nvPr/>
        </p:nvSpPr>
        <p:spPr>
          <a:xfrm>
            <a:off x="2693789" y="1690464"/>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IP geolocation enrichment using local geocoding library (lat/lon, ISO code, ASN)</a:t>
            </a:r>
            <a:endParaRPr lang="en-US" sz="950" dirty="0"/>
          </a:p>
        </p:txBody>
      </p:sp>
      <p:sp>
        <p:nvSpPr>
          <p:cNvPr id="11" name="Shape 9"/>
          <p:cNvSpPr/>
          <p:nvPr/>
        </p:nvSpPr>
        <p:spPr>
          <a:xfrm>
            <a:off x="4633987" y="1293465"/>
            <a:ext cx="1944960" cy="1121122"/>
          </a:xfrm>
          <a:prstGeom prst="roundRect">
            <a:avLst>
              <a:gd name="adj" fmla="val 4647"/>
            </a:avLst>
          </a:prstGeom>
          <a:solidFill>
            <a:srgbClr val="D2D9F9"/>
          </a:solidFill>
          <a:ln w="4763">
            <a:solidFill>
              <a:srgbClr val="B8BFDF"/>
            </a:solidFill>
            <a:prstDash val="solid"/>
          </a:ln>
        </p:spPr>
        <p:txBody>
          <a:bodyPr/>
          <a:lstStyle/>
          <a:p>
            <a:endParaRPr lang="fr-TN"/>
          </a:p>
        </p:txBody>
      </p:sp>
      <p:sp>
        <p:nvSpPr>
          <p:cNvPr id="12" name="Text 10"/>
          <p:cNvSpPr/>
          <p:nvPr/>
        </p:nvSpPr>
        <p:spPr>
          <a:xfrm>
            <a:off x="4762723" y="142220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RF-3</a:t>
            </a:r>
            <a:endParaRPr lang="en-US" sz="1200" dirty="0"/>
          </a:p>
        </p:txBody>
      </p:sp>
      <p:sp>
        <p:nvSpPr>
          <p:cNvPr id="13" name="Text 11"/>
          <p:cNvSpPr/>
          <p:nvPr/>
        </p:nvSpPr>
        <p:spPr>
          <a:xfrm>
            <a:off x="4762723" y="1690464"/>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5-layer sector classification into 9 critical industries (Healthcare, Finance, Gov…)</a:t>
            </a:r>
            <a:endParaRPr lang="en-US" sz="950" dirty="0"/>
          </a:p>
        </p:txBody>
      </p:sp>
      <p:sp>
        <p:nvSpPr>
          <p:cNvPr id="14" name="Shape 12"/>
          <p:cNvSpPr/>
          <p:nvPr/>
        </p:nvSpPr>
        <p:spPr>
          <a:xfrm>
            <a:off x="6702921" y="1293465"/>
            <a:ext cx="1944960" cy="1121122"/>
          </a:xfrm>
          <a:prstGeom prst="roundRect">
            <a:avLst>
              <a:gd name="adj" fmla="val 4647"/>
            </a:avLst>
          </a:prstGeom>
          <a:solidFill>
            <a:srgbClr val="D2D9F9"/>
          </a:solidFill>
          <a:ln w="4763">
            <a:solidFill>
              <a:srgbClr val="B8BFDF"/>
            </a:solidFill>
            <a:prstDash val="solid"/>
          </a:ln>
        </p:spPr>
        <p:txBody>
          <a:bodyPr/>
          <a:lstStyle/>
          <a:p>
            <a:endParaRPr lang="fr-TN"/>
          </a:p>
        </p:txBody>
      </p:sp>
      <p:sp>
        <p:nvSpPr>
          <p:cNvPr id="15" name="Text 13"/>
          <p:cNvSpPr/>
          <p:nvPr/>
        </p:nvSpPr>
        <p:spPr>
          <a:xfrm>
            <a:off x="6831657" y="1422202"/>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RF-4</a:t>
            </a:r>
            <a:endParaRPr lang="en-US" sz="1200" dirty="0"/>
          </a:p>
        </p:txBody>
      </p:sp>
      <p:sp>
        <p:nvSpPr>
          <p:cNvPr id="16" name="Text 14"/>
          <p:cNvSpPr/>
          <p:nvPr/>
        </p:nvSpPr>
        <p:spPr>
          <a:xfrm>
            <a:off x="6831657" y="1690464"/>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Real-time SSE streaming with 300ms batching queue and keep-alive heartbeat</a:t>
            </a:r>
            <a:endParaRPr lang="en-US" sz="950" dirty="0"/>
          </a:p>
        </p:txBody>
      </p:sp>
      <p:sp>
        <p:nvSpPr>
          <p:cNvPr id="17" name="Shape 15"/>
          <p:cNvSpPr/>
          <p:nvPr/>
        </p:nvSpPr>
        <p:spPr>
          <a:xfrm>
            <a:off x="496119" y="2538561"/>
            <a:ext cx="1944960" cy="1319585"/>
          </a:xfrm>
          <a:prstGeom prst="roundRect">
            <a:avLst>
              <a:gd name="adj" fmla="val 3948"/>
            </a:avLst>
          </a:prstGeom>
          <a:solidFill>
            <a:srgbClr val="D2D9F9"/>
          </a:solidFill>
          <a:ln w="4763">
            <a:solidFill>
              <a:srgbClr val="B8BFDF"/>
            </a:solidFill>
            <a:prstDash val="solid"/>
          </a:ln>
        </p:spPr>
        <p:txBody>
          <a:bodyPr/>
          <a:lstStyle/>
          <a:p>
            <a:endParaRPr lang="fr-TN"/>
          </a:p>
        </p:txBody>
      </p:sp>
      <p:sp>
        <p:nvSpPr>
          <p:cNvPr id="18" name="Text 16"/>
          <p:cNvSpPr/>
          <p:nvPr/>
        </p:nvSpPr>
        <p:spPr>
          <a:xfrm>
            <a:off x="624855" y="2667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RF-5</a:t>
            </a:r>
            <a:endParaRPr lang="en-US" sz="1200" dirty="0"/>
          </a:p>
        </p:txBody>
      </p:sp>
      <p:sp>
        <p:nvSpPr>
          <p:cNvPr id="19" name="Text 17"/>
          <p:cNvSpPr/>
          <p:nvPr/>
        </p:nvSpPr>
        <p:spPr>
          <a:xfrm>
            <a:off x="624855" y="2935560"/>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3D WebGL Threat Map with animated arcs, pulsating markers, 2D/3D toggle</a:t>
            </a:r>
            <a:endParaRPr lang="en-US" sz="950" dirty="0"/>
          </a:p>
        </p:txBody>
      </p:sp>
      <p:sp>
        <p:nvSpPr>
          <p:cNvPr id="20" name="Shape 18"/>
          <p:cNvSpPr/>
          <p:nvPr/>
        </p:nvSpPr>
        <p:spPr>
          <a:xfrm>
            <a:off x="2565053" y="2538561"/>
            <a:ext cx="1944960" cy="1319585"/>
          </a:xfrm>
          <a:prstGeom prst="roundRect">
            <a:avLst>
              <a:gd name="adj" fmla="val 3948"/>
            </a:avLst>
          </a:prstGeom>
          <a:solidFill>
            <a:srgbClr val="D2D9F9"/>
          </a:solidFill>
          <a:ln w="4763">
            <a:solidFill>
              <a:srgbClr val="B8BFDF"/>
            </a:solidFill>
            <a:prstDash val="solid"/>
          </a:ln>
        </p:spPr>
        <p:txBody>
          <a:bodyPr/>
          <a:lstStyle/>
          <a:p>
            <a:endParaRPr lang="fr-TN"/>
          </a:p>
        </p:txBody>
      </p:sp>
      <p:sp>
        <p:nvSpPr>
          <p:cNvPr id="21" name="Text 19"/>
          <p:cNvSpPr/>
          <p:nvPr/>
        </p:nvSpPr>
        <p:spPr>
          <a:xfrm>
            <a:off x="2693789" y="2667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RF-6</a:t>
            </a:r>
            <a:endParaRPr lang="en-US" sz="1200" dirty="0"/>
          </a:p>
        </p:txBody>
      </p:sp>
      <p:sp>
        <p:nvSpPr>
          <p:cNvPr id="22" name="Text 20"/>
          <p:cNvSpPr/>
          <p:nvPr/>
        </p:nvSpPr>
        <p:spPr>
          <a:xfrm>
            <a:off x="2693789" y="2935560"/>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Client-side STIX 2.1 JSON bundle parser (up to 300KB, no server upload)</a:t>
            </a:r>
            <a:endParaRPr lang="en-US" sz="950" dirty="0"/>
          </a:p>
        </p:txBody>
      </p:sp>
      <p:sp>
        <p:nvSpPr>
          <p:cNvPr id="23" name="Shape 21"/>
          <p:cNvSpPr/>
          <p:nvPr/>
        </p:nvSpPr>
        <p:spPr>
          <a:xfrm>
            <a:off x="4633987" y="2538561"/>
            <a:ext cx="1944960" cy="1319585"/>
          </a:xfrm>
          <a:prstGeom prst="roundRect">
            <a:avLst>
              <a:gd name="adj" fmla="val 3948"/>
            </a:avLst>
          </a:prstGeom>
          <a:solidFill>
            <a:srgbClr val="D2D9F9"/>
          </a:solidFill>
          <a:ln w="4763">
            <a:solidFill>
              <a:srgbClr val="B8BFDF"/>
            </a:solidFill>
            <a:prstDash val="solid"/>
          </a:ln>
        </p:spPr>
        <p:txBody>
          <a:bodyPr/>
          <a:lstStyle/>
          <a:p>
            <a:endParaRPr lang="fr-TN"/>
          </a:p>
        </p:txBody>
      </p:sp>
      <p:sp>
        <p:nvSpPr>
          <p:cNvPr id="24" name="Text 22"/>
          <p:cNvSpPr/>
          <p:nvPr/>
        </p:nvSpPr>
        <p:spPr>
          <a:xfrm>
            <a:off x="4762723" y="2667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RF-7</a:t>
            </a:r>
            <a:endParaRPr lang="en-US" sz="1200" dirty="0"/>
          </a:p>
        </p:txBody>
      </p:sp>
      <p:sp>
        <p:nvSpPr>
          <p:cNvPr id="25" name="Text 23"/>
          <p:cNvSpPr/>
          <p:nvPr/>
        </p:nvSpPr>
        <p:spPr>
          <a:xfrm>
            <a:off x="4762723" y="2935560"/>
            <a:ext cx="168748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MITRE ATT&amp;CK Kill Chain mapping across 12 adversary phases</a:t>
            </a:r>
            <a:endParaRPr lang="en-US" sz="950" dirty="0"/>
          </a:p>
        </p:txBody>
      </p:sp>
      <p:sp>
        <p:nvSpPr>
          <p:cNvPr id="26" name="Shape 24"/>
          <p:cNvSpPr/>
          <p:nvPr/>
        </p:nvSpPr>
        <p:spPr>
          <a:xfrm>
            <a:off x="6702921" y="2538561"/>
            <a:ext cx="1944960" cy="1319585"/>
          </a:xfrm>
          <a:prstGeom prst="roundRect">
            <a:avLst>
              <a:gd name="adj" fmla="val 3948"/>
            </a:avLst>
          </a:prstGeom>
          <a:solidFill>
            <a:srgbClr val="D2D9F9"/>
          </a:solidFill>
          <a:ln w="4763">
            <a:solidFill>
              <a:srgbClr val="B8BFDF"/>
            </a:solidFill>
            <a:prstDash val="solid"/>
          </a:ln>
        </p:spPr>
        <p:txBody>
          <a:bodyPr/>
          <a:lstStyle/>
          <a:p>
            <a:endParaRPr lang="fr-TN"/>
          </a:p>
        </p:txBody>
      </p:sp>
      <p:sp>
        <p:nvSpPr>
          <p:cNvPr id="27" name="Text 25"/>
          <p:cNvSpPr/>
          <p:nvPr/>
        </p:nvSpPr>
        <p:spPr>
          <a:xfrm>
            <a:off x="6831657" y="266729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RF-8</a:t>
            </a:r>
            <a:endParaRPr lang="en-US" sz="1200" dirty="0"/>
          </a:p>
        </p:txBody>
      </p:sp>
      <p:sp>
        <p:nvSpPr>
          <p:cNvPr id="28" name="Text 26"/>
          <p:cNvSpPr/>
          <p:nvPr/>
        </p:nvSpPr>
        <p:spPr>
          <a:xfrm>
            <a:off x="6831657" y="2935560"/>
            <a:ext cx="1687488"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Searchable historical log browser with regex, country, sector, and pagination filters</a:t>
            </a:r>
            <a:endParaRPr lang="en-US" sz="950" dirty="0"/>
          </a:p>
        </p:txBody>
      </p:sp>
      <p:sp>
        <p:nvSpPr>
          <p:cNvPr id="29" name="Shape 27"/>
          <p:cNvSpPr/>
          <p:nvPr/>
        </p:nvSpPr>
        <p:spPr>
          <a:xfrm>
            <a:off x="496119" y="3982120"/>
            <a:ext cx="8151763" cy="724198"/>
          </a:xfrm>
          <a:prstGeom prst="roundRect">
            <a:avLst>
              <a:gd name="adj" fmla="val 7194"/>
            </a:avLst>
          </a:prstGeom>
          <a:solidFill>
            <a:srgbClr val="D2D9F9"/>
          </a:solidFill>
          <a:ln w="4763">
            <a:solidFill>
              <a:srgbClr val="B8BFDF"/>
            </a:solidFill>
            <a:prstDash val="solid"/>
          </a:ln>
        </p:spPr>
        <p:txBody>
          <a:bodyPr/>
          <a:lstStyle/>
          <a:p>
            <a:endParaRPr lang="fr-TN"/>
          </a:p>
        </p:txBody>
      </p:sp>
      <p:sp>
        <p:nvSpPr>
          <p:cNvPr id="30" name="Text 28"/>
          <p:cNvSpPr/>
          <p:nvPr/>
        </p:nvSpPr>
        <p:spPr>
          <a:xfrm>
            <a:off x="624855" y="411085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RF-9</a:t>
            </a:r>
            <a:endParaRPr lang="en-US" sz="1200" dirty="0"/>
          </a:p>
        </p:txBody>
      </p:sp>
      <p:sp>
        <p:nvSpPr>
          <p:cNvPr id="31" name="Text 29"/>
          <p:cNvSpPr/>
          <p:nvPr/>
        </p:nvSpPr>
        <p:spPr>
          <a:xfrm>
            <a:off x="624855" y="4379119"/>
            <a:ext cx="7894290"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"Target My IP" geolocator and Excel export for up to 5,000 threat logs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484063"/>
            <a:ext cx="1526381" cy="186110"/>
          </a:xfrm>
          <a:prstGeom prst="roundRect">
            <a:avLst>
              <a:gd name="adj" fmla="val 18896"/>
            </a:avLst>
          </a:prstGeom>
          <a:solidFill>
            <a:srgbClr val="D2D9F9"/>
          </a:solidFill>
          <a:ln/>
        </p:spPr>
        <p:txBody>
          <a:bodyPr/>
          <a:lstStyle/>
          <a:p>
            <a:endParaRPr lang="fr-TN"/>
          </a:p>
        </p:txBody>
      </p:sp>
      <p:sp>
        <p:nvSpPr>
          <p:cNvPr id="3" name="Text 1"/>
          <p:cNvSpPr/>
          <p:nvPr/>
        </p:nvSpPr>
        <p:spPr>
          <a:xfrm>
            <a:off x="558850" y="515392"/>
            <a:ext cx="1858119" cy="123453"/>
          </a:xfrm>
          <a:prstGeom prst="rect">
            <a:avLst/>
          </a:prstGeom>
          <a:noFill/>
          <a:ln/>
        </p:spPr>
        <p:txBody>
          <a:bodyPr wrap="none" lIns="0" tIns="0" rIns="0" bIns="0" rtlCol="0" anchor="t"/>
          <a:lstStyle/>
          <a:p>
            <a:pPr marL="0" indent="0" algn="l">
              <a:lnSpc>
                <a:spcPct val="123000"/>
              </a:lnSpc>
              <a:buNone/>
            </a:pPr>
            <a:r>
              <a:rPr lang="en-US" sz="650" dirty="0">
                <a:solidFill>
                  <a:srgbClr val="404155"/>
                </a:solidFill>
                <a:latin typeface="Nobile" pitchFamily="34" charset="0"/>
                <a:ea typeface="Nobile" pitchFamily="34" charset="-122"/>
                <a:cs typeface="Nobile" pitchFamily="34" charset="-120"/>
              </a:rPr>
              <a:t>CHAPTER 2 — CONCEPTUAL STUDY</a:t>
            </a:r>
            <a:endParaRPr lang="en-US" sz="650" dirty="0"/>
          </a:p>
        </p:txBody>
      </p:sp>
      <p:sp>
        <p:nvSpPr>
          <p:cNvPr id="4" name="Text 2"/>
          <p:cNvSpPr/>
          <p:nvPr/>
        </p:nvSpPr>
        <p:spPr>
          <a:xfrm>
            <a:off x="496119" y="705445"/>
            <a:ext cx="6487492" cy="327050"/>
          </a:xfrm>
          <a:prstGeom prst="rect">
            <a:avLst/>
          </a:prstGeom>
          <a:noFill/>
          <a:ln/>
        </p:spPr>
        <p:txBody>
          <a:bodyPr wrap="none" lIns="0" tIns="0" rIns="0" bIns="0" rtlCol="0" anchor="t"/>
          <a:lstStyle/>
          <a:p>
            <a:pPr marL="0" indent="0" algn="l">
              <a:lnSpc>
                <a:spcPct val="104000"/>
              </a:lnSpc>
              <a:buNone/>
            </a:pPr>
            <a:r>
              <a:rPr lang="en-US" sz="2050" dirty="0">
                <a:solidFill>
                  <a:srgbClr val="1B1B27"/>
                </a:solidFill>
                <a:latin typeface="Corben" pitchFamily="34" charset="0"/>
                <a:ea typeface="Corben" pitchFamily="34" charset="-122"/>
                <a:cs typeface="Corben" pitchFamily="34" charset="-120"/>
              </a:rPr>
              <a:t>Non-Functional Requirements &amp; Global Use Case</a:t>
            </a:r>
            <a:endParaRPr lang="en-US" sz="2050" dirty="0"/>
          </a:p>
        </p:txBody>
      </p:sp>
      <p:sp>
        <p:nvSpPr>
          <p:cNvPr id="5" name="Text 3"/>
          <p:cNvSpPr/>
          <p:nvPr/>
        </p:nvSpPr>
        <p:spPr>
          <a:xfrm>
            <a:off x="496119" y="1253207"/>
            <a:ext cx="2341513" cy="163488"/>
          </a:xfrm>
          <a:prstGeom prst="rect">
            <a:avLst/>
          </a:prstGeom>
          <a:noFill/>
          <a:ln/>
        </p:spPr>
        <p:txBody>
          <a:bodyPr wrap="none" lIns="0" tIns="0" rIns="0" bIns="0" rtlCol="0" anchor="t"/>
          <a:lstStyle/>
          <a:p>
            <a:pPr marL="0" indent="0" algn="l">
              <a:lnSpc>
                <a:spcPct val="104000"/>
              </a:lnSpc>
              <a:buNone/>
            </a:pPr>
            <a:r>
              <a:rPr lang="en-US" sz="1000" dirty="0">
                <a:solidFill>
                  <a:srgbClr val="1B1B27"/>
                </a:solidFill>
                <a:latin typeface="Corben" pitchFamily="34" charset="0"/>
                <a:ea typeface="Corben" pitchFamily="34" charset="-122"/>
                <a:cs typeface="Corben" pitchFamily="34" charset="-120"/>
              </a:rPr>
              <a:t>Non-Functional Requirements</a:t>
            </a:r>
            <a:endParaRPr lang="en-US" sz="10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1516038"/>
            <a:ext cx="1944291" cy="952798"/>
          </a:xfrm>
          <a:prstGeom prst="rect">
            <a:avLst/>
          </a:prstGeom>
        </p:spPr>
      </p:pic>
      <p:sp>
        <p:nvSpPr>
          <p:cNvPr id="7" name="Text 4"/>
          <p:cNvSpPr/>
          <p:nvPr/>
        </p:nvSpPr>
        <p:spPr>
          <a:xfrm>
            <a:off x="657895" y="1634951"/>
            <a:ext cx="1315417" cy="163488"/>
          </a:xfrm>
          <a:prstGeom prst="rect">
            <a:avLst/>
          </a:prstGeom>
          <a:noFill/>
          <a:ln/>
        </p:spPr>
        <p:txBody>
          <a:bodyPr wrap="none" lIns="0" tIns="0" rIns="0" bIns="0" rtlCol="0" anchor="t"/>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RNF-1: 60fps Fluidity</a:t>
            </a:r>
            <a:endParaRPr lang="en-US" sz="1000" b="1" dirty="0"/>
          </a:p>
        </p:txBody>
      </p:sp>
      <p:sp>
        <p:nvSpPr>
          <p:cNvPr id="8" name="Text 5"/>
          <p:cNvSpPr/>
          <p:nvPr/>
        </p:nvSpPr>
        <p:spPr>
          <a:xfrm>
            <a:off x="657895" y="1886694"/>
            <a:ext cx="1649313" cy="46322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Adaptive quality reduction if frame rate drops below threshold.</a:t>
            </a:r>
            <a:endParaRPr lang="en-US" sz="800" b="1"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00089" y="1516038"/>
            <a:ext cx="1944291" cy="952798"/>
          </a:xfrm>
          <a:prstGeom prst="rect">
            <a:avLst/>
          </a:prstGeom>
        </p:spPr>
      </p:pic>
      <p:sp>
        <p:nvSpPr>
          <p:cNvPr id="10" name="Text 6"/>
          <p:cNvSpPr/>
          <p:nvPr/>
        </p:nvSpPr>
        <p:spPr>
          <a:xfrm>
            <a:off x="2676153" y="1634951"/>
            <a:ext cx="1398538" cy="163488"/>
          </a:xfrm>
          <a:prstGeom prst="rect">
            <a:avLst/>
          </a:prstGeom>
          <a:noFill/>
          <a:ln/>
        </p:spPr>
        <p:txBody>
          <a:bodyPr wrap="none" lIns="0" tIns="0" rIns="0" bIns="0" rtlCol="0" anchor="t"/>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RNF-2: Circular Buffer</a:t>
            </a:r>
            <a:endParaRPr lang="en-US" sz="1000" b="1" dirty="0"/>
          </a:p>
        </p:txBody>
      </p:sp>
      <p:sp>
        <p:nvSpPr>
          <p:cNvPr id="11" name="Text 7"/>
          <p:cNvSpPr/>
          <p:nvPr/>
        </p:nvSpPr>
        <p:spPr>
          <a:xfrm>
            <a:off x="2676153" y="1886694"/>
            <a:ext cx="1649313" cy="46322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10,000-event RingBuffer caps memory usage at a constant footprint.</a:t>
            </a:r>
            <a:endParaRPr lang="en-US" sz="800" b="1"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8347" y="1506960"/>
            <a:ext cx="1944291" cy="961876"/>
          </a:xfrm>
          <a:prstGeom prst="rect">
            <a:avLst/>
          </a:prstGeom>
        </p:spPr>
      </p:pic>
      <p:sp>
        <p:nvSpPr>
          <p:cNvPr id="13" name="Text 8"/>
          <p:cNvSpPr/>
          <p:nvPr/>
        </p:nvSpPr>
        <p:spPr>
          <a:xfrm>
            <a:off x="4694411" y="1625874"/>
            <a:ext cx="1308274" cy="163488"/>
          </a:xfrm>
          <a:prstGeom prst="rect">
            <a:avLst/>
          </a:prstGeom>
          <a:noFill/>
          <a:ln/>
        </p:spPr>
        <p:txBody>
          <a:bodyPr wrap="none" lIns="0" tIns="0" rIns="0" bIns="0" rtlCol="0" anchor="t"/>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RNF-3: 30-Day TTL</a:t>
            </a:r>
            <a:endParaRPr lang="en-US" sz="1000" b="1" dirty="0"/>
          </a:p>
        </p:txBody>
      </p:sp>
      <p:sp>
        <p:nvSpPr>
          <p:cNvPr id="14" name="Text 9"/>
          <p:cNvSpPr/>
          <p:nvPr/>
        </p:nvSpPr>
        <p:spPr>
          <a:xfrm>
            <a:off x="4694411" y="1877617"/>
            <a:ext cx="1649313" cy="30881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Threat records auto-expire from MongoDB after 30 days.</a:t>
            </a:r>
            <a:endParaRPr lang="en-US" sz="800" b="1"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1814" y="1516038"/>
            <a:ext cx="1944291" cy="961876"/>
          </a:xfrm>
          <a:prstGeom prst="rect">
            <a:avLst/>
          </a:prstGeom>
        </p:spPr>
      </p:pic>
      <p:sp>
        <p:nvSpPr>
          <p:cNvPr id="16" name="Text 10"/>
          <p:cNvSpPr/>
          <p:nvPr/>
        </p:nvSpPr>
        <p:spPr>
          <a:xfrm>
            <a:off x="6717878" y="1634952"/>
            <a:ext cx="1649313" cy="326975"/>
          </a:xfrm>
          <a:prstGeom prst="rect">
            <a:avLst/>
          </a:prstGeom>
          <a:noFill/>
          <a:ln/>
        </p:spPr>
        <p:txBody>
          <a:bodyPr wrap="square" lIns="0" tIns="0" rIns="0" bIns="0" rtlCol="0" anchor="t">
            <a:normAutofit/>
          </a:bodyPr>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RNF-4: 500MB Quota Guard</a:t>
            </a:r>
            <a:endParaRPr lang="en-US" sz="1000" b="1" dirty="0"/>
          </a:p>
        </p:txBody>
      </p:sp>
      <p:sp>
        <p:nvSpPr>
          <p:cNvPr id="17" name="Text 11"/>
          <p:cNvSpPr/>
          <p:nvPr/>
        </p:nvSpPr>
        <p:spPr>
          <a:xfrm>
            <a:off x="6717878" y="2050183"/>
            <a:ext cx="1649313" cy="30881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Backend switches to in-memory streaming if DB exceeds 500MB.</a:t>
            </a:r>
            <a:endParaRPr lang="en-US" sz="800" b="1" dirty="0"/>
          </a:p>
        </p:txBody>
      </p:sp>
      <p:grpSp>
        <p:nvGrpSpPr>
          <p:cNvPr id="22" name="Groupe 21">
            <a:extLst>
              <a:ext uri="{FF2B5EF4-FFF2-40B4-BE49-F238E27FC236}">
                <a16:creationId xmlns:a16="http://schemas.microsoft.com/office/drawing/2014/main" id="{C1A6687B-5961-F1B6-0587-353359BCC66A}"/>
              </a:ext>
            </a:extLst>
          </p:cNvPr>
          <p:cNvGrpSpPr/>
          <p:nvPr/>
        </p:nvGrpSpPr>
        <p:grpSpPr>
          <a:xfrm>
            <a:off x="3599854" y="2791734"/>
            <a:ext cx="1944291" cy="952798"/>
            <a:chOff x="3472234" y="3575505"/>
            <a:chExt cx="1944291" cy="952798"/>
          </a:xfrm>
        </p:grpSpPr>
        <p:pic>
          <p:nvPicPr>
            <p:cNvPr id="18"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72234" y="3575505"/>
              <a:ext cx="1944291" cy="952798"/>
            </a:xfrm>
            <a:prstGeom prst="rect">
              <a:avLst/>
            </a:prstGeom>
          </p:spPr>
        </p:pic>
        <p:sp>
          <p:nvSpPr>
            <p:cNvPr id="19" name="Text 12"/>
            <p:cNvSpPr/>
            <p:nvPr/>
          </p:nvSpPr>
          <p:spPr>
            <a:xfrm>
              <a:off x="3648298" y="3694418"/>
              <a:ext cx="1646411" cy="163488"/>
            </a:xfrm>
            <a:prstGeom prst="rect">
              <a:avLst/>
            </a:prstGeom>
            <a:noFill/>
            <a:ln/>
          </p:spPr>
          <p:txBody>
            <a:bodyPr wrap="none" lIns="0" tIns="0" rIns="0" bIns="0" rtlCol="0" anchor="t"/>
            <a:lstStyle/>
            <a:p>
              <a:pPr marL="0" indent="0" algn="l">
                <a:lnSpc>
                  <a:spcPct val="104000"/>
                </a:lnSpc>
                <a:buNone/>
              </a:pPr>
              <a:r>
                <a:rPr lang="en-US" sz="1000" b="1" dirty="0">
                  <a:solidFill>
                    <a:srgbClr val="404155"/>
                  </a:solidFill>
                  <a:latin typeface="Corben" pitchFamily="34" charset="0"/>
                  <a:ea typeface="Corben" pitchFamily="34" charset="-122"/>
                  <a:cs typeface="Corben" pitchFamily="34" charset="-120"/>
                </a:rPr>
                <a:t>RNF-5: Glassmorphism UI</a:t>
              </a:r>
              <a:endParaRPr lang="en-US" sz="1000" b="1" dirty="0"/>
            </a:p>
          </p:txBody>
        </p:sp>
        <p:sp>
          <p:nvSpPr>
            <p:cNvPr id="20" name="Text 13"/>
            <p:cNvSpPr/>
            <p:nvPr/>
          </p:nvSpPr>
          <p:spPr>
            <a:xfrm>
              <a:off x="3648298" y="3946161"/>
              <a:ext cx="1649313" cy="463228"/>
            </a:xfrm>
            <a:prstGeom prst="rect">
              <a:avLst/>
            </a:prstGeom>
            <a:noFill/>
            <a:ln/>
          </p:spPr>
          <p:txBody>
            <a:bodyPr wrap="square" lIns="0" tIns="0" rIns="0" bIns="0" rtlCol="0" anchor="t">
              <a:normAutofit/>
            </a:bodyPr>
            <a:lstStyle/>
            <a:p>
              <a:pPr marL="0" indent="0" algn="l">
                <a:lnSpc>
                  <a:spcPct val="123000"/>
                </a:lnSpc>
                <a:buNone/>
              </a:pPr>
              <a:r>
                <a:rPr lang="en-US" sz="800" b="1" dirty="0">
                  <a:solidFill>
                    <a:srgbClr val="404155"/>
                  </a:solidFill>
                  <a:latin typeface="Nobile" pitchFamily="34" charset="0"/>
                  <a:ea typeface="Nobile" pitchFamily="34" charset="-122"/>
                  <a:cs typeface="Nobile" pitchFamily="34" charset="-120"/>
                </a:rPr>
                <a:t>Dark theme with semi-transparent panels and severity-based color coding.</a:t>
              </a:r>
              <a:endParaRPr lang="en-US" sz="800" b="1" dirty="0"/>
            </a:p>
          </p:txBody>
        </p:sp>
      </p:grpSp>
      <p:sp>
        <p:nvSpPr>
          <p:cNvPr id="21" name="Text 14"/>
          <p:cNvSpPr/>
          <p:nvPr/>
        </p:nvSpPr>
        <p:spPr>
          <a:xfrm>
            <a:off x="4704383" y="1244426"/>
            <a:ext cx="4405461" cy="154409"/>
          </a:xfrm>
          <a:prstGeom prst="rect">
            <a:avLst/>
          </a:prstGeom>
          <a:noFill/>
          <a:ln/>
        </p:spPr>
        <p:txBody>
          <a:bodyPr wrap="none" lIns="0" tIns="0" rIns="0" bIns="0" rtlCol="0" anchor="t"/>
          <a:lstStyle/>
          <a:p>
            <a:pPr marL="0" indent="0" algn="l">
              <a:lnSpc>
                <a:spcPct val="123000"/>
              </a:lnSpc>
              <a:buNone/>
            </a:pP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560263"/>
            <a:ext cx="1808783"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597471"/>
            <a:ext cx="2117154"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2 — CONCEPTUAL STUDY</a:t>
            </a:r>
            <a:endParaRPr lang="en-US" sz="750" dirty="0"/>
          </a:p>
        </p:txBody>
      </p:sp>
      <p:sp>
        <p:nvSpPr>
          <p:cNvPr id="4" name="Text 2"/>
          <p:cNvSpPr/>
          <p:nvPr/>
        </p:nvSpPr>
        <p:spPr>
          <a:xfrm>
            <a:off x="496119" y="843037"/>
            <a:ext cx="6564734"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Technology Stack &amp; Comparative Analysis</a:t>
            </a:r>
            <a:endParaRPr lang="en-US" sz="2400" dirty="0"/>
          </a:p>
        </p:txBody>
      </p:sp>
      <p:sp>
        <p:nvSpPr>
          <p:cNvPr id="5" name="Shape 3"/>
          <p:cNvSpPr/>
          <p:nvPr/>
        </p:nvSpPr>
        <p:spPr>
          <a:xfrm>
            <a:off x="496119" y="1416621"/>
            <a:ext cx="8151763" cy="3166542"/>
          </a:xfrm>
          <a:prstGeom prst="roundRect">
            <a:avLst>
              <a:gd name="adj" fmla="val 1645"/>
            </a:avLst>
          </a:prstGeom>
          <a:noFill/>
          <a:ln w="4763">
            <a:solidFill>
              <a:srgbClr val="000000">
                <a:alpha val="8000"/>
              </a:srgbClr>
            </a:solidFill>
            <a:prstDash val="solid"/>
          </a:ln>
        </p:spPr>
        <p:txBody>
          <a:bodyPr/>
          <a:lstStyle/>
          <a:p>
            <a:endParaRPr lang="fr-TN"/>
          </a:p>
        </p:txBody>
      </p:sp>
      <p:sp>
        <p:nvSpPr>
          <p:cNvPr id="6" name="Shape 4"/>
          <p:cNvSpPr/>
          <p:nvPr/>
        </p:nvSpPr>
        <p:spPr>
          <a:xfrm>
            <a:off x="501104" y="1421383"/>
            <a:ext cx="1791221" cy="359197"/>
          </a:xfrm>
          <a:prstGeom prst="rect">
            <a:avLst/>
          </a:prstGeom>
          <a:solidFill>
            <a:srgbClr val="4967E9"/>
          </a:solidFill>
          <a:ln/>
        </p:spPr>
        <p:txBody>
          <a:bodyPr/>
          <a:lstStyle/>
          <a:p>
            <a:endParaRPr lang="fr-TN"/>
          </a:p>
        </p:txBody>
      </p:sp>
      <p:sp>
        <p:nvSpPr>
          <p:cNvPr id="7" name="Text 5"/>
          <p:cNvSpPr/>
          <p:nvPr/>
        </p:nvSpPr>
        <p:spPr>
          <a:xfrm>
            <a:off x="625078" y="1500560"/>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Nobile" pitchFamily="34" charset="0"/>
                <a:ea typeface="Nobile" pitchFamily="34" charset="-122"/>
                <a:cs typeface="Nobile" pitchFamily="34" charset="-120"/>
              </a:rPr>
              <a:t>Layer</a:t>
            </a:r>
            <a:endParaRPr lang="en-US" sz="950" dirty="0"/>
          </a:p>
        </p:txBody>
      </p:sp>
      <p:sp>
        <p:nvSpPr>
          <p:cNvPr id="8" name="Shape 6"/>
          <p:cNvSpPr/>
          <p:nvPr/>
        </p:nvSpPr>
        <p:spPr>
          <a:xfrm>
            <a:off x="2292325" y="1421383"/>
            <a:ext cx="1791221" cy="359197"/>
          </a:xfrm>
          <a:prstGeom prst="rect">
            <a:avLst/>
          </a:prstGeom>
          <a:solidFill>
            <a:srgbClr val="4967E9"/>
          </a:solidFill>
          <a:ln/>
        </p:spPr>
        <p:txBody>
          <a:bodyPr/>
          <a:lstStyle/>
          <a:p>
            <a:endParaRPr lang="fr-TN"/>
          </a:p>
        </p:txBody>
      </p:sp>
      <p:sp>
        <p:nvSpPr>
          <p:cNvPr id="9" name="Text 7"/>
          <p:cNvSpPr/>
          <p:nvPr/>
        </p:nvSpPr>
        <p:spPr>
          <a:xfrm>
            <a:off x="2416299" y="1500560"/>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Nobile" pitchFamily="34" charset="0"/>
                <a:ea typeface="Nobile" pitchFamily="34" charset="-122"/>
                <a:cs typeface="Nobile" pitchFamily="34" charset="-120"/>
              </a:rPr>
              <a:t>Selected</a:t>
            </a:r>
            <a:endParaRPr lang="en-US" sz="950" dirty="0"/>
          </a:p>
        </p:txBody>
      </p:sp>
      <p:sp>
        <p:nvSpPr>
          <p:cNvPr id="10" name="Shape 8"/>
          <p:cNvSpPr/>
          <p:nvPr/>
        </p:nvSpPr>
        <p:spPr>
          <a:xfrm>
            <a:off x="4083546" y="1421383"/>
            <a:ext cx="1791221" cy="359197"/>
          </a:xfrm>
          <a:prstGeom prst="rect">
            <a:avLst/>
          </a:prstGeom>
          <a:solidFill>
            <a:srgbClr val="4967E9"/>
          </a:solidFill>
          <a:ln/>
        </p:spPr>
        <p:txBody>
          <a:bodyPr/>
          <a:lstStyle/>
          <a:p>
            <a:endParaRPr lang="fr-TN"/>
          </a:p>
        </p:txBody>
      </p:sp>
      <p:sp>
        <p:nvSpPr>
          <p:cNvPr id="11" name="Text 9"/>
          <p:cNvSpPr/>
          <p:nvPr/>
        </p:nvSpPr>
        <p:spPr>
          <a:xfrm>
            <a:off x="4207520" y="1500560"/>
            <a:ext cx="2000473"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Nobile" pitchFamily="34" charset="0"/>
                <a:ea typeface="Nobile" pitchFamily="34" charset="-122"/>
                <a:cs typeface="Nobile" pitchFamily="34" charset="-120"/>
              </a:rPr>
              <a:t>Alternative</a:t>
            </a:r>
            <a:endParaRPr lang="en-US" sz="950" dirty="0"/>
          </a:p>
        </p:txBody>
      </p:sp>
      <p:sp>
        <p:nvSpPr>
          <p:cNvPr id="12" name="Shape 10"/>
          <p:cNvSpPr/>
          <p:nvPr/>
        </p:nvSpPr>
        <p:spPr>
          <a:xfrm>
            <a:off x="5874767" y="1421383"/>
            <a:ext cx="2768352" cy="359197"/>
          </a:xfrm>
          <a:prstGeom prst="rect">
            <a:avLst/>
          </a:prstGeom>
          <a:solidFill>
            <a:srgbClr val="4967E9"/>
          </a:solidFill>
          <a:ln/>
        </p:spPr>
        <p:txBody>
          <a:bodyPr/>
          <a:lstStyle/>
          <a:p>
            <a:endParaRPr lang="fr-TN"/>
          </a:p>
        </p:txBody>
      </p:sp>
      <p:sp>
        <p:nvSpPr>
          <p:cNvPr id="13" name="Text 11"/>
          <p:cNvSpPr/>
          <p:nvPr/>
        </p:nvSpPr>
        <p:spPr>
          <a:xfrm>
            <a:off x="5998741" y="1500560"/>
            <a:ext cx="2977604" cy="198462"/>
          </a:xfrm>
          <a:prstGeom prst="rect">
            <a:avLst/>
          </a:prstGeom>
          <a:noFill/>
          <a:ln/>
        </p:spPr>
        <p:txBody>
          <a:bodyPr wrap="none" lIns="0" tIns="0" rIns="0" bIns="0" rtlCol="0" anchor="t"/>
          <a:lstStyle/>
          <a:p>
            <a:pPr marL="0" indent="0" algn="l">
              <a:lnSpc>
                <a:spcPct val="133000"/>
              </a:lnSpc>
              <a:buNone/>
            </a:pPr>
            <a:r>
              <a:rPr lang="en-US" sz="950" b="1" dirty="0">
                <a:solidFill>
                  <a:srgbClr val="FFFFFF"/>
                </a:solidFill>
                <a:latin typeface="Nobile" pitchFamily="34" charset="0"/>
                <a:ea typeface="Nobile" pitchFamily="34" charset="-122"/>
                <a:cs typeface="Nobile" pitchFamily="34" charset="-120"/>
              </a:rPr>
              <a:t>Rationale</a:t>
            </a:r>
            <a:endParaRPr lang="en-US" sz="950" dirty="0"/>
          </a:p>
        </p:txBody>
      </p:sp>
      <p:sp>
        <p:nvSpPr>
          <p:cNvPr id="14" name="Text 12"/>
          <p:cNvSpPr/>
          <p:nvPr/>
        </p:nvSpPr>
        <p:spPr>
          <a:xfrm>
            <a:off x="625078" y="186213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Runtime</a:t>
            </a:r>
            <a:endParaRPr lang="en-US" sz="950" dirty="0"/>
          </a:p>
        </p:txBody>
      </p:sp>
      <p:sp>
        <p:nvSpPr>
          <p:cNvPr id="15" name="Text 13"/>
          <p:cNvSpPr/>
          <p:nvPr/>
        </p:nvSpPr>
        <p:spPr>
          <a:xfrm>
            <a:off x="2416299" y="186213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Node.js / Express 5</a:t>
            </a:r>
            <a:endParaRPr lang="en-US" sz="950" dirty="0"/>
          </a:p>
        </p:txBody>
      </p:sp>
      <p:sp>
        <p:nvSpPr>
          <p:cNvPr id="16" name="Text 14"/>
          <p:cNvSpPr/>
          <p:nvPr/>
        </p:nvSpPr>
        <p:spPr>
          <a:xfrm>
            <a:off x="4207520" y="186213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Java Spring Boot</a:t>
            </a:r>
            <a:endParaRPr lang="en-US" sz="950" dirty="0"/>
          </a:p>
        </p:txBody>
      </p:sp>
      <p:sp>
        <p:nvSpPr>
          <p:cNvPr id="17" name="Text 15"/>
          <p:cNvSpPr/>
          <p:nvPr/>
        </p:nvSpPr>
        <p:spPr>
          <a:xfrm>
            <a:off x="5998741" y="1862138"/>
            <a:ext cx="252040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Non-blocking async loop; ideal for open SSE streams under low memory</a:t>
            </a:r>
            <a:endParaRPr lang="en-US" sz="950" dirty="0"/>
          </a:p>
        </p:txBody>
      </p:sp>
      <p:sp>
        <p:nvSpPr>
          <p:cNvPr id="18" name="Text 16"/>
          <p:cNvSpPr/>
          <p:nvPr/>
        </p:nvSpPr>
        <p:spPr>
          <a:xfrm>
            <a:off x="625078" y="242217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State Management</a:t>
            </a:r>
            <a:endParaRPr lang="en-US" sz="950" dirty="0"/>
          </a:p>
        </p:txBody>
      </p:sp>
      <p:sp>
        <p:nvSpPr>
          <p:cNvPr id="19" name="Text 17"/>
          <p:cNvSpPr/>
          <p:nvPr/>
        </p:nvSpPr>
        <p:spPr>
          <a:xfrm>
            <a:off x="2416299" y="242217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Zustand 5</a:t>
            </a:r>
            <a:endParaRPr lang="en-US" sz="950" dirty="0"/>
          </a:p>
        </p:txBody>
      </p:sp>
      <p:sp>
        <p:nvSpPr>
          <p:cNvPr id="20" name="Text 18"/>
          <p:cNvSpPr/>
          <p:nvPr/>
        </p:nvSpPr>
        <p:spPr>
          <a:xfrm>
            <a:off x="4207520" y="242217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Redux Toolkit</a:t>
            </a:r>
            <a:endParaRPr lang="en-US" sz="950" dirty="0"/>
          </a:p>
        </p:txBody>
      </p:sp>
      <p:sp>
        <p:nvSpPr>
          <p:cNvPr id="21" name="Text 19"/>
          <p:cNvSpPr/>
          <p:nvPr/>
        </p:nvSpPr>
        <p:spPr>
          <a:xfrm>
            <a:off x="5998741" y="2422178"/>
            <a:ext cx="252040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Slice-based reactive updates outside React DOM — preserves 60fps WebGL</a:t>
            </a:r>
            <a:endParaRPr lang="en-US" sz="950" dirty="0"/>
          </a:p>
        </p:txBody>
      </p:sp>
      <p:sp>
        <p:nvSpPr>
          <p:cNvPr id="22" name="Text 20"/>
          <p:cNvSpPr/>
          <p:nvPr/>
        </p:nvSpPr>
        <p:spPr>
          <a:xfrm>
            <a:off x="625078" y="298221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3D Graphics</a:t>
            </a:r>
            <a:endParaRPr lang="en-US" sz="950" dirty="0"/>
          </a:p>
        </p:txBody>
      </p:sp>
      <p:sp>
        <p:nvSpPr>
          <p:cNvPr id="23" name="Text 21"/>
          <p:cNvSpPr/>
          <p:nvPr/>
        </p:nvSpPr>
        <p:spPr>
          <a:xfrm>
            <a:off x="2416299" y="298221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Three.js / R3F</a:t>
            </a:r>
            <a:endParaRPr lang="en-US" sz="950" dirty="0"/>
          </a:p>
        </p:txBody>
      </p:sp>
      <p:sp>
        <p:nvSpPr>
          <p:cNvPr id="24" name="Text 22"/>
          <p:cNvSpPr/>
          <p:nvPr/>
        </p:nvSpPr>
        <p:spPr>
          <a:xfrm>
            <a:off x="4207520" y="298221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Vanilla Canvas</a:t>
            </a:r>
            <a:endParaRPr lang="en-US" sz="950" dirty="0"/>
          </a:p>
        </p:txBody>
      </p:sp>
      <p:sp>
        <p:nvSpPr>
          <p:cNvPr id="25" name="Text 23"/>
          <p:cNvSpPr/>
          <p:nvPr/>
        </p:nvSpPr>
        <p:spPr>
          <a:xfrm>
            <a:off x="5998741" y="2982218"/>
            <a:ext cx="252040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GPU acceleration, SLERP math, custom GLSL vertex/fragment shaders</a:t>
            </a:r>
            <a:endParaRPr lang="en-US" sz="950" dirty="0"/>
          </a:p>
        </p:txBody>
      </p:sp>
      <p:sp>
        <p:nvSpPr>
          <p:cNvPr id="26" name="Text 24"/>
          <p:cNvSpPr/>
          <p:nvPr/>
        </p:nvSpPr>
        <p:spPr>
          <a:xfrm>
            <a:off x="625078" y="354225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Build Tool</a:t>
            </a:r>
            <a:endParaRPr lang="en-US" sz="950" dirty="0"/>
          </a:p>
        </p:txBody>
      </p:sp>
      <p:sp>
        <p:nvSpPr>
          <p:cNvPr id="27" name="Text 25"/>
          <p:cNvSpPr/>
          <p:nvPr/>
        </p:nvSpPr>
        <p:spPr>
          <a:xfrm>
            <a:off x="2416299" y="354225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React 19 / Vite 7</a:t>
            </a:r>
            <a:endParaRPr lang="en-US" sz="950" dirty="0"/>
          </a:p>
        </p:txBody>
      </p:sp>
      <p:sp>
        <p:nvSpPr>
          <p:cNvPr id="28" name="Text 26"/>
          <p:cNvSpPr/>
          <p:nvPr/>
        </p:nvSpPr>
        <p:spPr>
          <a:xfrm>
            <a:off x="4207520" y="354225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Angular / Webpack</a:t>
            </a:r>
            <a:endParaRPr lang="en-US" sz="950" dirty="0"/>
          </a:p>
        </p:txBody>
      </p:sp>
      <p:sp>
        <p:nvSpPr>
          <p:cNvPr id="29" name="Text 27"/>
          <p:cNvSpPr/>
          <p:nvPr/>
        </p:nvSpPr>
        <p:spPr>
          <a:xfrm>
            <a:off x="5998741" y="3542258"/>
            <a:ext cx="252040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Native ESM, instant startup, fast HMR vs slow pre-compilation</a:t>
            </a:r>
            <a:endParaRPr lang="en-US" sz="950" dirty="0"/>
          </a:p>
        </p:txBody>
      </p:sp>
      <p:sp>
        <p:nvSpPr>
          <p:cNvPr id="30" name="Text 28"/>
          <p:cNvSpPr/>
          <p:nvPr/>
        </p:nvSpPr>
        <p:spPr>
          <a:xfrm>
            <a:off x="625078" y="410229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Database</a:t>
            </a:r>
            <a:endParaRPr lang="en-US" sz="950" dirty="0"/>
          </a:p>
        </p:txBody>
      </p:sp>
      <p:sp>
        <p:nvSpPr>
          <p:cNvPr id="31" name="Text 29"/>
          <p:cNvSpPr/>
          <p:nvPr/>
        </p:nvSpPr>
        <p:spPr>
          <a:xfrm>
            <a:off x="2416299" y="410229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MongoDB Atlas (BSON)</a:t>
            </a:r>
            <a:endParaRPr lang="en-US" sz="950" dirty="0"/>
          </a:p>
        </p:txBody>
      </p:sp>
      <p:sp>
        <p:nvSpPr>
          <p:cNvPr id="32" name="Text 30"/>
          <p:cNvSpPr/>
          <p:nvPr/>
        </p:nvSpPr>
        <p:spPr>
          <a:xfrm>
            <a:off x="4207520" y="4102298"/>
            <a:ext cx="2000473" cy="198462"/>
          </a:xfrm>
          <a:prstGeom prst="rect">
            <a:avLst/>
          </a:prstGeom>
          <a:noFill/>
          <a:ln/>
        </p:spPr>
        <p:txBody>
          <a:bodyPr wrap="none" lIns="0" tIns="0" rIns="0" bIns="0" rtlCol="0" anchor="t"/>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PostgreSQL / MySQL</a:t>
            </a:r>
            <a:endParaRPr lang="en-US" sz="950" dirty="0"/>
          </a:p>
        </p:txBody>
      </p:sp>
      <p:sp>
        <p:nvSpPr>
          <p:cNvPr id="33" name="Text 31"/>
          <p:cNvSpPr/>
          <p:nvPr/>
        </p:nvSpPr>
        <p:spPr>
          <a:xfrm>
            <a:off x="5998741" y="4102298"/>
            <a:ext cx="2520404"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Schemaless BSON for heterogeneous CTI logs; no rigid migrations needed</a:t>
            </a:r>
            <a:endParaRPr lang="en-US" sz="950" dirty="0"/>
          </a:p>
        </p:txBody>
      </p:sp>
      <p:cxnSp>
        <p:nvCxnSpPr>
          <p:cNvPr id="39" name="Connecteur droit 38">
            <a:extLst>
              <a:ext uri="{FF2B5EF4-FFF2-40B4-BE49-F238E27FC236}">
                <a16:creationId xmlns:a16="http://schemas.microsoft.com/office/drawing/2014/main" id="{87555301-55CA-7568-BCE3-164B66B89720}"/>
              </a:ext>
            </a:extLst>
          </p:cNvPr>
          <p:cNvCxnSpPr/>
          <p:nvPr/>
        </p:nvCxnSpPr>
        <p:spPr>
          <a:xfrm>
            <a:off x="1928327" y="1416621"/>
            <a:ext cx="0" cy="3166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necteur droit 39">
            <a:extLst>
              <a:ext uri="{FF2B5EF4-FFF2-40B4-BE49-F238E27FC236}">
                <a16:creationId xmlns:a16="http://schemas.microsoft.com/office/drawing/2014/main" id="{17BC1C9D-34CB-86C5-71BC-86E7EF1E6FD8}"/>
              </a:ext>
            </a:extLst>
          </p:cNvPr>
          <p:cNvCxnSpPr/>
          <p:nvPr/>
        </p:nvCxnSpPr>
        <p:spPr>
          <a:xfrm>
            <a:off x="3940629" y="1421383"/>
            <a:ext cx="0" cy="3166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cteur droit 40">
            <a:extLst>
              <a:ext uri="{FF2B5EF4-FFF2-40B4-BE49-F238E27FC236}">
                <a16:creationId xmlns:a16="http://schemas.microsoft.com/office/drawing/2014/main" id="{65CE47D6-A23C-6234-251C-07A961B259E5}"/>
              </a:ext>
            </a:extLst>
          </p:cNvPr>
          <p:cNvCxnSpPr/>
          <p:nvPr/>
        </p:nvCxnSpPr>
        <p:spPr>
          <a:xfrm>
            <a:off x="5760099" y="1421383"/>
            <a:ext cx="0" cy="316654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1056605" y="366713"/>
            <a:ext cx="1299865" cy="151507"/>
          </a:xfrm>
          <a:prstGeom prst="roundRect">
            <a:avLst>
              <a:gd name="adj" fmla="val 19773"/>
            </a:avLst>
          </a:prstGeom>
          <a:solidFill>
            <a:srgbClr val="D2D9F9"/>
          </a:solidFill>
          <a:ln/>
        </p:spPr>
        <p:txBody>
          <a:bodyPr/>
          <a:lstStyle/>
          <a:p>
            <a:endParaRPr lang="fr-TN"/>
          </a:p>
        </p:txBody>
      </p:sp>
      <p:sp>
        <p:nvSpPr>
          <p:cNvPr id="3" name="Text 1"/>
          <p:cNvSpPr/>
          <p:nvPr/>
        </p:nvSpPr>
        <p:spPr>
          <a:xfrm>
            <a:off x="1110035" y="393427"/>
            <a:ext cx="1650206" cy="98078"/>
          </a:xfrm>
          <a:prstGeom prst="rect">
            <a:avLst/>
          </a:prstGeom>
          <a:noFill/>
          <a:ln/>
        </p:spPr>
        <p:txBody>
          <a:bodyPr wrap="none" lIns="0" tIns="0" rIns="0" bIns="0" rtlCol="0" anchor="t"/>
          <a:lstStyle/>
          <a:p>
            <a:pPr marL="0" indent="0" algn="l">
              <a:lnSpc>
                <a:spcPct val="115000"/>
              </a:lnSpc>
              <a:buNone/>
            </a:pPr>
            <a:r>
              <a:rPr lang="en-US" sz="550" dirty="0">
                <a:solidFill>
                  <a:srgbClr val="404155"/>
                </a:solidFill>
                <a:latin typeface="Nobile" pitchFamily="34" charset="0"/>
                <a:ea typeface="Nobile" pitchFamily="34" charset="-122"/>
                <a:cs typeface="Nobile" pitchFamily="34" charset="-120"/>
              </a:rPr>
              <a:t>CHAPTER 2 — CONCEPTUAL STUDY</a:t>
            </a:r>
            <a:endParaRPr lang="en-US" sz="550" dirty="0"/>
          </a:p>
        </p:txBody>
      </p:sp>
      <p:sp>
        <p:nvSpPr>
          <p:cNvPr id="4" name="Text 2"/>
          <p:cNvSpPr/>
          <p:nvPr/>
        </p:nvSpPr>
        <p:spPr>
          <a:xfrm>
            <a:off x="1056605" y="543818"/>
            <a:ext cx="2686124" cy="278532"/>
          </a:xfrm>
          <a:prstGeom prst="rect">
            <a:avLst/>
          </a:prstGeom>
          <a:noFill/>
          <a:ln/>
        </p:spPr>
        <p:txBody>
          <a:bodyPr wrap="none" lIns="0" tIns="0" rIns="0" bIns="0" rtlCol="0" anchor="t"/>
          <a:lstStyle/>
          <a:p>
            <a:pPr marL="0" indent="0" algn="l">
              <a:lnSpc>
                <a:spcPct val="104000"/>
              </a:lnSpc>
              <a:buNone/>
            </a:pPr>
            <a:r>
              <a:rPr lang="en-US" sz="1750" dirty="0">
                <a:solidFill>
                  <a:srgbClr val="1B1B27"/>
                </a:solidFill>
                <a:latin typeface="Corben" pitchFamily="34" charset="0"/>
                <a:ea typeface="Corben" pitchFamily="34" charset="-122"/>
                <a:cs typeface="Corben" pitchFamily="34" charset="-120"/>
              </a:rPr>
              <a:t>System Architecture</a:t>
            </a:r>
            <a:endParaRPr lang="en-US" sz="1750" dirty="0"/>
          </a:p>
        </p:txBody>
      </p:sp>
      <p:pic>
        <p:nvPicPr>
          <p:cNvPr id="5" name="Image 0" descr="preencoded.png"/>
          <p:cNvPicPr>
            <a:picLocks noChangeAspect="1"/>
          </p:cNvPicPr>
          <p:nvPr/>
        </p:nvPicPr>
        <p:blipFill>
          <a:blip r:embed="rId3"/>
          <a:stretch>
            <a:fillRect/>
          </a:stretch>
        </p:blipFill>
        <p:spPr>
          <a:xfrm>
            <a:off x="1056605" y="990451"/>
            <a:ext cx="2609627" cy="3031629"/>
          </a:xfrm>
          <a:prstGeom prst="rect">
            <a:avLst/>
          </a:prstGeom>
        </p:spPr>
      </p:pic>
      <p:pic>
        <p:nvPicPr>
          <p:cNvPr id="6" name="Image 1" descr="preencoded.png"/>
          <p:cNvPicPr>
            <a:picLocks noChangeAspect="1"/>
          </p:cNvPicPr>
          <p:nvPr/>
        </p:nvPicPr>
        <p:blipFill>
          <a:blip r:embed="rId4"/>
          <a:stretch>
            <a:fillRect/>
          </a:stretch>
        </p:blipFill>
        <p:spPr>
          <a:xfrm>
            <a:off x="4685407" y="990451"/>
            <a:ext cx="3406601" cy="2056581"/>
          </a:xfrm>
          <a:prstGeom prst="rect">
            <a:avLst/>
          </a:prstGeom>
        </p:spPr>
      </p:pic>
      <p:sp>
        <p:nvSpPr>
          <p:cNvPr id="7" name="Shape 3"/>
          <p:cNvSpPr/>
          <p:nvPr/>
        </p:nvSpPr>
        <p:spPr>
          <a:xfrm>
            <a:off x="1056605" y="4166146"/>
            <a:ext cx="7030715" cy="610642"/>
          </a:xfrm>
          <a:prstGeom prst="roundRect">
            <a:avLst>
              <a:gd name="adj" fmla="val 6132"/>
            </a:avLst>
          </a:prstGeom>
          <a:solidFill>
            <a:srgbClr val="D2D9F9"/>
          </a:solidFill>
          <a:ln w="4763">
            <a:solidFill>
              <a:srgbClr val="B8BFDF"/>
            </a:solidFill>
            <a:prstDash val="solid"/>
          </a:ln>
        </p:spPr>
        <p:txBody>
          <a:bodyPr/>
          <a:lstStyle/>
          <a:p>
            <a:endParaRPr lang="fr-TN"/>
          </a:p>
        </p:txBody>
      </p:sp>
      <p:sp>
        <p:nvSpPr>
          <p:cNvPr id="8" name="Shape 4"/>
          <p:cNvSpPr/>
          <p:nvPr/>
        </p:nvSpPr>
        <p:spPr>
          <a:xfrm>
            <a:off x="1061368" y="4170908"/>
            <a:ext cx="2340397" cy="601117"/>
          </a:xfrm>
          <a:prstGeom prst="rect">
            <a:avLst/>
          </a:prstGeom>
          <a:solidFill>
            <a:srgbClr val="D2D9F9"/>
          </a:solidFill>
          <a:ln/>
        </p:spPr>
        <p:txBody>
          <a:bodyPr/>
          <a:lstStyle/>
          <a:p>
            <a:endParaRPr lang="fr-TN"/>
          </a:p>
        </p:txBody>
      </p:sp>
      <p:sp>
        <p:nvSpPr>
          <p:cNvPr id="9" name="Text 5"/>
          <p:cNvSpPr/>
          <p:nvPr/>
        </p:nvSpPr>
        <p:spPr>
          <a:xfrm>
            <a:off x="1150516" y="4260056"/>
            <a:ext cx="1191667" cy="139303"/>
          </a:xfrm>
          <a:prstGeom prst="rect">
            <a:avLst/>
          </a:prstGeom>
          <a:noFill/>
          <a:ln/>
        </p:spPr>
        <p:txBody>
          <a:bodyPr wrap="none" lIns="0" tIns="0" rIns="0" bIns="0" rtlCol="0" anchor="t"/>
          <a:lstStyle/>
          <a:p>
            <a:pPr marL="0" indent="0" algn="l">
              <a:lnSpc>
                <a:spcPct val="104000"/>
              </a:lnSpc>
              <a:buNone/>
            </a:pPr>
            <a:r>
              <a:rPr lang="en-US" sz="850" dirty="0">
                <a:solidFill>
                  <a:srgbClr val="404155"/>
                </a:solidFill>
                <a:latin typeface="Corben" pitchFamily="34" charset="0"/>
                <a:ea typeface="Corben" pitchFamily="34" charset="-122"/>
                <a:cs typeface="Corben" pitchFamily="34" charset="-120"/>
              </a:rPr>
              <a:t>Frontend (Vercel CDN)</a:t>
            </a:r>
            <a:endParaRPr lang="en-US" sz="850" dirty="0"/>
          </a:p>
        </p:txBody>
      </p:sp>
      <p:sp>
        <p:nvSpPr>
          <p:cNvPr id="10" name="Text 6"/>
          <p:cNvSpPr/>
          <p:nvPr/>
        </p:nvSpPr>
        <p:spPr>
          <a:xfrm>
            <a:off x="1150516" y="4437757"/>
            <a:ext cx="2162101"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404155"/>
                </a:solidFill>
                <a:latin typeface="Nobile" pitchFamily="34" charset="0"/>
                <a:ea typeface="Nobile" pitchFamily="34" charset="-122"/>
                <a:cs typeface="Nobile" pitchFamily="34" charset="-120"/>
              </a:rPr>
              <a:t>React SPA hosted globally; API proxy rewrites via vercel.json eliminate CORS issues.</a:t>
            </a:r>
            <a:endParaRPr lang="en-US" sz="700" dirty="0"/>
          </a:p>
        </p:txBody>
      </p:sp>
      <p:sp>
        <p:nvSpPr>
          <p:cNvPr id="11" name="Shape 7"/>
          <p:cNvSpPr/>
          <p:nvPr/>
        </p:nvSpPr>
        <p:spPr>
          <a:xfrm>
            <a:off x="3401764" y="4170908"/>
            <a:ext cx="2340397" cy="601117"/>
          </a:xfrm>
          <a:prstGeom prst="rect">
            <a:avLst/>
          </a:prstGeom>
          <a:solidFill>
            <a:srgbClr val="D2D9F9"/>
          </a:solidFill>
          <a:ln/>
        </p:spPr>
        <p:txBody>
          <a:bodyPr/>
          <a:lstStyle/>
          <a:p>
            <a:endParaRPr lang="fr-TN"/>
          </a:p>
        </p:txBody>
      </p:sp>
      <p:sp>
        <p:nvSpPr>
          <p:cNvPr id="12" name="Shape 8"/>
          <p:cNvSpPr/>
          <p:nvPr/>
        </p:nvSpPr>
        <p:spPr>
          <a:xfrm>
            <a:off x="3401764" y="4170908"/>
            <a:ext cx="9525" cy="601117"/>
          </a:xfrm>
          <a:prstGeom prst="roundRect">
            <a:avLst>
              <a:gd name="adj" fmla="val 393140"/>
            </a:avLst>
          </a:prstGeom>
          <a:solidFill>
            <a:srgbClr val="B8BFDF"/>
          </a:solidFill>
          <a:ln/>
        </p:spPr>
        <p:txBody>
          <a:bodyPr/>
          <a:lstStyle/>
          <a:p>
            <a:endParaRPr lang="fr-TN"/>
          </a:p>
        </p:txBody>
      </p:sp>
      <p:sp>
        <p:nvSpPr>
          <p:cNvPr id="13" name="Text 9"/>
          <p:cNvSpPr/>
          <p:nvPr/>
        </p:nvSpPr>
        <p:spPr>
          <a:xfrm>
            <a:off x="3490913" y="4260056"/>
            <a:ext cx="1402333" cy="139303"/>
          </a:xfrm>
          <a:prstGeom prst="rect">
            <a:avLst/>
          </a:prstGeom>
          <a:noFill/>
          <a:ln/>
        </p:spPr>
        <p:txBody>
          <a:bodyPr wrap="none" lIns="0" tIns="0" rIns="0" bIns="0" rtlCol="0" anchor="t"/>
          <a:lstStyle/>
          <a:p>
            <a:pPr marL="0" indent="0" algn="l">
              <a:lnSpc>
                <a:spcPct val="104000"/>
              </a:lnSpc>
              <a:buNone/>
            </a:pPr>
            <a:r>
              <a:rPr lang="en-US" sz="850" dirty="0">
                <a:solidFill>
                  <a:srgbClr val="404155"/>
                </a:solidFill>
                <a:latin typeface="Corben" pitchFamily="34" charset="0"/>
                <a:ea typeface="Corben" pitchFamily="34" charset="-122"/>
                <a:cs typeface="Corben" pitchFamily="34" charset="-120"/>
              </a:rPr>
              <a:t>Backend (Cloud VM / PM2)</a:t>
            </a:r>
            <a:endParaRPr lang="en-US" sz="850" dirty="0"/>
          </a:p>
        </p:txBody>
      </p:sp>
      <p:sp>
        <p:nvSpPr>
          <p:cNvPr id="14" name="Text 10"/>
          <p:cNvSpPr/>
          <p:nvPr/>
        </p:nvSpPr>
        <p:spPr>
          <a:xfrm>
            <a:off x="3490913" y="4437757"/>
            <a:ext cx="2162101"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404155"/>
                </a:solidFill>
                <a:latin typeface="Nobile" pitchFamily="34" charset="0"/>
                <a:ea typeface="Nobile" pitchFamily="34" charset="-122"/>
                <a:cs typeface="Nobile" pitchFamily="34" charset="-120"/>
              </a:rPr>
              <a:t>Node.js Express server clustered across CPU cores with automated crash recovery.</a:t>
            </a:r>
            <a:endParaRPr lang="en-US" sz="700" dirty="0"/>
          </a:p>
        </p:txBody>
      </p:sp>
      <p:sp>
        <p:nvSpPr>
          <p:cNvPr id="15" name="Shape 11"/>
          <p:cNvSpPr/>
          <p:nvPr/>
        </p:nvSpPr>
        <p:spPr>
          <a:xfrm>
            <a:off x="5742161" y="4170908"/>
            <a:ext cx="2340397" cy="601117"/>
          </a:xfrm>
          <a:prstGeom prst="rect">
            <a:avLst/>
          </a:prstGeom>
          <a:solidFill>
            <a:srgbClr val="D2D9F9"/>
          </a:solidFill>
          <a:ln/>
        </p:spPr>
        <p:txBody>
          <a:bodyPr/>
          <a:lstStyle/>
          <a:p>
            <a:endParaRPr lang="fr-TN"/>
          </a:p>
        </p:txBody>
      </p:sp>
      <p:sp>
        <p:nvSpPr>
          <p:cNvPr id="16" name="Shape 12"/>
          <p:cNvSpPr/>
          <p:nvPr/>
        </p:nvSpPr>
        <p:spPr>
          <a:xfrm>
            <a:off x="5742161" y="4170908"/>
            <a:ext cx="9525" cy="601117"/>
          </a:xfrm>
          <a:prstGeom prst="roundRect">
            <a:avLst>
              <a:gd name="adj" fmla="val 393140"/>
            </a:avLst>
          </a:prstGeom>
          <a:solidFill>
            <a:srgbClr val="B8BFDF"/>
          </a:solidFill>
          <a:ln/>
        </p:spPr>
        <p:txBody>
          <a:bodyPr/>
          <a:lstStyle/>
          <a:p>
            <a:endParaRPr lang="fr-TN"/>
          </a:p>
        </p:txBody>
      </p:sp>
      <p:sp>
        <p:nvSpPr>
          <p:cNvPr id="17" name="Text 13"/>
          <p:cNvSpPr/>
          <p:nvPr/>
        </p:nvSpPr>
        <p:spPr>
          <a:xfrm>
            <a:off x="5831309" y="4260056"/>
            <a:ext cx="1411784" cy="139303"/>
          </a:xfrm>
          <a:prstGeom prst="rect">
            <a:avLst/>
          </a:prstGeom>
          <a:noFill/>
          <a:ln/>
        </p:spPr>
        <p:txBody>
          <a:bodyPr wrap="none" lIns="0" tIns="0" rIns="0" bIns="0" rtlCol="0" anchor="t"/>
          <a:lstStyle/>
          <a:p>
            <a:pPr marL="0" indent="0" algn="l">
              <a:lnSpc>
                <a:spcPct val="104000"/>
              </a:lnSpc>
              <a:buNone/>
            </a:pPr>
            <a:r>
              <a:rPr lang="en-US" sz="850" dirty="0">
                <a:solidFill>
                  <a:srgbClr val="404155"/>
                </a:solidFill>
                <a:latin typeface="Corben" pitchFamily="34" charset="0"/>
                <a:ea typeface="Corben" pitchFamily="34" charset="-122"/>
                <a:cs typeface="Corben" pitchFamily="34" charset="-120"/>
              </a:rPr>
              <a:t>Database (MongoDB Atlas)</a:t>
            </a:r>
            <a:endParaRPr lang="en-US" sz="850" dirty="0"/>
          </a:p>
        </p:txBody>
      </p:sp>
      <p:sp>
        <p:nvSpPr>
          <p:cNvPr id="18" name="Text 14"/>
          <p:cNvSpPr/>
          <p:nvPr/>
        </p:nvSpPr>
        <p:spPr>
          <a:xfrm>
            <a:off x="5831309" y="4437757"/>
            <a:ext cx="2162101" cy="245120"/>
          </a:xfrm>
          <a:prstGeom prst="rect">
            <a:avLst/>
          </a:prstGeom>
          <a:noFill/>
          <a:ln/>
        </p:spPr>
        <p:txBody>
          <a:bodyPr wrap="square" lIns="0" tIns="0" rIns="0" bIns="0" rtlCol="0" anchor="t">
            <a:normAutofit/>
          </a:bodyPr>
          <a:lstStyle/>
          <a:p>
            <a:pPr marL="0" indent="0" algn="l">
              <a:lnSpc>
                <a:spcPct val="115000"/>
              </a:lnSpc>
              <a:buNone/>
            </a:pPr>
            <a:r>
              <a:rPr lang="en-US" sz="700" dirty="0">
                <a:solidFill>
                  <a:srgbClr val="404155"/>
                </a:solidFill>
                <a:latin typeface="Nobile" pitchFamily="34" charset="0"/>
                <a:ea typeface="Nobile" pitchFamily="34" charset="-122"/>
                <a:cs typeface="Nobile" pitchFamily="34" charset="-120"/>
              </a:rPr>
              <a:t>Replicated BSON cluster with 30-day TTL indexes and 500MB quota monitor.</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354509"/>
            <a:ext cx="1582192" cy="195263"/>
          </a:xfrm>
          <a:prstGeom prst="roundRect">
            <a:avLst>
              <a:gd name="adj" fmla="val 18677"/>
            </a:avLst>
          </a:prstGeom>
          <a:solidFill>
            <a:srgbClr val="D2D9F9"/>
          </a:solidFill>
          <a:ln/>
        </p:spPr>
        <p:txBody>
          <a:bodyPr/>
          <a:lstStyle/>
          <a:p>
            <a:endParaRPr lang="fr-TN"/>
          </a:p>
        </p:txBody>
      </p:sp>
      <p:sp>
        <p:nvSpPr>
          <p:cNvPr id="3" name="Text 1"/>
          <p:cNvSpPr/>
          <p:nvPr/>
        </p:nvSpPr>
        <p:spPr>
          <a:xfrm>
            <a:off x="561231" y="387028"/>
            <a:ext cx="1909167" cy="130225"/>
          </a:xfrm>
          <a:prstGeom prst="rect">
            <a:avLst/>
          </a:prstGeom>
          <a:noFill/>
          <a:ln/>
        </p:spPr>
        <p:txBody>
          <a:bodyPr wrap="none" lIns="0" tIns="0" rIns="0" bIns="0" rtlCol="0" anchor="t"/>
          <a:lstStyle/>
          <a:p>
            <a:pPr marL="0" indent="0" algn="l">
              <a:lnSpc>
                <a:spcPct val="125000"/>
              </a:lnSpc>
              <a:buNone/>
            </a:pPr>
            <a:r>
              <a:rPr lang="en-US" sz="650" dirty="0">
                <a:solidFill>
                  <a:srgbClr val="404155"/>
                </a:solidFill>
                <a:latin typeface="Nobile" pitchFamily="34" charset="0"/>
                <a:ea typeface="Nobile" pitchFamily="34" charset="-122"/>
                <a:cs typeface="Nobile" pitchFamily="34" charset="-120"/>
              </a:rPr>
              <a:t>CHAPTER 2 — CONCEPTUAL STUDY</a:t>
            </a:r>
            <a:endParaRPr lang="en-US" sz="650" dirty="0"/>
          </a:p>
        </p:txBody>
      </p:sp>
      <p:sp>
        <p:nvSpPr>
          <p:cNvPr id="4" name="Text 2"/>
          <p:cNvSpPr/>
          <p:nvPr/>
        </p:nvSpPr>
        <p:spPr>
          <a:xfrm>
            <a:off x="496119" y="587722"/>
            <a:ext cx="3225329" cy="339179"/>
          </a:xfrm>
          <a:prstGeom prst="rect">
            <a:avLst/>
          </a:prstGeom>
          <a:noFill/>
          <a:ln/>
        </p:spPr>
        <p:txBody>
          <a:bodyPr wrap="none" lIns="0" tIns="0" rIns="0" bIns="0" rtlCol="0" anchor="t"/>
          <a:lstStyle/>
          <a:p>
            <a:pPr marL="0" indent="0" algn="l">
              <a:lnSpc>
                <a:spcPct val="104000"/>
              </a:lnSpc>
              <a:buNone/>
            </a:pPr>
            <a:r>
              <a:rPr lang="en-US" sz="2100" dirty="0">
                <a:solidFill>
                  <a:srgbClr val="1B1B27"/>
                </a:solidFill>
                <a:latin typeface="Corben" pitchFamily="34" charset="0"/>
                <a:ea typeface="Corben" pitchFamily="34" charset="-122"/>
                <a:cs typeface="Corben" pitchFamily="34" charset="-120"/>
              </a:rPr>
              <a:t>Global Class Diagram</a:t>
            </a:r>
            <a:endParaRPr lang="en-US" sz="2100" dirty="0"/>
          </a:p>
        </p:txBody>
      </p:sp>
      <p:pic>
        <p:nvPicPr>
          <p:cNvPr id="5" name="Image 0" descr="preencoded.png"/>
          <p:cNvPicPr>
            <a:picLocks noChangeAspect="1"/>
          </p:cNvPicPr>
          <p:nvPr/>
        </p:nvPicPr>
        <p:blipFill>
          <a:blip r:embed="rId3"/>
          <a:stretch>
            <a:fillRect/>
          </a:stretch>
        </p:blipFill>
        <p:spPr>
          <a:xfrm>
            <a:off x="1823070" y="926901"/>
            <a:ext cx="5182791" cy="2326779"/>
          </a:xfrm>
          <a:prstGeom prst="rect">
            <a:avLst/>
          </a:prstGeom>
        </p:spPr>
      </p:pic>
      <p:sp>
        <p:nvSpPr>
          <p:cNvPr id="6" name="Shape 3"/>
          <p:cNvSpPr/>
          <p:nvPr/>
        </p:nvSpPr>
        <p:spPr>
          <a:xfrm>
            <a:off x="496119" y="3502893"/>
            <a:ext cx="2653903" cy="1286098"/>
          </a:xfrm>
          <a:prstGeom prst="roundRect">
            <a:avLst>
              <a:gd name="adj" fmla="val 3545"/>
            </a:avLst>
          </a:prstGeom>
          <a:solidFill>
            <a:srgbClr val="F9F9FF">
              <a:alpha val="95000"/>
            </a:srgbClr>
          </a:solidFill>
          <a:ln w="14288">
            <a:solidFill>
              <a:srgbClr val="B8BFDF"/>
            </a:solidFill>
            <a:prstDash val="solid"/>
          </a:ln>
        </p:spPr>
        <p:txBody>
          <a:bodyPr/>
          <a:lstStyle/>
          <a:p>
            <a:endParaRPr lang="fr-TN"/>
          </a:p>
        </p:txBody>
      </p:sp>
      <p:sp>
        <p:nvSpPr>
          <p:cNvPr id="7" name="Text 4"/>
          <p:cNvSpPr/>
          <p:nvPr/>
        </p:nvSpPr>
        <p:spPr>
          <a:xfrm>
            <a:off x="618902" y="3625676"/>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Backend Tier</a:t>
            </a:r>
            <a:endParaRPr lang="en-US" sz="1050" dirty="0"/>
          </a:p>
        </p:txBody>
      </p:sp>
      <p:sp>
        <p:nvSpPr>
          <p:cNvPr id="8" name="Text 5"/>
          <p:cNvSpPr/>
          <p:nvPr/>
        </p:nvSpPr>
        <p:spPr>
          <a:xfrm>
            <a:off x="618902" y="3852118"/>
            <a:ext cx="2408337" cy="814090"/>
          </a:xfrm>
          <a:prstGeom prst="rect">
            <a:avLst/>
          </a:prstGeom>
          <a:noFill/>
          <a:ln/>
        </p:spPr>
        <p:txBody>
          <a:bodyPr wrap="square" lIns="0" tIns="0" rIns="0" bIns="0" rtlCol="0" anchor="t">
            <a:normAutofit/>
          </a:bodyPr>
          <a:lstStyle/>
          <a:p>
            <a:pPr marL="0" indent="0" algn="l">
              <a:lnSpc>
                <a:spcPct val="125000"/>
              </a:lnSpc>
              <a:buNone/>
            </a:pPr>
            <a:r>
              <a:rPr lang="en-US" sz="850" b="1" dirty="0">
                <a:solidFill>
                  <a:srgbClr val="404155"/>
                </a:solidFill>
                <a:latin typeface="Nobile" pitchFamily="34" charset="0"/>
                <a:ea typeface="Nobile" pitchFamily="34" charset="-122"/>
                <a:cs typeface="Nobile" pitchFamily="34" charset="-120"/>
              </a:rPr>
              <a:t>ExpressServer</a:t>
            </a:r>
            <a:r>
              <a:rPr lang="en-US" sz="850" dirty="0">
                <a:solidFill>
                  <a:srgbClr val="404155"/>
                </a:solidFill>
                <a:latin typeface="Nobile" pitchFamily="34" charset="0"/>
                <a:ea typeface="Nobile" pitchFamily="34" charset="-122"/>
                <a:cs typeface="Nobile" pitchFamily="34" charset="-120"/>
              </a:rPr>
              <a:t> schedules multiple </a:t>
            </a:r>
            <a:r>
              <a:rPr lang="en-US" sz="850" b="1" dirty="0">
                <a:solidFill>
                  <a:srgbClr val="404155"/>
                </a:solidFill>
                <a:latin typeface="Nobile" pitchFamily="34" charset="0"/>
                <a:ea typeface="Nobile" pitchFamily="34" charset="-122"/>
                <a:cs typeface="Nobile" pitchFamily="34" charset="-120"/>
              </a:rPr>
              <a:t>ScraperService</a:t>
            </a:r>
            <a:r>
              <a:rPr lang="en-US" sz="850" dirty="0">
                <a:solidFill>
                  <a:srgbClr val="404155"/>
                </a:solidFill>
                <a:latin typeface="Nobile" pitchFamily="34" charset="0"/>
                <a:ea typeface="Nobile" pitchFamily="34" charset="-122"/>
                <a:cs typeface="Nobile" pitchFamily="34" charset="-120"/>
              </a:rPr>
              <a:t> instances. </a:t>
            </a:r>
            <a:r>
              <a:rPr lang="en-US" sz="850" b="1" dirty="0">
                <a:solidFill>
                  <a:srgbClr val="404155"/>
                </a:solidFill>
                <a:latin typeface="Nobile" pitchFamily="34" charset="0"/>
                <a:ea typeface="Nobile" pitchFamily="34" charset="-122"/>
                <a:cs typeface="Nobile" pitchFamily="34" charset="-120"/>
              </a:rPr>
              <a:t>EnrichmentService</a:t>
            </a:r>
            <a:r>
              <a:rPr lang="en-US" sz="850" dirty="0">
                <a:solidFill>
                  <a:srgbClr val="404155"/>
                </a:solidFill>
                <a:latin typeface="Nobile" pitchFamily="34" charset="0"/>
                <a:ea typeface="Nobile" pitchFamily="34" charset="-122"/>
                <a:cs typeface="Nobile" pitchFamily="34" charset="-120"/>
              </a:rPr>
              <a:t> resolves geolocation and sector. </a:t>
            </a:r>
            <a:r>
              <a:rPr lang="en-US" sz="850" b="1" dirty="0">
                <a:solidFill>
                  <a:srgbClr val="404155"/>
                </a:solidFill>
                <a:latin typeface="Nobile" pitchFamily="34" charset="0"/>
                <a:ea typeface="Nobile" pitchFamily="34" charset="-122"/>
                <a:cs typeface="Nobile" pitchFamily="34" charset="-120"/>
              </a:rPr>
              <a:t>MongooseThreatEvent</a:t>
            </a:r>
            <a:r>
              <a:rPr lang="en-US" sz="850" dirty="0">
                <a:solidFill>
                  <a:srgbClr val="404155"/>
                </a:solidFill>
                <a:latin typeface="Nobile" pitchFamily="34" charset="0"/>
                <a:ea typeface="Nobile" pitchFamily="34" charset="-122"/>
                <a:cs typeface="Nobile" pitchFamily="34" charset="-120"/>
              </a:rPr>
              <a:t> persists compact BSON documents.</a:t>
            </a:r>
            <a:endParaRPr lang="en-US" sz="850" dirty="0"/>
          </a:p>
        </p:txBody>
      </p:sp>
      <p:sp>
        <p:nvSpPr>
          <p:cNvPr id="9" name="Shape 6"/>
          <p:cNvSpPr/>
          <p:nvPr/>
        </p:nvSpPr>
        <p:spPr>
          <a:xfrm>
            <a:off x="3244974" y="3502893"/>
            <a:ext cx="2653978" cy="1286098"/>
          </a:xfrm>
          <a:prstGeom prst="roundRect">
            <a:avLst>
              <a:gd name="adj" fmla="val 3545"/>
            </a:avLst>
          </a:prstGeom>
          <a:solidFill>
            <a:srgbClr val="F9F9FF">
              <a:alpha val="95000"/>
            </a:srgbClr>
          </a:solidFill>
          <a:ln w="14288">
            <a:solidFill>
              <a:srgbClr val="B8BFDF"/>
            </a:solidFill>
            <a:prstDash val="solid"/>
          </a:ln>
        </p:spPr>
        <p:txBody>
          <a:bodyPr/>
          <a:lstStyle/>
          <a:p>
            <a:endParaRPr lang="fr-TN"/>
          </a:p>
        </p:txBody>
      </p:sp>
      <p:sp>
        <p:nvSpPr>
          <p:cNvPr id="10" name="Text 7"/>
          <p:cNvSpPr/>
          <p:nvPr/>
        </p:nvSpPr>
        <p:spPr>
          <a:xfrm>
            <a:off x="3367757" y="3625676"/>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Zustand Store</a:t>
            </a:r>
            <a:endParaRPr lang="en-US" sz="1050" dirty="0"/>
          </a:p>
        </p:txBody>
      </p:sp>
      <p:sp>
        <p:nvSpPr>
          <p:cNvPr id="11" name="Text 8"/>
          <p:cNvSpPr/>
          <p:nvPr/>
        </p:nvSpPr>
        <p:spPr>
          <a:xfrm>
            <a:off x="3367757" y="3852118"/>
            <a:ext cx="2408411" cy="651272"/>
          </a:xfrm>
          <a:prstGeom prst="rect">
            <a:avLst/>
          </a:prstGeom>
          <a:noFill/>
          <a:ln/>
        </p:spPr>
        <p:txBody>
          <a:bodyPr wrap="square" lIns="0" tIns="0" rIns="0" bIns="0" rtlCol="0" anchor="t">
            <a:normAutofit/>
          </a:bodyPr>
          <a:lstStyle/>
          <a:p>
            <a:pPr marL="0" indent="0" algn="l">
              <a:lnSpc>
                <a:spcPct val="125000"/>
              </a:lnSpc>
              <a:buNone/>
            </a:pPr>
            <a:r>
              <a:rPr lang="en-US" sz="850" b="1" dirty="0">
                <a:solidFill>
                  <a:srgbClr val="404155"/>
                </a:solidFill>
                <a:latin typeface="Nobile" pitchFamily="34" charset="0"/>
                <a:ea typeface="Nobile" pitchFamily="34" charset="-122"/>
                <a:cs typeface="Nobile" pitchFamily="34" charset="-120"/>
              </a:rPr>
              <a:t>useStreamStore</a:t>
            </a:r>
            <a:r>
              <a:rPr lang="en-US" sz="850" dirty="0">
                <a:solidFill>
                  <a:srgbClr val="404155"/>
                </a:solidFill>
                <a:latin typeface="Nobile" pitchFamily="34" charset="0"/>
                <a:ea typeface="Nobile" pitchFamily="34" charset="-122"/>
                <a:cs typeface="Nobile" pitchFamily="34" charset="-120"/>
              </a:rPr>
              <a:t> manages real-time state with a circular </a:t>
            </a:r>
            <a:r>
              <a:rPr lang="en-US" sz="850" b="1" dirty="0">
                <a:solidFill>
                  <a:srgbClr val="404155"/>
                </a:solidFill>
                <a:latin typeface="Nobile" pitchFamily="34" charset="0"/>
                <a:ea typeface="Nobile" pitchFamily="34" charset="-122"/>
                <a:cs typeface="Nobile" pitchFamily="34" charset="-120"/>
              </a:rPr>
              <a:t>RingBuffer</a:t>
            </a:r>
            <a:r>
              <a:rPr lang="en-US" sz="850" dirty="0">
                <a:solidFill>
                  <a:srgbClr val="404155"/>
                </a:solidFill>
                <a:latin typeface="Nobile" pitchFamily="34" charset="0"/>
                <a:ea typeface="Nobile" pitchFamily="34" charset="-122"/>
                <a:cs typeface="Nobile" pitchFamily="34" charset="-120"/>
              </a:rPr>
              <a:t> and </a:t>
            </a:r>
            <a:r>
              <a:rPr lang="en-US" sz="850" b="1" dirty="0">
                <a:solidFill>
                  <a:srgbClr val="404155"/>
                </a:solidFill>
                <a:latin typeface="Nobile" pitchFamily="34" charset="0"/>
                <a:ea typeface="Nobile" pitchFamily="34" charset="-122"/>
                <a:cs typeface="Nobile" pitchFamily="34" charset="-120"/>
              </a:rPr>
              <a:t>perfTelemetry</a:t>
            </a:r>
            <a:r>
              <a:rPr lang="en-US" sz="850" dirty="0">
                <a:solidFill>
                  <a:srgbClr val="404155"/>
                </a:solidFill>
                <a:latin typeface="Nobile" pitchFamily="34" charset="0"/>
                <a:ea typeface="Nobile" pitchFamily="34" charset="-122"/>
                <a:cs typeface="Nobile" pitchFamily="34" charset="-120"/>
              </a:rPr>
              <a:t> tracker to prevent memory leaks and GC spikes.</a:t>
            </a:r>
            <a:endParaRPr lang="en-US" sz="850" dirty="0"/>
          </a:p>
        </p:txBody>
      </p:sp>
      <p:sp>
        <p:nvSpPr>
          <p:cNvPr id="12" name="Shape 9"/>
          <p:cNvSpPr/>
          <p:nvPr/>
        </p:nvSpPr>
        <p:spPr>
          <a:xfrm>
            <a:off x="5993904" y="3502893"/>
            <a:ext cx="2653978" cy="1286098"/>
          </a:xfrm>
          <a:prstGeom prst="roundRect">
            <a:avLst>
              <a:gd name="adj" fmla="val 3545"/>
            </a:avLst>
          </a:prstGeom>
          <a:solidFill>
            <a:srgbClr val="F9F9FF">
              <a:alpha val="95000"/>
            </a:srgbClr>
          </a:solidFill>
          <a:ln w="14288">
            <a:solidFill>
              <a:srgbClr val="B8BFDF"/>
            </a:solidFill>
            <a:prstDash val="solid"/>
          </a:ln>
        </p:spPr>
        <p:txBody>
          <a:bodyPr/>
          <a:lstStyle/>
          <a:p>
            <a:endParaRPr lang="fr-TN"/>
          </a:p>
        </p:txBody>
      </p:sp>
      <p:sp>
        <p:nvSpPr>
          <p:cNvPr id="13" name="Text 10"/>
          <p:cNvSpPr/>
          <p:nvPr/>
        </p:nvSpPr>
        <p:spPr>
          <a:xfrm>
            <a:off x="6116687" y="3625676"/>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React Views</a:t>
            </a:r>
            <a:endParaRPr lang="en-US" sz="1050" dirty="0"/>
          </a:p>
        </p:txBody>
      </p:sp>
      <p:sp>
        <p:nvSpPr>
          <p:cNvPr id="14" name="Text 11"/>
          <p:cNvSpPr/>
          <p:nvPr/>
        </p:nvSpPr>
        <p:spPr>
          <a:xfrm>
            <a:off x="6116687" y="3852118"/>
            <a:ext cx="2408411" cy="651272"/>
          </a:xfrm>
          <a:prstGeom prst="rect">
            <a:avLst/>
          </a:prstGeom>
          <a:noFill/>
          <a:ln/>
        </p:spPr>
        <p:txBody>
          <a:bodyPr wrap="square" lIns="0" tIns="0" rIns="0" bIns="0" rtlCol="0" anchor="t">
            <a:normAutofit/>
          </a:bodyPr>
          <a:lstStyle/>
          <a:p>
            <a:pPr marL="0" indent="0" algn="l">
              <a:lnSpc>
                <a:spcPct val="125000"/>
              </a:lnSpc>
              <a:buNone/>
            </a:pPr>
            <a:r>
              <a:rPr lang="en-US" sz="850" b="1" dirty="0">
                <a:solidFill>
                  <a:srgbClr val="404155"/>
                </a:solidFill>
                <a:latin typeface="Nobile" pitchFamily="34" charset="0"/>
                <a:ea typeface="Nobile" pitchFamily="34" charset="-122"/>
                <a:cs typeface="Nobile" pitchFamily="34" charset="-120"/>
              </a:rPr>
              <a:t>DashboardPage</a:t>
            </a:r>
            <a:r>
              <a:rPr lang="en-US" sz="850" dirty="0">
                <a:solidFill>
                  <a:srgbClr val="404155"/>
                </a:solidFill>
                <a:latin typeface="Nobile" pitchFamily="34" charset="0"/>
                <a:ea typeface="Nobile" pitchFamily="34" charset="-122"/>
                <a:cs typeface="Nobile" pitchFamily="34" charset="-120"/>
              </a:rPr>
              <a:t>, </a:t>
            </a:r>
            <a:r>
              <a:rPr lang="en-US" sz="850" b="1" dirty="0">
                <a:solidFill>
                  <a:srgbClr val="404155"/>
                </a:solidFill>
                <a:latin typeface="Nobile" pitchFamily="34" charset="0"/>
                <a:ea typeface="Nobile" pitchFamily="34" charset="-122"/>
                <a:cs typeface="Nobile" pitchFamily="34" charset="-120"/>
              </a:rPr>
              <a:t>HistoryPage</a:t>
            </a:r>
            <a:r>
              <a:rPr lang="en-US" sz="850" dirty="0">
                <a:solidFill>
                  <a:srgbClr val="404155"/>
                </a:solidFill>
                <a:latin typeface="Nobile" pitchFamily="34" charset="0"/>
                <a:ea typeface="Nobile" pitchFamily="34" charset="-122"/>
                <a:cs typeface="Nobile" pitchFamily="34" charset="-120"/>
              </a:rPr>
              <a:t>, </a:t>
            </a:r>
            <a:r>
              <a:rPr lang="en-US" sz="850" b="1" dirty="0">
                <a:solidFill>
                  <a:srgbClr val="404155"/>
                </a:solidFill>
                <a:latin typeface="Nobile" pitchFamily="34" charset="0"/>
                <a:ea typeface="Nobile" pitchFamily="34" charset="-122"/>
                <a:cs typeface="Nobile" pitchFamily="34" charset="-120"/>
              </a:rPr>
              <a:t>AnalyticsPage</a:t>
            </a:r>
            <a:r>
              <a:rPr lang="en-US" sz="850" dirty="0">
                <a:solidFill>
                  <a:srgbClr val="404155"/>
                </a:solidFill>
                <a:latin typeface="Nobile" pitchFamily="34" charset="0"/>
                <a:ea typeface="Nobile" pitchFamily="34" charset="-122"/>
                <a:cs typeface="Nobile" pitchFamily="34" charset="-120"/>
              </a:rPr>
              <a:t>, </a:t>
            </a:r>
            <a:r>
              <a:rPr lang="en-US" sz="850" b="1" dirty="0">
                <a:solidFill>
                  <a:srgbClr val="404155"/>
                </a:solidFill>
                <a:latin typeface="Nobile" pitchFamily="34" charset="0"/>
                <a:ea typeface="Nobile" pitchFamily="34" charset="-122"/>
                <a:cs typeface="Nobile" pitchFamily="34" charset="-120"/>
              </a:rPr>
              <a:t>StixDashboard</a:t>
            </a:r>
            <a:r>
              <a:rPr lang="en-US" sz="850" dirty="0">
                <a:solidFill>
                  <a:srgbClr val="404155"/>
                </a:solidFill>
                <a:latin typeface="Nobile" pitchFamily="34" charset="0"/>
                <a:ea typeface="Nobile" pitchFamily="34" charset="-122"/>
                <a:cs typeface="Nobile" pitchFamily="34" charset="-120"/>
              </a:rPr>
              <a:t>, and </a:t>
            </a:r>
            <a:r>
              <a:rPr lang="en-US" sz="850" b="1" dirty="0">
                <a:solidFill>
                  <a:srgbClr val="404155"/>
                </a:solidFill>
                <a:latin typeface="Nobile" pitchFamily="34" charset="0"/>
                <a:ea typeface="Nobile" pitchFamily="34" charset="-122"/>
                <a:cs typeface="Nobile" pitchFamily="34" charset="-120"/>
              </a:rPr>
              <a:t>CountryDashboard</a:t>
            </a:r>
            <a:r>
              <a:rPr lang="en-US" sz="850" dirty="0">
                <a:solidFill>
                  <a:srgbClr val="404155"/>
                </a:solidFill>
                <a:latin typeface="Nobile" pitchFamily="34" charset="0"/>
                <a:ea typeface="Nobile" pitchFamily="34" charset="-122"/>
                <a:cs typeface="Nobile" pitchFamily="34" charset="-120"/>
              </a:rPr>
              <a:t> subscribe to Zustand state slices and bind to REST endpoints.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21643" y="364778"/>
            <a:ext cx="1013520" cy="181719"/>
          </a:xfrm>
          <a:prstGeom prst="roundRect">
            <a:avLst>
              <a:gd name="adj" fmla="val 18994"/>
            </a:avLst>
          </a:prstGeom>
          <a:solidFill>
            <a:srgbClr val="D2D9F9"/>
          </a:solidFill>
          <a:ln/>
        </p:spPr>
        <p:txBody>
          <a:bodyPr/>
          <a:lstStyle/>
          <a:p>
            <a:endParaRPr lang="fr-TN"/>
          </a:p>
        </p:txBody>
      </p:sp>
      <p:sp>
        <p:nvSpPr>
          <p:cNvPr id="3" name="Text 1"/>
          <p:cNvSpPr/>
          <p:nvPr/>
        </p:nvSpPr>
        <p:spPr>
          <a:xfrm>
            <a:off x="583257" y="395585"/>
            <a:ext cx="1347490" cy="120104"/>
          </a:xfrm>
          <a:prstGeom prst="rect">
            <a:avLst/>
          </a:prstGeom>
          <a:noFill/>
          <a:ln/>
        </p:spPr>
        <p:txBody>
          <a:bodyPr wrap="none" lIns="0" tIns="0" rIns="0" bIns="0" rtlCol="0" anchor="t"/>
          <a:lstStyle/>
          <a:p>
            <a:pPr marL="0" indent="0" algn="l">
              <a:lnSpc>
                <a:spcPct val="122000"/>
              </a:lnSpc>
              <a:buNone/>
            </a:pPr>
            <a:r>
              <a:rPr lang="en-US" sz="600" dirty="0">
                <a:solidFill>
                  <a:srgbClr val="404155"/>
                </a:solidFill>
                <a:latin typeface="Nobile" pitchFamily="34" charset="0"/>
                <a:ea typeface="Nobile" pitchFamily="34" charset="-122"/>
                <a:cs typeface="Nobile" pitchFamily="34" charset="-120"/>
              </a:rPr>
              <a:t>CHAPTER 3 — SPRINT 1</a:t>
            </a:r>
            <a:endParaRPr lang="en-US" sz="600" dirty="0"/>
          </a:p>
        </p:txBody>
      </p:sp>
      <p:sp>
        <p:nvSpPr>
          <p:cNvPr id="4" name="Text 2"/>
          <p:cNvSpPr/>
          <p:nvPr/>
        </p:nvSpPr>
        <p:spPr>
          <a:xfrm>
            <a:off x="521643" y="580504"/>
            <a:ext cx="6000750" cy="320948"/>
          </a:xfrm>
          <a:prstGeom prst="rect">
            <a:avLst/>
          </a:prstGeom>
          <a:noFill/>
          <a:ln/>
        </p:spPr>
        <p:txBody>
          <a:bodyPr wrap="none" lIns="0" tIns="0" rIns="0" bIns="0" rtlCol="0" anchor="t"/>
          <a:lstStyle/>
          <a:p>
            <a:pPr marL="0" indent="0" algn="l">
              <a:lnSpc>
                <a:spcPct val="104000"/>
              </a:lnSpc>
              <a:buNone/>
            </a:pPr>
            <a:r>
              <a:rPr lang="en-US" sz="2000" dirty="0">
                <a:solidFill>
                  <a:srgbClr val="1B1B27"/>
                </a:solidFill>
                <a:latin typeface="Corben" pitchFamily="34" charset="0"/>
                <a:ea typeface="Corben" pitchFamily="34" charset="-122"/>
                <a:cs typeface="Corben" pitchFamily="34" charset="-120"/>
              </a:rPr>
              <a:t>Sprint 1: Data Ingestion &amp; Enrichment Pipeline</a:t>
            </a:r>
            <a:endParaRPr lang="en-US" sz="2000" dirty="0"/>
          </a:p>
        </p:txBody>
      </p:sp>
      <p:sp>
        <p:nvSpPr>
          <p:cNvPr id="5" name="Text 3"/>
          <p:cNvSpPr/>
          <p:nvPr/>
        </p:nvSpPr>
        <p:spPr>
          <a:xfrm>
            <a:off x="521643" y="1114053"/>
            <a:ext cx="1741215" cy="160511"/>
          </a:xfrm>
          <a:prstGeom prst="rect">
            <a:avLst/>
          </a:prstGeom>
          <a:noFill/>
          <a:ln/>
        </p:spPr>
        <p:txBody>
          <a:bodyPr wrap="none" lIns="0" tIns="0" rIns="0" bIns="0" rtlCol="0" anchor="t"/>
          <a:lstStyle/>
          <a:p>
            <a:pPr marL="0" indent="0" algn="l">
              <a:lnSpc>
                <a:spcPct val="104000"/>
              </a:lnSpc>
              <a:buNone/>
            </a:pPr>
            <a:r>
              <a:rPr lang="en-US" sz="1000" dirty="0">
                <a:solidFill>
                  <a:srgbClr val="1B1B27"/>
                </a:solidFill>
                <a:latin typeface="Corben" pitchFamily="34" charset="0"/>
                <a:ea typeface="Corben" pitchFamily="34" charset="-122"/>
                <a:cs typeface="Corben" pitchFamily="34" charset="-120"/>
              </a:rPr>
              <a:t>Sprint Objectives</a:t>
            </a:r>
            <a:endParaRPr lang="en-US" sz="1000" dirty="0"/>
          </a:p>
        </p:txBody>
      </p:sp>
      <p:sp>
        <p:nvSpPr>
          <p:cNvPr id="6" name="Text 4"/>
          <p:cNvSpPr/>
          <p:nvPr/>
        </p:nvSpPr>
        <p:spPr>
          <a:xfrm>
            <a:off x="521643" y="1359619"/>
            <a:ext cx="3924970" cy="450503"/>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404155"/>
                </a:solidFill>
                <a:latin typeface="Nobile" pitchFamily="34" charset="0"/>
                <a:ea typeface="Nobile" pitchFamily="34" charset="-122"/>
                <a:cs typeface="Nobile" pitchFamily="34" charset="-120"/>
              </a:rPr>
              <a:t>Configure the Express server, set up Mongoose models, code 9 modular scrapers, and implement the 5-layer sector classification and geolocation enrichment pipeline.</a:t>
            </a:r>
            <a:endParaRPr lang="en-US" sz="800" dirty="0"/>
          </a:p>
        </p:txBody>
      </p:sp>
      <p:pic>
        <p:nvPicPr>
          <p:cNvPr id="7" name="Image 0" descr="preencoded.png"/>
          <p:cNvPicPr>
            <a:picLocks noChangeAspect="1"/>
          </p:cNvPicPr>
          <p:nvPr/>
        </p:nvPicPr>
        <p:blipFill>
          <a:blip r:embed="rId3"/>
          <a:stretch>
            <a:fillRect/>
          </a:stretch>
        </p:blipFill>
        <p:spPr>
          <a:xfrm>
            <a:off x="521643" y="1905819"/>
            <a:ext cx="3924970" cy="2221855"/>
          </a:xfrm>
          <a:prstGeom prst="rect">
            <a:avLst/>
          </a:prstGeom>
        </p:spPr>
      </p:pic>
      <p:sp>
        <p:nvSpPr>
          <p:cNvPr id="8" name="Text 5"/>
          <p:cNvSpPr/>
          <p:nvPr/>
        </p:nvSpPr>
        <p:spPr>
          <a:xfrm>
            <a:off x="4702001" y="1114053"/>
            <a:ext cx="1959620" cy="160511"/>
          </a:xfrm>
          <a:prstGeom prst="rect">
            <a:avLst/>
          </a:prstGeom>
          <a:noFill/>
          <a:ln/>
        </p:spPr>
        <p:txBody>
          <a:bodyPr wrap="none" lIns="0" tIns="0" rIns="0" bIns="0" rtlCol="0" anchor="t"/>
          <a:lstStyle/>
          <a:p>
            <a:pPr marL="0" indent="0" algn="l">
              <a:lnSpc>
                <a:spcPct val="104000"/>
              </a:lnSpc>
              <a:buNone/>
            </a:pPr>
            <a:r>
              <a:rPr lang="en-US" sz="1000" dirty="0">
                <a:solidFill>
                  <a:srgbClr val="1B1B27"/>
                </a:solidFill>
                <a:latin typeface="Corben" pitchFamily="34" charset="0"/>
                <a:ea typeface="Corben" pitchFamily="34" charset="-122"/>
                <a:cs typeface="Corben" pitchFamily="34" charset="-120"/>
              </a:rPr>
              <a:t>9 Integrated Threat Feeds</a:t>
            </a:r>
            <a:endParaRPr lang="en-US" sz="1000" dirty="0"/>
          </a:p>
        </p:txBody>
      </p:sp>
      <p:sp>
        <p:nvSpPr>
          <p:cNvPr id="9" name="Shape 6"/>
          <p:cNvSpPr/>
          <p:nvPr/>
        </p:nvSpPr>
        <p:spPr>
          <a:xfrm>
            <a:off x="4702001" y="1426741"/>
            <a:ext cx="51346" cy="51346"/>
          </a:xfrm>
          <a:prstGeom prst="roundRect">
            <a:avLst>
              <a:gd name="adj" fmla="val 556519"/>
            </a:avLst>
          </a:prstGeom>
          <a:solidFill>
            <a:srgbClr val="4967E9"/>
          </a:solidFill>
          <a:ln/>
        </p:spPr>
        <p:txBody>
          <a:bodyPr/>
          <a:lstStyle/>
          <a:p>
            <a:endParaRPr lang="fr-TN"/>
          </a:p>
        </p:txBody>
      </p:sp>
      <p:sp>
        <p:nvSpPr>
          <p:cNvPr id="10" name="Text 7"/>
          <p:cNvSpPr/>
          <p:nvPr/>
        </p:nvSpPr>
        <p:spPr>
          <a:xfrm>
            <a:off x="4838402" y="1370261"/>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Checkpoint</a:t>
            </a:r>
            <a:r>
              <a:rPr lang="en-US" sz="800" dirty="0">
                <a:solidFill>
                  <a:srgbClr val="404155"/>
                </a:solidFill>
                <a:latin typeface="Nobile" pitchFamily="34" charset="0"/>
                <a:ea typeface="Nobile" pitchFamily="34" charset="-122"/>
                <a:cs typeface="Nobile" pitchFamily="34" charset="-120"/>
              </a:rPr>
              <a:t> — Persistent SSE stream (TLS 1.3)</a:t>
            </a:r>
            <a:endParaRPr lang="en-US" sz="800" dirty="0"/>
          </a:p>
        </p:txBody>
      </p:sp>
      <p:sp>
        <p:nvSpPr>
          <p:cNvPr id="11" name="Shape 8"/>
          <p:cNvSpPr/>
          <p:nvPr/>
        </p:nvSpPr>
        <p:spPr>
          <a:xfrm>
            <a:off x="4702001" y="1747019"/>
            <a:ext cx="51346" cy="51346"/>
          </a:xfrm>
          <a:prstGeom prst="roundRect">
            <a:avLst>
              <a:gd name="adj" fmla="val 556519"/>
            </a:avLst>
          </a:prstGeom>
          <a:solidFill>
            <a:srgbClr val="4967E9"/>
          </a:solidFill>
          <a:ln/>
        </p:spPr>
        <p:txBody>
          <a:bodyPr/>
          <a:lstStyle/>
          <a:p>
            <a:endParaRPr lang="fr-TN"/>
          </a:p>
        </p:txBody>
      </p:sp>
      <p:sp>
        <p:nvSpPr>
          <p:cNvPr id="12" name="Text 9"/>
          <p:cNvSpPr/>
          <p:nvPr/>
        </p:nvSpPr>
        <p:spPr>
          <a:xfrm>
            <a:off x="4838402" y="1690539"/>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Bitdefender</a:t>
            </a:r>
            <a:r>
              <a:rPr lang="en-US" sz="800" dirty="0">
                <a:solidFill>
                  <a:srgbClr val="404155"/>
                </a:solidFill>
                <a:latin typeface="Nobile" pitchFamily="34" charset="0"/>
                <a:ea typeface="Nobile" pitchFamily="34" charset="-122"/>
                <a:cs typeface="Nobile" pitchFamily="34" charset="-120"/>
              </a:rPr>
              <a:t> — WebSocket, 13 threat channels</a:t>
            </a:r>
            <a:endParaRPr lang="en-US" sz="800" dirty="0"/>
          </a:p>
        </p:txBody>
      </p:sp>
      <p:sp>
        <p:nvSpPr>
          <p:cNvPr id="13" name="Shape 10"/>
          <p:cNvSpPr/>
          <p:nvPr/>
        </p:nvSpPr>
        <p:spPr>
          <a:xfrm>
            <a:off x="4702001" y="2067297"/>
            <a:ext cx="51346" cy="51346"/>
          </a:xfrm>
          <a:prstGeom prst="roundRect">
            <a:avLst>
              <a:gd name="adj" fmla="val 556519"/>
            </a:avLst>
          </a:prstGeom>
          <a:solidFill>
            <a:srgbClr val="4967E9"/>
          </a:solidFill>
          <a:ln/>
        </p:spPr>
        <p:txBody>
          <a:bodyPr/>
          <a:lstStyle/>
          <a:p>
            <a:endParaRPr lang="fr-TN"/>
          </a:p>
        </p:txBody>
      </p:sp>
      <p:sp>
        <p:nvSpPr>
          <p:cNvPr id="14" name="Text 11"/>
          <p:cNvSpPr/>
          <p:nvPr/>
        </p:nvSpPr>
        <p:spPr>
          <a:xfrm>
            <a:off x="4838402" y="2010817"/>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Fortinet FortiGuard</a:t>
            </a:r>
            <a:r>
              <a:rPr lang="en-US" sz="800" dirty="0">
                <a:solidFill>
                  <a:srgbClr val="404155"/>
                </a:solidFill>
                <a:latin typeface="Nobile" pitchFamily="34" charset="0"/>
                <a:ea typeface="Nobile" pitchFamily="34" charset="-122"/>
                <a:cs typeface="Nobile" pitchFamily="34" charset="-120"/>
              </a:rPr>
              <a:t> — REST poll every 4 seconds</a:t>
            </a:r>
            <a:endParaRPr lang="en-US" sz="800" dirty="0"/>
          </a:p>
        </p:txBody>
      </p:sp>
      <p:sp>
        <p:nvSpPr>
          <p:cNvPr id="15" name="Shape 12"/>
          <p:cNvSpPr/>
          <p:nvPr/>
        </p:nvSpPr>
        <p:spPr>
          <a:xfrm>
            <a:off x="4702001" y="2387575"/>
            <a:ext cx="51346" cy="51346"/>
          </a:xfrm>
          <a:prstGeom prst="roundRect">
            <a:avLst>
              <a:gd name="adj" fmla="val 556519"/>
            </a:avLst>
          </a:prstGeom>
          <a:solidFill>
            <a:srgbClr val="4967E9"/>
          </a:solidFill>
          <a:ln/>
        </p:spPr>
        <p:txBody>
          <a:bodyPr/>
          <a:lstStyle/>
          <a:p>
            <a:endParaRPr lang="fr-TN"/>
          </a:p>
        </p:txBody>
      </p:sp>
      <p:sp>
        <p:nvSpPr>
          <p:cNvPr id="16" name="Text 13"/>
          <p:cNvSpPr/>
          <p:nvPr/>
        </p:nvSpPr>
        <p:spPr>
          <a:xfrm>
            <a:off x="4838402" y="2331095"/>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URLhaus</a:t>
            </a:r>
            <a:r>
              <a:rPr lang="en-US" sz="800" dirty="0">
                <a:solidFill>
                  <a:srgbClr val="404155"/>
                </a:solidFill>
                <a:latin typeface="Nobile" pitchFamily="34" charset="0"/>
                <a:ea typeface="Nobile" pitchFamily="34" charset="-122"/>
                <a:cs typeface="Nobile" pitchFamily="34" charset="-120"/>
              </a:rPr>
              <a:t> — abuse.ch malware URL feed</a:t>
            </a:r>
            <a:endParaRPr lang="en-US" sz="800" dirty="0"/>
          </a:p>
        </p:txBody>
      </p:sp>
      <p:sp>
        <p:nvSpPr>
          <p:cNvPr id="17" name="Shape 14"/>
          <p:cNvSpPr/>
          <p:nvPr/>
        </p:nvSpPr>
        <p:spPr>
          <a:xfrm>
            <a:off x="4702001" y="2707853"/>
            <a:ext cx="51346" cy="51346"/>
          </a:xfrm>
          <a:prstGeom prst="roundRect">
            <a:avLst>
              <a:gd name="adj" fmla="val 556519"/>
            </a:avLst>
          </a:prstGeom>
          <a:solidFill>
            <a:srgbClr val="4967E9"/>
          </a:solidFill>
          <a:ln/>
        </p:spPr>
        <p:txBody>
          <a:bodyPr/>
          <a:lstStyle/>
          <a:p>
            <a:endParaRPr lang="fr-TN"/>
          </a:p>
        </p:txBody>
      </p:sp>
      <p:sp>
        <p:nvSpPr>
          <p:cNvPr id="18" name="Text 15"/>
          <p:cNvSpPr/>
          <p:nvPr/>
        </p:nvSpPr>
        <p:spPr>
          <a:xfrm>
            <a:off x="4838402" y="2651373"/>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Kaspersky Feodo</a:t>
            </a:r>
            <a:r>
              <a:rPr lang="en-US" sz="800" dirty="0">
                <a:solidFill>
                  <a:srgbClr val="404155"/>
                </a:solidFill>
                <a:latin typeface="Nobile" pitchFamily="34" charset="0"/>
                <a:ea typeface="Nobile" pitchFamily="34" charset="-122"/>
                <a:cs typeface="Nobile" pitchFamily="34" charset="-120"/>
              </a:rPr>
              <a:t> — C2 botnet CSV blocklist</a:t>
            </a:r>
            <a:endParaRPr lang="en-US" sz="800" dirty="0"/>
          </a:p>
        </p:txBody>
      </p:sp>
      <p:sp>
        <p:nvSpPr>
          <p:cNvPr id="19" name="Shape 16"/>
          <p:cNvSpPr/>
          <p:nvPr/>
        </p:nvSpPr>
        <p:spPr>
          <a:xfrm>
            <a:off x="4702001" y="3028131"/>
            <a:ext cx="51346" cy="51346"/>
          </a:xfrm>
          <a:prstGeom prst="roundRect">
            <a:avLst>
              <a:gd name="adj" fmla="val 556519"/>
            </a:avLst>
          </a:prstGeom>
          <a:solidFill>
            <a:srgbClr val="4967E9"/>
          </a:solidFill>
          <a:ln/>
        </p:spPr>
        <p:txBody>
          <a:bodyPr/>
          <a:lstStyle/>
          <a:p>
            <a:endParaRPr lang="fr-TN"/>
          </a:p>
        </p:txBody>
      </p:sp>
      <p:sp>
        <p:nvSpPr>
          <p:cNvPr id="20" name="Text 17"/>
          <p:cNvSpPr/>
          <p:nvPr/>
        </p:nvSpPr>
        <p:spPr>
          <a:xfrm>
            <a:off x="4838402" y="2971651"/>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AlienVault OTX</a:t>
            </a:r>
            <a:r>
              <a:rPr lang="en-US" sz="800" dirty="0">
                <a:solidFill>
                  <a:srgbClr val="404155"/>
                </a:solidFill>
                <a:latin typeface="Nobile" pitchFamily="34" charset="0"/>
                <a:ea typeface="Nobile" pitchFamily="34" charset="-122"/>
                <a:cs typeface="Nobile" pitchFamily="34" charset="-120"/>
              </a:rPr>
              <a:t> — Subscribed pulse IOCs</a:t>
            </a:r>
            <a:endParaRPr lang="en-US" sz="800" dirty="0"/>
          </a:p>
        </p:txBody>
      </p:sp>
      <p:sp>
        <p:nvSpPr>
          <p:cNvPr id="21" name="Shape 18"/>
          <p:cNvSpPr/>
          <p:nvPr/>
        </p:nvSpPr>
        <p:spPr>
          <a:xfrm>
            <a:off x="4702001" y="3348410"/>
            <a:ext cx="51346" cy="51346"/>
          </a:xfrm>
          <a:prstGeom prst="roundRect">
            <a:avLst>
              <a:gd name="adj" fmla="val 556519"/>
            </a:avLst>
          </a:prstGeom>
          <a:solidFill>
            <a:srgbClr val="4967E9"/>
          </a:solidFill>
          <a:ln/>
        </p:spPr>
        <p:txBody>
          <a:bodyPr/>
          <a:lstStyle/>
          <a:p>
            <a:endParaRPr lang="fr-TN"/>
          </a:p>
        </p:txBody>
      </p:sp>
      <p:sp>
        <p:nvSpPr>
          <p:cNvPr id="22" name="Text 19"/>
          <p:cNvSpPr/>
          <p:nvPr/>
        </p:nvSpPr>
        <p:spPr>
          <a:xfrm>
            <a:off x="4838402" y="3291929"/>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RansomWatch</a:t>
            </a:r>
            <a:r>
              <a:rPr lang="en-US" sz="800" dirty="0">
                <a:solidFill>
                  <a:srgbClr val="404155"/>
                </a:solidFill>
                <a:latin typeface="Nobile" pitchFamily="34" charset="0"/>
                <a:ea typeface="Nobile" pitchFamily="34" charset="-122"/>
                <a:cs typeface="Nobile" pitchFamily="34" charset="-120"/>
              </a:rPr>
              <a:t> — Dark web extortion posts</a:t>
            </a:r>
            <a:endParaRPr lang="en-US" sz="800" dirty="0"/>
          </a:p>
        </p:txBody>
      </p:sp>
      <p:sp>
        <p:nvSpPr>
          <p:cNvPr id="23" name="Shape 20"/>
          <p:cNvSpPr/>
          <p:nvPr/>
        </p:nvSpPr>
        <p:spPr>
          <a:xfrm>
            <a:off x="4702001" y="3668688"/>
            <a:ext cx="51346" cy="51346"/>
          </a:xfrm>
          <a:prstGeom prst="roundRect">
            <a:avLst>
              <a:gd name="adj" fmla="val 556519"/>
            </a:avLst>
          </a:prstGeom>
          <a:solidFill>
            <a:srgbClr val="4967E9"/>
          </a:solidFill>
          <a:ln/>
        </p:spPr>
        <p:txBody>
          <a:bodyPr/>
          <a:lstStyle/>
          <a:p>
            <a:endParaRPr lang="fr-TN"/>
          </a:p>
        </p:txBody>
      </p:sp>
      <p:sp>
        <p:nvSpPr>
          <p:cNvPr id="24" name="Text 21"/>
          <p:cNvSpPr/>
          <p:nvPr/>
        </p:nvSpPr>
        <p:spPr>
          <a:xfrm>
            <a:off x="4838402" y="3612207"/>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MontySecurity C2</a:t>
            </a:r>
            <a:r>
              <a:rPr lang="en-US" sz="800" dirty="0">
                <a:solidFill>
                  <a:srgbClr val="404155"/>
                </a:solidFill>
                <a:latin typeface="Nobile" pitchFamily="34" charset="0"/>
                <a:ea typeface="Nobile" pitchFamily="34" charset="-122"/>
                <a:cs typeface="Nobile" pitchFamily="34" charset="-120"/>
              </a:rPr>
              <a:t> — Active C2 framework IPs</a:t>
            </a:r>
            <a:endParaRPr lang="en-US" sz="800" dirty="0"/>
          </a:p>
        </p:txBody>
      </p:sp>
      <p:sp>
        <p:nvSpPr>
          <p:cNvPr id="25" name="Shape 22"/>
          <p:cNvSpPr/>
          <p:nvPr/>
        </p:nvSpPr>
        <p:spPr>
          <a:xfrm>
            <a:off x="4702001" y="3988966"/>
            <a:ext cx="51346" cy="51346"/>
          </a:xfrm>
          <a:prstGeom prst="roundRect">
            <a:avLst>
              <a:gd name="adj" fmla="val 556519"/>
            </a:avLst>
          </a:prstGeom>
          <a:solidFill>
            <a:srgbClr val="4967E9"/>
          </a:solidFill>
          <a:ln/>
        </p:spPr>
        <p:txBody>
          <a:bodyPr/>
          <a:lstStyle/>
          <a:p>
            <a:endParaRPr lang="fr-TN"/>
          </a:p>
        </p:txBody>
      </p:sp>
      <p:sp>
        <p:nvSpPr>
          <p:cNvPr id="26" name="Text 23"/>
          <p:cNvSpPr/>
          <p:nvPr/>
        </p:nvSpPr>
        <p:spPr>
          <a:xfrm>
            <a:off x="4838402" y="3932486"/>
            <a:ext cx="3788569" cy="150168"/>
          </a:xfrm>
          <a:prstGeom prst="rect">
            <a:avLst/>
          </a:prstGeom>
          <a:noFill/>
          <a:ln/>
        </p:spPr>
        <p:txBody>
          <a:bodyPr wrap="none" lIns="0" tIns="0" rIns="0" bIns="0" rtlCol="0" anchor="t"/>
          <a:lstStyle/>
          <a:p>
            <a:pPr marL="0" indent="0" algn="l">
              <a:lnSpc>
                <a:spcPct val="122000"/>
              </a:lnSpc>
              <a:buNone/>
            </a:pPr>
            <a:r>
              <a:rPr lang="en-US" sz="800" b="1" dirty="0">
                <a:solidFill>
                  <a:srgbClr val="404155"/>
                </a:solidFill>
                <a:latin typeface="Nobile" pitchFamily="34" charset="0"/>
                <a:ea typeface="Nobile" pitchFamily="34" charset="-122"/>
                <a:cs typeface="Nobile" pitchFamily="34" charset="-120"/>
              </a:rPr>
              <a:t>MISP Galaxy</a:t>
            </a:r>
            <a:r>
              <a:rPr lang="en-US" sz="800" dirty="0">
                <a:solidFill>
                  <a:srgbClr val="404155"/>
                </a:solidFill>
                <a:latin typeface="Nobile" pitchFamily="34" charset="0"/>
                <a:ea typeface="Nobile" pitchFamily="34" charset="-122"/>
                <a:cs typeface="Nobile" pitchFamily="34" charset="-120"/>
              </a:rPr>
              <a:t> — Synthetic threat actor events</a:t>
            </a:r>
            <a:endParaRPr lang="en-US" sz="800" dirty="0"/>
          </a:p>
        </p:txBody>
      </p:sp>
      <p:sp>
        <p:nvSpPr>
          <p:cNvPr id="27" name="Shape 24"/>
          <p:cNvSpPr/>
          <p:nvPr/>
        </p:nvSpPr>
        <p:spPr>
          <a:xfrm>
            <a:off x="4702001" y="4178350"/>
            <a:ext cx="3924970" cy="504676"/>
          </a:xfrm>
          <a:prstGeom prst="roundRect">
            <a:avLst>
              <a:gd name="adj" fmla="val 8549"/>
            </a:avLst>
          </a:prstGeom>
          <a:solidFill>
            <a:srgbClr val="B6D6FC"/>
          </a:solidFill>
          <a:ln/>
        </p:spPr>
        <p:txBody>
          <a:bodyPr/>
          <a:lstStyle/>
          <a:p>
            <a:endParaRPr lang="fr-TN"/>
          </a:p>
        </p:txBody>
      </p:sp>
      <p:pic>
        <p:nvPicPr>
          <p:cNvPr id="28" name="Image 1" descr="preencoded.png"/>
          <p:cNvPicPr>
            <a:picLocks noChangeAspect="1"/>
          </p:cNvPicPr>
          <p:nvPr/>
        </p:nvPicPr>
        <p:blipFill>
          <a:blip r:embed="rId4"/>
          <a:stretch>
            <a:fillRect/>
          </a:stretch>
        </p:blipFill>
        <p:spPr>
          <a:xfrm>
            <a:off x="4804693" y="4316834"/>
            <a:ext cx="128364" cy="102691"/>
          </a:xfrm>
          <a:prstGeom prst="rect">
            <a:avLst/>
          </a:prstGeom>
        </p:spPr>
      </p:pic>
      <p:sp>
        <p:nvSpPr>
          <p:cNvPr id="29" name="Text 25"/>
          <p:cNvSpPr/>
          <p:nvPr/>
        </p:nvSpPr>
        <p:spPr>
          <a:xfrm>
            <a:off x="5035748" y="4280520"/>
            <a:ext cx="3488531" cy="300335"/>
          </a:xfrm>
          <a:prstGeom prst="rect">
            <a:avLst/>
          </a:prstGeom>
          <a:noFill/>
          <a:ln/>
        </p:spPr>
        <p:txBody>
          <a:bodyPr wrap="square" lIns="0" tIns="0" rIns="0" bIns="0" rtlCol="0" anchor="t">
            <a:normAutofit/>
          </a:bodyPr>
          <a:lstStyle/>
          <a:p>
            <a:pPr marL="0" indent="0" algn="l">
              <a:lnSpc>
                <a:spcPct val="122000"/>
              </a:lnSpc>
              <a:buNone/>
            </a:pPr>
            <a:r>
              <a:rPr lang="en-US" sz="800" dirty="0">
                <a:solidFill>
                  <a:srgbClr val="000000"/>
                </a:solidFill>
                <a:latin typeface="Nobile" pitchFamily="34" charset="0"/>
                <a:ea typeface="Nobile" pitchFamily="34" charset="-122"/>
                <a:cs typeface="Nobile" pitchFamily="34" charset="-120"/>
              </a:rPr>
              <a:t>Compact BSON schema reduces document size from </a:t>
            </a:r>
            <a:r>
              <a:rPr lang="en-US" sz="800" b="1" dirty="0">
                <a:solidFill>
                  <a:srgbClr val="000000"/>
                </a:solidFill>
                <a:latin typeface="Nobile" pitchFamily="34" charset="0"/>
                <a:ea typeface="Nobile" pitchFamily="34" charset="-122"/>
                <a:cs typeface="Nobile" pitchFamily="34" charset="-120"/>
              </a:rPr>
              <a:t>200 bytes → 80 bytes</a:t>
            </a:r>
            <a:r>
              <a:rPr lang="en-US" sz="800" dirty="0">
                <a:solidFill>
                  <a:srgbClr val="000000"/>
                </a:solidFill>
                <a:latin typeface="Nobile" pitchFamily="34" charset="0"/>
                <a:ea typeface="Nobile" pitchFamily="34" charset="-122"/>
                <a:cs typeface="Nobile" pitchFamily="34" charset="-120"/>
              </a:rPr>
              <a:t>, conserving cloud storage.</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96119" y="676052"/>
            <a:ext cx="1223739"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713259"/>
            <a:ext cx="1532111"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3 — SPRINT 1</a:t>
            </a:r>
            <a:endParaRPr lang="en-US" sz="750" dirty="0"/>
          </a:p>
        </p:txBody>
      </p:sp>
      <p:sp>
        <p:nvSpPr>
          <p:cNvPr id="4" name="Text 2"/>
          <p:cNvSpPr/>
          <p:nvPr/>
        </p:nvSpPr>
        <p:spPr>
          <a:xfrm>
            <a:off x="496119" y="958825"/>
            <a:ext cx="5704433"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Sprint 1: Class &amp; Sequence Diagrams</a:t>
            </a:r>
            <a:endParaRPr lang="en-US" sz="2400" dirty="0"/>
          </a:p>
        </p:txBody>
      </p:sp>
      <p:pic>
        <p:nvPicPr>
          <p:cNvPr id="5" name="Image 0" descr="preencoded.png"/>
          <p:cNvPicPr>
            <a:picLocks noChangeAspect="1"/>
          </p:cNvPicPr>
          <p:nvPr/>
        </p:nvPicPr>
        <p:blipFill>
          <a:blip r:embed="rId3"/>
          <a:stretch>
            <a:fillRect/>
          </a:stretch>
        </p:blipFill>
        <p:spPr>
          <a:xfrm>
            <a:off x="496119" y="1671935"/>
            <a:ext cx="3924598" cy="1868835"/>
          </a:xfrm>
          <a:prstGeom prst="rect">
            <a:avLst/>
          </a:prstGeom>
        </p:spPr>
      </p:pic>
      <p:pic>
        <p:nvPicPr>
          <p:cNvPr id="6" name="Image 1" descr="preencoded.png"/>
          <p:cNvPicPr>
            <a:picLocks noChangeAspect="1"/>
          </p:cNvPicPr>
          <p:nvPr/>
        </p:nvPicPr>
        <p:blipFill>
          <a:blip r:embed="rId4"/>
          <a:stretch>
            <a:fillRect/>
          </a:stretch>
        </p:blipFill>
        <p:spPr>
          <a:xfrm>
            <a:off x="4728046" y="1671935"/>
            <a:ext cx="3924598" cy="1921073"/>
          </a:xfrm>
          <a:prstGeom prst="rect">
            <a:avLst/>
          </a:prstGeom>
        </p:spPr>
      </p:pic>
      <p:sp>
        <p:nvSpPr>
          <p:cNvPr id="7" name="Text 3"/>
          <p:cNvSpPr/>
          <p:nvPr/>
        </p:nvSpPr>
        <p:spPr>
          <a:xfrm>
            <a:off x="496119" y="3872061"/>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The </a:t>
            </a:r>
            <a:r>
              <a:rPr lang="en-US" sz="950" b="1" dirty="0">
                <a:solidFill>
                  <a:srgbClr val="404155"/>
                </a:solidFill>
                <a:latin typeface="Nobile" pitchFamily="34" charset="0"/>
                <a:ea typeface="Nobile" pitchFamily="34" charset="-122"/>
                <a:cs typeface="Nobile" pitchFamily="34" charset="-120"/>
              </a:rPr>
              <a:t>EnrichmentService</a:t>
            </a:r>
            <a:r>
              <a:rPr lang="en-US" sz="950" dirty="0">
                <a:solidFill>
                  <a:srgbClr val="404155"/>
                </a:solidFill>
                <a:latin typeface="Nobile" pitchFamily="34" charset="0"/>
                <a:ea typeface="Nobile" pitchFamily="34" charset="-122"/>
                <a:cs typeface="Nobile" pitchFamily="34" charset="-120"/>
              </a:rPr>
              <a:t> applies a 5-layer classification engine: (1) victim name keywords, (2) event detail regex, (3) destination port mapping, (4) MISP Galaxy metadata, and (5) source API fallback. An asynchronous RDAP cache resolves IP owners with a 3-second timeout, adding organizational context without blocking the ingestion loop.</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10" name="Organigramme : Alternative 9">
            <a:extLst>
              <a:ext uri="{FF2B5EF4-FFF2-40B4-BE49-F238E27FC236}">
                <a16:creationId xmlns:a16="http://schemas.microsoft.com/office/drawing/2014/main" id="{197BB706-C847-9AE8-6975-7BF25C93131A}"/>
              </a:ext>
            </a:extLst>
          </p:cNvPr>
          <p:cNvSpPr/>
          <p:nvPr/>
        </p:nvSpPr>
        <p:spPr>
          <a:xfrm>
            <a:off x="4574049" y="2321569"/>
            <a:ext cx="4078595" cy="1559616"/>
          </a:xfrm>
          <a:prstGeom prst="flowChartAlternate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r-TN"/>
          </a:p>
        </p:txBody>
      </p:sp>
      <p:sp>
        <p:nvSpPr>
          <p:cNvPr id="9" name="Organigramme : Alternative 8">
            <a:extLst>
              <a:ext uri="{FF2B5EF4-FFF2-40B4-BE49-F238E27FC236}">
                <a16:creationId xmlns:a16="http://schemas.microsoft.com/office/drawing/2014/main" id="{0119EFC7-C6DF-319E-80DF-C93E222FA9C8}"/>
              </a:ext>
            </a:extLst>
          </p:cNvPr>
          <p:cNvSpPr/>
          <p:nvPr/>
        </p:nvSpPr>
        <p:spPr>
          <a:xfrm>
            <a:off x="342122" y="2295331"/>
            <a:ext cx="4078595" cy="1559616"/>
          </a:xfrm>
          <a:prstGeom prst="flowChartAlternate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fr-TN"/>
          </a:p>
        </p:txBody>
      </p:sp>
      <p:sp>
        <p:nvSpPr>
          <p:cNvPr id="2" name="Shape 0"/>
          <p:cNvSpPr/>
          <p:nvPr/>
        </p:nvSpPr>
        <p:spPr>
          <a:xfrm>
            <a:off x="496119" y="1176933"/>
            <a:ext cx="1241227"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1214140"/>
            <a:ext cx="1549598"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3 — SPRINT 2</a:t>
            </a:r>
            <a:endParaRPr lang="en-US" sz="750" dirty="0"/>
          </a:p>
        </p:txBody>
      </p:sp>
      <p:sp>
        <p:nvSpPr>
          <p:cNvPr id="4" name="Text 2"/>
          <p:cNvSpPr/>
          <p:nvPr/>
        </p:nvSpPr>
        <p:spPr>
          <a:xfrm>
            <a:off x="496119" y="1459706"/>
            <a:ext cx="8151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Sprint 2: Real-Time SSE Stream &amp; 3D Globe Visualization</a:t>
            </a:r>
            <a:endParaRPr lang="en-US" sz="2400" dirty="0"/>
          </a:p>
        </p:txBody>
      </p:sp>
      <p:sp>
        <p:nvSpPr>
          <p:cNvPr id="5" name="Text 3"/>
          <p:cNvSpPr/>
          <p:nvPr/>
        </p:nvSpPr>
        <p:spPr>
          <a:xfrm>
            <a:off x="496119" y="2544812"/>
            <a:ext cx="2075036"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SSE Broadcast Engine</a:t>
            </a:r>
            <a:endParaRPr lang="en-US" sz="1200" dirty="0"/>
          </a:p>
        </p:txBody>
      </p:sp>
      <p:sp>
        <p:nvSpPr>
          <p:cNvPr id="6" name="Text 4"/>
          <p:cNvSpPr/>
          <p:nvPr/>
        </p:nvSpPr>
        <p:spPr>
          <a:xfrm>
            <a:off x="496119" y="2862635"/>
            <a:ext cx="3924598" cy="8033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The </a:t>
            </a:r>
            <a:r>
              <a:rPr lang="en-US" sz="950" b="1" dirty="0">
                <a:solidFill>
                  <a:srgbClr val="404155"/>
                </a:solidFill>
                <a:latin typeface="Nobile" pitchFamily="34" charset="0"/>
                <a:ea typeface="Nobile" pitchFamily="34" charset="-122"/>
                <a:cs typeface="Nobile" pitchFamily="34" charset="-120"/>
              </a:rPr>
              <a:t>GET /api/feed</a:t>
            </a:r>
            <a:r>
              <a:rPr lang="en-US" sz="950" dirty="0">
                <a:solidFill>
                  <a:srgbClr val="404155"/>
                </a:solidFill>
                <a:latin typeface="Nobile" pitchFamily="34" charset="0"/>
                <a:ea typeface="Nobile" pitchFamily="34" charset="-122"/>
                <a:cs typeface="Nobile" pitchFamily="34" charset="-120"/>
              </a:rPr>
              <a:t> endpoint sets </a:t>
            </a:r>
            <a:r>
              <a:rPr lang="en-US" sz="950" dirty="0">
                <a:solidFill>
                  <a:srgbClr val="404155"/>
                </a:solidFill>
                <a:highlight>
                  <a:srgbClr val="ECECF2"/>
                </a:highlight>
                <a:latin typeface="Consolas" pitchFamily="34" charset="0"/>
                <a:ea typeface="Consolas" pitchFamily="34" charset="-122"/>
                <a:cs typeface="Consolas" pitchFamily="34" charset="-120"/>
              </a:rPr>
              <a:t>text/event-stream</a:t>
            </a:r>
            <a:r>
              <a:rPr lang="en-US" sz="950" dirty="0">
                <a:solidFill>
                  <a:srgbClr val="404155"/>
                </a:solidFill>
                <a:latin typeface="Nobile" pitchFamily="34" charset="0"/>
                <a:ea typeface="Nobile" pitchFamily="34" charset="-122"/>
                <a:cs typeface="Nobile" pitchFamily="34" charset="-120"/>
              </a:rPr>
              <a:t> headers and runs a </a:t>
            </a:r>
            <a:r>
              <a:rPr lang="en-US" sz="950" b="1" dirty="0">
                <a:solidFill>
                  <a:srgbClr val="404155"/>
                </a:solidFill>
                <a:latin typeface="Nobile" pitchFamily="34" charset="0"/>
                <a:ea typeface="Nobile" pitchFamily="34" charset="-122"/>
                <a:cs typeface="Nobile" pitchFamily="34" charset="-120"/>
              </a:rPr>
              <a:t>300ms flush interval</a:t>
            </a:r>
            <a:r>
              <a:rPr lang="en-US" sz="950" dirty="0">
                <a:solidFill>
                  <a:srgbClr val="404155"/>
                </a:solidFill>
                <a:latin typeface="Nobile" pitchFamily="34" charset="0"/>
                <a:ea typeface="Nobile" pitchFamily="34" charset="-122"/>
                <a:cs typeface="Nobile" pitchFamily="34" charset="-120"/>
              </a:rPr>
              <a:t> scheduler, consolidating queued events into single payloads. A 30-second ping heartbeat keeps connections alive through proxies.</a:t>
            </a:r>
            <a:endParaRPr lang="en-US" sz="950" dirty="0"/>
          </a:p>
        </p:txBody>
      </p:sp>
      <p:sp>
        <p:nvSpPr>
          <p:cNvPr id="7" name="Text 5"/>
          <p:cNvSpPr/>
          <p:nvPr/>
        </p:nvSpPr>
        <p:spPr>
          <a:xfrm>
            <a:off x="4728046" y="2544812"/>
            <a:ext cx="2109490"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3D Globe Mathematics</a:t>
            </a:r>
            <a:endParaRPr lang="en-US" sz="1200" dirty="0"/>
          </a:p>
        </p:txBody>
      </p:sp>
      <p:sp>
        <p:nvSpPr>
          <p:cNvPr id="8" name="Text 6"/>
          <p:cNvSpPr/>
          <p:nvPr/>
        </p:nvSpPr>
        <p:spPr>
          <a:xfrm>
            <a:off x="4728046" y="2862635"/>
            <a:ext cx="3924598"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Geographic coordinates are converted to 3D Cartesian vectors using spherical trigonometry. Attack arcs use </a:t>
            </a:r>
            <a:r>
              <a:rPr lang="en-US" sz="950" b="1" dirty="0">
                <a:solidFill>
                  <a:srgbClr val="404155"/>
                </a:solidFill>
                <a:latin typeface="Nobile" pitchFamily="34" charset="0"/>
                <a:ea typeface="Nobile" pitchFamily="34" charset="-122"/>
                <a:cs typeface="Nobile" pitchFamily="34" charset="-120"/>
              </a:rPr>
              <a:t>Spherical Linear Interpolation (SLERP)</a:t>
            </a:r>
            <a:r>
              <a:rPr lang="en-US" sz="950" dirty="0">
                <a:solidFill>
                  <a:srgbClr val="404155"/>
                </a:solidFill>
                <a:latin typeface="Nobile" pitchFamily="34" charset="0"/>
                <a:ea typeface="Nobile" pitchFamily="34" charset="-122"/>
                <a:cs typeface="Nobile" pitchFamily="34" charset="-120"/>
              </a:rPr>
              <a:t> to follow Earth's curvature, then </a:t>
            </a:r>
            <a:r>
              <a:rPr lang="en-US" sz="950" b="1" dirty="0">
                <a:solidFill>
                  <a:srgbClr val="404155"/>
                </a:solidFill>
                <a:latin typeface="Nobile" pitchFamily="34" charset="0"/>
                <a:ea typeface="Nobile" pitchFamily="34" charset="-122"/>
                <a:cs typeface="Nobile" pitchFamily="34" charset="-120"/>
              </a:rPr>
              <a:t>parametric Bezier elevation</a:t>
            </a:r>
            <a:r>
              <a:rPr lang="en-US" sz="950" dirty="0">
                <a:solidFill>
                  <a:srgbClr val="404155"/>
                </a:solidFill>
                <a:latin typeface="Nobile" pitchFamily="34" charset="0"/>
                <a:ea typeface="Nobile" pitchFamily="34" charset="-122"/>
                <a:cs typeface="Nobile" pitchFamily="34" charset="-120"/>
              </a:rPr>
              <a:t> lifts arcs above the surface — longer distances arch higher.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490761"/>
            <a:ext cx="1105198" cy="199876"/>
          </a:xfrm>
          <a:prstGeom prst="roundRect">
            <a:avLst>
              <a:gd name="adj" fmla="val 18572"/>
            </a:avLst>
          </a:prstGeom>
          <a:solidFill>
            <a:srgbClr val="D2D9F9"/>
          </a:solidFill>
          <a:ln/>
        </p:spPr>
        <p:txBody>
          <a:bodyPr/>
          <a:lstStyle/>
          <a:p>
            <a:endParaRPr lang="fr-TN"/>
          </a:p>
        </p:txBody>
      </p:sp>
      <p:sp>
        <p:nvSpPr>
          <p:cNvPr id="3" name="Text 1"/>
          <p:cNvSpPr/>
          <p:nvPr/>
        </p:nvSpPr>
        <p:spPr>
          <a:xfrm>
            <a:off x="562347" y="523875"/>
            <a:ext cx="1429941" cy="133648"/>
          </a:xfrm>
          <a:prstGeom prst="rect">
            <a:avLst/>
          </a:prstGeom>
          <a:noFill/>
          <a:ln/>
        </p:spPr>
        <p:txBody>
          <a:bodyPr wrap="none" lIns="0" tIns="0" rIns="0" bIns="0" rtlCol="0" anchor="t"/>
          <a:lstStyle/>
          <a:p>
            <a:pPr marL="0" indent="0" algn="l">
              <a:lnSpc>
                <a:spcPct val="126000"/>
              </a:lnSpc>
              <a:buNone/>
            </a:pPr>
            <a:r>
              <a:rPr lang="en-US" sz="650" dirty="0">
                <a:solidFill>
                  <a:srgbClr val="404155"/>
                </a:solidFill>
                <a:latin typeface="Nobile" pitchFamily="34" charset="0"/>
                <a:ea typeface="Nobile" pitchFamily="34" charset="-122"/>
                <a:cs typeface="Nobile" pitchFamily="34" charset="-120"/>
              </a:rPr>
              <a:t>CHAPTER 3 — SPRINT 2</a:t>
            </a:r>
            <a:endParaRPr lang="en-US" sz="650" dirty="0"/>
          </a:p>
        </p:txBody>
      </p:sp>
      <p:sp>
        <p:nvSpPr>
          <p:cNvPr id="4" name="Text 2"/>
          <p:cNvSpPr/>
          <p:nvPr/>
        </p:nvSpPr>
        <p:spPr>
          <a:xfrm>
            <a:off x="496119" y="729928"/>
            <a:ext cx="6448946" cy="345281"/>
          </a:xfrm>
          <a:prstGeom prst="rect">
            <a:avLst/>
          </a:prstGeom>
          <a:noFill/>
          <a:ln/>
        </p:spPr>
        <p:txBody>
          <a:bodyPr wrap="none" lIns="0" tIns="0" rIns="0" bIns="0" rtlCol="0" anchor="t"/>
          <a:lstStyle/>
          <a:p>
            <a:pPr marL="0" indent="0" algn="l">
              <a:lnSpc>
                <a:spcPct val="104000"/>
              </a:lnSpc>
              <a:buNone/>
            </a:pPr>
            <a:r>
              <a:rPr lang="en-US" sz="2150" dirty="0">
                <a:solidFill>
                  <a:srgbClr val="1B1B27"/>
                </a:solidFill>
                <a:latin typeface="Corben" pitchFamily="34" charset="0"/>
                <a:ea typeface="Corben" pitchFamily="34" charset="-122"/>
                <a:cs typeface="Corben" pitchFamily="34" charset="-120"/>
              </a:rPr>
              <a:t>Sprint 2: WebGL Shaders &amp; Sequence Diagram</a:t>
            </a:r>
            <a:endParaRPr lang="en-US" sz="2150" dirty="0"/>
          </a:p>
        </p:txBody>
      </p:sp>
      <p:sp>
        <p:nvSpPr>
          <p:cNvPr id="5" name="Text 3"/>
          <p:cNvSpPr/>
          <p:nvPr/>
        </p:nvSpPr>
        <p:spPr>
          <a:xfrm>
            <a:off x="496119" y="1311325"/>
            <a:ext cx="4398318" cy="167134"/>
          </a:xfrm>
          <a:prstGeom prst="rect">
            <a:avLst/>
          </a:prstGeom>
          <a:noFill/>
          <a:ln/>
        </p:spPr>
        <p:txBody>
          <a:bodyPr wrap="none" lIns="0" tIns="0" rIns="0" bIns="0" rtlCol="0" anchor="t"/>
          <a:lstStyle/>
          <a:p>
            <a:pPr marL="0" indent="0" algn="l">
              <a:lnSpc>
                <a:spcPct val="126000"/>
              </a:lnSpc>
              <a:buNone/>
            </a:pPr>
            <a:endParaRPr lang="en-US" sz="850" dirty="0"/>
          </a:p>
        </p:txBody>
      </p:sp>
      <p:sp>
        <p:nvSpPr>
          <p:cNvPr id="6" name="Text 4"/>
          <p:cNvSpPr/>
          <p:nvPr/>
        </p:nvSpPr>
        <p:spPr>
          <a:xfrm>
            <a:off x="4711526" y="1321147"/>
            <a:ext cx="1924794" cy="172641"/>
          </a:xfrm>
          <a:prstGeom prst="rect">
            <a:avLst/>
          </a:prstGeom>
          <a:noFill/>
          <a:ln/>
        </p:spPr>
        <p:txBody>
          <a:bodyPr wrap="none" lIns="0" tIns="0" rIns="0" bIns="0" rtlCol="0" anchor="t"/>
          <a:lstStyle/>
          <a:p>
            <a:pPr marL="0" indent="0" algn="l">
              <a:lnSpc>
                <a:spcPct val="104000"/>
              </a:lnSpc>
              <a:buNone/>
            </a:pPr>
            <a:r>
              <a:rPr lang="en-US" sz="1050" dirty="0">
                <a:solidFill>
                  <a:srgbClr val="1B1B27"/>
                </a:solidFill>
                <a:latin typeface="Corben" pitchFamily="34" charset="0"/>
                <a:ea typeface="Corben" pitchFamily="34" charset="-122"/>
                <a:cs typeface="Corben" pitchFamily="34" charset="-120"/>
              </a:rPr>
              <a:t>Custom GLSL Shaders</a:t>
            </a:r>
            <a:endParaRPr lang="en-US" sz="10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7239" y="1604442"/>
            <a:ext cx="3955405" cy="854720"/>
          </a:xfrm>
          <a:prstGeom prst="rect">
            <a:avLst/>
          </a:prstGeom>
        </p:spPr>
      </p:pic>
      <p:sp>
        <p:nvSpPr>
          <p:cNvPr id="8" name="Text 5"/>
          <p:cNvSpPr/>
          <p:nvPr/>
        </p:nvSpPr>
        <p:spPr>
          <a:xfrm>
            <a:off x="4879107" y="1729160"/>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Atmospheric Glow</a:t>
            </a:r>
            <a:endParaRPr lang="en-US" sz="1050" dirty="0"/>
          </a:p>
        </p:txBody>
      </p:sp>
      <p:sp>
        <p:nvSpPr>
          <p:cNvPr id="9" name="Text 6"/>
          <p:cNvSpPr/>
          <p:nvPr/>
        </p:nvSpPr>
        <p:spPr>
          <a:xfrm>
            <a:off x="4879107" y="2000176"/>
            <a:ext cx="3648819"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404155"/>
                </a:solidFill>
                <a:latin typeface="Nobile" pitchFamily="34" charset="0"/>
                <a:ea typeface="Nobile" pitchFamily="34" charset="-122"/>
                <a:cs typeface="Nobile" pitchFamily="34" charset="-120"/>
              </a:rPr>
              <a:t>Fresnel-effect vertex/fragment shader creates a neon cyberblue glow around the globe silhouette using dot-product intensity falloff.</a:t>
            </a:r>
            <a:endParaRPr lang="en-US" sz="8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7239" y="2557537"/>
            <a:ext cx="3955405" cy="1021854"/>
          </a:xfrm>
          <a:prstGeom prst="rect">
            <a:avLst/>
          </a:prstGeom>
        </p:spPr>
      </p:pic>
      <p:sp>
        <p:nvSpPr>
          <p:cNvPr id="11" name="Text 7"/>
          <p:cNvSpPr/>
          <p:nvPr/>
        </p:nvSpPr>
        <p:spPr>
          <a:xfrm>
            <a:off x="4879107" y="2682255"/>
            <a:ext cx="1450628" cy="172641"/>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Neon Country Borders</a:t>
            </a:r>
            <a:endParaRPr lang="en-US" sz="1050" dirty="0"/>
          </a:p>
        </p:txBody>
      </p:sp>
      <p:sp>
        <p:nvSpPr>
          <p:cNvPr id="12" name="Text 8"/>
          <p:cNvSpPr/>
          <p:nvPr/>
        </p:nvSpPr>
        <p:spPr>
          <a:xfrm>
            <a:off x="4879107" y="2953271"/>
            <a:ext cx="3648819" cy="501402"/>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404155"/>
                </a:solidFill>
                <a:latin typeface="Nobile" pitchFamily="34" charset="0"/>
                <a:ea typeface="Nobile" pitchFamily="34" charset="-122"/>
                <a:cs typeface="Nobile" pitchFamily="34" charset="-120"/>
              </a:rPr>
              <a:t>5 overlapping TopoJSON vector line layers at microscopic scale increases (R=1.002 to R=1.010) with decreasing opacities create a glowing border effect.</a:t>
            </a:r>
            <a:endParaRPr lang="en-US" sz="8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97239" y="3677766"/>
            <a:ext cx="3955405" cy="864245"/>
          </a:xfrm>
          <a:prstGeom prst="rect">
            <a:avLst/>
          </a:prstGeom>
        </p:spPr>
      </p:pic>
      <p:sp>
        <p:nvSpPr>
          <p:cNvPr id="14" name="Text 9"/>
          <p:cNvSpPr/>
          <p:nvPr/>
        </p:nvSpPr>
        <p:spPr>
          <a:xfrm>
            <a:off x="4879107" y="3802484"/>
            <a:ext cx="1506885" cy="172641"/>
          </a:xfrm>
          <a:prstGeom prst="rect">
            <a:avLst/>
          </a:prstGeom>
          <a:noFill/>
          <a:ln/>
        </p:spPr>
        <p:txBody>
          <a:bodyPr wrap="none" lIns="0" tIns="0" rIns="0" bIns="0" rtlCol="0" anchor="t"/>
          <a:lstStyle/>
          <a:p>
            <a:pPr marL="0" indent="0" algn="l">
              <a:lnSpc>
                <a:spcPct val="104000"/>
              </a:lnSpc>
              <a:buNone/>
            </a:pPr>
            <a:r>
              <a:rPr lang="en-US" sz="1050" dirty="0">
                <a:solidFill>
                  <a:srgbClr val="404155"/>
                </a:solidFill>
                <a:latin typeface="Corben" pitchFamily="34" charset="0"/>
                <a:ea typeface="Corben" pitchFamily="34" charset="-122"/>
                <a:cs typeface="Corben" pitchFamily="34" charset="-120"/>
              </a:rPr>
              <a:t>Bloom Post-Processing</a:t>
            </a:r>
            <a:endParaRPr lang="en-US" sz="1050" dirty="0"/>
          </a:p>
        </p:txBody>
      </p:sp>
      <p:sp>
        <p:nvSpPr>
          <p:cNvPr id="15" name="Text 10"/>
          <p:cNvSpPr/>
          <p:nvPr/>
        </p:nvSpPr>
        <p:spPr>
          <a:xfrm>
            <a:off x="4879107" y="4073500"/>
            <a:ext cx="3648819" cy="343793"/>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404155"/>
                </a:solidFill>
                <a:highlight>
                  <a:srgbClr val="ECECF2"/>
                </a:highlight>
                <a:latin typeface="Consolas" pitchFamily="34" charset="0"/>
                <a:ea typeface="Consolas" pitchFamily="34" charset="-122"/>
                <a:cs typeface="Consolas" pitchFamily="34" charset="-120"/>
              </a:rPr>
              <a:t>EffectComposer</a:t>
            </a:r>
            <a:r>
              <a:rPr lang="en-US" sz="850" dirty="0">
                <a:solidFill>
                  <a:srgbClr val="404155"/>
                </a:solidFill>
                <a:latin typeface="Nobile" pitchFamily="34" charset="0"/>
                <a:ea typeface="Nobile" pitchFamily="34" charset="-122"/>
                <a:cs typeface="Nobile" pitchFamily="34" charset="-120"/>
              </a:rPr>
              <a:t> with </a:t>
            </a:r>
            <a:r>
              <a:rPr lang="en-US" sz="850" dirty="0">
                <a:solidFill>
                  <a:srgbClr val="404155"/>
                </a:solidFill>
                <a:highlight>
                  <a:srgbClr val="ECECF2"/>
                </a:highlight>
                <a:latin typeface="Consolas" pitchFamily="34" charset="0"/>
                <a:ea typeface="Consolas" pitchFamily="34" charset="-122"/>
                <a:cs typeface="Consolas" pitchFamily="34" charset="-120"/>
              </a:rPr>
              <a:t>Bloom</a:t>
            </a:r>
            <a:r>
              <a:rPr lang="en-US" sz="850" dirty="0">
                <a:solidFill>
                  <a:srgbClr val="404155"/>
                </a:solidFill>
                <a:latin typeface="Nobile" pitchFamily="34" charset="0"/>
                <a:ea typeface="Nobile" pitchFamily="34" charset="-122"/>
                <a:cs typeface="Nobile" pitchFamily="34" charset="-120"/>
              </a:rPr>
              <a:t> shader (luminanceThreshold 0.15, intensity 0.8) makes severity-colored arcs glow like neon light fibers.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1365945"/>
            <a:ext cx="1245840"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1403152"/>
            <a:ext cx="1554212"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4 — SPRINT 3</a:t>
            </a:r>
            <a:endParaRPr lang="en-US" sz="750" dirty="0"/>
          </a:p>
        </p:txBody>
      </p:sp>
      <p:sp>
        <p:nvSpPr>
          <p:cNvPr id="4" name="Text 2"/>
          <p:cNvSpPr/>
          <p:nvPr/>
        </p:nvSpPr>
        <p:spPr>
          <a:xfrm>
            <a:off x="496119" y="1648718"/>
            <a:ext cx="6903244"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Sprint 3: STIX 2.1 Threat Analysis Dashboard</a:t>
            </a:r>
            <a:endParaRPr lang="en-US" sz="2400" dirty="0"/>
          </a:p>
        </p:txBody>
      </p:sp>
      <p:sp>
        <p:nvSpPr>
          <p:cNvPr id="5" name="Text 3"/>
          <p:cNvSpPr/>
          <p:nvPr/>
        </p:nvSpPr>
        <p:spPr>
          <a:xfrm>
            <a:off x="496119" y="2346275"/>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STIX 2.1 Parser</a:t>
            </a:r>
            <a:endParaRPr lang="en-US" sz="1200" dirty="0"/>
          </a:p>
        </p:txBody>
      </p:sp>
      <p:sp>
        <p:nvSpPr>
          <p:cNvPr id="6" name="Text 4"/>
          <p:cNvSpPr/>
          <p:nvPr/>
        </p:nvSpPr>
        <p:spPr>
          <a:xfrm>
            <a:off x="496119" y="2664098"/>
            <a:ext cx="3924598" cy="100183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Client-side JSON parser processes intelligence bundles entirely in the browser — sensitive files never leave the analyst's machine. Validates </a:t>
            </a:r>
            <a:r>
              <a:rPr lang="en-US" sz="950" dirty="0">
                <a:solidFill>
                  <a:srgbClr val="404155"/>
                </a:solidFill>
                <a:highlight>
                  <a:srgbClr val="ECECF2"/>
                </a:highlight>
                <a:latin typeface="Consolas" pitchFamily="34" charset="0"/>
                <a:ea typeface="Consolas" pitchFamily="34" charset="-122"/>
                <a:cs typeface="Consolas" pitchFamily="34" charset="-120"/>
              </a:rPr>
              <a:t>spec_version: "2.1"</a:t>
            </a:r>
            <a:r>
              <a:rPr lang="en-US" sz="950" dirty="0">
                <a:solidFill>
                  <a:srgbClr val="404155"/>
                </a:solidFill>
                <a:latin typeface="Nobile" pitchFamily="34" charset="0"/>
                <a:ea typeface="Nobile" pitchFamily="34" charset="-122"/>
                <a:cs typeface="Nobile" pitchFamily="34" charset="-120"/>
              </a:rPr>
              <a:t> and extracts all STIX Domain Objects (SDOs): Threat Actors, Campaigns, Malware, Tools, Attack Patterns, Indicators, and Relationships.</a:t>
            </a:r>
            <a:endParaRPr lang="en-US" sz="950" dirty="0"/>
          </a:p>
        </p:txBody>
      </p:sp>
      <p:sp>
        <p:nvSpPr>
          <p:cNvPr id="7" name="Text 5"/>
          <p:cNvSpPr/>
          <p:nvPr/>
        </p:nvSpPr>
        <p:spPr>
          <a:xfrm>
            <a:off x="4728046" y="2346275"/>
            <a:ext cx="2343894" cy="193849"/>
          </a:xfrm>
          <a:prstGeom prst="rect">
            <a:avLst/>
          </a:prstGeom>
          <a:noFill/>
          <a:ln/>
        </p:spPr>
        <p:txBody>
          <a:bodyPr wrap="none" lIns="0" tIns="0" rIns="0" bIns="0" rtlCol="0" anchor="t"/>
          <a:lstStyle/>
          <a:p>
            <a:pPr marL="0" indent="0" algn="l">
              <a:lnSpc>
                <a:spcPct val="104000"/>
              </a:lnSpc>
              <a:buNone/>
            </a:pPr>
            <a:r>
              <a:rPr lang="en-US" sz="1200" dirty="0">
                <a:solidFill>
                  <a:srgbClr val="1B1B27"/>
                </a:solidFill>
                <a:latin typeface="Corben" pitchFamily="34" charset="0"/>
                <a:ea typeface="Corben" pitchFamily="34" charset="-122"/>
                <a:cs typeface="Corben" pitchFamily="34" charset="-120"/>
              </a:rPr>
              <a:t>MITRE ATT&amp;CK Mapping</a:t>
            </a:r>
            <a:endParaRPr lang="en-US" sz="1200" dirty="0"/>
          </a:p>
        </p:txBody>
      </p:sp>
      <p:sp>
        <p:nvSpPr>
          <p:cNvPr id="8" name="Text 6"/>
          <p:cNvSpPr/>
          <p:nvPr/>
        </p:nvSpPr>
        <p:spPr>
          <a:xfrm>
            <a:off x="4728046" y="2664098"/>
            <a:ext cx="3924598" cy="100183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Parsed </a:t>
            </a:r>
            <a:r>
              <a:rPr lang="en-US" sz="950" dirty="0">
                <a:solidFill>
                  <a:srgbClr val="404155"/>
                </a:solidFill>
                <a:highlight>
                  <a:srgbClr val="ECECF2"/>
                </a:highlight>
                <a:latin typeface="Consolas" pitchFamily="34" charset="0"/>
                <a:ea typeface="Consolas" pitchFamily="34" charset="-122"/>
                <a:cs typeface="Consolas" pitchFamily="34" charset="-120"/>
              </a:rPr>
              <a:t>attack-pattern</a:t>
            </a:r>
            <a:r>
              <a:rPr lang="en-US" sz="950" dirty="0">
                <a:solidFill>
                  <a:srgbClr val="404155"/>
                </a:solidFill>
                <a:latin typeface="Nobile" pitchFamily="34" charset="0"/>
                <a:ea typeface="Nobile" pitchFamily="34" charset="-122"/>
                <a:cs typeface="Nobile" pitchFamily="34" charset="-120"/>
              </a:rPr>
              <a:t> objects are automatically mapped to the </a:t>
            </a:r>
            <a:r>
              <a:rPr lang="en-US" sz="950" b="1" dirty="0">
                <a:solidFill>
                  <a:srgbClr val="404155"/>
                </a:solidFill>
                <a:latin typeface="Nobile" pitchFamily="34" charset="0"/>
                <a:ea typeface="Nobile" pitchFamily="34" charset="-122"/>
                <a:cs typeface="Nobile" pitchFamily="34" charset="-120"/>
              </a:rPr>
              <a:t>12 phases of the MITRE ATT&amp;CK Kill Chain</a:t>
            </a:r>
            <a:r>
              <a:rPr lang="en-US" sz="950" dirty="0">
                <a:solidFill>
                  <a:srgbClr val="404155"/>
                </a:solidFill>
                <a:latin typeface="Nobile" pitchFamily="34" charset="0"/>
                <a:ea typeface="Nobile" pitchFamily="34" charset="-122"/>
                <a:cs typeface="Nobile" pitchFamily="34" charset="-120"/>
              </a:rPr>
              <a:t> (Initial Access → Exfiltration). Phase distribution counts update instantly, highlighting the most heavily populated adversary stages to focus mitigation efforts.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96119" y="643830"/>
            <a:ext cx="1245840" cy="233214"/>
          </a:xfrm>
          <a:prstGeom prst="roundRect">
            <a:avLst>
              <a:gd name="adj" fmla="val 17872"/>
            </a:avLst>
          </a:prstGeom>
          <a:solidFill>
            <a:srgbClr val="D2D9F9"/>
          </a:solidFill>
          <a:ln/>
        </p:spPr>
        <p:txBody>
          <a:bodyPr/>
          <a:lstStyle/>
          <a:p>
            <a:endParaRPr lang="fr-TN"/>
          </a:p>
        </p:txBody>
      </p:sp>
      <p:sp>
        <p:nvSpPr>
          <p:cNvPr id="3" name="Text 1"/>
          <p:cNvSpPr/>
          <p:nvPr/>
        </p:nvSpPr>
        <p:spPr>
          <a:xfrm>
            <a:off x="570533" y="681038"/>
            <a:ext cx="1554212" cy="158800"/>
          </a:xfrm>
          <a:prstGeom prst="rect">
            <a:avLst/>
          </a:prstGeom>
          <a:noFill/>
          <a:ln/>
        </p:spPr>
        <p:txBody>
          <a:bodyPr wrap="none" lIns="0" tIns="0" rIns="0" bIns="0" rtlCol="0" anchor="t"/>
          <a:lstStyle/>
          <a:p>
            <a:pPr marL="0" indent="0" algn="l">
              <a:lnSpc>
                <a:spcPct val="133000"/>
              </a:lnSpc>
              <a:buNone/>
            </a:pPr>
            <a:r>
              <a:rPr lang="en-US" sz="750" dirty="0">
                <a:solidFill>
                  <a:srgbClr val="404155"/>
                </a:solidFill>
                <a:latin typeface="Nobile" pitchFamily="34" charset="0"/>
                <a:ea typeface="Nobile" pitchFamily="34" charset="-122"/>
                <a:cs typeface="Nobile" pitchFamily="34" charset="-120"/>
              </a:rPr>
              <a:t>CHAPTER 4 — SPRINT 3</a:t>
            </a:r>
            <a:endParaRPr lang="en-US" sz="750" dirty="0"/>
          </a:p>
        </p:txBody>
      </p:sp>
      <p:sp>
        <p:nvSpPr>
          <p:cNvPr id="4" name="Text 2"/>
          <p:cNvSpPr/>
          <p:nvPr/>
        </p:nvSpPr>
        <p:spPr>
          <a:xfrm>
            <a:off x="496119" y="926604"/>
            <a:ext cx="5786958"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Sprint 3: Class &amp; Sequence Diagrams</a:t>
            </a:r>
            <a:endParaRPr lang="en-US" sz="2400" dirty="0"/>
          </a:p>
        </p:txBody>
      </p:sp>
      <p:pic>
        <p:nvPicPr>
          <p:cNvPr id="5" name="Image 0" descr="preencoded.png"/>
          <p:cNvPicPr>
            <a:picLocks noChangeAspect="1"/>
          </p:cNvPicPr>
          <p:nvPr/>
        </p:nvPicPr>
        <p:blipFill>
          <a:blip r:embed="rId3"/>
          <a:stretch>
            <a:fillRect/>
          </a:stretch>
        </p:blipFill>
        <p:spPr>
          <a:xfrm>
            <a:off x="496119" y="1639714"/>
            <a:ext cx="3924598" cy="1048569"/>
          </a:xfrm>
          <a:prstGeom prst="rect">
            <a:avLst/>
          </a:prstGeom>
        </p:spPr>
      </p:pic>
      <p:pic>
        <p:nvPicPr>
          <p:cNvPr id="6" name="Image 1" descr="preencoded.png"/>
          <p:cNvPicPr>
            <a:picLocks noChangeAspect="1"/>
          </p:cNvPicPr>
          <p:nvPr/>
        </p:nvPicPr>
        <p:blipFill>
          <a:blip r:embed="rId4"/>
          <a:stretch>
            <a:fillRect/>
          </a:stretch>
        </p:blipFill>
        <p:spPr>
          <a:xfrm>
            <a:off x="4728046" y="1639714"/>
            <a:ext cx="3924598" cy="1985516"/>
          </a:xfrm>
          <a:prstGeom prst="rect">
            <a:avLst/>
          </a:prstGeom>
        </p:spPr>
      </p:pic>
      <p:sp>
        <p:nvSpPr>
          <p:cNvPr id="7" name="Text 3"/>
          <p:cNvSpPr/>
          <p:nvPr/>
        </p:nvSpPr>
        <p:spPr>
          <a:xfrm>
            <a:off x="496119" y="3904283"/>
            <a:ext cx="8151763"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The </a:t>
            </a:r>
            <a:r>
              <a:rPr lang="en-US" sz="950" b="1" dirty="0">
                <a:solidFill>
                  <a:srgbClr val="404155"/>
                </a:solidFill>
                <a:latin typeface="Nobile" pitchFamily="34" charset="0"/>
                <a:ea typeface="Nobile" pitchFamily="34" charset="-122"/>
                <a:cs typeface="Nobile" pitchFamily="34" charset="-120"/>
              </a:rPr>
              <a:t>D3 Force Graph</a:t>
            </a:r>
            <a:r>
              <a:rPr lang="en-US" sz="950" dirty="0">
                <a:solidFill>
                  <a:srgbClr val="404155"/>
                </a:solidFill>
                <a:latin typeface="Nobile" pitchFamily="34" charset="0"/>
                <a:ea typeface="Nobile" pitchFamily="34" charset="-122"/>
                <a:cs typeface="Nobile" pitchFamily="34" charset="-120"/>
              </a:rPr>
              <a:t> renders STIX objects as interactive nodes linked by relationship edges. The simulation applies repulsion, spring, and gravity forces using Verlet integration until the graph cools into a stable layout. Analysts can hover over nodes to inspect raw SDO metadata and click to explore relationship chains.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50912" y="345653"/>
            <a:ext cx="975345" cy="168473"/>
          </a:xfrm>
          <a:prstGeom prst="roundRect">
            <a:avLst>
              <a:gd name="adj" fmla="val 19328"/>
            </a:avLst>
          </a:prstGeom>
          <a:solidFill>
            <a:srgbClr val="D2D9F9"/>
          </a:solidFill>
          <a:ln/>
        </p:spPr>
        <p:txBody>
          <a:bodyPr/>
          <a:lstStyle/>
          <a:p>
            <a:endParaRPr lang="fr-TN"/>
          </a:p>
        </p:txBody>
      </p:sp>
      <p:sp>
        <p:nvSpPr>
          <p:cNvPr id="3" name="Text 1"/>
          <p:cNvSpPr/>
          <p:nvPr/>
        </p:nvSpPr>
        <p:spPr>
          <a:xfrm>
            <a:off x="809030" y="374675"/>
            <a:ext cx="1316310" cy="110430"/>
          </a:xfrm>
          <a:prstGeom prst="rect">
            <a:avLst/>
          </a:prstGeom>
          <a:noFill/>
          <a:ln/>
        </p:spPr>
        <p:txBody>
          <a:bodyPr wrap="none" lIns="0" tIns="0" rIns="0" bIns="0" rtlCol="0" anchor="t"/>
          <a:lstStyle/>
          <a:p>
            <a:pPr marL="0" indent="0" algn="l">
              <a:lnSpc>
                <a:spcPct val="119000"/>
              </a:lnSpc>
              <a:buNone/>
            </a:pPr>
            <a:r>
              <a:rPr lang="en-US" sz="600" dirty="0">
                <a:solidFill>
                  <a:srgbClr val="404155"/>
                </a:solidFill>
                <a:latin typeface="Nobile" pitchFamily="34" charset="0"/>
                <a:ea typeface="Nobile" pitchFamily="34" charset="-122"/>
                <a:cs typeface="Nobile" pitchFamily="34" charset="-120"/>
              </a:rPr>
              <a:t>CHAPTER 4 — SPRINT 4</a:t>
            </a:r>
            <a:endParaRPr lang="en-US" sz="600" dirty="0"/>
          </a:p>
        </p:txBody>
      </p:sp>
      <p:sp>
        <p:nvSpPr>
          <p:cNvPr id="4" name="Text 2"/>
          <p:cNvSpPr/>
          <p:nvPr/>
        </p:nvSpPr>
        <p:spPr>
          <a:xfrm>
            <a:off x="750912" y="544339"/>
            <a:ext cx="6516812" cy="302865"/>
          </a:xfrm>
          <a:prstGeom prst="rect">
            <a:avLst/>
          </a:prstGeom>
          <a:noFill/>
          <a:ln/>
        </p:spPr>
        <p:txBody>
          <a:bodyPr wrap="none" lIns="0" tIns="0" rIns="0" bIns="0" rtlCol="0" anchor="t"/>
          <a:lstStyle/>
          <a:p>
            <a:pPr marL="0" indent="0" algn="l">
              <a:lnSpc>
                <a:spcPct val="104000"/>
              </a:lnSpc>
              <a:buNone/>
            </a:pPr>
            <a:r>
              <a:rPr lang="en-US" sz="1900" dirty="0">
                <a:solidFill>
                  <a:srgbClr val="1B1B27"/>
                </a:solidFill>
                <a:latin typeface="Corben" pitchFamily="34" charset="0"/>
                <a:ea typeface="Corben" pitchFamily="34" charset="-122"/>
                <a:cs typeface="Corben" pitchFamily="34" charset="-120"/>
              </a:rPr>
              <a:t>Sprint 4: Analytics, History &amp; Performance Guardrails</a:t>
            </a:r>
            <a:endParaRPr lang="en-US" sz="1900" dirty="0"/>
          </a:p>
        </p:txBody>
      </p:sp>
      <p:sp>
        <p:nvSpPr>
          <p:cNvPr id="5" name="Text 3"/>
          <p:cNvSpPr/>
          <p:nvPr/>
        </p:nvSpPr>
        <p:spPr>
          <a:xfrm>
            <a:off x="750912" y="1028849"/>
            <a:ext cx="4160044" cy="138038"/>
          </a:xfrm>
          <a:prstGeom prst="rect">
            <a:avLst/>
          </a:prstGeom>
          <a:noFill/>
          <a:ln/>
        </p:spPr>
        <p:txBody>
          <a:bodyPr wrap="none" lIns="0" tIns="0" rIns="0" bIns="0" rtlCol="0" anchor="t"/>
          <a:lstStyle/>
          <a:p>
            <a:pPr marL="0" indent="0" algn="l">
              <a:lnSpc>
                <a:spcPct val="119000"/>
              </a:lnSpc>
              <a:buNone/>
            </a:pPr>
            <a:endParaRPr lang="en-US" sz="750" dirty="0"/>
          </a:p>
        </p:txBody>
      </p:sp>
      <p:sp>
        <p:nvSpPr>
          <p:cNvPr id="6" name="Text 4"/>
          <p:cNvSpPr/>
          <p:nvPr/>
        </p:nvSpPr>
        <p:spPr>
          <a:xfrm>
            <a:off x="750912" y="1091170"/>
            <a:ext cx="1668587" cy="151433"/>
          </a:xfrm>
          <a:prstGeom prst="rect">
            <a:avLst/>
          </a:prstGeom>
          <a:noFill/>
          <a:ln/>
        </p:spPr>
        <p:txBody>
          <a:bodyPr wrap="none" lIns="0" tIns="0" rIns="0" bIns="0" rtlCol="0" anchor="t"/>
          <a:lstStyle/>
          <a:p>
            <a:pPr marL="0" indent="0" algn="l">
              <a:lnSpc>
                <a:spcPct val="104000"/>
              </a:lnSpc>
              <a:buNone/>
            </a:pPr>
            <a:r>
              <a:rPr lang="en-US" sz="950" dirty="0">
                <a:solidFill>
                  <a:srgbClr val="1B1B27"/>
                </a:solidFill>
                <a:latin typeface="Corben" pitchFamily="34" charset="0"/>
                <a:ea typeface="Corben" pitchFamily="34" charset="-122"/>
                <a:cs typeface="Corben" pitchFamily="34" charset="-120"/>
              </a:rPr>
              <a:t>Sprint 4 Deliverables</a:t>
            </a:r>
            <a:endParaRPr lang="en-US" sz="950" dirty="0"/>
          </a:p>
        </p:txBody>
      </p:sp>
      <p:sp>
        <p:nvSpPr>
          <p:cNvPr id="7" name="Text 5"/>
          <p:cNvSpPr/>
          <p:nvPr/>
        </p:nvSpPr>
        <p:spPr>
          <a:xfrm>
            <a:off x="783659" y="1603808"/>
            <a:ext cx="193774" cy="121072"/>
          </a:xfrm>
          <a:prstGeom prst="rect">
            <a:avLst/>
          </a:prstGeom>
          <a:noFill/>
          <a:ln/>
        </p:spPr>
        <p:txBody>
          <a:bodyPr wrap="none" lIns="0" tIns="0" rIns="0" bIns="0" rtlCol="0" anchor="ctr"/>
          <a:lstStyle/>
          <a:p>
            <a:pPr marL="0" indent="0" algn="l">
              <a:lnSpc>
                <a:spcPct val="100000"/>
              </a:lnSpc>
              <a:buNone/>
            </a:pPr>
            <a:r>
              <a:rPr lang="en-US" sz="750" dirty="0">
                <a:solidFill>
                  <a:srgbClr val="404155"/>
                </a:solidFill>
                <a:latin typeface="Corben Light" pitchFamily="34" charset="0"/>
                <a:ea typeface="Corben Light" pitchFamily="34" charset="-122"/>
                <a:cs typeface="Corben Light" pitchFamily="34" charset="-120"/>
              </a:rPr>
              <a:t>01</a:t>
            </a:r>
            <a:endParaRPr lang="en-US" sz="750" dirty="0"/>
          </a:p>
        </p:txBody>
      </p:sp>
      <p:sp>
        <p:nvSpPr>
          <p:cNvPr id="8" name="Shape 6"/>
          <p:cNvSpPr/>
          <p:nvPr/>
        </p:nvSpPr>
        <p:spPr>
          <a:xfrm>
            <a:off x="783659" y="1754125"/>
            <a:ext cx="3702844" cy="14288"/>
          </a:xfrm>
          <a:prstGeom prst="rect">
            <a:avLst/>
          </a:prstGeom>
          <a:solidFill>
            <a:srgbClr val="4967E9"/>
          </a:solidFill>
          <a:ln/>
        </p:spPr>
        <p:txBody>
          <a:bodyPr/>
          <a:lstStyle/>
          <a:p>
            <a:endParaRPr lang="fr-TN"/>
          </a:p>
        </p:txBody>
      </p:sp>
      <p:sp>
        <p:nvSpPr>
          <p:cNvPr id="9" name="Text 7"/>
          <p:cNvSpPr/>
          <p:nvPr/>
        </p:nvSpPr>
        <p:spPr>
          <a:xfrm>
            <a:off x="783659" y="1831143"/>
            <a:ext cx="1534864" cy="151433"/>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Paginated History Browser</a:t>
            </a:r>
            <a:endParaRPr lang="en-US" sz="950" dirty="0"/>
          </a:p>
        </p:txBody>
      </p:sp>
      <p:sp>
        <p:nvSpPr>
          <p:cNvPr id="10" name="Text 8"/>
          <p:cNvSpPr/>
          <p:nvPr/>
        </p:nvSpPr>
        <p:spPr>
          <a:xfrm>
            <a:off x="783659" y="2058255"/>
            <a:ext cx="3702844" cy="276076"/>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404155"/>
                </a:solidFill>
                <a:latin typeface="Nobile" pitchFamily="34" charset="0"/>
                <a:ea typeface="Nobile" pitchFamily="34" charset="-122"/>
                <a:cs typeface="Nobile" pitchFamily="34" charset="-120"/>
              </a:rPr>
              <a:t>MongoDB queries with regex, country, sector filters. Default 50 logs/page, executing in under 50ms via compound indexes.</a:t>
            </a:r>
            <a:endParaRPr lang="en-US" sz="750" dirty="0"/>
          </a:p>
        </p:txBody>
      </p:sp>
      <p:sp>
        <p:nvSpPr>
          <p:cNvPr id="11" name="Text 9"/>
          <p:cNvSpPr/>
          <p:nvPr/>
        </p:nvSpPr>
        <p:spPr>
          <a:xfrm>
            <a:off x="4648234" y="1603808"/>
            <a:ext cx="193774" cy="121072"/>
          </a:xfrm>
          <a:prstGeom prst="rect">
            <a:avLst/>
          </a:prstGeom>
          <a:noFill/>
          <a:ln/>
        </p:spPr>
        <p:txBody>
          <a:bodyPr wrap="none" lIns="0" tIns="0" rIns="0" bIns="0" rtlCol="0" anchor="ctr"/>
          <a:lstStyle/>
          <a:p>
            <a:pPr marL="0" indent="0" algn="l">
              <a:lnSpc>
                <a:spcPct val="100000"/>
              </a:lnSpc>
              <a:buNone/>
            </a:pPr>
            <a:r>
              <a:rPr lang="en-US" sz="750" dirty="0">
                <a:solidFill>
                  <a:srgbClr val="404155"/>
                </a:solidFill>
                <a:latin typeface="Corben Light" pitchFamily="34" charset="0"/>
                <a:ea typeface="Corben Light" pitchFamily="34" charset="-122"/>
                <a:cs typeface="Corben Light" pitchFamily="34" charset="-120"/>
              </a:rPr>
              <a:t>02</a:t>
            </a:r>
            <a:endParaRPr lang="en-US" sz="750" dirty="0"/>
          </a:p>
        </p:txBody>
      </p:sp>
      <p:sp>
        <p:nvSpPr>
          <p:cNvPr id="12" name="Shape 10"/>
          <p:cNvSpPr/>
          <p:nvPr/>
        </p:nvSpPr>
        <p:spPr>
          <a:xfrm>
            <a:off x="4648234" y="1754125"/>
            <a:ext cx="3702844" cy="14288"/>
          </a:xfrm>
          <a:prstGeom prst="rect">
            <a:avLst/>
          </a:prstGeom>
          <a:solidFill>
            <a:srgbClr val="4967E9"/>
          </a:solidFill>
          <a:ln/>
        </p:spPr>
        <p:txBody>
          <a:bodyPr/>
          <a:lstStyle/>
          <a:p>
            <a:endParaRPr lang="fr-TN"/>
          </a:p>
        </p:txBody>
      </p:sp>
      <p:sp>
        <p:nvSpPr>
          <p:cNvPr id="13" name="Text 11"/>
          <p:cNvSpPr/>
          <p:nvPr/>
        </p:nvSpPr>
        <p:spPr>
          <a:xfrm>
            <a:off x="4648234" y="1831143"/>
            <a:ext cx="1211387" cy="151433"/>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Target My IP</a:t>
            </a:r>
            <a:endParaRPr lang="en-US" sz="950" dirty="0"/>
          </a:p>
        </p:txBody>
      </p:sp>
      <p:sp>
        <p:nvSpPr>
          <p:cNvPr id="14" name="Text 12"/>
          <p:cNvSpPr/>
          <p:nvPr/>
        </p:nvSpPr>
        <p:spPr>
          <a:xfrm>
            <a:off x="4648234" y="2058255"/>
            <a:ext cx="3702844" cy="276076"/>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404155"/>
                </a:solidFill>
                <a:latin typeface="Nobile" pitchFamily="34" charset="0"/>
                <a:ea typeface="Nobile" pitchFamily="34" charset="-122"/>
                <a:cs typeface="Nobile" pitchFamily="34" charset="-120"/>
              </a:rPr>
              <a:t>Queries public IP API, geolocates the analyst, and auto-filters threat history to logs targeting their network subnet.</a:t>
            </a:r>
            <a:endParaRPr lang="en-US" sz="750" dirty="0"/>
          </a:p>
        </p:txBody>
      </p:sp>
      <p:sp>
        <p:nvSpPr>
          <p:cNvPr id="15" name="Text 13"/>
          <p:cNvSpPr/>
          <p:nvPr/>
        </p:nvSpPr>
        <p:spPr>
          <a:xfrm>
            <a:off x="750912" y="3085393"/>
            <a:ext cx="193774" cy="121072"/>
          </a:xfrm>
          <a:prstGeom prst="rect">
            <a:avLst/>
          </a:prstGeom>
          <a:noFill/>
          <a:ln/>
        </p:spPr>
        <p:txBody>
          <a:bodyPr wrap="none" lIns="0" tIns="0" rIns="0" bIns="0" rtlCol="0" anchor="ctr"/>
          <a:lstStyle/>
          <a:p>
            <a:pPr marL="0" indent="0" algn="l">
              <a:lnSpc>
                <a:spcPct val="100000"/>
              </a:lnSpc>
              <a:buNone/>
            </a:pPr>
            <a:r>
              <a:rPr lang="en-US" sz="750" dirty="0">
                <a:solidFill>
                  <a:srgbClr val="404155"/>
                </a:solidFill>
                <a:latin typeface="Corben Light" pitchFamily="34" charset="0"/>
                <a:ea typeface="Corben Light" pitchFamily="34" charset="-122"/>
                <a:cs typeface="Corben Light" pitchFamily="34" charset="-120"/>
              </a:rPr>
              <a:t>03</a:t>
            </a:r>
            <a:endParaRPr lang="en-US" sz="750" dirty="0"/>
          </a:p>
        </p:txBody>
      </p:sp>
      <p:sp>
        <p:nvSpPr>
          <p:cNvPr id="16" name="Shape 14"/>
          <p:cNvSpPr/>
          <p:nvPr/>
        </p:nvSpPr>
        <p:spPr>
          <a:xfrm>
            <a:off x="750912" y="3235709"/>
            <a:ext cx="3702844" cy="14288"/>
          </a:xfrm>
          <a:prstGeom prst="rect">
            <a:avLst/>
          </a:prstGeom>
          <a:solidFill>
            <a:srgbClr val="4967E9"/>
          </a:solidFill>
          <a:ln/>
        </p:spPr>
        <p:txBody>
          <a:bodyPr/>
          <a:lstStyle/>
          <a:p>
            <a:endParaRPr lang="fr-TN"/>
          </a:p>
        </p:txBody>
      </p:sp>
      <p:sp>
        <p:nvSpPr>
          <p:cNvPr id="17" name="Text 15"/>
          <p:cNvSpPr/>
          <p:nvPr/>
        </p:nvSpPr>
        <p:spPr>
          <a:xfrm>
            <a:off x="750912" y="3312727"/>
            <a:ext cx="1211387" cy="151433"/>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Excel Export</a:t>
            </a:r>
            <a:endParaRPr lang="en-US" sz="950" dirty="0"/>
          </a:p>
        </p:txBody>
      </p:sp>
      <p:sp>
        <p:nvSpPr>
          <p:cNvPr id="18" name="Text 16"/>
          <p:cNvSpPr/>
          <p:nvPr/>
        </p:nvSpPr>
        <p:spPr>
          <a:xfrm>
            <a:off x="750912" y="3539839"/>
            <a:ext cx="3702844" cy="276076"/>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404155"/>
                </a:solidFill>
                <a:latin typeface="Nobile" pitchFamily="34" charset="0"/>
                <a:ea typeface="Nobile" pitchFamily="34" charset="-122"/>
                <a:cs typeface="Nobile" pitchFamily="34" charset="-120"/>
              </a:rPr>
              <a:t>Client-side worksheet generation supporting up to 5,000 logs without browser memory exhaustion.</a:t>
            </a:r>
            <a:endParaRPr lang="en-US" sz="750" dirty="0"/>
          </a:p>
        </p:txBody>
      </p:sp>
      <p:sp>
        <p:nvSpPr>
          <p:cNvPr id="19" name="Text 17"/>
          <p:cNvSpPr/>
          <p:nvPr/>
        </p:nvSpPr>
        <p:spPr>
          <a:xfrm>
            <a:off x="4615487" y="3085393"/>
            <a:ext cx="193774" cy="121072"/>
          </a:xfrm>
          <a:prstGeom prst="rect">
            <a:avLst/>
          </a:prstGeom>
          <a:noFill/>
          <a:ln/>
        </p:spPr>
        <p:txBody>
          <a:bodyPr wrap="none" lIns="0" tIns="0" rIns="0" bIns="0" rtlCol="0" anchor="ctr"/>
          <a:lstStyle/>
          <a:p>
            <a:pPr marL="0" indent="0" algn="l">
              <a:lnSpc>
                <a:spcPct val="100000"/>
              </a:lnSpc>
              <a:buNone/>
            </a:pPr>
            <a:r>
              <a:rPr lang="en-US" sz="750" dirty="0">
                <a:solidFill>
                  <a:srgbClr val="404155"/>
                </a:solidFill>
                <a:latin typeface="Corben Light" pitchFamily="34" charset="0"/>
                <a:ea typeface="Corben Light" pitchFamily="34" charset="-122"/>
                <a:cs typeface="Corben Light" pitchFamily="34" charset="-120"/>
              </a:rPr>
              <a:t>04</a:t>
            </a:r>
            <a:endParaRPr lang="en-US" sz="750" dirty="0"/>
          </a:p>
        </p:txBody>
      </p:sp>
      <p:sp>
        <p:nvSpPr>
          <p:cNvPr id="20" name="Shape 18"/>
          <p:cNvSpPr/>
          <p:nvPr/>
        </p:nvSpPr>
        <p:spPr>
          <a:xfrm>
            <a:off x="4615487" y="3235709"/>
            <a:ext cx="3702844" cy="14288"/>
          </a:xfrm>
          <a:prstGeom prst="rect">
            <a:avLst/>
          </a:prstGeom>
          <a:solidFill>
            <a:srgbClr val="4967E9"/>
          </a:solidFill>
          <a:ln/>
        </p:spPr>
        <p:txBody>
          <a:bodyPr/>
          <a:lstStyle/>
          <a:p>
            <a:endParaRPr lang="fr-TN"/>
          </a:p>
        </p:txBody>
      </p:sp>
      <p:sp>
        <p:nvSpPr>
          <p:cNvPr id="21" name="Text 19"/>
          <p:cNvSpPr/>
          <p:nvPr/>
        </p:nvSpPr>
        <p:spPr>
          <a:xfrm>
            <a:off x="4615487" y="3312728"/>
            <a:ext cx="1375023" cy="151433"/>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Performance Guardrails</a:t>
            </a:r>
            <a:endParaRPr lang="en-US" sz="950" dirty="0"/>
          </a:p>
        </p:txBody>
      </p:sp>
      <p:sp>
        <p:nvSpPr>
          <p:cNvPr id="22" name="Text 20"/>
          <p:cNvSpPr/>
          <p:nvPr/>
        </p:nvSpPr>
        <p:spPr>
          <a:xfrm>
            <a:off x="4615487" y="3539839"/>
            <a:ext cx="3702844" cy="276076"/>
          </a:xfrm>
          <a:prstGeom prst="rect">
            <a:avLst/>
          </a:prstGeom>
          <a:noFill/>
          <a:ln/>
        </p:spPr>
        <p:txBody>
          <a:bodyPr wrap="square" lIns="0" tIns="0" rIns="0" bIns="0" rtlCol="0" anchor="t">
            <a:normAutofit/>
          </a:bodyPr>
          <a:lstStyle/>
          <a:p>
            <a:pPr marL="0" indent="0" algn="l">
              <a:lnSpc>
                <a:spcPct val="119000"/>
              </a:lnSpc>
              <a:buNone/>
            </a:pPr>
            <a:r>
              <a:rPr lang="en-US" sz="750" dirty="0">
                <a:solidFill>
                  <a:srgbClr val="404155"/>
                </a:solidFill>
                <a:latin typeface="Nobile" pitchFamily="34" charset="0"/>
                <a:ea typeface="Nobile" pitchFamily="34" charset="-122"/>
                <a:cs typeface="Nobile" pitchFamily="34" charset="-120"/>
              </a:rPr>
              <a:t>Circular RingBuffer (10,000 slots) + Adaptive FPS Sampling Engine drops 50–75% of visual events under load.</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80182" y="345430"/>
            <a:ext cx="917153" cy="155674"/>
          </a:xfrm>
          <a:prstGeom prst="roundRect">
            <a:avLst>
              <a:gd name="adj" fmla="val 19662"/>
            </a:avLst>
          </a:prstGeom>
          <a:solidFill>
            <a:srgbClr val="D2D9F9"/>
          </a:solidFill>
          <a:ln/>
        </p:spPr>
        <p:txBody>
          <a:bodyPr/>
          <a:lstStyle/>
          <a:p>
            <a:endParaRPr lang="fr-TN"/>
          </a:p>
        </p:txBody>
      </p:sp>
      <p:sp>
        <p:nvSpPr>
          <p:cNvPr id="3" name="Text 1"/>
          <p:cNvSpPr/>
          <p:nvPr/>
        </p:nvSpPr>
        <p:spPr>
          <a:xfrm>
            <a:off x="1034802" y="372740"/>
            <a:ext cx="1265113" cy="101054"/>
          </a:xfrm>
          <a:prstGeom prst="rect">
            <a:avLst/>
          </a:prstGeom>
          <a:noFill/>
          <a:ln/>
        </p:spPr>
        <p:txBody>
          <a:bodyPr wrap="none" lIns="0" tIns="0" rIns="0" bIns="0" rtlCol="0" anchor="t"/>
          <a:lstStyle/>
          <a:p>
            <a:pPr marL="0" indent="0" algn="l">
              <a:lnSpc>
                <a:spcPct val="116000"/>
              </a:lnSpc>
              <a:buNone/>
            </a:pPr>
            <a:r>
              <a:rPr lang="en-US" sz="550" dirty="0">
                <a:solidFill>
                  <a:srgbClr val="404155"/>
                </a:solidFill>
                <a:latin typeface="Nobile" pitchFamily="34" charset="0"/>
                <a:ea typeface="Nobile" pitchFamily="34" charset="-122"/>
                <a:cs typeface="Nobile" pitchFamily="34" charset="-120"/>
              </a:rPr>
              <a:t>CHAPTER 4 — SPRINT 4</a:t>
            </a:r>
            <a:endParaRPr lang="en-US" sz="550" dirty="0"/>
          </a:p>
        </p:txBody>
      </p:sp>
      <p:sp>
        <p:nvSpPr>
          <p:cNvPr id="4" name="Text 2"/>
          <p:cNvSpPr/>
          <p:nvPr/>
        </p:nvSpPr>
        <p:spPr>
          <a:xfrm>
            <a:off x="980182" y="527819"/>
            <a:ext cx="5064547" cy="284634"/>
          </a:xfrm>
          <a:prstGeom prst="rect">
            <a:avLst/>
          </a:prstGeom>
          <a:noFill/>
          <a:ln/>
        </p:spPr>
        <p:txBody>
          <a:bodyPr wrap="none" lIns="0" tIns="0" rIns="0" bIns="0" rtlCol="0" anchor="t"/>
          <a:lstStyle/>
          <a:p>
            <a:pPr marL="0" indent="0" algn="l">
              <a:lnSpc>
                <a:spcPct val="104000"/>
              </a:lnSpc>
              <a:buNone/>
            </a:pPr>
            <a:r>
              <a:rPr lang="en-US" sz="1750" dirty="0">
                <a:solidFill>
                  <a:srgbClr val="1B1B27"/>
                </a:solidFill>
                <a:latin typeface="Corben" pitchFamily="34" charset="0"/>
                <a:ea typeface="Corben" pitchFamily="34" charset="-122"/>
                <a:cs typeface="Corben" pitchFamily="34" charset="-120"/>
              </a:rPr>
              <a:t>Sprint 4: Performance Mathematics &amp; UML</a:t>
            </a:r>
            <a:endParaRPr lang="en-US" sz="1750" dirty="0"/>
          </a:p>
        </p:txBody>
      </p:sp>
      <p:pic>
        <p:nvPicPr>
          <p:cNvPr id="5" name="Image 0" descr="preencoded.png"/>
          <p:cNvPicPr>
            <a:picLocks noChangeAspect="1"/>
          </p:cNvPicPr>
          <p:nvPr/>
        </p:nvPicPr>
        <p:blipFill>
          <a:blip r:embed="rId3"/>
          <a:stretch>
            <a:fillRect/>
          </a:stretch>
        </p:blipFill>
        <p:spPr>
          <a:xfrm>
            <a:off x="980182" y="987996"/>
            <a:ext cx="3480643" cy="1841599"/>
          </a:xfrm>
          <a:prstGeom prst="rect">
            <a:avLst/>
          </a:prstGeom>
        </p:spPr>
      </p:pic>
      <p:pic>
        <p:nvPicPr>
          <p:cNvPr id="6" name="Image 1" descr="preencoded.png"/>
          <p:cNvPicPr>
            <a:picLocks noChangeAspect="1"/>
          </p:cNvPicPr>
          <p:nvPr/>
        </p:nvPicPr>
        <p:blipFill>
          <a:blip r:embed="rId4"/>
          <a:stretch>
            <a:fillRect/>
          </a:stretch>
        </p:blipFill>
        <p:spPr>
          <a:xfrm>
            <a:off x="980182" y="2904827"/>
            <a:ext cx="3480643" cy="1817936"/>
          </a:xfrm>
          <a:prstGeom prst="rect">
            <a:avLst/>
          </a:prstGeom>
        </p:spPr>
      </p:pic>
      <p:sp>
        <p:nvSpPr>
          <p:cNvPr id="7" name="Text 3"/>
          <p:cNvSpPr/>
          <p:nvPr/>
        </p:nvSpPr>
        <p:spPr>
          <a:xfrm>
            <a:off x="4687788" y="979661"/>
            <a:ext cx="1807815" cy="142280"/>
          </a:xfrm>
          <a:prstGeom prst="rect">
            <a:avLst/>
          </a:prstGeom>
          <a:noFill/>
          <a:ln/>
        </p:spPr>
        <p:txBody>
          <a:bodyPr wrap="none" lIns="0" tIns="0" rIns="0" bIns="0" rtlCol="0" anchor="t"/>
          <a:lstStyle/>
          <a:p>
            <a:pPr marL="0" indent="0" algn="l">
              <a:lnSpc>
                <a:spcPct val="104000"/>
              </a:lnSpc>
              <a:buNone/>
            </a:pPr>
            <a:r>
              <a:rPr lang="en-US" sz="850" dirty="0">
                <a:solidFill>
                  <a:srgbClr val="1B1B27"/>
                </a:solidFill>
                <a:latin typeface="Corben" pitchFamily="34" charset="0"/>
                <a:ea typeface="Corben" pitchFamily="34" charset="-122"/>
                <a:cs typeface="Corben" pitchFamily="34" charset="-120"/>
              </a:rPr>
              <a:t>Adaptive Event Sampling</a:t>
            </a:r>
            <a:endParaRPr lang="en-US" sz="850" dirty="0"/>
          </a:p>
        </p:txBody>
      </p:sp>
      <p:sp>
        <p:nvSpPr>
          <p:cNvPr id="8" name="Shape 4"/>
          <p:cNvSpPr/>
          <p:nvPr/>
        </p:nvSpPr>
        <p:spPr>
          <a:xfrm>
            <a:off x="4687788" y="1197173"/>
            <a:ext cx="3480643" cy="1267271"/>
          </a:xfrm>
          <a:prstGeom prst="roundRect">
            <a:avLst>
              <a:gd name="adj" fmla="val 3019"/>
            </a:avLst>
          </a:prstGeom>
          <a:noFill/>
          <a:ln w="4763">
            <a:solidFill>
              <a:srgbClr val="000000">
                <a:alpha val="8000"/>
              </a:srgbClr>
            </a:solidFill>
            <a:prstDash val="solid"/>
          </a:ln>
        </p:spPr>
        <p:txBody>
          <a:bodyPr/>
          <a:lstStyle/>
          <a:p>
            <a:endParaRPr lang="fr-TN"/>
          </a:p>
        </p:txBody>
      </p:sp>
      <p:sp>
        <p:nvSpPr>
          <p:cNvPr id="9" name="Shape 5"/>
          <p:cNvSpPr/>
          <p:nvPr/>
        </p:nvSpPr>
        <p:spPr>
          <a:xfrm>
            <a:off x="4692997" y="1201936"/>
            <a:ext cx="1156767" cy="218480"/>
          </a:xfrm>
          <a:prstGeom prst="rect">
            <a:avLst/>
          </a:prstGeom>
          <a:solidFill>
            <a:srgbClr val="4967E9"/>
          </a:solidFill>
          <a:ln/>
        </p:spPr>
        <p:txBody>
          <a:bodyPr/>
          <a:lstStyle/>
          <a:p>
            <a:endParaRPr lang="fr-TN"/>
          </a:p>
        </p:txBody>
      </p:sp>
      <p:sp>
        <p:nvSpPr>
          <p:cNvPr id="10" name="Text 6"/>
          <p:cNvSpPr/>
          <p:nvPr/>
        </p:nvSpPr>
        <p:spPr>
          <a:xfrm>
            <a:off x="4784080" y="1246808"/>
            <a:ext cx="1431801" cy="126355"/>
          </a:xfrm>
          <a:prstGeom prst="rect">
            <a:avLst/>
          </a:prstGeom>
          <a:noFill/>
          <a:ln/>
        </p:spPr>
        <p:txBody>
          <a:bodyPr wrap="none" lIns="0" tIns="0" rIns="0" bIns="0" rtlCol="0" anchor="t"/>
          <a:lstStyle/>
          <a:p>
            <a:pPr marL="0" indent="0" algn="l">
              <a:lnSpc>
                <a:spcPct val="116000"/>
              </a:lnSpc>
              <a:buNone/>
            </a:pPr>
            <a:r>
              <a:rPr lang="en-US" sz="700" b="1" dirty="0">
                <a:solidFill>
                  <a:srgbClr val="FFFFFF"/>
                </a:solidFill>
                <a:latin typeface="Nobile" pitchFamily="34" charset="0"/>
                <a:ea typeface="Nobile" pitchFamily="34" charset="-122"/>
                <a:cs typeface="Nobile" pitchFamily="34" charset="-120"/>
              </a:rPr>
              <a:t>Mode</a:t>
            </a:r>
            <a:endParaRPr lang="en-US" sz="700" dirty="0"/>
          </a:p>
        </p:txBody>
      </p:sp>
      <p:sp>
        <p:nvSpPr>
          <p:cNvPr id="11" name="Shape 7"/>
          <p:cNvSpPr/>
          <p:nvPr/>
        </p:nvSpPr>
        <p:spPr>
          <a:xfrm>
            <a:off x="5849764" y="1201936"/>
            <a:ext cx="1156767" cy="218480"/>
          </a:xfrm>
          <a:prstGeom prst="rect">
            <a:avLst/>
          </a:prstGeom>
          <a:solidFill>
            <a:srgbClr val="4967E9"/>
          </a:solidFill>
          <a:ln/>
        </p:spPr>
        <p:txBody>
          <a:bodyPr/>
          <a:lstStyle/>
          <a:p>
            <a:endParaRPr lang="fr-TN"/>
          </a:p>
        </p:txBody>
      </p:sp>
      <p:sp>
        <p:nvSpPr>
          <p:cNvPr id="12" name="Text 8"/>
          <p:cNvSpPr/>
          <p:nvPr/>
        </p:nvSpPr>
        <p:spPr>
          <a:xfrm>
            <a:off x="5940847" y="1246808"/>
            <a:ext cx="1431801" cy="126355"/>
          </a:xfrm>
          <a:prstGeom prst="rect">
            <a:avLst/>
          </a:prstGeom>
          <a:noFill/>
          <a:ln/>
        </p:spPr>
        <p:txBody>
          <a:bodyPr wrap="none" lIns="0" tIns="0" rIns="0" bIns="0" rtlCol="0" anchor="t"/>
          <a:lstStyle/>
          <a:p>
            <a:pPr marL="0" indent="0" algn="l">
              <a:lnSpc>
                <a:spcPct val="116000"/>
              </a:lnSpc>
              <a:buNone/>
            </a:pPr>
            <a:r>
              <a:rPr lang="en-US" sz="700" b="1" dirty="0">
                <a:solidFill>
                  <a:srgbClr val="FFFFFF"/>
                </a:solidFill>
                <a:latin typeface="Nobile" pitchFamily="34" charset="0"/>
                <a:ea typeface="Nobile" pitchFamily="34" charset="-122"/>
                <a:cs typeface="Nobile" pitchFamily="34" charset="-120"/>
              </a:rPr>
              <a:t>FPS Range</a:t>
            </a:r>
            <a:endParaRPr lang="en-US" sz="700" dirty="0"/>
          </a:p>
        </p:txBody>
      </p:sp>
      <p:sp>
        <p:nvSpPr>
          <p:cNvPr id="13" name="Shape 9"/>
          <p:cNvSpPr/>
          <p:nvPr/>
        </p:nvSpPr>
        <p:spPr>
          <a:xfrm>
            <a:off x="7006530" y="1201936"/>
            <a:ext cx="1156767" cy="218480"/>
          </a:xfrm>
          <a:prstGeom prst="rect">
            <a:avLst/>
          </a:prstGeom>
          <a:solidFill>
            <a:srgbClr val="4967E9"/>
          </a:solidFill>
          <a:ln/>
        </p:spPr>
        <p:txBody>
          <a:bodyPr/>
          <a:lstStyle/>
          <a:p>
            <a:endParaRPr lang="fr-TN"/>
          </a:p>
        </p:txBody>
      </p:sp>
      <p:sp>
        <p:nvSpPr>
          <p:cNvPr id="14" name="Text 10"/>
          <p:cNvSpPr/>
          <p:nvPr/>
        </p:nvSpPr>
        <p:spPr>
          <a:xfrm>
            <a:off x="7097613" y="1246808"/>
            <a:ext cx="1431801" cy="126355"/>
          </a:xfrm>
          <a:prstGeom prst="rect">
            <a:avLst/>
          </a:prstGeom>
          <a:noFill/>
          <a:ln/>
        </p:spPr>
        <p:txBody>
          <a:bodyPr wrap="none" lIns="0" tIns="0" rIns="0" bIns="0" rtlCol="0" anchor="t"/>
          <a:lstStyle/>
          <a:p>
            <a:pPr marL="0" indent="0" algn="l">
              <a:lnSpc>
                <a:spcPct val="116000"/>
              </a:lnSpc>
              <a:buNone/>
            </a:pPr>
            <a:r>
              <a:rPr lang="en-US" sz="700" b="1" dirty="0">
                <a:solidFill>
                  <a:srgbClr val="FFFFFF"/>
                </a:solidFill>
                <a:latin typeface="Nobile" pitchFamily="34" charset="0"/>
                <a:ea typeface="Nobile" pitchFamily="34" charset="-122"/>
                <a:cs typeface="Nobile" pitchFamily="34" charset="-120"/>
              </a:rPr>
              <a:t>Drop Rate</a:t>
            </a:r>
            <a:endParaRPr lang="en-US" sz="700" dirty="0"/>
          </a:p>
        </p:txBody>
      </p:sp>
      <p:sp>
        <p:nvSpPr>
          <p:cNvPr id="15" name="Text 11"/>
          <p:cNvSpPr/>
          <p:nvPr/>
        </p:nvSpPr>
        <p:spPr>
          <a:xfrm>
            <a:off x="4784080" y="1467669"/>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High-Fluidity</a:t>
            </a:r>
            <a:endParaRPr lang="en-US" sz="700" dirty="0"/>
          </a:p>
        </p:txBody>
      </p:sp>
      <p:sp>
        <p:nvSpPr>
          <p:cNvPr id="16" name="Text 12"/>
          <p:cNvSpPr/>
          <p:nvPr/>
        </p:nvSpPr>
        <p:spPr>
          <a:xfrm>
            <a:off x="5940847" y="1467669"/>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 55 fps</a:t>
            </a:r>
            <a:endParaRPr lang="en-US" sz="700" dirty="0"/>
          </a:p>
        </p:txBody>
      </p:sp>
      <p:sp>
        <p:nvSpPr>
          <p:cNvPr id="17" name="Text 13"/>
          <p:cNvSpPr/>
          <p:nvPr/>
        </p:nvSpPr>
        <p:spPr>
          <a:xfrm>
            <a:off x="7097613" y="1467669"/>
            <a:ext cx="974601" cy="252710"/>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0% — all events rendered</a:t>
            </a:r>
            <a:endParaRPr lang="en-US" sz="700" dirty="0"/>
          </a:p>
        </p:txBody>
      </p:sp>
      <p:sp>
        <p:nvSpPr>
          <p:cNvPr id="18" name="Text 14"/>
          <p:cNvSpPr/>
          <p:nvPr/>
        </p:nvSpPr>
        <p:spPr>
          <a:xfrm>
            <a:off x="4784080" y="1814885"/>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Medium-Load</a:t>
            </a:r>
            <a:endParaRPr lang="en-US" sz="700" dirty="0"/>
          </a:p>
        </p:txBody>
      </p:sp>
      <p:sp>
        <p:nvSpPr>
          <p:cNvPr id="19" name="Text 15"/>
          <p:cNvSpPr/>
          <p:nvPr/>
        </p:nvSpPr>
        <p:spPr>
          <a:xfrm>
            <a:off x="5940847" y="1814885"/>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30–55 fps</a:t>
            </a:r>
            <a:endParaRPr lang="en-US" sz="700" dirty="0"/>
          </a:p>
        </p:txBody>
      </p:sp>
      <p:sp>
        <p:nvSpPr>
          <p:cNvPr id="20" name="Text 16"/>
          <p:cNvSpPr/>
          <p:nvPr/>
        </p:nvSpPr>
        <p:spPr>
          <a:xfrm>
            <a:off x="7097613" y="1814885"/>
            <a:ext cx="974601" cy="252710"/>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50% visual events dropped</a:t>
            </a:r>
            <a:endParaRPr lang="en-US" sz="700" dirty="0"/>
          </a:p>
        </p:txBody>
      </p:sp>
      <p:sp>
        <p:nvSpPr>
          <p:cNvPr id="21" name="Text 17"/>
          <p:cNvSpPr/>
          <p:nvPr/>
        </p:nvSpPr>
        <p:spPr>
          <a:xfrm>
            <a:off x="4784080" y="2162101"/>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Stress-Mitigation</a:t>
            </a:r>
            <a:endParaRPr lang="en-US" sz="700" dirty="0"/>
          </a:p>
        </p:txBody>
      </p:sp>
      <p:sp>
        <p:nvSpPr>
          <p:cNvPr id="22" name="Text 18"/>
          <p:cNvSpPr/>
          <p:nvPr/>
        </p:nvSpPr>
        <p:spPr>
          <a:xfrm>
            <a:off x="5940847" y="2162101"/>
            <a:ext cx="1431801" cy="126355"/>
          </a:xfrm>
          <a:prstGeom prst="rect">
            <a:avLst/>
          </a:prstGeom>
          <a:noFill/>
          <a:ln/>
        </p:spPr>
        <p:txBody>
          <a:bodyPr wrap="none" lIns="0" tIns="0" rIns="0" bIns="0" rtlCol="0" anchor="t"/>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 30 fps</a:t>
            </a:r>
            <a:endParaRPr lang="en-US" sz="700" dirty="0"/>
          </a:p>
        </p:txBody>
      </p:sp>
      <p:sp>
        <p:nvSpPr>
          <p:cNvPr id="23" name="Text 19"/>
          <p:cNvSpPr/>
          <p:nvPr/>
        </p:nvSpPr>
        <p:spPr>
          <a:xfrm>
            <a:off x="7097613" y="2162101"/>
            <a:ext cx="974601" cy="252710"/>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404155"/>
                </a:solidFill>
                <a:latin typeface="Nobile" pitchFamily="34" charset="0"/>
                <a:ea typeface="Nobile" pitchFamily="34" charset="-122"/>
                <a:cs typeface="Nobile" pitchFamily="34" charset="-120"/>
              </a:rPr>
              <a:t>75% visual events dropped</a:t>
            </a:r>
            <a:endParaRPr lang="en-US" sz="700" dirty="0"/>
          </a:p>
        </p:txBody>
      </p:sp>
      <p:sp>
        <p:nvSpPr>
          <p:cNvPr id="24" name="Shape 20"/>
          <p:cNvSpPr/>
          <p:nvPr/>
        </p:nvSpPr>
        <p:spPr>
          <a:xfrm>
            <a:off x="4687788" y="2539678"/>
            <a:ext cx="3480643" cy="428179"/>
          </a:xfrm>
          <a:prstGeom prst="roundRect">
            <a:avLst>
              <a:gd name="adj" fmla="val 8936"/>
            </a:avLst>
          </a:prstGeom>
          <a:solidFill>
            <a:srgbClr val="B6FCB8"/>
          </a:solidFill>
          <a:ln/>
        </p:spPr>
        <p:txBody>
          <a:bodyPr/>
          <a:lstStyle/>
          <a:p>
            <a:endParaRPr lang="fr-TN"/>
          </a:p>
        </p:txBody>
      </p:sp>
      <p:pic>
        <p:nvPicPr>
          <p:cNvPr id="25" name="Image 2" descr="preencoded.png"/>
          <p:cNvPicPr>
            <a:picLocks noChangeAspect="1"/>
          </p:cNvPicPr>
          <p:nvPr/>
        </p:nvPicPr>
        <p:blipFill>
          <a:blip r:embed="rId5"/>
          <a:stretch>
            <a:fillRect/>
          </a:stretch>
        </p:blipFill>
        <p:spPr>
          <a:xfrm>
            <a:off x="4778871" y="2659559"/>
            <a:ext cx="113854" cy="91083"/>
          </a:xfrm>
          <a:prstGeom prst="rect">
            <a:avLst/>
          </a:prstGeom>
        </p:spPr>
      </p:pic>
      <p:sp>
        <p:nvSpPr>
          <p:cNvPr id="26" name="Text 21"/>
          <p:cNvSpPr/>
          <p:nvPr/>
        </p:nvSpPr>
        <p:spPr>
          <a:xfrm>
            <a:off x="4983807" y="2622649"/>
            <a:ext cx="3093541" cy="262235"/>
          </a:xfrm>
          <a:prstGeom prst="rect">
            <a:avLst/>
          </a:prstGeom>
          <a:noFill/>
          <a:ln/>
        </p:spPr>
        <p:txBody>
          <a:bodyPr wrap="square" lIns="0" tIns="0" rIns="0" bIns="0" rtlCol="0" anchor="t">
            <a:normAutofit/>
          </a:bodyPr>
          <a:lstStyle/>
          <a:p>
            <a:pPr marL="0" indent="0" algn="l">
              <a:lnSpc>
                <a:spcPct val="116000"/>
              </a:lnSpc>
              <a:buNone/>
            </a:pPr>
            <a:r>
              <a:rPr lang="en-US" sz="700" dirty="0">
                <a:solidFill>
                  <a:srgbClr val="000000"/>
                </a:solidFill>
                <a:latin typeface="Nobile" pitchFamily="34" charset="0"/>
                <a:ea typeface="Nobile" pitchFamily="34" charset="-122"/>
                <a:cs typeface="Nobile" pitchFamily="34" charset="-120"/>
              </a:rPr>
              <a:t>RingBuffer </a:t>
            </a:r>
            <a:r>
              <a:rPr lang="en-US" sz="700" dirty="0">
                <a:solidFill>
                  <a:srgbClr val="000000"/>
                </a:solidFill>
                <a:highlight>
                  <a:srgbClr val="ECECF2"/>
                </a:highlight>
                <a:latin typeface="Consolas" pitchFamily="34" charset="0"/>
                <a:ea typeface="Consolas" pitchFamily="34" charset="-122"/>
                <a:cs typeface="Consolas" pitchFamily="34" charset="-120"/>
              </a:rPr>
              <a:t>push()</a:t>
            </a:r>
            <a:r>
              <a:rPr lang="en-US" sz="700" dirty="0">
                <a:solidFill>
                  <a:srgbClr val="000000"/>
                </a:solidFill>
                <a:latin typeface="Nobile" pitchFamily="34" charset="0"/>
                <a:ea typeface="Nobile" pitchFamily="34" charset="-122"/>
                <a:cs typeface="Nobile" pitchFamily="34" charset="-120"/>
              </a:rPr>
              <a:t> operates in </a:t>
            </a:r>
            <a:r>
              <a:rPr lang="en-US" sz="700" b="1" dirty="0">
                <a:solidFill>
                  <a:srgbClr val="000000"/>
                </a:solidFill>
                <a:latin typeface="Nobile" pitchFamily="34" charset="0"/>
                <a:ea typeface="Nobile" pitchFamily="34" charset="-122"/>
                <a:cs typeface="Nobile" pitchFamily="34" charset="-120"/>
              </a:rPr>
              <a:t>O(1)</a:t>
            </a:r>
            <a:r>
              <a:rPr lang="en-US" sz="700" dirty="0">
                <a:solidFill>
                  <a:srgbClr val="000000"/>
                </a:solidFill>
                <a:latin typeface="Nobile" pitchFamily="34" charset="0"/>
                <a:ea typeface="Nobile" pitchFamily="34" charset="-122"/>
                <a:cs typeface="Nobile" pitchFamily="34" charset="-120"/>
              </a:rPr>
              <a:t> constant time — zero GC pressure regardless of event volume.</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6119" y="1204094"/>
            <a:ext cx="5132859"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Application Interfaces Overview</a:t>
            </a:r>
            <a:endParaRPr lang="en-US" sz="2400" dirty="0"/>
          </a:p>
        </p:txBody>
      </p:sp>
      <p:pic>
        <p:nvPicPr>
          <p:cNvPr id="3" name="Image 0" descr="preencoded.png"/>
          <p:cNvPicPr>
            <a:picLocks noChangeAspect="1"/>
          </p:cNvPicPr>
          <p:nvPr/>
        </p:nvPicPr>
        <p:blipFill>
          <a:blip r:embed="rId3"/>
          <a:stretch>
            <a:fillRect/>
          </a:stretch>
        </p:blipFill>
        <p:spPr>
          <a:xfrm>
            <a:off x="496119" y="1839664"/>
            <a:ext cx="1114499" cy="688777"/>
          </a:xfrm>
          <a:prstGeom prst="rect">
            <a:avLst/>
          </a:prstGeom>
        </p:spPr>
      </p:pic>
      <p:sp>
        <p:nvSpPr>
          <p:cNvPr id="4" name="Text 1"/>
          <p:cNvSpPr/>
          <p:nvPr/>
        </p:nvSpPr>
        <p:spPr>
          <a:xfrm>
            <a:off x="496119" y="268344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3D Live Threat Map</a:t>
            </a:r>
            <a:endParaRPr lang="en-US" sz="1200" dirty="0"/>
          </a:p>
        </p:txBody>
      </p:sp>
      <p:sp>
        <p:nvSpPr>
          <p:cNvPr id="5" name="Text 2"/>
          <p:cNvSpPr/>
          <p:nvPr/>
        </p:nvSpPr>
        <p:spPr>
          <a:xfrm>
            <a:off x="496119" y="2951708"/>
            <a:ext cx="1921669"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Interactive WebGL Earth with glowing bezier arcs, pulsating markers, and real-time SSE threat feeds.</a:t>
            </a:r>
            <a:endParaRPr lang="en-US" sz="950" dirty="0"/>
          </a:p>
        </p:txBody>
      </p:sp>
      <p:pic>
        <p:nvPicPr>
          <p:cNvPr id="6" name="Image 1" descr="preencoded.png"/>
          <p:cNvPicPr>
            <a:picLocks noChangeAspect="1"/>
          </p:cNvPicPr>
          <p:nvPr/>
        </p:nvPicPr>
        <p:blipFill>
          <a:blip r:embed="rId4"/>
          <a:stretch>
            <a:fillRect/>
          </a:stretch>
        </p:blipFill>
        <p:spPr>
          <a:xfrm>
            <a:off x="2572792" y="1839664"/>
            <a:ext cx="1114499" cy="688777"/>
          </a:xfrm>
          <a:prstGeom prst="rect">
            <a:avLst/>
          </a:prstGeom>
        </p:spPr>
      </p:pic>
      <p:sp>
        <p:nvSpPr>
          <p:cNvPr id="7" name="Text 3"/>
          <p:cNvSpPr/>
          <p:nvPr/>
        </p:nvSpPr>
        <p:spPr>
          <a:xfrm>
            <a:off x="2572792" y="2683446"/>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System Dashboard</a:t>
            </a:r>
            <a:endParaRPr lang="en-US" sz="1200" dirty="0"/>
          </a:p>
        </p:txBody>
      </p:sp>
      <p:sp>
        <p:nvSpPr>
          <p:cNvPr id="8" name="Text 4"/>
          <p:cNvSpPr/>
          <p:nvPr/>
        </p:nvSpPr>
        <p:spPr>
          <a:xfrm>
            <a:off x="2572792" y="2951708"/>
            <a:ext cx="1921669"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Tactical command center with real-time metrics, sparklines, 2D flat map, and drill-down country stats.</a:t>
            </a:r>
            <a:endParaRPr lang="en-US" sz="950" dirty="0"/>
          </a:p>
        </p:txBody>
      </p:sp>
      <p:pic>
        <p:nvPicPr>
          <p:cNvPr id="9" name="Image 2" descr="preencoded.png"/>
          <p:cNvPicPr>
            <a:picLocks noChangeAspect="1"/>
          </p:cNvPicPr>
          <p:nvPr/>
        </p:nvPicPr>
        <p:blipFill>
          <a:blip r:embed="rId5"/>
          <a:stretch>
            <a:fillRect/>
          </a:stretch>
        </p:blipFill>
        <p:spPr>
          <a:xfrm>
            <a:off x="4649465" y="1839664"/>
            <a:ext cx="1114499" cy="688777"/>
          </a:xfrm>
          <a:prstGeom prst="rect">
            <a:avLst/>
          </a:prstGeom>
        </p:spPr>
      </p:pic>
      <p:sp>
        <p:nvSpPr>
          <p:cNvPr id="10" name="Text 5"/>
          <p:cNvSpPr/>
          <p:nvPr/>
        </p:nvSpPr>
        <p:spPr>
          <a:xfrm>
            <a:off x="4649465" y="2683446"/>
            <a:ext cx="1921669"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STIX Intelligence Workspace</a:t>
            </a:r>
            <a:endParaRPr lang="en-US" sz="1200" dirty="0"/>
          </a:p>
        </p:txBody>
      </p:sp>
      <p:sp>
        <p:nvSpPr>
          <p:cNvPr id="11" name="Text 6"/>
          <p:cNvSpPr/>
          <p:nvPr/>
        </p:nvSpPr>
        <p:spPr>
          <a:xfrm>
            <a:off x="4649465" y="3145557"/>
            <a:ext cx="1921669"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Upload STIX 2.1 bundles, explore D3 force graphs, and map adversary TTPs to the MITRE ATT&amp;CK matrix.</a:t>
            </a:r>
            <a:endParaRPr lang="en-US" sz="950" dirty="0"/>
          </a:p>
        </p:txBody>
      </p:sp>
      <p:pic>
        <p:nvPicPr>
          <p:cNvPr id="12" name="Image 3" descr="preencoded.png"/>
          <p:cNvPicPr>
            <a:picLocks noChangeAspect="1"/>
          </p:cNvPicPr>
          <p:nvPr/>
        </p:nvPicPr>
        <p:blipFill>
          <a:blip r:embed="rId6"/>
          <a:stretch>
            <a:fillRect/>
          </a:stretch>
        </p:blipFill>
        <p:spPr>
          <a:xfrm>
            <a:off x="6726138" y="1839664"/>
            <a:ext cx="1114574" cy="688851"/>
          </a:xfrm>
          <a:prstGeom prst="rect">
            <a:avLst/>
          </a:prstGeom>
        </p:spPr>
      </p:pic>
      <p:sp>
        <p:nvSpPr>
          <p:cNvPr id="13" name="Text 7"/>
          <p:cNvSpPr/>
          <p:nvPr/>
        </p:nvSpPr>
        <p:spPr>
          <a:xfrm>
            <a:off x="6726138" y="2683520"/>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Analytics Dashboard</a:t>
            </a:r>
            <a:endParaRPr lang="en-US" sz="1200" dirty="0"/>
          </a:p>
        </p:txBody>
      </p:sp>
      <p:sp>
        <p:nvSpPr>
          <p:cNvPr id="14" name="Text 8"/>
          <p:cNvSpPr/>
          <p:nvPr/>
        </p:nvSpPr>
        <p:spPr>
          <a:xfrm>
            <a:off x="6726138" y="2951783"/>
            <a:ext cx="1921743"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Aggregate threat metrics, sector distributions, MISP Galaxy threat actor profiles, and trend charts.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74489" y="381223"/>
            <a:ext cx="5609332" cy="308893"/>
          </a:xfrm>
          <a:prstGeom prst="rect">
            <a:avLst/>
          </a:prstGeom>
          <a:noFill/>
          <a:ln/>
        </p:spPr>
        <p:txBody>
          <a:bodyPr wrap="none" lIns="0" tIns="0" rIns="0" bIns="0" rtlCol="0" anchor="t"/>
          <a:lstStyle/>
          <a:p>
            <a:pPr marL="0" indent="0" algn="l">
              <a:lnSpc>
                <a:spcPct val="104000"/>
              </a:lnSpc>
              <a:buNone/>
            </a:pPr>
            <a:r>
              <a:rPr lang="en-US" sz="1900" dirty="0">
                <a:solidFill>
                  <a:srgbClr val="1B1B27"/>
                </a:solidFill>
                <a:latin typeface="Corben" pitchFamily="34" charset="0"/>
                <a:ea typeface="Corben" pitchFamily="34" charset="-122"/>
                <a:cs typeface="Corben" pitchFamily="34" charset="-120"/>
              </a:rPr>
              <a:t>Project Retrospective &amp; Technical Challenges</a:t>
            </a:r>
            <a:endParaRPr lang="en-US" sz="1900" dirty="0"/>
          </a:p>
        </p:txBody>
      </p:sp>
      <p:sp>
        <p:nvSpPr>
          <p:cNvPr id="3" name="Text 1"/>
          <p:cNvSpPr/>
          <p:nvPr/>
        </p:nvSpPr>
        <p:spPr>
          <a:xfrm>
            <a:off x="674489" y="886941"/>
            <a:ext cx="1692771" cy="154409"/>
          </a:xfrm>
          <a:prstGeom prst="rect">
            <a:avLst/>
          </a:prstGeom>
          <a:noFill/>
          <a:ln/>
        </p:spPr>
        <p:txBody>
          <a:bodyPr wrap="none" lIns="0" tIns="0" rIns="0" bIns="0" rtlCol="0" anchor="t"/>
          <a:lstStyle/>
          <a:p>
            <a:pPr marL="0" indent="0" algn="l">
              <a:lnSpc>
                <a:spcPct val="104000"/>
              </a:lnSpc>
              <a:buNone/>
            </a:pPr>
            <a:r>
              <a:rPr lang="en-US" sz="950" dirty="0">
                <a:solidFill>
                  <a:srgbClr val="1B1B27"/>
                </a:solidFill>
                <a:latin typeface="Corben" pitchFamily="34" charset="0"/>
                <a:ea typeface="Corben" pitchFamily="34" charset="-122"/>
                <a:cs typeface="Corben" pitchFamily="34" charset="-120"/>
              </a:rPr>
              <a:t>Scrum Velocity</a:t>
            </a:r>
            <a:endParaRPr lang="en-US" sz="950" dirty="0"/>
          </a:p>
        </p:txBody>
      </p:sp>
      <p:sp>
        <p:nvSpPr>
          <p:cNvPr id="4" name="Text 2"/>
          <p:cNvSpPr/>
          <p:nvPr/>
        </p:nvSpPr>
        <p:spPr>
          <a:xfrm>
            <a:off x="674489" y="1120080"/>
            <a:ext cx="3776886" cy="426169"/>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404155"/>
                </a:solidFill>
                <a:latin typeface="Nobile" pitchFamily="34" charset="0"/>
                <a:ea typeface="Nobile" pitchFamily="34" charset="-122"/>
                <a:cs typeface="Nobile" pitchFamily="34" charset="-120"/>
              </a:rPr>
              <a:t>The team maintained a stable velocity of </a:t>
            </a:r>
            <a:r>
              <a:rPr lang="en-US" sz="750" b="1" dirty="0">
                <a:solidFill>
                  <a:srgbClr val="404155"/>
                </a:solidFill>
                <a:latin typeface="Nobile" pitchFamily="34" charset="0"/>
                <a:ea typeface="Nobile" pitchFamily="34" charset="-122"/>
                <a:cs typeface="Nobile" pitchFamily="34" charset="-120"/>
              </a:rPr>
              <a:t>25–30 story points per sprint</a:t>
            </a:r>
            <a:r>
              <a:rPr lang="en-US" sz="750" dirty="0">
                <a:solidFill>
                  <a:srgbClr val="404155"/>
                </a:solidFill>
                <a:latin typeface="Nobile" pitchFamily="34" charset="0"/>
                <a:ea typeface="Nobile" pitchFamily="34" charset="-122"/>
                <a:cs typeface="Nobile" pitchFamily="34" charset="-120"/>
              </a:rPr>
              <a:t>, delivering all committed features on schedule. Each Sprint Review concluded with a fully demonstrable software increment.</a:t>
            </a:r>
            <a:endParaRPr lang="en-US" sz="750" dirty="0"/>
          </a:p>
        </p:txBody>
      </p:sp>
      <p:sp>
        <p:nvSpPr>
          <p:cNvPr id="5" name="Text 3"/>
          <p:cNvSpPr/>
          <p:nvPr/>
        </p:nvSpPr>
        <p:spPr>
          <a:xfrm>
            <a:off x="674489" y="1624980"/>
            <a:ext cx="2452539" cy="154409"/>
          </a:xfrm>
          <a:prstGeom prst="rect">
            <a:avLst/>
          </a:prstGeom>
          <a:noFill/>
          <a:ln/>
        </p:spPr>
        <p:txBody>
          <a:bodyPr wrap="none" lIns="0" tIns="0" rIns="0" bIns="0" rtlCol="0" anchor="t"/>
          <a:lstStyle/>
          <a:p>
            <a:pPr marL="0" indent="0" algn="l">
              <a:lnSpc>
                <a:spcPct val="104000"/>
              </a:lnSpc>
              <a:buNone/>
            </a:pPr>
            <a:r>
              <a:rPr lang="en-US" sz="950" dirty="0">
                <a:solidFill>
                  <a:srgbClr val="1B1B27"/>
                </a:solidFill>
                <a:latin typeface="Corben" pitchFamily="34" charset="0"/>
                <a:ea typeface="Corben" pitchFamily="34" charset="-122"/>
                <a:cs typeface="Corben" pitchFamily="34" charset="-120"/>
              </a:rPr>
              <a:t>Three Critical Challenges Resolved</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1867942"/>
            <a:ext cx="3791173" cy="743471"/>
          </a:xfrm>
          <a:prstGeom prst="rect">
            <a:avLst/>
          </a:prstGeom>
        </p:spPr>
      </p:pic>
      <p:sp>
        <p:nvSpPr>
          <p:cNvPr id="7" name="Text 4"/>
          <p:cNvSpPr/>
          <p:nvPr/>
        </p:nvSpPr>
        <p:spPr>
          <a:xfrm>
            <a:off x="830461" y="1981051"/>
            <a:ext cx="1235571" cy="154409"/>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Visual Interface Lag</a:t>
            </a:r>
            <a:endParaRPr lang="en-US" sz="950" dirty="0"/>
          </a:p>
        </p:txBody>
      </p:sp>
      <p:sp>
        <p:nvSpPr>
          <p:cNvPr id="8" name="Text 5"/>
          <p:cNvSpPr/>
          <p:nvPr/>
        </p:nvSpPr>
        <p:spPr>
          <a:xfrm>
            <a:off x="830461" y="2214190"/>
            <a:ext cx="3507804"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404155"/>
                </a:solidFill>
                <a:latin typeface="Nobile" pitchFamily="34" charset="0"/>
                <a:ea typeface="Nobile" pitchFamily="34" charset="-122"/>
                <a:cs typeface="Nobile" pitchFamily="34" charset="-120"/>
              </a:rPr>
              <a:t>Resolved via 300ms event grouping queue, 150-arc cap, and adaptive FPS sampling — restoring smooth 60fps performance.</a:t>
            </a:r>
            <a:endParaRPr lang="en-US" sz="7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2690143"/>
            <a:ext cx="3791173" cy="743471"/>
          </a:xfrm>
          <a:prstGeom prst="rect">
            <a:avLst/>
          </a:prstGeom>
        </p:spPr>
      </p:pic>
      <p:sp>
        <p:nvSpPr>
          <p:cNvPr id="10" name="Text 6"/>
          <p:cNvSpPr/>
          <p:nvPr/>
        </p:nvSpPr>
        <p:spPr>
          <a:xfrm>
            <a:off x="830461" y="2803252"/>
            <a:ext cx="1420118" cy="154409"/>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Database Storage Limits</a:t>
            </a:r>
            <a:endParaRPr lang="en-US" sz="950" dirty="0"/>
          </a:p>
        </p:txBody>
      </p:sp>
      <p:sp>
        <p:nvSpPr>
          <p:cNvPr id="11" name="Text 7"/>
          <p:cNvSpPr/>
          <p:nvPr/>
        </p:nvSpPr>
        <p:spPr>
          <a:xfrm>
            <a:off x="830461" y="3036391"/>
            <a:ext cx="3507804"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404155"/>
                </a:solidFill>
                <a:latin typeface="Nobile" pitchFamily="34" charset="0"/>
                <a:ea typeface="Nobile" pitchFamily="34" charset="-122"/>
                <a:cs typeface="Nobile" pitchFamily="34" charset="-120"/>
              </a:rPr>
              <a:t>Compact BSON field names reduced storage size by </a:t>
            </a:r>
            <a:r>
              <a:rPr lang="en-US" sz="750" b="1" dirty="0">
                <a:solidFill>
                  <a:srgbClr val="404155"/>
                </a:solidFill>
                <a:latin typeface="Nobile" pitchFamily="34" charset="0"/>
                <a:ea typeface="Nobile" pitchFamily="34" charset="-122"/>
                <a:cs typeface="Nobile" pitchFamily="34" charset="-120"/>
              </a:rPr>
              <a:t>50%</a:t>
            </a:r>
            <a:r>
              <a:rPr lang="en-US" sz="750" dirty="0">
                <a:solidFill>
                  <a:srgbClr val="404155"/>
                </a:solidFill>
                <a:latin typeface="Nobile" pitchFamily="34" charset="0"/>
                <a:ea typeface="Nobile" pitchFamily="34" charset="-122"/>
                <a:cs typeface="Nobile" pitchFamily="34" charset="-120"/>
              </a:rPr>
              <a:t>. TTL indexes auto-prune records after 30 days.</a:t>
            </a:r>
            <a:endParaRPr lang="en-US" sz="7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0202" y="3512344"/>
            <a:ext cx="3791173" cy="743471"/>
          </a:xfrm>
          <a:prstGeom prst="rect">
            <a:avLst/>
          </a:prstGeom>
        </p:spPr>
      </p:pic>
      <p:sp>
        <p:nvSpPr>
          <p:cNvPr id="13" name="Text 8"/>
          <p:cNvSpPr/>
          <p:nvPr/>
        </p:nvSpPr>
        <p:spPr>
          <a:xfrm>
            <a:off x="830461" y="3625453"/>
            <a:ext cx="1524372" cy="154409"/>
          </a:xfrm>
          <a:prstGeom prst="rect">
            <a:avLst/>
          </a:prstGeom>
          <a:noFill/>
          <a:ln/>
        </p:spPr>
        <p:txBody>
          <a:bodyPr wrap="none" lIns="0" tIns="0" rIns="0" bIns="0" rtlCol="0" anchor="t"/>
          <a:lstStyle/>
          <a:p>
            <a:pPr marL="0" indent="0" algn="l">
              <a:lnSpc>
                <a:spcPct val="104000"/>
              </a:lnSpc>
              <a:buNone/>
            </a:pPr>
            <a:r>
              <a:rPr lang="en-US" sz="950" dirty="0">
                <a:solidFill>
                  <a:srgbClr val="404155"/>
                </a:solidFill>
                <a:latin typeface="Corben" pitchFamily="34" charset="0"/>
                <a:ea typeface="Corben" pitchFamily="34" charset="-122"/>
                <a:cs typeface="Corben" pitchFamily="34" charset="-120"/>
              </a:rPr>
              <a:t>CORS Deployment Blocks</a:t>
            </a:r>
            <a:endParaRPr lang="en-US" sz="950" dirty="0"/>
          </a:p>
        </p:txBody>
      </p:sp>
      <p:sp>
        <p:nvSpPr>
          <p:cNvPr id="14" name="Text 9"/>
          <p:cNvSpPr/>
          <p:nvPr/>
        </p:nvSpPr>
        <p:spPr>
          <a:xfrm>
            <a:off x="830461" y="3858592"/>
            <a:ext cx="3507804" cy="284113"/>
          </a:xfrm>
          <a:prstGeom prst="rect">
            <a:avLst/>
          </a:prstGeom>
          <a:noFill/>
          <a:ln/>
        </p:spPr>
        <p:txBody>
          <a:bodyPr wrap="square" lIns="0" tIns="0" rIns="0" bIns="0" rtlCol="0" anchor="t">
            <a:normAutofit/>
          </a:bodyPr>
          <a:lstStyle/>
          <a:p>
            <a:pPr marL="0" indent="0" algn="l">
              <a:lnSpc>
                <a:spcPct val="120000"/>
              </a:lnSpc>
              <a:buNone/>
            </a:pPr>
            <a:r>
              <a:rPr lang="en-US" sz="750" dirty="0">
                <a:solidFill>
                  <a:srgbClr val="404155"/>
                </a:solidFill>
                <a:latin typeface="Nobile" pitchFamily="34" charset="0"/>
                <a:ea typeface="Nobile" pitchFamily="34" charset="-122"/>
                <a:cs typeface="Nobile" pitchFamily="34" charset="-120"/>
              </a:rPr>
              <a:t>Vercel reverse-proxy routing rules direct frontend requests through internal paths, eliminating cross-origin failures.</a:t>
            </a:r>
            <a:endParaRPr lang="en-US" sz="750" dirty="0"/>
          </a:p>
        </p:txBody>
      </p:sp>
      <p:pic>
        <p:nvPicPr>
          <p:cNvPr id="15" name="Image 3" descr="preencoded.png"/>
          <p:cNvPicPr>
            <a:picLocks noChangeAspect="1"/>
          </p:cNvPicPr>
          <p:nvPr/>
        </p:nvPicPr>
        <p:blipFill>
          <a:blip r:embed="rId4"/>
          <a:stretch>
            <a:fillRect/>
          </a:stretch>
        </p:blipFill>
        <p:spPr>
          <a:xfrm>
            <a:off x="4697239" y="896764"/>
            <a:ext cx="3776886" cy="377688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1115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Future Perspectives &amp; Scalability Roadmap</a:t>
            </a:r>
            <a:endParaRPr lang="en-US" sz="2400" dirty="0"/>
          </a:p>
        </p:txBody>
      </p:sp>
      <p:sp>
        <p:nvSpPr>
          <p:cNvPr id="4" name="Shape 1"/>
          <p:cNvSpPr/>
          <p:nvPr/>
        </p:nvSpPr>
        <p:spPr>
          <a:xfrm>
            <a:off x="3925119" y="1472282"/>
            <a:ext cx="2299395" cy="1914971"/>
          </a:xfrm>
          <a:prstGeom prst="roundRect">
            <a:avLst>
              <a:gd name="adj" fmla="val 2721"/>
            </a:avLst>
          </a:prstGeom>
          <a:solidFill>
            <a:srgbClr val="D2D9F9"/>
          </a:solidFill>
          <a:ln w="4763">
            <a:solidFill>
              <a:srgbClr val="B8BFDF"/>
            </a:solidFill>
            <a:prstDash val="solid"/>
          </a:ln>
        </p:spPr>
        <p:txBody>
          <a:bodyPr/>
          <a:lstStyle/>
          <a:p>
            <a:endParaRPr lang="fr-TN"/>
          </a:p>
        </p:txBody>
      </p:sp>
      <p:sp>
        <p:nvSpPr>
          <p:cNvPr id="5" name="Text 2"/>
          <p:cNvSpPr/>
          <p:nvPr/>
        </p:nvSpPr>
        <p:spPr>
          <a:xfrm>
            <a:off x="4053855" y="1601019"/>
            <a:ext cx="2034257"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Kafka Distributed Ingestion</a:t>
            </a:r>
            <a:endParaRPr lang="en-US" sz="1200" dirty="0"/>
          </a:p>
        </p:txBody>
      </p:sp>
      <p:sp>
        <p:nvSpPr>
          <p:cNvPr id="6" name="Text 3"/>
          <p:cNvSpPr/>
          <p:nvPr/>
        </p:nvSpPr>
        <p:spPr>
          <a:xfrm>
            <a:off x="4053855" y="1869281"/>
            <a:ext cx="2041922"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Replace direct scraper-to-server writes with Apache Kafka message queues. Scrapers publish to durable topics; the server consumes and streams — ensuring fault-tolerant ingestion under massive threat volumes.</a:t>
            </a:r>
            <a:endParaRPr lang="en-US" sz="950" dirty="0"/>
          </a:p>
        </p:txBody>
      </p:sp>
      <p:sp>
        <p:nvSpPr>
          <p:cNvPr id="7" name="Shape 4"/>
          <p:cNvSpPr/>
          <p:nvPr/>
        </p:nvSpPr>
        <p:spPr>
          <a:xfrm>
            <a:off x="6348487" y="1472282"/>
            <a:ext cx="2299395" cy="1914971"/>
          </a:xfrm>
          <a:prstGeom prst="roundRect">
            <a:avLst>
              <a:gd name="adj" fmla="val 2721"/>
            </a:avLst>
          </a:prstGeom>
          <a:solidFill>
            <a:srgbClr val="D2D9F9"/>
          </a:solidFill>
          <a:ln w="4763">
            <a:solidFill>
              <a:srgbClr val="B8BFDF"/>
            </a:solidFill>
            <a:prstDash val="solid"/>
          </a:ln>
        </p:spPr>
        <p:txBody>
          <a:bodyPr/>
          <a:lstStyle/>
          <a:p>
            <a:endParaRPr lang="fr-TN"/>
          </a:p>
        </p:txBody>
      </p:sp>
      <p:sp>
        <p:nvSpPr>
          <p:cNvPr id="8" name="Text 5"/>
          <p:cNvSpPr/>
          <p:nvPr/>
        </p:nvSpPr>
        <p:spPr>
          <a:xfrm>
            <a:off x="6477223" y="1601019"/>
            <a:ext cx="188200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Predictive ML Extensions</a:t>
            </a:r>
            <a:endParaRPr lang="en-US" sz="1200" dirty="0"/>
          </a:p>
        </p:txBody>
      </p:sp>
      <p:sp>
        <p:nvSpPr>
          <p:cNvPr id="9" name="Text 6"/>
          <p:cNvSpPr/>
          <p:nvPr/>
        </p:nvSpPr>
        <p:spPr>
          <a:xfrm>
            <a:off x="6477223" y="1869281"/>
            <a:ext cx="2041922"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Train machine learning models on historical threat distributions to forecast attack spikes and target sectors, displaying predictions as threat heatmaps on the 3D globe.</a:t>
            </a:r>
            <a:endParaRPr lang="en-US" sz="950" dirty="0"/>
          </a:p>
        </p:txBody>
      </p:sp>
      <p:sp>
        <p:nvSpPr>
          <p:cNvPr id="10" name="Shape 7"/>
          <p:cNvSpPr/>
          <p:nvPr/>
        </p:nvSpPr>
        <p:spPr>
          <a:xfrm>
            <a:off x="3925119" y="3511228"/>
            <a:ext cx="4722763" cy="1121122"/>
          </a:xfrm>
          <a:prstGeom prst="roundRect">
            <a:avLst>
              <a:gd name="adj" fmla="val 4647"/>
            </a:avLst>
          </a:prstGeom>
          <a:solidFill>
            <a:srgbClr val="D2D9F9"/>
          </a:solidFill>
          <a:ln w="4763">
            <a:solidFill>
              <a:srgbClr val="B8BFDF"/>
            </a:solidFill>
            <a:prstDash val="solid"/>
          </a:ln>
        </p:spPr>
        <p:txBody>
          <a:bodyPr/>
          <a:lstStyle/>
          <a:p>
            <a:endParaRPr lang="fr-TN"/>
          </a:p>
        </p:txBody>
      </p:sp>
      <p:sp>
        <p:nvSpPr>
          <p:cNvPr id="11" name="Text 8"/>
          <p:cNvSpPr/>
          <p:nvPr/>
        </p:nvSpPr>
        <p:spPr>
          <a:xfrm>
            <a:off x="4053855" y="3639964"/>
            <a:ext cx="2455664"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Sharded Geo-Database Clustering</a:t>
            </a:r>
            <a:endParaRPr lang="en-US" sz="1200" dirty="0"/>
          </a:p>
        </p:txBody>
      </p:sp>
      <p:sp>
        <p:nvSpPr>
          <p:cNvPr id="12" name="Text 9"/>
          <p:cNvSpPr/>
          <p:nvPr/>
        </p:nvSpPr>
        <p:spPr>
          <a:xfrm>
            <a:off x="4053855" y="3908227"/>
            <a:ext cx="4465290"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Shard MongoDB by geographic region so queries for specific countries route only to their corresponding database segments — minimizing latency and scaling storage capacity horizontally.</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96119" y="1057721"/>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1B1B27"/>
                </a:solidFill>
                <a:latin typeface="Corben" pitchFamily="34" charset="0"/>
                <a:ea typeface="Corben" pitchFamily="34" charset="-122"/>
                <a:cs typeface="Corben" pitchFamily="34" charset="-120"/>
              </a:rPr>
              <a:t>General Conclusion</a:t>
            </a:r>
            <a:endParaRPr lang="en-US" sz="2400" dirty="0"/>
          </a:p>
        </p:txBody>
      </p:sp>
      <p:sp>
        <p:nvSpPr>
          <p:cNvPr id="3" name="Text 1"/>
          <p:cNvSpPr/>
          <p:nvPr/>
        </p:nvSpPr>
        <p:spPr>
          <a:xfrm>
            <a:off x="496119" y="1693292"/>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The </a:t>
            </a:r>
            <a:r>
              <a:rPr lang="en-US" sz="950" b="1" dirty="0">
                <a:solidFill>
                  <a:srgbClr val="404155"/>
                </a:solidFill>
                <a:latin typeface="Nobile" pitchFamily="34" charset="0"/>
                <a:ea typeface="Nobile" pitchFamily="34" charset="-122"/>
                <a:cs typeface="Nobile" pitchFamily="34" charset="-120"/>
              </a:rPr>
              <a:t>Predictra Threat Map</a:t>
            </a:r>
            <a:r>
              <a:rPr lang="en-US" sz="950" dirty="0">
                <a:solidFill>
                  <a:srgbClr val="404155"/>
                </a:solidFill>
                <a:latin typeface="Nobile" pitchFamily="34" charset="0"/>
                <a:ea typeface="Nobile" pitchFamily="34" charset="-122"/>
                <a:cs typeface="Nobile" pitchFamily="34" charset="-120"/>
              </a:rPr>
              <a:t> successfully bridges the critical visibility gap in modern cyber defense — transforming raw, heterogeneous threat feeds into a live, interactive 3D intelligence platform.</a:t>
            </a:r>
            <a:endParaRPr lang="en-US" sz="950" dirty="0"/>
          </a:p>
        </p:txBody>
      </p:sp>
      <p:sp>
        <p:nvSpPr>
          <p:cNvPr id="4" name="Shape 2"/>
          <p:cNvSpPr/>
          <p:nvPr/>
        </p:nvSpPr>
        <p:spPr>
          <a:xfrm>
            <a:off x="496119" y="2229743"/>
            <a:ext cx="8151763" cy="1518047"/>
          </a:xfrm>
          <a:prstGeom prst="roundRect">
            <a:avLst>
              <a:gd name="adj" fmla="val 3432"/>
            </a:avLst>
          </a:prstGeom>
          <a:solidFill>
            <a:srgbClr val="D2D9F9"/>
          </a:solidFill>
          <a:ln w="4763">
            <a:solidFill>
              <a:srgbClr val="B8BFDF"/>
            </a:solidFill>
            <a:prstDash val="solid"/>
          </a:ln>
        </p:spPr>
        <p:txBody>
          <a:bodyPr/>
          <a:lstStyle/>
          <a:p>
            <a:endParaRPr lang="fr-TN"/>
          </a:p>
        </p:txBody>
      </p:sp>
      <p:sp>
        <p:nvSpPr>
          <p:cNvPr id="5" name="Shape 3"/>
          <p:cNvSpPr/>
          <p:nvPr/>
        </p:nvSpPr>
        <p:spPr>
          <a:xfrm>
            <a:off x="500881" y="2234505"/>
            <a:ext cx="2714030" cy="1508522"/>
          </a:xfrm>
          <a:prstGeom prst="rect">
            <a:avLst/>
          </a:prstGeom>
          <a:solidFill>
            <a:srgbClr val="D2D9F9"/>
          </a:solidFill>
          <a:ln/>
        </p:spPr>
        <p:txBody>
          <a:bodyPr/>
          <a:lstStyle/>
          <a:p>
            <a:endParaRPr lang="fr-TN"/>
          </a:p>
        </p:txBody>
      </p:sp>
      <p:sp>
        <p:nvSpPr>
          <p:cNvPr id="6" name="Text 4"/>
          <p:cNvSpPr/>
          <p:nvPr/>
        </p:nvSpPr>
        <p:spPr>
          <a:xfrm>
            <a:off x="624855" y="2358479"/>
            <a:ext cx="1679153"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Technical Achievement</a:t>
            </a:r>
            <a:endParaRPr lang="en-US" sz="1200" dirty="0"/>
          </a:p>
        </p:txBody>
      </p:sp>
      <p:sp>
        <p:nvSpPr>
          <p:cNvPr id="7" name="Text 5"/>
          <p:cNvSpPr/>
          <p:nvPr/>
        </p:nvSpPr>
        <p:spPr>
          <a:xfrm>
            <a:off x="624855" y="2626742"/>
            <a:ext cx="2466082"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9+ asynchronous scrapers, real-time SSE streaming, 60fps WebGL 3D globe, client-side STIX 2.1 parser, and MITRE ATT&amp;CK mapping — all delivered across 4 Agile sprints.</a:t>
            </a:r>
            <a:endParaRPr lang="en-US" sz="950" dirty="0"/>
          </a:p>
        </p:txBody>
      </p:sp>
      <p:sp>
        <p:nvSpPr>
          <p:cNvPr id="8" name="Shape 6"/>
          <p:cNvSpPr/>
          <p:nvPr/>
        </p:nvSpPr>
        <p:spPr>
          <a:xfrm>
            <a:off x="3214911" y="2234505"/>
            <a:ext cx="2714104" cy="1508522"/>
          </a:xfrm>
          <a:prstGeom prst="rect">
            <a:avLst/>
          </a:prstGeom>
          <a:solidFill>
            <a:srgbClr val="D2D9F9"/>
          </a:solidFill>
          <a:ln/>
        </p:spPr>
        <p:txBody>
          <a:bodyPr/>
          <a:lstStyle/>
          <a:p>
            <a:endParaRPr lang="fr-TN"/>
          </a:p>
        </p:txBody>
      </p:sp>
      <p:sp>
        <p:nvSpPr>
          <p:cNvPr id="9" name="Shape 7"/>
          <p:cNvSpPr/>
          <p:nvPr/>
        </p:nvSpPr>
        <p:spPr>
          <a:xfrm>
            <a:off x="3214911" y="2234505"/>
            <a:ext cx="14288" cy="1508522"/>
          </a:xfrm>
          <a:prstGeom prst="roundRect">
            <a:avLst>
              <a:gd name="adj" fmla="val 364638"/>
            </a:avLst>
          </a:prstGeom>
          <a:solidFill>
            <a:srgbClr val="B8BFDF"/>
          </a:solidFill>
          <a:ln/>
        </p:spPr>
        <p:txBody>
          <a:bodyPr/>
          <a:lstStyle/>
          <a:p>
            <a:endParaRPr lang="fr-TN"/>
          </a:p>
        </p:txBody>
      </p:sp>
      <p:sp>
        <p:nvSpPr>
          <p:cNvPr id="10" name="Text 8"/>
          <p:cNvSpPr/>
          <p:nvPr/>
        </p:nvSpPr>
        <p:spPr>
          <a:xfrm>
            <a:off x="3338885" y="2358479"/>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Operational Impact</a:t>
            </a:r>
            <a:endParaRPr lang="en-US" sz="1200" dirty="0"/>
          </a:p>
        </p:txBody>
      </p:sp>
      <p:sp>
        <p:nvSpPr>
          <p:cNvPr id="11" name="Text 9"/>
          <p:cNvSpPr/>
          <p:nvPr/>
        </p:nvSpPr>
        <p:spPr>
          <a:xfrm>
            <a:off x="3338885" y="2626742"/>
            <a:ext cx="2466156"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Reduces compromise dwell time from </a:t>
            </a:r>
            <a:r>
              <a:rPr lang="en-US" sz="950" b="1" dirty="0">
                <a:solidFill>
                  <a:srgbClr val="404155"/>
                </a:solidFill>
                <a:latin typeface="Nobile" pitchFamily="34" charset="0"/>
                <a:ea typeface="Nobile" pitchFamily="34" charset="-122"/>
                <a:cs typeface="Nobile" pitchFamily="34" charset="-120"/>
              </a:rPr>
              <a:t>200+ days to seconds</a:t>
            </a:r>
            <a:r>
              <a:rPr lang="en-US" sz="950" dirty="0">
                <a:solidFill>
                  <a:srgbClr val="404155"/>
                </a:solidFill>
                <a:latin typeface="Nobile" pitchFamily="34" charset="0"/>
                <a:ea typeface="Nobile" pitchFamily="34" charset="-122"/>
                <a:cs typeface="Nobile" pitchFamily="34" charset="-120"/>
              </a:rPr>
              <a:t> by providing SOC analysts with immediate, spatial, external threat visibility.</a:t>
            </a:r>
            <a:endParaRPr lang="en-US" sz="950" dirty="0"/>
          </a:p>
        </p:txBody>
      </p:sp>
      <p:sp>
        <p:nvSpPr>
          <p:cNvPr id="12" name="Shape 10"/>
          <p:cNvSpPr/>
          <p:nvPr/>
        </p:nvSpPr>
        <p:spPr>
          <a:xfrm>
            <a:off x="5929015" y="2234505"/>
            <a:ext cx="2714104" cy="1508522"/>
          </a:xfrm>
          <a:prstGeom prst="rect">
            <a:avLst/>
          </a:prstGeom>
          <a:solidFill>
            <a:srgbClr val="D2D9F9"/>
          </a:solidFill>
          <a:ln/>
        </p:spPr>
        <p:txBody>
          <a:bodyPr/>
          <a:lstStyle/>
          <a:p>
            <a:endParaRPr lang="fr-TN"/>
          </a:p>
        </p:txBody>
      </p:sp>
      <p:sp>
        <p:nvSpPr>
          <p:cNvPr id="13" name="Shape 11"/>
          <p:cNvSpPr/>
          <p:nvPr/>
        </p:nvSpPr>
        <p:spPr>
          <a:xfrm>
            <a:off x="5929015" y="2234505"/>
            <a:ext cx="14288" cy="1508522"/>
          </a:xfrm>
          <a:prstGeom prst="roundRect">
            <a:avLst>
              <a:gd name="adj" fmla="val 364638"/>
            </a:avLst>
          </a:prstGeom>
          <a:solidFill>
            <a:srgbClr val="B8BFDF"/>
          </a:solidFill>
          <a:ln/>
        </p:spPr>
        <p:txBody>
          <a:bodyPr/>
          <a:lstStyle/>
          <a:p>
            <a:endParaRPr lang="fr-TN"/>
          </a:p>
        </p:txBody>
      </p:sp>
      <p:sp>
        <p:nvSpPr>
          <p:cNvPr id="14" name="Text 12"/>
          <p:cNvSpPr/>
          <p:nvPr/>
        </p:nvSpPr>
        <p:spPr>
          <a:xfrm>
            <a:off x="6052989" y="2358479"/>
            <a:ext cx="1696343" cy="193849"/>
          </a:xfrm>
          <a:prstGeom prst="rect">
            <a:avLst/>
          </a:prstGeom>
          <a:noFill/>
          <a:ln/>
        </p:spPr>
        <p:txBody>
          <a:bodyPr wrap="none" lIns="0" tIns="0" rIns="0" bIns="0" rtlCol="0" anchor="t"/>
          <a:lstStyle/>
          <a:p>
            <a:pPr marL="0" indent="0" algn="l">
              <a:lnSpc>
                <a:spcPct val="104000"/>
              </a:lnSpc>
              <a:buNone/>
            </a:pPr>
            <a:r>
              <a:rPr lang="en-US" sz="1200" dirty="0">
                <a:solidFill>
                  <a:srgbClr val="404155"/>
                </a:solidFill>
                <a:latin typeface="Corben" pitchFamily="34" charset="0"/>
                <a:ea typeface="Corben" pitchFamily="34" charset="-122"/>
                <a:cs typeface="Corben" pitchFamily="34" charset="-120"/>
              </a:rPr>
              <a:t>Academic Contribution</a:t>
            </a:r>
            <a:endParaRPr lang="en-US" sz="1200" dirty="0"/>
          </a:p>
        </p:txBody>
      </p:sp>
      <p:sp>
        <p:nvSpPr>
          <p:cNvPr id="15" name="Text 13"/>
          <p:cNvSpPr/>
          <p:nvPr/>
        </p:nvSpPr>
        <p:spPr>
          <a:xfrm>
            <a:off x="6052989" y="2626742"/>
            <a:ext cx="2466156"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404155"/>
                </a:solidFill>
                <a:latin typeface="Nobile" pitchFamily="34" charset="0"/>
                <a:ea typeface="Nobile" pitchFamily="34" charset="-122"/>
                <a:cs typeface="Nobile" pitchFamily="34" charset="-120"/>
              </a:rPr>
              <a:t>Demonstrates a rigorous engineering methodology combining Agile Scrum, UML modeling, and cutting-edge web technologies in a production-grade cybersecurity platform.</a:t>
            </a:r>
            <a:endParaRPr lang="en-US" sz="950" dirty="0"/>
          </a:p>
        </p:txBody>
      </p:sp>
      <p:sp>
        <p:nvSpPr>
          <p:cNvPr id="16" name="Text 14"/>
          <p:cNvSpPr/>
          <p:nvPr/>
        </p:nvSpPr>
        <p:spPr>
          <a:xfrm>
            <a:off x="267519" y="3887316"/>
            <a:ext cx="8608963" cy="198462"/>
          </a:xfrm>
          <a:prstGeom prst="rect">
            <a:avLst/>
          </a:prstGeom>
          <a:noFill/>
          <a:ln/>
        </p:spPr>
        <p:txBody>
          <a:bodyPr wrap="none" lIns="0" tIns="0" rIns="0" bIns="0" rtlCol="0" anchor="t"/>
          <a:lstStyle/>
          <a:p>
            <a:pPr marL="0" indent="0" algn="ctr">
              <a:lnSpc>
                <a:spcPct val="133000"/>
              </a:lnSpc>
              <a:buNone/>
            </a:pPr>
            <a:r>
              <a:rPr lang="en-US" sz="950" i="1" dirty="0">
                <a:solidFill>
                  <a:srgbClr val="404155"/>
                </a:solidFill>
                <a:latin typeface="Nobile" pitchFamily="34" charset="0"/>
                <a:ea typeface="Nobile" pitchFamily="34" charset="-122"/>
                <a:cs typeface="Nobile" pitchFamily="34" charset="-120"/>
              </a:rPr>
              <a:t>Thank you — Questions Welcome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2533</Words>
  <Application>Microsoft Office PowerPoint</Application>
  <PresentationFormat>Affichage à l'écran (16:9)</PresentationFormat>
  <Paragraphs>303</Paragraphs>
  <Slides>26</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26</vt:i4>
      </vt:variant>
    </vt:vector>
  </HeadingPairs>
  <TitlesOfParts>
    <vt:vector size="32" baseType="lpstr">
      <vt:lpstr>Corben</vt:lpstr>
      <vt:lpstr>Corben Light</vt:lpstr>
      <vt:lpstr>Nobile</vt:lpstr>
      <vt:lpstr>Consolas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chiheb amri</cp:lastModifiedBy>
  <cp:revision>2</cp:revision>
  <dcterms:created xsi:type="dcterms:W3CDTF">2026-06-14T15:19:33Z</dcterms:created>
  <dcterms:modified xsi:type="dcterms:W3CDTF">2026-06-15T23:01:06Z</dcterms:modified>
</cp:coreProperties>
</file>